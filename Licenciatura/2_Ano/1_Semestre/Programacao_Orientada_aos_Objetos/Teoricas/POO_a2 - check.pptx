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8" r:id="rId13"/>
    <p:sldId id="270" r:id="rId14"/>
    <p:sldId id="271" r:id="rId15"/>
    <p:sldId id="266" r:id="rId16"/>
    <p:sldId id="267" r:id="rId17"/>
    <p:sldId id="272" r:id="rId18"/>
    <p:sldId id="273" r:id="rId19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27" autoAdjust="0"/>
  </p:normalViewPr>
  <p:slideViewPr>
    <p:cSldViewPr>
      <p:cViewPr varScale="1">
        <p:scale>
          <a:sx n="78" d="100"/>
          <a:sy n="78" d="100"/>
        </p:scale>
        <p:origin x="9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1185FBF-B4EB-49EC-9FBF-48BD4999921C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4074903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185FBF-B4EB-49EC-9FBF-48BD4999921C}" type="slidenum">
              <a:rPr lang="pt-PT" altLang="en-US" smtClean="0"/>
              <a:pPr>
                <a:defRPr/>
              </a:pPr>
              <a:t>1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6955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Faça clique para editar o estilo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EF192-C968-4F18-BF0E-DBB008E333C8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39675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65215-C712-4392-9D8D-8B0641E141DA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97341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33748-5979-46AA-9F9F-F36E4D5653C4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87223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9E9AD-38ED-4386-9ECC-DD2FC141B7BF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0748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DBE0E-ADCD-47D5-8CCB-BB99347B61C0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83401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06F37-1E29-4B23-B26D-23B154D23064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91611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41E9A-A4AF-4824-9AF8-618B54ACC9CB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23024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E54CE-2FEC-403A-8203-93577D0CCEDB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1034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FE958E-56E1-46DD-B19B-4C48E793669B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8018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99164-A7B6-43F2-BC24-98862539EAF3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22535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7E09E-76C5-4176-9C60-CCD87EF1FA46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67786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59FB044-DF6D-481E-A3B8-146B27AA4373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D84A11-F4F7-4D86-8857-0DECE6DA0A19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982663"/>
          </a:xfrm>
        </p:spPr>
        <p:txBody>
          <a:bodyPr/>
          <a:lstStyle/>
          <a:p>
            <a:pPr eaLnBrk="1" hangingPunct="1"/>
            <a:r>
              <a:rPr lang="pt-PT" altLang="en-US" sz="2800" dirty="0"/>
              <a:t>Introdução à linguagem de programação JAVA (JAVA8)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27584" y="1310903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PT" altLang="en-US" sz="3600" kern="0" dirty="0"/>
              <a:t>Programação Orientada aos Objetos</a:t>
            </a:r>
            <a:br>
              <a:rPr lang="pt-PT" altLang="en-US" sz="4000" kern="0" dirty="0"/>
            </a:br>
            <a:r>
              <a:rPr lang="pt-PT" altLang="en-US" sz="2000" kern="0" dirty="0"/>
              <a:t>(Licenciatura em Engenharia de Telecomunicações &amp; Informática</a:t>
            </a:r>
            <a:r>
              <a:rPr lang="pt-PT" altLang="en-US" sz="2000" kern="0"/>
              <a:t>) </a:t>
            </a:r>
            <a:br>
              <a:rPr lang="pt-PT" altLang="en-US" sz="2000" kern="0" dirty="0"/>
            </a:br>
            <a:r>
              <a:rPr lang="pt-PT" altLang="en-US" sz="2000" kern="0" dirty="0"/>
              <a:t>2º Ano, 1º Semestre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EDAA3E-169E-4DF9-953E-F10C65059092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JAVA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2562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800" dirty="0"/>
              <a:t>Programação orientada aos </a:t>
            </a:r>
            <a:r>
              <a:rPr lang="pt-PT" altLang="en-US" sz="2800" dirty="0" err="1"/>
              <a:t>objectos</a:t>
            </a:r>
            <a:r>
              <a:rPr lang="pt-PT" altLang="en-US" sz="2800" dirty="0"/>
              <a:t> em </a:t>
            </a:r>
            <a:r>
              <a:rPr lang="pt-PT" altLang="en-US" sz="2800" dirty="0">
                <a:latin typeface="Times New Roman" panose="02020603050405020304" pitchFamily="18" charset="0"/>
              </a:rPr>
              <a:t>JAVA8 (jdk1.8)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 dirty="0">
                <a:latin typeface="Times New Roman" panose="02020603050405020304" pitchFamily="18" charset="0"/>
              </a:rPr>
              <a:t>Programa Java = { classes }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 dirty="0">
                <a:latin typeface="Times New Roman" panose="02020603050405020304" pitchFamily="18" charset="0"/>
              </a:rPr>
              <a:t>Retirando as particularidades da programação por </a:t>
            </a:r>
            <a:r>
              <a:rPr lang="pt-PT" altLang="en-US" sz="2800" dirty="0" err="1">
                <a:latin typeface="Times New Roman" panose="02020603050405020304" pitchFamily="18" charset="0"/>
              </a:rPr>
              <a:t>objectos</a:t>
            </a:r>
            <a:r>
              <a:rPr lang="pt-PT" altLang="en-US" sz="2800" dirty="0">
                <a:latin typeface="Times New Roman" panose="02020603050405020304" pitchFamily="18" charset="0"/>
              </a:rPr>
              <a:t>, a sintaxe de JAVA não difere muito da linguagem C.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 dirty="0">
                <a:latin typeface="Times New Roman" panose="02020603050405020304" pitchFamily="18" charset="0"/>
              </a:rPr>
              <a:t>Download a partir da página do Java (Oracle)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800" dirty="0">
                <a:latin typeface="Times New Roman" panose="02020603050405020304" pitchFamily="18" charset="0"/>
              </a:rPr>
              <a:t>	(</a:t>
            </a:r>
            <a:r>
              <a:rPr lang="pt-PT" altLang="en-US" sz="2000" dirty="0">
                <a:solidFill>
                  <a:srgbClr val="00B050"/>
                </a:solidFill>
                <a:latin typeface="Times New Roman" panose="02020603050405020304" pitchFamily="18" charset="0"/>
              </a:rPr>
              <a:t>http://www.oracle.com/technetwork/java/javase/downloads/index.html</a:t>
            </a:r>
            <a:r>
              <a:rPr lang="pt-PT" altLang="en-US" sz="2800" dirty="0">
                <a:latin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 dirty="0">
                <a:latin typeface="Times New Roman" panose="02020603050405020304" pitchFamily="18" charset="0"/>
              </a:rPr>
              <a:t>Ideia principal: escrever código uma vez e executá-lo em qualquer parte!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 dirty="0">
                <a:latin typeface="Times New Roman" panose="02020603050405020304" pitchFamily="18" charset="0"/>
              </a:rPr>
              <a:t>Interpretador para múltiplas arquiteturas, compilador gera código para máquina abstrata.</a:t>
            </a:r>
          </a:p>
          <a:p>
            <a:pPr eaLnBrk="1" hangingPunct="1">
              <a:lnSpc>
                <a:spcPct val="90000"/>
              </a:lnSpc>
            </a:pPr>
            <a:endParaRPr lang="pt-PT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722715-7411-458E-A3C1-33D65AD42485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125413"/>
            <a:ext cx="5770562" cy="1143000"/>
          </a:xfrm>
        </p:spPr>
        <p:txBody>
          <a:bodyPr/>
          <a:lstStyle/>
          <a:p>
            <a:pPr eaLnBrk="1" hangingPunct="1"/>
            <a:r>
              <a:rPr lang="pt-PT" altLang="en-US"/>
              <a:t>Arquitectura</a:t>
            </a:r>
          </a:p>
        </p:txBody>
      </p:sp>
      <p:pic>
        <p:nvPicPr>
          <p:cNvPr id="5125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5950" y="1557338"/>
            <a:ext cx="4718050" cy="4525962"/>
          </a:xfrm>
          <a:noFill/>
        </p:spPr>
      </p:pic>
      <p:sp>
        <p:nvSpPr>
          <p:cNvPr id="5126" name="Text Box 5"/>
          <p:cNvSpPr txBox="1">
            <a:spLocks noChangeArrowheads="1"/>
          </p:cNvSpPr>
          <p:nvPr/>
        </p:nvSpPr>
        <p:spPr bwMode="auto">
          <a:xfrm>
            <a:off x="107950" y="1341438"/>
            <a:ext cx="561657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000"/>
              <a:t> Compilador gera Java Byte Code (JBC)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O motor de execução é o Java Virtual Machine</a:t>
            </a:r>
          </a:p>
          <a:p>
            <a:pPr eaLnBrk="1" hangingPunct="1">
              <a:spcBef>
                <a:spcPct val="0"/>
              </a:spcBef>
            </a:pPr>
            <a:endParaRPr lang="pt-PT" altLang="en-US" sz="2000"/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Varias aplicações, como </a:t>
            </a:r>
            <a:r>
              <a:rPr lang="pt-PT" altLang="en-US" sz="2000" i="1"/>
              <a:t>applets</a:t>
            </a:r>
            <a:r>
              <a:rPr lang="pt-PT" altLang="en-US" sz="2000"/>
              <a:t> e </a:t>
            </a:r>
            <a:r>
              <a:rPr lang="pt-PT" altLang="en-US" sz="2000" i="1"/>
              <a:t>servlets</a:t>
            </a:r>
          </a:p>
          <a:p>
            <a:pPr eaLnBrk="1" hangingPunct="1">
              <a:spcBef>
                <a:spcPct val="0"/>
              </a:spcBef>
            </a:pPr>
            <a:endParaRPr lang="pt-PT" altLang="en-US" sz="2000"/>
          </a:p>
          <a:p>
            <a:pPr eaLnBrk="1" hangingPunct="1">
              <a:spcBef>
                <a:spcPct val="0"/>
              </a:spcBef>
            </a:pPr>
            <a:endParaRPr lang="pt-PT" altLang="en-US" sz="2000"/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Ambiente de programação e desenvolvimento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de aplicações.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D6AFF0-282F-4B01-BC6E-E3541C7B4E63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Tipos de dados</a:t>
            </a:r>
          </a:p>
        </p:txBody>
      </p:sp>
      <p:pic>
        <p:nvPicPr>
          <p:cNvPr id="6149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7513" y="1628775"/>
            <a:ext cx="3228975" cy="2070100"/>
          </a:xfrm>
          <a:noFill/>
        </p:spPr>
      </p:pic>
      <p:sp>
        <p:nvSpPr>
          <p:cNvPr id="6150" name="Text Box 5"/>
          <p:cNvSpPr txBox="1">
            <a:spLocks noChangeArrowheads="1"/>
          </p:cNvSpPr>
          <p:nvPr/>
        </p:nvSpPr>
        <p:spPr bwMode="auto">
          <a:xfrm>
            <a:off x="592138" y="3951288"/>
            <a:ext cx="8301037" cy="255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400"/>
              <a:t> Declaração de variáveis a la C, com um tipo associado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/>
              <a:t> Dois níveis de tipos: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PT" altLang="en-US" sz="2400"/>
              <a:t> nível básico (primitivos), de suporte ao nível OO, que actua como em qualquer linguagem imperativa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PT" altLang="en-US" sz="2400"/>
              <a:t> nível dos objectos, dos tipos referenciados.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060752-B9A3-4AF5-8C78-4F1238F4E3F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en-US" sz="14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Tipos Primitivos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333625"/>
          </a:xfrm>
        </p:spPr>
        <p:txBody>
          <a:bodyPr/>
          <a:lstStyle/>
          <a:p>
            <a:pPr eaLnBrk="1" hangingPunct="1"/>
            <a:r>
              <a:rPr lang="pt-PT" altLang="en-US" sz="2800">
                <a:latin typeface="Times New Roman" panose="02020603050405020304" pitchFamily="18" charset="0"/>
              </a:rPr>
              <a:t>int, short, long, double, float, byte </a:t>
            </a:r>
            <a:r>
              <a:rPr lang="pt-PT" altLang="en-US" sz="2000"/>
              <a:t>(para representação de valores numéricos inteiros ou reais), </a:t>
            </a:r>
          </a:p>
          <a:p>
            <a:pPr eaLnBrk="1" hangingPunct="1"/>
            <a:r>
              <a:rPr lang="pt-PT" altLang="en-US" sz="2800">
                <a:latin typeface="Times New Roman" panose="02020603050405020304" pitchFamily="18" charset="0"/>
              </a:rPr>
              <a:t>char</a:t>
            </a:r>
            <a:r>
              <a:rPr lang="pt-PT" altLang="en-US" sz="2800"/>
              <a:t> </a:t>
            </a:r>
            <a:r>
              <a:rPr lang="pt-PT" altLang="en-US" sz="2000"/>
              <a:t>(para valores que são caracteres)</a:t>
            </a:r>
            <a:r>
              <a:rPr lang="pt-PT" altLang="en-US" sz="2800"/>
              <a:t> </a:t>
            </a:r>
          </a:p>
          <a:p>
            <a:pPr eaLnBrk="1" hangingPunct="1"/>
            <a:r>
              <a:rPr lang="pt-PT" altLang="en-US" sz="2800">
                <a:latin typeface="Times New Roman" panose="02020603050405020304" pitchFamily="18" charset="0"/>
              </a:rPr>
              <a:t>boolean</a:t>
            </a:r>
            <a:r>
              <a:rPr lang="pt-PT" altLang="en-US" sz="2800"/>
              <a:t> </a:t>
            </a:r>
            <a:r>
              <a:rPr lang="pt-PT" altLang="en-US" sz="2000"/>
              <a:t>(para os dois valores lógicos)</a:t>
            </a:r>
            <a:r>
              <a:rPr lang="pt-PT" altLang="en-US" sz="2800"/>
              <a:t>.</a:t>
            </a:r>
          </a:p>
          <a:p>
            <a:pPr eaLnBrk="1" hangingPunct="1"/>
            <a:endParaRPr lang="pt-PT" altLang="en-US" sz="2800"/>
          </a:p>
        </p:txBody>
      </p:sp>
      <p:pic>
        <p:nvPicPr>
          <p:cNvPr id="717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4049713"/>
            <a:ext cx="7683500" cy="247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5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7A0D90-7CB5-4DDC-82BA-016E7C5E03A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en-US" sz="14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Declaração de vars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800"/>
              <a:t>Alguns exemplos: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int i=1;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double media=0.0;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byte b1 = 0x49;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char newline = '\n';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double media = (a + b) / 2;</a:t>
            </a:r>
          </a:p>
          <a:p>
            <a:pPr eaLnBrk="1" hangingPunct="1"/>
            <a:r>
              <a:rPr lang="pt-PT" altLang="en-US" sz="2800"/>
              <a:t>Constantes (usando a keyword</a:t>
            </a:r>
            <a:r>
              <a:rPr lang="pt-PT" altLang="en-US" sz="2800">
                <a:latin typeface="Times New Roman" panose="02020603050405020304" pitchFamily="18" charset="0"/>
              </a:rPr>
              <a:t> </a:t>
            </a:r>
            <a:r>
              <a:rPr lang="pt-PT" altLang="en-US" sz="2400">
                <a:latin typeface="Times New Roman" panose="02020603050405020304" pitchFamily="18" charset="0"/>
              </a:rPr>
              <a:t>final</a:t>
            </a:r>
            <a:r>
              <a:rPr lang="pt-PT" altLang="en-US" sz="2800">
                <a:latin typeface="Times New Roman" panose="02020603050405020304" pitchFamily="18" charset="0"/>
              </a:rPr>
              <a:t> </a:t>
            </a:r>
            <a:r>
              <a:rPr lang="pt-PT" altLang="en-US" sz="2800"/>
              <a:t>)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final double PI = 3.14159273269;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final double R_CLAP = 8.314E+7;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final double GCGS = 6.670E-8;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19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087B29-E475-4BB3-AF3C-FAB2116A65D0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en-US" sz="14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Mecanismos de </a:t>
            </a:r>
            <a:r>
              <a:rPr lang="pt-PT" altLang="en-US" i="1"/>
              <a:t>casting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4006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400"/>
              <a:t>Tal como na linguagem C, podemos subir no nível de precisão, convertendo tipos. Exemplos: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// isto é um exemplo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int dim = 100;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float area = 100*100;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double vol = area*100;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double x = 3456F;</a:t>
            </a:r>
          </a:p>
          <a:p>
            <a:pPr eaLnBrk="1" hangingPunct="1">
              <a:lnSpc>
                <a:spcPct val="80000"/>
              </a:lnSpc>
            </a:pPr>
            <a:endParaRPr lang="pt-PT" altLang="en-US" sz="2000"/>
          </a:p>
          <a:p>
            <a:pPr eaLnBrk="1" hangingPunct="1">
              <a:lnSpc>
                <a:spcPct val="80000"/>
              </a:lnSpc>
            </a:pPr>
            <a:endParaRPr lang="pt-PT" altLang="en-US" sz="1600"/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Podemos também, baixar (perdendo) no nível de precisão. Exemplo: passar de </a:t>
            </a:r>
            <a:r>
              <a:rPr lang="pt-PT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PT" altLang="en-US" sz="2400"/>
              <a:t> a </a:t>
            </a:r>
            <a:r>
              <a:rPr lang="pt-PT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altLang="en-US" sz="2400"/>
              <a:t> ou mesmo converter valores numéricos em caracteres.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float lado = 123.45F;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int li = (int) lado;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int cx = 62, cy = 12;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/* exemplo com caracteres  */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char c1 = (char) (cx + cy) ;</a:t>
            </a:r>
          </a:p>
          <a:p>
            <a:pPr eaLnBrk="1" hangingPunct="1">
              <a:lnSpc>
                <a:spcPct val="80000"/>
              </a:lnSpc>
            </a:pPr>
            <a:endParaRPr lang="pt-PT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3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B07640-71BD-4E36-A59A-E844774F4A95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en-US" sz="14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44450"/>
            <a:ext cx="5915025" cy="706438"/>
          </a:xfrm>
        </p:spPr>
        <p:txBody>
          <a:bodyPr/>
          <a:lstStyle/>
          <a:p>
            <a:pPr eaLnBrk="1" hangingPunct="1"/>
            <a:r>
              <a:rPr lang="pt-PT" altLang="en-US" sz="3200"/>
              <a:t>Operadores</a:t>
            </a:r>
          </a:p>
        </p:txBody>
      </p:sp>
      <p:pic>
        <p:nvPicPr>
          <p:cNvPr id="23556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836613"/>
            <a:ext cx="5210175" cy="4525962"/>
          </a:xfrm>
          <a:noFill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2781300"/>
            <a:ext cx="6205537" cy="382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7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1C2838-852F-4082-B997-88DAFAD9F3E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en-US" sz="140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Operadores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/>
              <a:t>Tal como em C temos operadores de incremento e de combinação de atribuição com operação: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int c = 1; 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int d += c;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int a = c++ + ++d;</a:t>
            </a:r>
          </a:p>
          <a:p>
            <a:pPr lvl="1" eaLnBrk="1" hangingPunct="1">
              <a:lnSpc>
                <a:spcPct val="90000"/>
              </a:lnSpc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Funções matemáticas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double x = Math.sqrt(y); // raiz quadrada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double z = Math.pow(x, 2.0); // potência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double a = Math.sin(alfa); // seno de alfa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double num = Math.random(); // aleatório entre 0.0 e 1.0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int aleat = 1 + (int) (Math.random() * 10); // [ 1.. 10]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double at = Math.atan(x); // arco tangente 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1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F61E81-4AC9-40EC-9C7D-A2593BF96152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en-US" sz="14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 dirty="0"/>
              <a:t>Instruções Java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dirty="0"/>
              <a:t>Condicionais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 err="1">
                <a:latin typeface="Times New Roman" panose="02020603050405020304" pitchFamily="18" charset="0"/>
              </a:rPr>
              <a:t>if</a:t>
            </a:r>
            <a:r>
              <a:rPr lang="pt-PT" altLang="en-US" sz="1600" dirty="0">
                <a:latin typeface="Times New Roman" panose="02020603050405020304" pitchFamily="18" charset="0"/>
              </a:rPr>
              <a:t> (tipo == ‘X’)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{ conta = conta + 1; x = x + 1;}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 err="1">
                <a:latin typeface="Times New Roman" panose="02020603050405020304" pitchFamily="18" charset="0"/>
              </a:rPr>
              <a:t>else</a:t>
            </a:r>
            <a:r>
              <a:rPr lang="pt-PT" altLang="en-US" sz="160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{ 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</a:t>
            </a:r>
            <a:r>
              <a:rPr lang="pt-PT" altLang="en-US" sz="1800" dirty="0" err="1">
                <a:latin typeface="Times New Roman" panose="02020603050405020304" pitchFamily="18" charset="0"/>
              </a:rPr>
              <a:t>naoLivro</a:t>
            </a:r>
            <a:r>
              <a:rPr lang="pt-PT" altLang="en-US" sz="1800" dirty="0">
                <a:latin typeface="Times New Roman" panose="02020603050405020304" pitchFamily="18" charset="0"/>
              </a:rPr>
              <a:t> = </a:t>
            </a:r>
            <a:r>
              <a:rPr lang="pt-PT" altLang="en-US" sz="1800" dirty="0" err="1">
                <a:latin typeface="Times New Roman" panose="02020603050405020304" pitchFamily="18" charset="0"/>
              </a:rPr>
              <a:t>naoLivro</a:t>
            </a:r>
            <a:r>
              <a:rPr lang="pt-PT" altLang="en-US" sz="1800" dirty="0">
                <a:latin typeface="Times New Roman" panose="02020603050405020304" pitchFamily="18" charset="0"/>
              </a:rPr>
              <a:t> + 1;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	consulta = consulta + 1;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</a:t>
            </a:r>
            <a:r>
              <a:rPr lang="pt-PT" altLang="en-US" sz="1600" dirty="0" err="1">
                <a:latin typeface="Times New Roman" panose="02020603050405020304" pitchFamily="18" charset="0"/>
              </a:rPr>
              <a:t>switch</a:t>
            </a:r>
            <a:r>
              <a:rPr lang="pt-PT" altLang="en-US" sz="1600" dirty="0">
                <a:latin typeface="Times New Roman" panose="02020603050405020304" pitchFamily="18" charset="0"/>
              </a:rPr>
              <a:t> (letra)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	case 'a' :;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	case 'A' : { i = (</a:t>
            </a:r>
            <a:r>
              <a:rPr lang="pt-PT" altLang="en-US" sz="16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600" dirty="0">
                <a:latin typeface="Times New Roman" panose="02020603050405020304" pitchFamily="18" charset="0"/>
              </a:rPr>
              <a:t>) letra; ct1++ ; break; } // bloco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	case 'b' : // não executa nada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	case 'B' : {x-- ; break;}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	</a:t>
            </a:r>
            <a:r>
              <a:rPr lang="pt-PT" altLang="en-US" sz="1600" dirty="0" err="1">
                <a:latin typeface="Times New Roman" panose="02020603050405020304" pitchFamily="18" charset="0"/>
              </a:rPr>
              <a:t>default</a:t>
            </a:r>
            <a:r>
              <a:rPr lang="pt-PT" altLang="en-US" sz="1600" dirty="0">
                <a:latin typeface="Times New Roman" panose="02020603050405020304" pitchFamily="18" charset="0"/>
              </a:rPr>
              <a:t>: ct2++; // para todos os outros valores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51920" y="1391807"/>
            <a:ext cx="5343129" cy="466281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pt-PT" dirty="0"/>
              <a:t>A partir do </a:t>
            </a:r>
            <a:r>
              <a:rPr lang="pt-PT" b="1" i="1" dirty="0"/>
              <a:t>Java14</a:t>
            </a:r>
            <a:r>
              <a:rPr lang="pt-PT" dirty="0"/>
              <a:t> podemos ter:</a:t>
            </a:r>
          </a:p>
          <a:p>
            <a:endParaRPr lang="pt-PT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 err="1">
                <a:latin typeface="Times New Roman" panose="02020603050405020304" pitchFamily="18" charset="0"/>
              </a:rPr>
              <a:t>switch</a:t>
            </a:r>
            <a:r>
              <a:rPr lang="pt-PT" altLang="en-US" sz="1600" dirty="0">
                <a:latin typeface="Times New Roman" panose="02020603050405020304" pitchFamily="18" charset="0"/>
              </a:rPr>
              <a:t> (letra)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case 'a‘, ’A’, ’b’, ’B’ -&gt; // fazer algo… 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case ‘X' -&gt; { i = (</a:t>
            </a:r>
            <a:r>
              <a:rPr lang="pt-PT" altLang="en-US" sz="16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600" dirty="0">
                <a:latin typeface="Times New Roman" panose="02020603050405020304" pitchFamily="18" charset="0"/>
              </a:rPr>
              <a:t>) letra; ct1++ ; break; } // bloco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case ‘c' -&gt; // não executa nada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case ‘N' -&gt; {x-- ; break;}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</a:t>
            </a:r>
            <a:r>
              <a:rPr lang="pt-PT" altLang="en-US" sz="1600" dirty="0" err="1">
                <a:latin typeface="Times New Roman" panose="02020603050405020304" pitchFamily="18" charset="0"/>
              </a:rPr>
              <a:t>default</a:t>
            </a:r>
            <a:r>
              <a:rPr lang="pt-PT" altLang="en-US" sz="1600" dirty="0">
                <a:latin typeface="Times New Roman" panose="02020603050405020304" pitchFamily="18" charset="0"/>
              </a:rPr>
              <a:t>: ct2++; // para todos os outros valores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1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dirty="0">
                <a:latin typeface="+mn-lt"/>
              </a:rPr>
              <a:t>Ou até com retorno de valores: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dirty="0">
              <a:latin typeface="+mn-lt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600" dirty="0">
                <a:latin typeface="Times New Roman" panose="02020603050405020304" pitchFamily="18" charset="0"/>
              </a:rPr>
              <a:t> x = </a:t>
            </a:r>
            <a:r>
              <a:rPr lang="pt-PT" altLang="en-US" sz="1600" dirty="0" err="1">
                <a:latin typeface="Times New Roman" panose="02020603050405020304" pitchFamily="18" charset="0"/>
              </a:rPr>
              <a:t>switch</a:t>
            </a:r>
            <a:r>
              <a:rPr lang="pt-PT" altLang="en-US" sz="1600" dirty="0">
                <a:latin typeface="Times New Roman" panose="02020603050405020304" pitchFamily="18" charset="0"/>
              </a:rPr>
              <a:t> (letra)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case '</a:t>
            </a:r>
            <a:r>
              <a:rPr lang="pt-PT" altLang="en-US" sz="1600" dirty="0" err="1">
                <a:latin typeface="Times New Roman" panose="02020603050405020304" pitchFamily="18" charset="0"/>
              </a:rPr>
              <a:t>a‘,’A’,’b’,’B</a:t>
            </a:r>
            <a:r>
              <a:rPr lang="pt-PT" altLang="en-US" sz="1600" dirty="0">
                <a:latin typeface="Times New Roman" panose="02020603050405020304" pitchFamily="18" charset="0"/>
              </a:rPr>
              <a:t>’ -&gt; 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case ‘X' -&gt; 2;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case ‘c' -&gt; 3;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case ‘N' -&gt; 4;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}</a:t>
            </a:r>
            <a:endParaRPr lang="pt-PT" sz="1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5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4DBEFA-E8D8-4A14-B6DA-9B306F7ACB49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en-US" sz="14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Estruturas Repetitivas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268413"/>
            <a:ext cx="4700588" cy="4857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// soma e produto dos 100 primeiros inteiros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soma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produto =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for (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i = 1; i &lt;= 100; i++)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soma = soma + i;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produto = produto * i;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// divisão por </a:t>
            </a:r>
            <a:r>
              <a:rPr lang="pt-PT" altLang="en-US" sz="1800" dirty="0" err="1">
                <a:latin typeface="Times New Roman" panose="02020603050405020304" pitchFamily="18" charset="0"/>
              </a:rPr>
              <a:t>subtracções</a:t>
            </a:r>
            <a:r>
              <a:rPr lang="pt-PT" altLang="en-US" sz="1800" dirty="0">
                <a:latin typeface="Times New Roman" panose="02020603050405020304" pitchFamily="18" charset="0"/>
              </a:rPr>
              <a:t> sucessivas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x = 2137.56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s = 2.5645;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conta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//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while</a:t>
            </a:r>
            <a:r>
              <a:rPr lang="pt-PT" altLang="en-US" sz="1800" dirty="0">
                <a:latin typeface="Times New Roman" panose="02020603050405020304" pitchFamily="18" charset="0"/>
              </a:rPr>
              <a:t> (</a:t>
            </a:r>
            <a:r>
              <a:rPr lang="pt-PT" altLang="en-US" sz="1800">
                <a:latin typeface="Times New Roman" panose="02020603050405020304" pitchFamily="18" charset="0"/>
              </a:rPr>
              <a:t>x – s &gt;= </a:t>
            </a:r>
            <a:r>
              <a:rPr lang="pt-PT" altLang="en-US" sz="1800" dirty="0">
                <a:latin typeface="Times New Roman" panose="02020603050405020304" pitchFamily="18" charset="0"/>
              </a:rPr>
              <a:t>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x -= s; conta++;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4500563" y="1216025"/>
            <a:ext cx="4565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// realiza o somatório e o produto 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// números inteiros desde 0 a MAX_VEZES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int conta = 0; int soma = 0; int prod =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do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	soma = soma + conta;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	prod = prod * conta;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	conta++;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} while(conta &lt; MAX_VEZES);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// Resultados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System.out.println("Somatorio = " + soma);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System.out.println("Produtorio = " + prod);</a:t>
            </a:r>
          </a:p>
        </p:txBody>
      </p: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179388" y="1268413"/>
            <a:ext cx="4105275" cy="2305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0" name="Rectangle 6"/>
          <p:cNvSpPr>
            <a:spLocks noChangeArrowheads="1"/>
          </p:cNvSpPr>
          <p:nvPr/>
        </p:nvSpPr>
        <p:spPr bwMode="auto">
          <a:xfrm>
            <a:off x="179388" y="3716338"/>
            <a:ext cx="3455987" cy="2520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4500563" y="1268413"/>
            <a:ext cx="4572000" cy="34559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4339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869DE7-878A-4B0F-A080-3AD119741AD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en-US" sz="14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Strings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Sequências de caracteres são representadas por um objecto </a:t>
            </a:r>
            <a:r>
              <a:rPr lang="pt-PT" altLang="en-US" sz="2400">
                <a:latin typeface="Times New Roman" panose="02020603050405020304" pitchFamily="18" charset="0"/>
              </a:rPr>
              <a:t>String. </a:t>
            </a:r>
            <a:r>
              <a:rPr lang="pt-PT" altLang="en-US" sz="2400"/>
              <a:t>Este não é um tipo primitivo mas antes uma classe JAVA. Exemplos: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String nome = "Ze";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String apelido = "Boavida";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String completo = nome + " " + apelido;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Notar estes exemplos!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String novo = new String(“ola”);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int idade1 = 20; int idade2 = 22;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String frase1 = "O Pedro tem " + idade1 + " anos";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String frase2 = "A Rita tem " + idade2 + " anos";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3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BAC857-05F2-4DB2-8DFD-324B1464BEFD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en-US" sz="140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06437"/>
          </a:xfrm>
        </p:spPr>
        <p:txBody>
          <a:bodyPr/>
          <a:lstStyle/>
          <a:p>
            <a:pPr eaLnBrk="1" hangingPunct="1"/>
            <a:r>
              <a:rPr lang="pt-PT" altLang="en-US" sz="4000"/>
              <a:t>Arrays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57610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800"/>
              <a:t>Declaração semelhante ao que acontece em C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Não são objectos mas são tipos referenciados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Exemplos: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</a:t>
            </a:r>
            <a:r>
              <a:rPr lang="pt-PT" altLang="en-US" sz="1800">
                <a:latin typeface="Times New Roman" panose="02020603050405020304" pitchFamily="18" charset="0"/>
              </a:rPr>
              <a:t>int lista[]; // lista é um array de inteiros;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int[] lista; // declaração equivalente à anterior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int[] lista = {10, 12, 33, 23}; // declaração e inicialização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int lista[] = new int[20]; // array de 20 inteiros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byte[] pixels = new byte[600*800];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String[] texto = new String[200]; // array de 200 strings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int[][] tabela = new int[30][20]; // 30 lin x 20 col inteiros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int tabela[][] = new int[30][20];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1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// exemplo com um array de arrays!!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int[][] matriz = new int[30][];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matriz[0] = new int[5]; matriz[1] = new int[7];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2" name="Oval Callout 1"/>
          <p:cNvSpPr/>
          <p:nvPr/>
        </p:nvSpPr>
        <p:spPr>
          <a:xfrm>
            <a:off x="5076057" y="4365104"/>
            <a:ext cx="3168352" cy="936104"/>
          </a:xfrm>
          <a:prstGeom prst="wedgeEllipseCallout">
            <a:avLst>
              <a:gd name="adj1" fmla="val -73936"/>
              <a:gd name="adj2" fmla="val 921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Notar a </a:t>
            </a:r>
            <a:r>
              <a:rPr lang="pt-PT" sz="1400" dirty="0" err="1"/>
              <a:t>keyword</a:t>
            </a:r>
            <a:r>
              <a:rPr lang="pt-PT" sz="1400"/>
              <a:t>  </a:t>
            </a:r>
            <a:r>
              <a:rPr lang="pt-PT" sz="1400" i="1" dirty="0" err="1">
                <a:solidFill>
                  <a:schemeClr val="accent6"/>
                </a:solidFill>
              </a:rPr>
              <a:t>new</a:t>
            </a:r>
            <a:r>
              <a:rPr lang="pt-PT" sz="1400" dirty="0"/>
              <a:t> para indicar a criação de uma entidade de tipo referenciado (objeto)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6387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8032DB-F504-4A6C-9144-5603CC088EC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en-US" sz="140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922338"/>
          </a:xfrm>
        </p:spPr>
        <p:txBody>
          <a:bodyPr/>
          <a:lstStyle/>
          <a:p>
            <a:pPr eaLnBrk="1" hangingPunct="1"/>
            <a:r>
              <a:rPr lang="pt-PT" altLang="en-US"/>
              <a:t>Arrays 2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6238" y="908050"/>
            <a:ext cx="6119812" cy="1800225"/>
          </a:xfrm>
        </p:spPr>
        <p:txBody>
          <a:bodyPr/>
          <a:lstStyle/>
          <a:p>
            <a:pPr eaLnBrk="1" hangingPunct="1"/>
            <a:r>
              <a:rPr lang="pt-PT" altLang="en-US" sz="2400"/>
              <a:t>Tamanho de uma array</a:t>
            </a:r>
          </a:p>
          <a:p>
            <a:pPr lvl="1" eaLnBrk="1" hangingPunct="1"/>
            <a:r>
              <a:rPr lang="pt-PT" altLang="en-US" sz="2000"/>
              <a:t>int a[] = new int[10];</a:t>
            </a:r>
          </a:p>
          <a:p>
            <a:pPr lvl="1" eaLnBrk="1" hangingPunct="1"/>
            <a:r>
              <a:rPr lang="pt-PT" altLang="en-US" sz="2000"/>
              <a:t>int n = a.length; // em C seria int n = length(a);</a:t>
            </a:r>
          </a:p>
          <a:p>
            <a:pPr lvl="1" eaLnBrk="1" hangingPunct="1"/>
            <a:endParaRPr lang="pt-PT" altLang="en-US" sz="2000"/>
          </a:p>
          <a:p>
            <a:pPr lvl="1" eaLnBrk="1" hangingPunct="1"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</p:txBody>
      </p:sp>
      <p:sp>
        <p:nvSpPr>
          <p:cNvPr id="16390" name="Text Box 4"/>
          <p:cNvSpPr txBox="1">
            <a:spLocks noChangeArrowheads="1"/>
          </p:cNvSpPr>
          <p:nvPr/>
        </p:nvSpPr>
        <p:spPr bwMode="auto">
          <a:xfrm>
            <a:off x="3020441" y="3906093"/>
            <a:ext cx="608806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 dirty="0"/>
              <a:t>// outro exemplo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 dirty="0" err="1"/>
              <a:t>String</a:t>
            </a:r>
            <a:r>
              <a:rPr lang="pt-PT" altLang="en-US" sz="2000" dirty="0"/>
              <a:t>[][] nomes = { {"Rita", "Pedro"}, ……………… };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 dirty="0" err="1"/>
              <a:t>String</a:t>
            </a:r>
            <a:r>
              <a:rPr lang="pt-PT" altLang="en-US" sz="2000" dirty="0"/>
              <a:t> </a:t>
            </a:r>
            <a:r>
              <a:rPr lang="pt-PT" altLang="en-US" sz="2000" dirty="0" err="1"/>
              <a:t>sfinal</a:t>
            </a:r>
            <a:r>
              <a:rPr lang="pt-PT" altLang="en-US" sz="2000" dirty="0"/>
              <a:t> = "";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 dirty="0"/>
              <a:t>// concatenação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 dirty="0"/>
              <a:t>for(</a:t>
            </a:r>
            <a:r>
              <a:rPr lang="pt-PT" altLang="en-US" sz="2000" dirty="0" err="1"/>
              <a:t>String</a:t>
            </a:r>
            <a:r>
              <a:rPr lang="pt-PT" altLang="en-US" sz="2000" dirty="0"/>
              <a:t>[] </a:t>
            </a:r>
            <a:r>
              <a:rPr lang="pt-PT" altLang="en-US" sz="2000" dirty="0" err="1"/>
              <a:t>lnomes</a:t>
            </a:r>
            <a:r>
              <a:rPr lang="pt-PT" altLang="en-US" sz="2000" dirty="0"/>
              <a:t> : nomes)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 dirty="0"/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 dirty="0"/>
              <a:t>	for(</a:t>
            </a:r>
            <a:r>
              <a:rPr lang="pt-PT" altLang="en-US" sz="2000" dirty="0" err="1"/>
              <a:t>String</a:t>
            </a:r>
            <a:r>
              <a:rPr lang="pt-PT" altLang="en-US" sz="2000" dirty="0"/>
              <a:t> nome : </a:t>
            </a:r>
            <a:r>
              <a:rPr lang="pt-PT" altLang="en-US" sz="2000" dirty="0" err="1"/>
              <a:t>lnomes</a:t>
            </a:r>
            <a:r>
              <a:rPr lang="pt-PT" altLang="en-US" sz="2000" dirty="0"/>
              <a:t>) </a:t>
            </a:r>
            <a:r>
              <a:rPr lang="pt-PT" altLang="en-US" sz="2000" dirty="0" err="1"/>
              <a:t>sfinal</a:t>
            </a:r>
            <a:r>
              <a:rPr lang="pt-PT" altLang="en-US" sz="2000" dirty="0"/>
              <a:t> += nome;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 dirty="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000" dirty="0"/>
          </a:p>
        </p:txBody>
      </p:sp>
      <p:sp>
        <p:nvSpPr>
          <p:cNvPr id="16391" name="Text Box 5"/>
          <p:cNvSpPr txBox="1">
            <a:spLocks noChangeArrowheads="1"/>
          </p:cNvSpPr>
          <p:nvPr/>
        </p:nvSpPr>
        <p:spPr bwMode="auto">
          <a:xfrm>
            <a:off x="34925" y="1909763"/>
            <a:ext cx="3763963" cy="225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For each com arrays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	</a:t>
            </a:r>
            <a:r>
              <a:rPr lang="pt-PT" altLang="en-US" sz="2000">
                <a:latin typeface="Times New Roman" panose="02020603050405020304" pitchFamily="18" charset="0"/>
              </a:rPr>
              <a:t>int a[] = new a[100];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int conta=0;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for(int i:a)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	conta += i; }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Out.println(conta);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1800"/>
          </a:p>
        </p:txBody>
      </p:sp>
      <p:sp>
        <p:nvSpPr>
          <p:cNvPr id="16392" name="Rectangle 6"/>
          <p:cNvSpPr>
            <a:spLocks noChangeArrowheads="1"/>
          </p:cNvSpPr>
          <p:nvPr/>
        </p:nvSpPr>
        <p:spPr bwMode="auto">
          <a:xfrm>
            <a:off x="0" y="1916113"/>
            <a:ext cx="3276600" cy="1944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3" name="Rectangle 7"/>
          <p:cNvSpPr>
            <a:spLocks noChangeArrowheads="1"/>
          </p:cNvSpPr>
          <p:nvPr/>
        </p:nvSpPr>
        <p:spPr bwMode="auto">
          <a:xfrm>
            <a:off x="2988121" y="3933825"/>
            <a:ext cx="6048375" cy="28352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7411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FE545D-44D4-46E4-836F-FD10FC8203D6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en-US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 sz="4000"/>
              <a:t>Formato de um programa em JAVA</a:t>
            </a:r>
          </a:p>
        </p:txBody>
      </p:sp>
      <p:pic>
        <p:nvPicPr>
          <p:cNvPr id="1741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11638" y="981075"/>
            <a:ext cx="4608512" cy="3779838"/>
          </a:xfrm>
          <a:noFill/>
        </p:spPr>
      </p:pic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231775" y="3429000"/>
            <a:ext cx="4918075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b="1"/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import static java.lang.System.out;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public class Prog1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  // cálculo de uma área circular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  public static void main(String[] args)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  { double raio = 2.56;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    double pi = 3.14159;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    out.printf("Circulo de raio %5.2f%n", raio);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    out.printf("tem area igual a %10.4f%n", raio*pi);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8435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4EA0ED-5E02-474D-822E-E30D93920D9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en-US" sz="14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Output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400"/>
              <a:t>Instruções básicas de escrita dirigidas aos </a:t>
            </a:r>
            <a:r>
              <a:rPr lang="pt-PT" altLang="en-US" sz="2400" i="1"/>
              <a:t>dispositivo</a:t>
            </a:r>
            <a:r>
              <a:rPr lang="pt-PT" altLang="en-US" sz="2400"/>
              <a:t> </a:t>
            </a:r>
            <a:r>
              <a:rPr lang="pt-PT" altLang="en-US" sz="2400">
                <a:latin typeface="Times New Roman" panose="02020603050405020304" pitchFamily="18" charset="0"/>
              </a:rPr>
              <a:t>system.out</a:t>
            </a:r>
          </a:p>
          <a:p>
            <a:pPr lvl="2"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System.out.print("Bom dia e bom trabalho!\n\n\n");</a:t>
            </a:r>
          </a:p>
          <a:p>
            <a:pPr lvl="2"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System.out.println("Linguagem : " + lp);</a:t>
            </a:r>
          </a:p>
          <a:p>
            <a:pPr lvl="2"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System.out.println(nome + ", eu queria " + apelido + "!");</a:t>
            </a:r>
          </a:p>
          <a:p>
            <a:pPr lvl="2"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System.out.println("Rita e mais " + decisao + " que Pedro");</a:t>
            </a:r>
          </a:p>
          <a:p>
            <a:pPr eaLnBrk="1" hangingPunct="1"/>
            <a:r>
              <a:rPr lang="pt-PT" altLang="en-US" sz="2400"/>
              <a:t>Se for declarada a cláusula de importação</a:t>
            </a:r>
            <a:r>
              <a:rPr lang="pt-PT" altLang="en-US" sz="2400">
                <a:latin typeface="Times New Roman" panose="02020603050405020304" pitchFamily="18" charset="0"/>
              </a:rPr>
              <a:t> </a:t>
            </a:r>
            <a:r>
              <a:rPr lang="pt-PT" altLang="en-US" sz="1800" i="1">
                <a:latin typeface="Times New Roman" panose="02020603050405020304" pitchFamily="18" charset="0"/>
              </a:rPr>
              <a:t> import static java.lang.System.out; </a:t>
            </a:r>
            <a:r>
              <a:rPr lang="pt-PT" altLang="en-US" sz="2400"/>
              <a:t>podemos então usar directamente</a:t>
            </a:r>
          </a:p>
          <a:p>
            <a:pPr eaLnBrk="1" hangingPunct="1">
              <a:buFontTx/>
              <a:buNone/>
            </a:pPr>
            <a:endParaRPr lang="pt-PT" altLang="en-US" sz="2400"/>
          </a:p>
          <a:p>
            <a:pPr lvl="2"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out.print("Bom dia e bom trabalho!\n\n\n");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9459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803B5F-FACB-45FC-8600-6CF92C5607D3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en-US" sz="1400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Input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000"/>
              <a:t>Uso da classe </a:t>
            </a:r>
            <a:r>
              <a:rPr lang="pt-PT" altLang="en-US" sz="2000" i="1">
                <a:latin typeface="Times New Roman" panose="02020603050405020304" pitchFamily="18" charset="0"/>
              </a:rPr>
              <a:t>Scanner</a:t>
            </a:r>
          </a:p>
          <a:p>
            <a:pPr eaLnBrk="1" hangingPunct="1">
              <a:lnSpc>
                <a:spcPct val="80000"/>
              </a:lnSpc>
            </a:pPr>
            <a:endParaRPr lang="pt-PT" altLang="en-US" sz="2000" i="1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import java.util.Scanner;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public class Leitura1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{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public static void main(String[] args)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    {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// Scanner: classe para leitura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Scanner input = new Scanner(System.in); // lê via teclado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System.out.print("Nome: ");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String nome = input.next();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System.out.print("Idade: ");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int idade = input.nextInt();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System.out.println(nome + " tem " + idade + " anos.");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}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9462" name="AutoShape 4"/>
          <p:cNvSpPr>
            <a:spLocks noChangeArrowheads="1"/>
          </p:cNvSpPr>
          <p:nvPr/>
        </p:nvSpPr>
        <p:spPr bwMode="auto">
          <a:xfrm>
            <a:off x="5724525" y="4437063"/>
            <a:ext cx="2592388" cy="647700"/>
          </a:xfrm>
          <a:prstGeom prst="wedgeRoundRectCallout">
            <a:avLst>
              <a:gd name="adj1" fmla="val -109949"/>
              <a:gd name="adj2" fmla="val -3088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400"/>
              <a:t>Necessita de “newline” no fim da entrada de dados!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0483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96B078-728C-4594-B692-73391C295B45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PT" altLang="en-US" sz="14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Exercícios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800"/>
              <a:t>Dado um array ex:   </a:t>
            </a:r>
            <a:r>
              <a:rPr lang="pt-PT" altLang="en-US" sz="2000">
                <a:latin typeface="Times New Roman" panose="02020603050405020304" pitchFamily="18" charset="0"/>
              </a:rPr>
              <a:t>int a[] = {4,1,6,5,7,3,4,5,9,2,1,5}</a:t>
            </a:r>
            <a:r>
              <a:rPr lang="pt-PT" altLang="en-US" sz="28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800"/>
              <a:t>Apresente o código que permite calcular o valor máximo, mínimo, a média e o valor mais frequente.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800"/>
              <a:t>Escreva o código que permite inverter a ordem desse array.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800"/>
              <a:t>Apresente o código java que permite trocar a posição do array com o seu vizinho mais próximo e.g. a[1] </a:t>
            </a:r>
            <a:r>
              <a:rPr lang="pt-PT" altLang="en-US" sz="2800">
                <a:sym typeface="Wingdings" panose="05000000000000000000" pitchFamily="2" charset="2"/>
              </a:rPr>
              <a:t></a:t>
            </a:r>
            <a:r>
              <a:rPr lang="pt-PT" altLang="en-US" sz="2800"/>
              <a:t>a[2], a[3] </a:t>
            </a:r>
            <a:r>
              <a:rPr lang="pt-PT" altLang="en-US" sz="2800">
                <a:sym typeface="Wingdings" panose="05000000000000000000" pitchFamily="2" charset="2"/>
              </a:rPr>
              <a:t>a[4], etc.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800"/>
              <a:t>Apresente o código JAVA que permite ordenar o array.</a:t>
            </a:r>
          </a:p>
          <a:p>
            <a:pPr eaLnBrk="1" hangingPunct="1">
              <a:lnSpc>
                <a:spcPct val="80000"/>
              </a:lnSpc>
            </a:pPr>
            <a:endParaRPr lang="pt-PT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</TotalTime>
  <Words>1882</Words>
  <Application>Microsoft Office PowerPoint</Application>
  <PresentationFormat>On-screen Show (4:3)</PresentationFormat>
  <Paragraphs>267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Default Design</vt:lpstr>
      <vt:lpstr>PowerPoint Presentation</vt:lpstr>
      <vt:lpstr>JAVA</vt:lpstr>
      <vt:lpstr>Arquitectura</vt:lpstr>
      <vt:lpstr>Tipos de dados</vt:lpstr>
      <vt:lpstr>Tipos Primitivos</vt:lpstr>
      <vt:lpstr>Declaração de vars</vt:lpstr>
      <vt:lpstr>Mecanismos de casting</vt:lpstr>
      <vt:lpstr>Operadores</vt:lpstr>
      <vt:lpstr>Operadores</vt:lpstr>
      <vt:lpstr>Instruções Java</vt:lpstr>
      <vt:lpstr>Estruturas Repetitivas</vt:lpstr>
      <vt:lpstr>Strings</vt:lpstr>
      <vt:lpstr>Arrays</vt:lpstr>
      <vt:lpstr>Arrays 2</vt:lpstr>
      <vt:lpstr>Formato de um programa em JAVA</vt:lpstr>
      <vt:lpstr>Output</vt:lpstr>
      <vt:lpstr>Input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Paulo Jorge Sousa Azevedo</cp:lastModifiedBy>
  <cp:revision>240</cp:revision>
  <dcterms:created xsi:type="dcterms:W3CDTF">2008-02-28T16:13:14Z</dcterms:created>
  <dcterms:modified xsi:type="dcterms:W3CDTF">2023-09-14T14:10:59Z</dcterms:modified>
</cp:coreProperties>
</file>