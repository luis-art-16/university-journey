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303" r:id="rId16"/>
    <p:sldId id="304" r:id="rId17"/>
    <p:sldId id="287" r:id="rId18"/>
    <p:sldId id="307" r:id="rId19"/>
    <p:sldId id="308" r:id="rId20"/>
    <p:sldId id="274" r:id="rId21"/>
    <p:sldId id="288" r:id="rId22"/>
    <p:sldId id="305" r:id="rId23"/>
    <p:sldId id="306" r:id="rId24"/>
    <p:sldId id="272" r:id="rId25"/>
  </p:sldIdLst>
  <p:sldSz cx="9144000" cy="6858000" type="screen4x3"/>
  <p:notesSz cx="6858000" cy="9144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333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62" autoAdjust="0"/>
    <p:restoredTop sz="94627" autoAdjust="0"/>
  </p:normalViewPr>
  <p:slideViewPr>
    <p:cSldViewPr>
      <p:cViewPr varScale="1">
        <p:scale>
          <a:sx n="84" d="100"/>
          <a:sy n="84" d="100"/>
        </p:scale>
        <p:origin x="157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E69BD09-0378-4A2B-8031-D3C3C3654EC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CE85D53-14D1-4475-A790-4A7B9AB5E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AFCE1F2-27A5-4859-BF13-C79D09CF84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48B92CD-9C1D-4C1E-9666-3B2C6758E92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8CC17A7-1684-462B-9CCE-A7E8C1A5451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1DC5798-D4C1-4D03-B7A1-B44655E1E8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fld id="{D2582B64-52F3-4103-9C76-C248774B6E64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5565CC-32AC-4CAE-B754-D4AF3DA0C7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20D3BB-6707-44B8-B775-2108D817F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4913CA-341F-4B91-878A-CFFFE0A8C6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75F69-0630-4681-9679-C04FA4842C56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84392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53489A-FE06-46F5-95C1-861EFE5EF6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3ACA2A-4204-4156-994E-3F6C432FA2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949C68-DFA7-4892-BA28-A4CBEF31CC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5B99F0-1483-4086-ACC2-9B87D9FAA664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49584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EAD9B7-C28B-4CFA-9217-DA7C471736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949434-567D-470D-A01C-A1F27B69AE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3F009E-C9BE-4651-B254-D20A33E2AA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24FFC-EE9E-4608-AF28-0AE202950BDD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97464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B686B-29BA-4AAF-9D9E-CD3B9D22A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0FE47F-97AE-4B92-92A2-D241B63245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35F25-267E-481F-B459-45CC59E50C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4187A-2472-4FAF-B265-EB80EC9241DF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87233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FBD9915-3EFA-4693-B81A-ABD060F9A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8510133-B587-4739-83D9-D49724DC77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F3AFAF-2F8B-4150-801E-34A4037DA3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C398F-39B6-44F8-A63B-99D3F07E5927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36087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9898A7-DCF2-4B18-A9AC-5764D9843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8B4809A-EF1A-4BD6-B3F0-AF45A98223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92523F-A6A7-4B49-BE98-02A77B347F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C3DB58-F86F-46A8-8101-7DA52B87002C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97828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A915C32-CC81-4AD7-AD34-8829E30609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427CA0-CB59-410B-91CE-4E8113B6DF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23E4711-95FA-4F75-929F-77ADF21575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7F5BE-38A3-4D02-A345-33EB562C658D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03557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5D97FE-60B4-4F7F-B518-0516DD48AD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661E4B-4364-4C89-A382-3D78C3C971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98E2A4-F424-4E0E-A763-E945EC4BE8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FF991-CCBB-4620-B390-7C3AE1E0A32F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38549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47AB6-2DE5-4833-9549-8C6F60E8EE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9299DB-3B7A-4339-A9C4-3D76D4C5BC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20912-3207-473F-9058-CCA6E87A23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F26C8-3EA0-4CBC-89ED-463B290CECF7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43160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846C99-1719-43B8-991B-4F66C32604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3E7862-5673-4553-AAF2-F6B6B28325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AB5E76-BD11-4923-9DCE-AF499D68C6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47DC8-AA33-4E51-8BC1-FBFA60D526A8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20768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55BF65-0EF0-4685-B95F-8677BD6293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B451BD-976F-4E33-BE56-6849754F13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D51391-8883-4E9F-AC5D-29F4A56E43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C0683F-BCA3-448B-A59E-D86EF19F2FC2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869741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31FBB9-B0E0-4C4C-9B55-D9E316D41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86F5A79-D1B5-47B9-AECB-92D23191F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text styles</a:t>
            </a:r>
          </a:p>
          <a:p>
            <a:pPr lvl="1"/>
            <a:r>
              <a:rPr lang="pt-PT" altLang="en-US"/>
              <a:t>Second level</a:t>
            </a:r>
          </a:p>
          <a:p>
            <a:pPr lvl="2"/>
            <a:r>
              <a:rPr lang="pt-PT" altLang="en-US"/>
              <a:t>Third level</a:t>
            </a:r>
          </a:p>
          <a:p>
            <a:pPr lvl="3"/>
            <a:r>
              <a:rPr lang="pt-PT" altLang="en-US"/>
              <a:t>Fourth level</a:t>
            </a:r>
          </a:p>
          <a:p>
            <a:pPr lvl="4"/>
            <a:r>
              <a:rPr lang="pt-PT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ABCD05A-85A5-44C8-A94F-40519A9B52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95E4B97-98D3-4F99-9BB9-EC486F4E22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78600"/>
            <a:ext cx="42481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E18EF1D-920D-4B9D-985C-99CB5DA9AC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597650"/>
            <a:ext cx="2133600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BAFDC73-A28D-4D5B-BAD9-A2383CF87700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di.uminho.pt/~pja/mp2/docs/api/java/util/TreeSet.html#TreeSet(java.util.SortedSet)" TargetMode="External"/><Relationship Id="rId3" Type="http://schemas.openxmlformats.org/officeDocument/2006/relationships/hyperlink" Target="http://www.di.uminho.pt/~pja/mp2/docs/api/java/util/TreeSet.html#TreeSet(java.util.Collection)" TargetMode="External"/><Relationship Id="rId7" Type="http://schemas.openxmlformats.org/officeDocument/2006/relationships/hyperlink" Target="http://www.di.uminho.pt/~pja/mp2/docs/api/java/util/Comparator.html" TargetMode="External"/><Relationship Id="rId12" Type="http://schemas.openxmlformats.org/officeDocument/2006/relationships/hyperlink" Target="http://www.di.uminho.pt/~pja/mp2/docs/api/java/util/Iterator.html" TargetMode="External"/><Relationship Id="rId2" Type="http://schemas.openxmlformats.org/officeDocument/2006/relationships/hyperlink" Target="http://www.di.uminho.pt/~pja/mp2/docs/api/java/util/TreeSet.html#TreeSet(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i.uminho.pt/~pja/mp2/docs/api/java/util/TreeSet.html#TreeSet(java.util.Comparator)" TargetMode="External"/><Relationship Id="rId11" Type="http://schemas.openxmlformats.org/officeDocument/2006/relationships/hyperlink" Target="http://www.di.uminho.pt/~pja/mp2/docs/api/java/lang/Object.html" TargetMode="External"/><Relationship Id="rId5" Type="http://schemas.openxmlformats.org/officeDocument/2006/relationships/hyperlink" Target="http://www.di.uminho.pt/~pja/mp2/docs/api/java/util/TreeSet.html" TargetMode="External"/><Relationship Id="rId10" Type="http://schemas.openxmlformats.org/officeDocument/2006/relationships/hyperlink" Target="http://www.di.uminho.pt/~pja/mp2/docs/api/java/util/AbstractQueue.html" TargetMode="External"/><Relationship Id="rId4" Type="http://schemas.openxmlformats.org/officeDocument/2006/relationships/hyperlink" Target="http://www.di.uminho.pt/~pja/mp2/docs/api/java/util/Collection.html" TargetMode="External"/><Relationship Id="rId9" Type="http://schemas.openxmlformats.org/officeDocument/2006/relationships/hyperlink" Target="http://www.di.uminho.pt/~pja/mp2/docs/api/java/util/SortedSet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4">
            <a:extLst>
              <a:ext uri="{FF2B5EF4-FFF2-40B4-BE49-F238E27FC236}">
                <a16:creationId xmlns:a16="http://schemas.microsoft.com/office/drawing/2014/main" id="{AA03912D-DCA3-452A-AE56-B39AB8718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5" name="Slide Number Placeholder 5">
            <a:extLst>
              <a:ext uri="{FF2B5EF4-FFF2-40B4-BE49-F238E27FC236}">
                <a16:creationId xmlns:a16="http://schemas.microsoft.com/office/drawing/2014/main" id="{139352A9-B013-484D-AE21-ECCE6D53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DCE984-E5DA-47AC-A77E-2EC155C25F1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en-US" sz="1400"/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AFB9C7DD-21DB-4930-8B9E-7A6F030286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341438"/>
            <a:ext cx="7772400" cy="1470025"/>
          </a:xfrm>
        </p:spPr>
        <p:txBody>
          <a:bodyPr/>
          <a:lstStyle/>
          <a:p>
            <a:pPr eaLnBrk="1" hangingPunct="1"/>
            <a:r>
              <a:rPr lang="pt-PT" altLang="en-US" sz="3200"/>
              <a:t>Programação Orientada aos Objetos</a:t>
            </a:r>
            <a:br>
              <a:rPr lang="pt-PT" altLang="en-US" sz="4000"/>
            </a:br>
            <a:r>
              <a:rPr lang="pt-PT" altLang="en-US" sz="2000"/>
              <a:t>(Licenciatura em Engenharia de Telecomunicações &amp; Informática) </a:t>
            </a:r>
            <a:br>
              <a:rPr lang="pt-PT" altLang="en-US" sz="2000"/>
            </a:br>
            <a:r>
              <a:rPr lang="pt-PT" altLang="en-US" sz="2000"/>
              <a:t>2º Ano, 1º Semestre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7B8F6BE9-BA2F-4199-8B80-D19E49C1C4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Estruturas Hierárquicas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 (Árvores Binárias)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>
            <a:extLst>
              <a:ext uri="{FF2B5EF4-FFF2-40B4-BE49-F238E27FC236}">
                <a16:creationId xmlns:a16="http://schemas.microsoft.com/office/drawing/2014/main" id="{CEBABA54-D229-4C04-A09C-6B9DB7D0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4099" name="Slide Number Placeholder 5">
            <a:extLst>
              <a:ext uri="{FF2B5EF4-FFF2-40B4-BE49-F238E27FC236}">
                <a16:creationId xmlns:a16="http://schemas.microsoft.com/office/drawing/2014/main" id="{2CEA6E8B-58FE-4E2D-89B8-264688D8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AC3E3A-B767-4644-9B53-2DE57F7244E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en-US" sz="14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60C1BFA5-8B30-4C56-B1FA-002A4C3CD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009650"/>
          </a:xfrm>
        </p:spPr>
        <p:txBody>
          <a:bodyPr/>
          <a:lstStyle/>
          <a:p>
            <a:pPr eaLnBrk="1" hangingPunct="1"/>
            <a:r>
              <a:rPr lang="pt-PT" altLang="en-US" sz="4000"/>
              <a:t>Estruturas Hierárquicas</a:t>
            </a:r>
            <a:br>
              <a:rPr lang="pt-PT" altLang="en-US" sz="4000"/>
            </a:br>
            <a:r>
              <a:rPr lang="pt-PT" altLang="en-US" sz="4000"/>
              <a:t>(Árvores)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50C4B3FF-D7D1-489B-A407-1ABFCF035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71650"/>
            <a:ext cx="8229600" cy="45370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Esta estrutura de dados é das mais usadas e das mais importantes em computação. É usada em múltiplas aplicações como no representação dos movimentos de um jogador num jogo (e.g. damas, xadrez, </a:t>
            </a:r>
            <a:r>
              <a:rPr lang="pt-PT" altLang="en-US" sz="2400" dirty="0" err="1"/>
              <a:t>etc</a:t>
            </a:r>
            <a:r>
              <a:rPr lang="pt-PT" altLang="en-US" sz="2400" dirty="0"/>
              <a:t>), representação de expressões aritméticas, na pesquisa de informação (bases de dados, </a:t>
            </a:r>
            <a:r>
              <a:rPr lang="pt-PT" altLang="en-US" sz="2400" dirty="0" err="1"/>
              <a:t>etc</a:t>
            </a:r>
            <a:r>
              <a:rPr lang="pt-PT" altLang="en-US" sz="2400" dirty="0"/>
              <a:t>) e em geral quando temos de representar qualquer tipo de informação hierarquizada.</a:t>
            </a:r>
          </a:p>
          <a:p>
            <a:pPr eaLnBrk="1" hangingPunct="1">
              <a:lnSpc>
                <a:spcPct val="90000"/>
              </a:lnSpc>
            </a:pPr>
            <a:endParaRPr lang="pt-PT" altLang="en-US" sz="20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2000" dirty="0"/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Podemos representar árvores na forma sequencial (através de </a:t>
            </a:r>
            <a:r>
              <a:rPr lang="pt-PT" altLang="en-US" sz="2400" dirty="0" err="1"/>
              <a:t>arrays</a:t>
            </a:r>
            <a:r>
              <a:rPr lang="pt-PT" altLang="en-US" sz="2400" dirty="0"/>
              <a:t>) e na forma dinâmica (através de estruturas ligadas). Nestas aulas vamos adotar a última.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>
            <a:extLst>
              <a:ext uri="{FF2B5EF4-FFF2-40B4-BE49-F238E27FC236}">
                <a16:creationId xmlns:a16="http://schemas.microsoft.com/office/drawing/2014/main" id="{D7E76591-A32A-42B7-BDD3-97518C0F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E0091F3B-4AD0-467B-B076-195F7A16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A7F690-9C16-478B-8D63-FA4113268836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en-US" sz="14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873C5D71-3A66-4A7F-9DC2-32599943E3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792162"/>
          </a:xfrm>
        </p:spPr>
        <p:txBody>
          <a:bodyPr/>
          <a:lstStyle/>
          <a:p>
            <a:pPr eaLnBrk="1" hangingPunct="1"/>
            <a:r>
              <a:rPr lang="pt-PT" altLang="en-US"/>
              <a:t>Árvores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A91D7010-6921-4CF9-AFE0-BA877F77E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2160588"/>
          </a:xfrm>
        </p:spPr>
        <p:txBody>
          <a:bodyPr/>
          <a:lstStyle/>
          <a:p>
            <a:pPr eaLnBrk="1" hangingPunct="1"/>
            <a:r>
              <a:rPr lang="pt-PT" altLang="en-US" sz="2400"/>
              <a:t>Uma árvore é uma estrutura que pode ser vazia ou então tem um nó (célula) raiz. Esse nó tem associado nós filhos. No caso especial das </a:t>
            </a:r>
            <a:r>
              <a:rPr lang="pt-PT" altLang="en-US" sz="2400" i="1"/>
              <a:t>árvores binárias</a:t>
            </a:r>
            <a:r>
              <a:rPr lang="pt-PT" altLang="en-US" sz="2400"/>
              <a:t>, cada nó tem no máximo dois filhos. No caso geral, cada nó pode ser representado pela seguinte célula:</a:t>
            </a:r>
            <a:endParaRPr lang="pt-PT" altLang="en-US" sz="2800"/>
          </a:p>
        </p:txBody>
      </p:sp>
      <p:pic>
        <p:nvPicPr>
          <p:cNvPr id="5126" name="Picture 4">
            <a:extLst>
              <a:ext uri="{FF2B5EF4-FFF2-40B4-BE49-F238E27FC236}">
                <a16:creationId xmlns:a16="http://schemas.microsoft.com/office/drawing/2014/main" id="{0635364E-348F-46E5-B42A-E4BB6D54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3849688"/>
            <a:ext cx="3948112" cy="181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EE6A2DFE-D69E-44F9-B8F6-DB75749FA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FD91E6A4-1236-414D-86C5-5DBD0D69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DE6095-E719-4CDA-9EB8-A80CA42B02DF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en-US" sz="1400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84B9D179-8FC5-454E-8866-157C135CC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400"/>
              <a:t>A seguinte árvore:</a:t>
            </a:r>
          </a:p>
          <a:p>
            <a:pPr eaLnBrk="1" hangingPunct="1"/>
            <a:endParaRPr lang="pt-PT" altLang="en-US" sz="2400"/>
          </a:p>
          <a:p>
            <a:pPr eaLnBrk="1" hangingPunct="1"/>
            <a:endParaRPr lang="pt-PT" altLang="en-US" sz="2400"/>
          </a:p>
          <a:p>
            <a:pPr eaLnBrk="1" hangingPunct="1">
              <a:buFontTx/>
              <a:buNone/>
            </a:pPr>
            <a:r>
              <a:rPr lang="pt-PT" altLang="en-US" sz="2400"/>
              <a:t>pode ser representada pela estrutura: 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E7BAF6E8-AB1C-443B-B452-09F9596DC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175"/>
            <a:ext cx="8229600" cy="850900"/>
          </a:xfrm>
          <a:noFill/>
        </p:spPr>
        <p:txBody>
          <a:bodyPr/>
          <a:lstStyle/>
          <a:p>
            <a:pPr eaLnBrk="1" hangingPunct="1"/>
            <a:r>
              <a:rPr lang="pt-PT" altLang="en-US"/>
              <a:t>Árvores (cont)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768F8016-B12F-4673-99C2-EB19E4736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563" y="3487738"/>
            <a:ext cx="4264025" cy="303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5">
            <a:extLst>
              <a:ext uri="{FF2B5EF4-FFF2-40B4-BE49-F238E27FC236}">
                <a16:creationId xmlns:a16="http://schemas.microsoft.com/office/drawing/2014/main" id="{01381987-27DB-42CF-B734-02B092E05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32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1125538"/>
            <a:ext cx="2058987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>
            <a:extLst>
              <a:ext uri="{FF2B5EF4-FFF2-40B4-BE49-F238E27FC236}">
                <a16:creationId xmlns:a16="http://schemas.microsoft.com/office/drawing/2014/main" id="{44299735-9488-41FD-8619-5E9377D5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1D1F61A6-BA47-4EC1-B6EC-07D37465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C80099-434C-42BA-9883-936F063FA440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PT" altLang="en-US" sz="14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F26D6CCD-6B4E-4870-83CC-35A8A0D2D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92162"/>
          </a:xfrm>
        </p:spPr>
        <p:txBody>
          <a:bodyPr/>
          <a:lstStyle/>
          <a:p>
            <a:pPr eaLnBrk="1" hangingPunct="1"/>
            <a:r>
              <a:rPr lang="pt-PT" altLang="en-US"/>
              <a:t>Árvores Binárias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16B331FB-3328-4A21-A4A8-DF9FF4DC6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29813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Em geral, podemos trabalhar com árvores mais simples (árvores binárias). Estas são constituídas por nós que têm no máximo dois sucessores. Podemos usar a mesma célula que usamos nas listas duplamentes ligadas para representar nós de uma árvore binária. Neste caso, em vez de as ligações apontarem para os nós antecessores e sucessores, ambas indicam os sucessores na hierarquia.</a:t>
            </a:r>
          </a:p>
        </p:txBody>
      </p:sp>
      <p:pic>
        <p:nvPicPr>
          <p:cNvPr id="7174" name="Picture 4">
            <a:extLst>
              <a:ext uri="{FF2B5EF4-FFF2-40B4-BE49-F238E27FC236}">
                <a16:creationId xmlns:a16="http://schemas.microsoft.com/office/drawing/2014/main" id="{0F1A2DE6-6AF2-4EA5-A04D-73C0FBA51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60000" contras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067175"/>
            <a:ext cx="6108700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>
            <a:extLst>
              <a:ext uri="{FF2B5EF4-FFF2-40B4-BE49-F238E27FC236}">
                <a16:creationId xmlns:a16="http://schemas.microsoft.com/office/drawing/2014/main" id="{FA6E3E6F-C85C-49BA-AEEB-17C98D2D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8195" name="Slide Number Placeholder 5">
            <a:extLst>
              <a:ext uri="{FF2B5EF4-FFF2-40B4-BE49-F238E27FC236}">
                <a16:creationId xmlns:a16="http://schemas.microsoft.com/office/drawing/2014/main" id="{0F127AED-E987-4806-A86F-B1FCF4FE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4B5733-7F2D-473E-A986-1AD87D999362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PT" altLang="en-US" sz="1400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D907664F-D24E-44BE-A90D-68717C2405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Este tipo de árvores tem um enorme potencial de representação. As operações sobre estas árvores são também mais simples e eficientes.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Uma árvore binária tem sempre um nó </a:t>
            </a:r>
            <a:r>
              <a:rPr lang="pt-PT" altLang="en-US" sz="2400" i="1"/>
              <a:t>raiz</a:t>
            </a:r>
            <a:r>
              <a:rPr lang="pt-PT" altLang="en-US" sz="2400"/>
              <a:t> (que pode ser vazio indicando que a árvore é vazia). Cada nó raiz refere para duas sub-árvores (à sua esquerda e à direita).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Os nós que não são raiz são chamados nós </a:t>
            </a:r>
            <a:r>
              <a:rPr lang="pt-PT" altLang="en-US" sz="2400" i="1"/>
              <a:t>internos</a:t>
            </a:r>
            <a:r>
              <a:rPr lang="pt-PT" altLang="en-US" sz="2400"/>
              <a:t>. Os nós terminais da árvore são chamados nós </a:t>
            </a:r>
            <a:r>
              <a:rPr lang="pt-PT" altLang="en-US" sz="2400" i="1"/>
              <a:t>folhas</a:t>
            </a:r>
            <a:r>
              <a:rPr lang="pt-PT" altLang="en-US" sz="2400"/>
              <a:t>. Uma forma interessante de reconhecer que a nossa estrutura de dados é uma árvore é que há sempre um caminho único na árvore entre a raiz e as folhas! 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As árvores binárias são estruturas extremamente eficientes para guardar informação que vai ser intensamente pesquisada.</a:t>
            </a:r>
          </a:p>
        </p:txBody>
      </p:sp>
      <p:sp>
        <p:nvSpPr>
          <p:cNvPr id="8197" name="Rectangle 4">
            <a:extLst>
              <a:ext uri="{FF2B5EF4-FFF2-40B4-BE49-F238E27FC236}">
                <a16:creationId xmlns:a16="http://schemas.microsoft.com/office/drawing/2014/main" id="{152A9F3B-31DB-4888-8913-C6B624CDE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22337"/>
          </a:xfrm>
          <a:noFill/>
        </p:spPr>
        <p:txBody>
          <a:bodyPr/>
          <a:lstStyle/>
          <a:p>
            <a:pPr eaLnBrk="1" hangingPunct="1"/>
            <a:r>
              <a:rPr lang="pt-PT" altLang="en-US"/>
              <a:t>Árvores Binárias (cont)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>
            <a:extLst>
              <a:ext uri="{FF2B5EF4-FFF2-40B4-BE49-F238E27FC236}">
                <a16:creationId xmlns:a16="http://schemas.microsoft.com/office/drawing/2014/main" id="{46678163-1D27-4626-B511-787967D5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94ADF0D4-A465-4E46-AE61-2668180B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608C97-5377-4C77-AD43-8D9F33EB0BA1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PT" altLang="en-US" sz="14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8FB1B530-F3B7-4E5F-B124-1402507D0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92162"/>
          </a:xfrm>
        </p:spPr>
        <p:txBody>
          <a:bodyPr/>
          <a:lstStyle/>
          <a:p>
            <a:pPr eaLnBrk="1" hangingPunct="1"/>
            <a:r>
              <a:rPr lang="pt-PT" altLang="en-US"/>
              <a:t>Implementação &amp; Operações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1515F7D7-3EE0-4F34-9DDA-F1C70E08DF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229600" cy="5616575"/>
          </a:xfrm>
        </p:spPr>
        <p:txBody>
          <a:bodyPr/>
          <a:lstStyle/>
          <a:p>
            <a:pPr eaLnBrk="1" hangingPunct="1"/>
            <a:r>
              <a:rPr lang="pt-PT" altLang="en-US" sz="2400"/>
              <a:t>Nó de uma </a:t>
            </a:r>
            <a:r>
              <a:rPr lang="pt-PT" altLang="en-US" sz="2400" i="1"/>
              <a:t>árvore binária de pesquisa</a:t>
            </a:r>
            <a:r>
              <a:rPr lang="pt-PT" altLang="en-US" sz="2400"/>
              <a:t>. A classe é a mesma que </a:t>
            </a:r>
            <a:r>
              <a:rPr lang="pt-PT" altLang="en-US" sz="2400">
                <a:latin typeface="Times New Roman" panose="02020603050405020304" pitchFamily="18" charset="0"/>
              </a:rPr>
              <a:t>Celula2</a:t>
            </a:r>
            <a:r>
              <a:rPr lang="pt-PT" altLang="en-US" sz="2400"/>
              <a:t> (mudando os nomes de </a:t>
            </a:r>
            <a:r>
              <a:rPr lang="pt-PT" altLang="en-US" sz="2400">
                <a:latin typeface="Times New Roman" panose="02020603050405020304" pitchFamily="18" charset="0"/>
              </a:rPr>
              <a:t>ant</a:t>
            </a:r>
            <a:r>
              <a:rPr lang="pt-PT" altLang="en-US" sz="2400"/>
              <a:t> e </a:t>
            </a:r>
            <a:r>
              <a:rPr lang="pt-PT" altLang="en-US" sz="2400">
                <a:latin typeface="Times New Roman" panose="02020603050405020304" pitchFamily="18" charset="0"/>
              </a:rPr>
              <a:t>prox</a:t>
            </a:r>
            <a:r>
              <a:rPr lang="pt-PT" altLang="en-US" sz="2400"/>
              <a:t> para </a:t>
            </a:r>
            <a:r>
              <a:rPr lang="pt-PT" altLang="en-US" sz="2400">
                <a:latin typeface="Times New Roman" panose="02020603050405020304" pitchFamily="18" charset="0"/>
              </a:rPr>
              <a:t>esq</a:t>
            </a:r>
            <a:r>
              <a:rPr lang="pt-PT" altLang="en-US" sz="2400"/>
              <a:t> e </a:t>
            </a:r>
            <a:r>
              <a:rPr lang="pt-PT" altLang="en-US" sz="2400">
                <a:latin typeface="Times New Roman" panose="02020603050405020304" pitchFamily="18" charset="0"/>
              </a:rPr>
              <a:t>dir</a:t>
            </a:r>
            <a:r>
              <a:rPr lang="pt-PT" altLang="en-US" sz="2400"/>
              <a:t>). Chamamos </a:t>
            </a:r>
            <a:r>
              <a:rPr lang="pt-PT" altLang="en-US" sz="2400">
                <a:latin typeface="Times New Roman" panose="02020603050405020304" pitchFamily="18" charset="0"/>
              </a:rPr>
              <a:t>No</a:t>
            </a:r>
            <a:r>
              <a:rPr lang="pt-PT" altLang="en-US" sz="2400"/>
              <a:t> a esta classe. Temos assim os métodos </a:t>
            </a:r>
            <a:r>
              <a:rPr lang="pt-PT" altLang="en-US" sz="2400">
                <a:latin typeface="Times New Roman" panose="02020603050405020304" pitchFamily="18" charset="0"/>
              </a:rPr>
              <a:t>getEsq()</a:t>
            </a:r>
            <a:r>
              <a:rPr lang="pt-PT" altLang="en-US" sz="2400"/>
              <a:t> e </a:t>
            </a:r>
            <a:r>
              <a:rPr lang="pt-PT" altLang="en-US" sz="2400">
                <a:latin typeface="Times New Roman" panose="02020603050405020304" pitchFamily="18" charset="0"/>
              </a:rPr>
              <a:t>setEsq()</a:t>
            </a:r>
            <a:r>
              <a:rPr lang="pt-PT" altLang="en-US" sz="2400"/>
              <a:t>, etc.</a:t>
            </a:r>
          </a:p>
          <a:p>
            <a:pPr eaLnBrk="1" hangingPunct="1"/>
            <a:endParaRPr lang="pt-PT" altLang="en-US" sz="2400"/>
          </a:p>
          <a:p>
            <a:pPr eaLnBrk="1" hangingPunct="1"/>
            <a:r>
              <a:rPr lang="pt-PT" altLang="en-US" sz="2400"/>
              <a:t>Estas estruturas oferecem um enorme potencial para armazenar informação ordenada que se pretende pesquisar intensamente e eficientemente. Uma operação importante é a inserção ordenada de novos elementos na árvore.</a:t>
            </a:r>
          </a:p>
          <a:p>
            <a:pPr eaLnBrk="1" hangingPunct="1"/>
            <a:endParaRPr lang="pt-PT" altLang="en-US" sz="2400"/>
          </a:p>
          <a:p>
            <a:pPr eaLnBrk="1" hangingPunct="1"/>
            <a:r>
              <a:rPr lang="pt-PT" altLang="en-US" sz="2400"/>
              <a:t>O princípio é simples. Para um dado nó, os elementos à sua esquerda são sempre menores e os elementos à sua direita são sempre maiores.</a:t>
            </a:r>
          </a:p>
          <a:p>
            <a:pPr lvl="1" eaLnBrk="1" hangingPunct="1"/>
            <a:endParaRPr lang="pt-PT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>
            <a:extLst>
              <a:ext uri="{FF2B5EF4-FFF2-40B4-BE49-F238E27FC236}">
                <a16:creationId xmlns:a16="http://schemas.microsoft.com/office/drawing/2014/main" id="{C6FFD541-98AC-4C57-97AA-ABD714DB4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6FE607B6-3299-48C7-B20F-F027C571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549B35-A54E-4934-A651-2658A3D93DCD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PT" altLang="en-US" sz="1400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3E433DCB-27F9-44D4-A6BD-B97889950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22337"/>
          </a:xfrm>
        </p:spPr>
        <p:txBody>
          <a:bodyPr/>
          <a:lstStyle/>
          <a:p>
            <a:pPr eaLnBrk="1" hangingPunct="1"/>
            <a:r>
              <a:rPr lang="pt-PT" altLang="en-US"/>
              <a:t>Inserção Ordenada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D4014F19-2EFE-4634-8AAF-31222A9A06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1655762"/>
          </a:xfrm>
        </p:spPr>
        <p:txBody>
          <a:bodyPr/>
          <a:lstStyle/>
          <a:p>
            <a:pPr eaLnBrk="1" hangingPunct="1"/>
            <a:r>
              <a:rPr lang="pt-PT" altLang="en-US" sz="2000"/>
              <a:t>Se pretendermos inserir um novo elemento, percorremos a árvore desde o nó raiz até se encontrar um nó folha. A decisão de prosseguir pela sub-árvore esquerda ou direita de um nó é comandada pelo princípio anteriormente descrito (esquerda menores, direita maiores).</a:t>
            </a:r>
          </a:p>
        </p:txBody>
      </p:sp>
      <p:pic>
        <p:nvPicPr>
          <p:cNvPr id="10246" name="Picture 4">
            <a:extLst>
              <a:ext uri="{FF2B5EF4-FFF2-40B4-BE49-F238E27FC236}">
                <a16:creationId xmlns:a16="http://schemas.microsoft.com/office/drawing/2014/main" id="{C4B02072-8FE4-4C76-B43A-C81F8F290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708275"/>
            <a:ext cx="4443413" cy="346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AutoShape 5">
            <a:extLst>
              <a:ext uri="{FF2B5EF4-FFF2-40B4-BE49-F238E27FC236}">
                <a16:creationId xmlns:a16="http://schemas.microsoft.com/office/drawing/2014/main" id="{FBAF72F5-77FD-41AA-A9A6-1FF2BCBA2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3068638"/>
            <a:ext cx="3313112" cy="2232025"/>
          </a:xfrm>
          <a:prstGeom prst="wedgeRectCallout">
            <a:avLst>
              <a:gd name="adj1" fmla="val -81579"/>
              <a:gd name="adj2" fmla="val 7446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/>
              <a:t>Inserção é então um processo recursivo simples de comparação entre nó a inserir (novo) e o nó onde estamos durante a travessia. Quando um nó folha é encontrado,  o nó a inserir passa a ser o filho à sua esquerda (direita) se o novo nó for menor (maior) que ele.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>
            <a:extLst>
              <a:ext uri="{FF2B5EF4-FFF2-40B4-BE49-F238E27FC236}">
                <a16:creationId xmlns:a16="http://schemas.microsoft.com/office/drawing/2014/main" id="{B5590BD7-7E43-47A2-9970-CB925CE0F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EB854181-19A8-4136-8A14-97DF0401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59ECCB-36EB-4BDD-ABAB-5AA48B53FC57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PT" altLang="en-US" sz="1400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373E5A6D-A0E4-42EB-AAAA-4ADCF5F6D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20725"/>
          </a:xfrm>
        </p:spPr>
        <p:txBody>
          <a:bodyPr/>
          <a:lstStyle/>
          <a:p>
            <a:pPr eaLnBrk="1" hangingPunct="1"/>
            <a:r>
              <a:rPr lang="pt-PT" altLang="en-US" sz="3600" dirty="0"/>
              <a:t>Implementação da Inserção Ordenada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68FF2FA9-9383-4C5E-8542-4455DC7D1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229600" cy="5759450"/>
          </a:xfrm>
        </p:spPr>
        <p:txBody>
          <a:bodyPr/>
          <a:lstStyle/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void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insord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(E novo)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	if(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this.getInfo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().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less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(novo))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if(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().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insord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(novo);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else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{	No n = new No(novo);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this.setDir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(n);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		}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else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if(!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novo.equals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this.getInfo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()))  // não há repetidos!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if(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().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insord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(novo);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else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 {	No n = new No(novo);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this.setEsq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(n);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 	}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1270" name="AutoShape 4">
            <a:extLst>
              <a:ext uri="{FF2B5EF4-FFF2-40B4-BE49-F238E27FC236}">
                <a16:creationId xmlns:a16="http://schemas.microsoft.com/office/drawing/2014/main" id="{83914054-648D-415D-84DB-6BEFB130F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1268413"/>
            <a:ext cx="2266950" cy="1368425"/>
          </a:xfrm>
          <a:prstGeom prst="wedgeRectCallout">
            <a:avLst>
              <a:gd name="adj1" fmla="val -178944"/>
              <a:gd name="adj2" fmla="val -6995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Invocar este método da seguinte forma (exemplo):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>
                <a:latin typeface="Times New Roman" panose="02020603050405020304" pitchFamily="18" charset="0"/>
              </a:rPr>
              <a:t>No&lt;Integer&gt; raiz = new No(5);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>
                <a:latin typeface="Times New Roman" panose="02020603050405020304" pitchFamily="18" charset="0"/>
              </a:rPr>
              <a:t>raiz.insord(3),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>
                <a:latin typeface="Times New Roman" panose="02020603050405020304" pitchFamily="18" charset="0"/>
              </a:rPr>
              <a:t>raiz.insord(8);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>
                <a:latin typeface="Times New Roman" panose="02020603050405020304" pitchFamily="18" charset="0"/>
              </a:rPr>
              <a:t>raiz.insord(1);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>
                <a:latin typeface="Times New Roman" panose="02020603050405020304" pitchFamily="18" charset="0"/>
              </a:rPr>
              <a:t>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>
            <a:extLst>
              <a:ext uri="{FF2B5EF4-FFF2-40B4-BE49-F238E27FC236}">
                <a16:creationId xmlns:a16="http://schemas.microsoft.com/office/drawing/2014/main" id="{093A325D-41FB-4D73-887C-7751FF3D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845252B2-B5A7-44AC-81E1-BF85DE82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17291F-48A9-490A-A66F-AB699104D09A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PT" altLang="en-US" sz="1400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931C40A5-0126-42E1-AC1C-BBE3295B7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50900"/>
          </a:xfrm>
        </p:spPr>
        <p:txBody>
          <a:bodyPr/>
          <a:lstStyle/>
          <a:p>
            <a:pPr eaLnBrk="1" hangingPunct="1"/>
            <a:r>
              <a:rPr lang="pt-PT" altLang="en-US"/>
              <a:t>Travessias em Árvores Binárias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CFA43274-27EA-4717-B9B3-D7EAEB380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276475"/>
            <a:ext cx="8229600" cy="42481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pt-PT" altLang="en-US" sz="2800"/>
          </a:p>
          <a:p>
            <a:pPr eaLnBrk="1" hangingPunct="1">
              <a:lnSpc>
                <a:spcPct val="90000"/>
              </a:lnSpc>
            </a:pPr>
            <a:endParaRPr lang="pt-PT" altLang="en-US" sz="2800"/>
          </a:p>
          <a:p>
            <a:pPr eaLnBrk="1" hangingPunct="1">
              <a:lnSpc>
                <a:spcPct val="90000"/>
              </a:lnSpc>
            </a:pPr>
            <a:r>
              <a:rPr lang="pt-PT" altLang="en-US" sz="2000" i="1"/>
              <a:t>Pré-ordem</a:t>
            </a:r>
            <a:r>
              <a:rPr lang="pt-PT" altLang="en-US" sz="2000"/>
              <a:t> (raiz, sub-árvore esquerda, sub-árvore direita)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>
                <a:latin typeface="Times New Roman" panose="02020603050405020304" pitchFamily="18" charset="0"/>
              </a:rPr>
              <a:t>[* 3 / 5 7]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i="1"/>
              <a:t>In-ordem</a:t>
            </a:r>
            <a:r>
              <a:rPr lang="pt-PT" altLang="en-US" sz="2000"/>
              <a:t> (sub-árvore esquerda, raiz, sub-árvore direita)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>
                <a:latin typeface="Times New Roman" panose="02020603050405020304" pitchFamily="18" charset="0"/>
              </a:rPr>
              <a:t>[ 3 * 5 / 7]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i="1"/>
              <a:t>Pós-ordem</a:t>
            </a:r>
            <a:r>
              <a:rPr lang="pt-PT" altLang="en-US" sz="2000"/>
              <a:t> (sub-árvore esquerda, sub-árvore direita, raiz)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>
                <a:latin typeface="Times New Roman" panose="02020603050405020304" pitchFamily="18" charset="0"/>
              </a:rPr>
              <a:t>[ 3 5 7 / *]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Numa árvore ordenada, para se obter a sequência ordenada, a travessia tem de ser </a:t>
            </a:r>
            <a:r>
              <a:rPr lang="pt-PT" altLang="en-US" sz="2000" i="1"/>
              <a:t>in-ordem</a:t>
            </a:r>
            <a:r>
              <a:rPr lang="pt-PT" altLang="en-US" sz="2000"/>
              <a:t>!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No caso de pesquisas de elementos numa árvore ordenada a travessia é comandada pelo teste nos nós raiz de cada sub-árvore.</a:t>
            </a:r>
          </a:p>
        </p:txBody>
      </p:sp>
      <p:pic>
        <p:nvPicPr>
          <p:cNvPr id="12294" name="Picture 4">
            <a:extLst>
              <a:ext uri="{FF2B5EF4-FFF2-40B4-BE49-F238E27FC236}">
                <a16:creationId xmlns:a16="http://schemas.microsoft.com/office/drawing/2014/main" id="{81DF5271-04AA-4D97-A335-23BC0C155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638" y="754063"/>
            <a:ext cx="3768725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>
            <a:extLst>
              <a:ext uri="{FF2B5EF4-FFF2-40B4-BE49-F238E27FC236}">
                <a16:creationId xmlns:a16="http://schemas.microsoft.com/office/drawing/2014/main" id="{FFC832F6-78FF-4E70-93D3-E1D80912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736AFC4D-C6D8-41D9-B932-B6436852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DCE56C-BF72-42E3-8FFC-A512A1F3B3D1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PT" altLang="en-US" sz="1400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1294D144-FACF-4D8F-8EC9-636AB573C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20725"/>
          </a:xfrm>
        </p:spPr>
        <p:txBody>
          <a:bodyPr/>
          <a:lstStyle/>
          <a:p>
            <a:pPr eaLnBrk="1" hangingPunct="1"/>
            <a:r>
              <a:rPr lang="pt-PT" altLang="en-US" sz="4000"/>
              <a:t>Travessias (implementação)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D9286924-DFD9-423B-AD4D-A56D360D4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229600" cy="59769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1800"/>
              <a:t>Nestes métodos é fornecido: um array para conter a sequência com a ordem que reflecte a travessia, a próxima posição a utilizar.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public int pre-ordem(int index, E a[ ])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	a[index++] = this.getInfo();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if(this.getEsq() != null)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index = this.getEsq().pre-ordem(index,a);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if(this.getDir() != null)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index = this.getDir().pre-ordem(index,a);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return(index);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public int in-ordem(int index, E a[ ])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if(this.getEsq() != null)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index = this.getEsq().in-ordem(index,a);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a[index++] = this.getInfo();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if(this.getDir() != null)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index = this.getDir().in-ordem(index,a);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return(index);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C1A9FB28-2C0E-41DD-8234-B6E352C39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789363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13319" name="AutoShape 7">
            <a:extLst>
              <a:ext uri="{FF2B5EF4-FFF2-40B4-BE49-F238E27FC236}">
                <a16:creationId xmlns:a16="http://schemas.microsoft.com/office/drawing/2014/main" id="{26C777F8-0338-406E-B752-7F7997C69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89363"/>
            <a:ext cx="3276600" cy="1800225"/>
          </a:xfrm>
          <a:prstGeom prst="wedgeRectCallout">
            <a:avLst>
              <a:gd name="adj1" fmla="val -37727"/>
              <a:gd name="adj2" fmla="val 1201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public int pos-ordem(int index, E a[ ])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{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if(this.getEsq() != null)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   index = this.getEsq().pos-ordem(index,a);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if(this.getDir() != null)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   index = this.getDir().pos-ordem(index,a);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a[index++] = this.getInfo();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return(index);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}</a:t>
            </a:r>
          </a:p>
        </p:txBody>
      </p:sp>
      <p:sp>
        <p:nvSpPr>
          <p:cNvPr id="13320" name="AutoShape 8">
            <a:extLst>
              <a:ext uri="{FF2B5EF4-FFF2-40B4-BE49-F238E27FC236}">
                <a16:creationId xmlns:a16="http://schemas.microsoft.com/office/drawing/2014/main" id="{9EA35689-5B28-431C-946D-98DDC6D61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1700213"/>
            <a:ext cx="2916237" cy="865187"/>
          </a:xfrm>
          <a:prstGeom prst="wedgeRectCallout">
            <a:avLst>
              <a:gd name="adj1" fmla="val -112931"/>
              <a:gd name="adj2" fmla="val -7880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Invocar o método da seguinte forma      (assumindo </a:t>
            </a:r>
            <a:r>
              <a:rPr lang="pt-PT" altLang="en-US" sz="1200" i="1"/>
              <a:t>raiz</a:t>
            </a:r>
            <a:r>
              <a:rPr lang="pt-PT" altLang="en-US" sz="1200"/>
              <a:t> como raiz da árvore):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E a[ ] = new E[ (tamanho) 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int nada = raiz.pre-ordem(0,a);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>
            <a:extLst>
              <a:ext uri="{FF2B5EF4-FFF2-40B4-BE49-F238E27FC236}">
                <a16:creationId xmlns:a16="http://schemas.microsoft.com/office/drawing/2014/main" id="{C4347E6B-BDA5-4A08-B1B5-2EEB804E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18E69D2D-8451-41EC-860D-59960150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3C5CA1-0498-4B7A-9BD2-C6D50C873CB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PT" altLang="en-US" sz="140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AC3D3AAF-A677-46BD-8FBF-8E84DB8FD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06437"/>
          </a:xfrm>
        </p:spPr>
        <p:txBody>
          <a:bodyPr/>
          <a:lstStyle/>
          <a:p>
            <a:pPr eaLnBrk="1" hangingPunct="1"/>
            <a:r>
              <a:rPr lang="pt-PT" altLang="en-US" sz="4000"/>
              <a:t>Pesquisa numa Árvore Binária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39F8FB5D-6E3D-44C1-9911-4F58D1C441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09638"/>
            <a:ext cx="8229600" cy="5832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Procurar um elemento numa árvore binária ordenada.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2000" dirty="0"/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boolean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contains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(E novo)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	if(!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novo.equals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this.getInfo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()))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if(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novo.less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this.getInfo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()))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if(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	return(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().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contains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(novo));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else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	return(false);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else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 if(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	return(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().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contains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(novo));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 else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	return(false);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else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return(true);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4342" name="AutoShape 4">
            <a:extLst>
              <a:ext uri="{FF2B5EF4-FFF2-40B4-BE49-F238E27FC236}">
                <a16:creationId xmlns:a16="http://schemas.microsoft.com/office/drawing/2014/main" id="{E0D6F373-C125-4657-B499-5339A6A5B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628775"/>
            <a:ext cx="2376487" cy="792163"/>
          </a:xfrm>
          <a:prstGeom prst="wedgeRectCallout">
            <a:avLst>
              <a:gd name="adj1" fmla="val -138778"/>
              <a:gd name="adj2" fmla="val -351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Invocar o método da seguinte forma (assumindo </a:t>
            </a:r>
            <a:r>
              <a:rPr lang="pt-PT" altLang="en-US" sz="1200" i="1"/>
              <a:t>raiz</a:t>
            </a:r>
            <a:r>
              <a:rPr lang="pt-PT" altLang="en-US" sz="1200"/>
              <a:t> como raiz da árvore):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boolean flag = raiz.contains(5);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>
            <a:extLst>
              <a:ext uri="{FF2B5EF4-FFF2-40B4-BE49-F238E27FC236}">
                <a16:creationId xmlns:a16="http://schemas.microsoft.com/office/drawing/2014/main" id="{D07C85EB-00CB-44AE-8BF4-5FC0E42A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6D3F1FFD-E726-4BFE-BFC0-66DC9970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B87596-4632-4AA6-8DD8-02402676689E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PT" altLang="en-US" sz="1400"/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B8B16BA4-A967-4479-8DC7-690CADDFC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706437"/>
          </a:xfrm>
        </p:spPr>
        <p:txBody>
          <a:bodyPr/>
          <a:lstStyle/>
          <a:p>
            <a:pPr eaLnBrk="1" hangingPunct="1"/>
            <a:r>
              <a:rPr lang="pt-PT" altLang="en-US" sz="3200"/>
              <a:t>Eliminação em Árvores Binárias Ordenadas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D3D27C14-B207-468E-8AEA-0453539D7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8244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O problema que se coloca é que após a eliminação de um elemento na árvore, queremos preservar a ordem da sequência da árvore. Como estas são árvores de pesquisa, temos primeiro de encontrar e eliminar o elemento em questão e posteriormente reconstruir a ordem.</a:t>
            </a:r>
          </a:p>
          <a:p>
            <a:pPr eaLnBrk="1" hangingPunct="1">
              <a:lnSpc>
                <a:spcPct val="90000"/>
              </a:lnSpc>
            </a:pPr>
            <a:endParaRPr lang="pt-PT" altLang="en-US" sz="2400"/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Três casos a ter em conta: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2400"/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Nó a eliminar é folha: caso simples de eliminação directa,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Nó tem só um filho: o filho substitui o pai!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Nó tem dois filhos: substituir nó a eliminar pelo nó com o valor mais baixo da sua sub-árvore direita.</a:t>
            </a:r>
            <a:endParaRPr lang="pt-PT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>
            <a:extLst>
              <a:ext uri="{FF2B5EF4-FFF2-40B4-BE49-F238E27FC236}">
                <a16:creationId xmlns:a16="http://schemas.microsoft.com/office/drawing/2014/main" id="{E6CB8B39-F318-410E-8EC6-082157BF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E626EB44-0D6B-4696-A6F8-633E764D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B84F82-160F-4E71-BC16-71AF294E644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PT" altLang="en-US" sz="1400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4AB1677C-EC8F-46D7-9D1C-A5F02E223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06437"/>
          </a:xfrm>
        </p:spPr>
        <p:txBody>
          <a:bodyPr/>
          <a:lstStyle/>
          <a:p>
            <a:pPr eaLnBrk="1" hangingPunct="1"/>
            <a:r>
              <a:rPr lang="pt-PT" altLang="en-US" sz="3200"/>
              <a:t>Eliminação em Árvores Binárias (cont)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851DD8C6-4AF6-4A34-9D47-AD969DFAEB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229600" cy="1008063"/>
          </a:xfrm>
        </p:spPr>
        <p:txBody>
          <a:bodyPr/>
          <a:lstStyle/>
          <a:p>
            <a:pPr eaLnBrk="1" hangingPunct="1"/>
            <a:r>
              <a:rPr lang="pt-PT" altLang="en-US" sz="2400"/>
              <a:t>Esquematicamente temos as seguintes situações:</a:t>
            </a:r>
          </a:p>
        </p:txBody>
      </p:sp>
      <p:pic>
        <p:nvPicPr>
          <p:cNvPr id="16390" name="Picture 4">
            <a:extLst>
              <a:ext uri="{FF2B5EF4-FFF2-40B4-BE49-F238E27FC236}">
                <a16:creationId xmlns:a16="http://schemas.microsoft.com/office/drawing/2014/main" id="{C7B88688-CB6C-4D0B-9C79-5FDD4CA77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56000" contras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5" y="1449388"/>
            <a:ext cx="4983163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>
            <a:extLst>
              <a:ext uri="{FF2B5EF4-FFF2-40B4-BE49-F238E27FC236}">
                <a16:creationId xmlns:a16="http://schemas.microsoft.com/office/drawing/2014/main" id="{873D333F-29F3-4416-8DEA-BAAD868C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37B87BC5-A582-492A-9135-3C0D056E4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774A74-D661-40E1-AAF0-8478E0637AAF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PT" altLang="en-US" sz="1400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AC717F64-6FE9-4955-B613-A0576EDCC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5888"/>
            <a:ext cx="8964612" cy="67421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No delete(E novo)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{ 		if(!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novo.equals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this.getInfo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()))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if(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novo.less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this.getInfo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()))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{	if(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this.setEsq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().delete(novo));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	return(this); 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}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else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{	 if(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this.setDir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().delete(novo));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	 return(this); 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}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else	// Sucesso…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{		if(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 == null &amp;&amp;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 == null) // nó a fazer delete é folha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	return(null);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// no tem um só filho!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if(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 &amp;&amp;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 == null)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	return(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if(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 == null &amp;&amp;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	return(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if(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this.getEsq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 &amp;&amp;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 // nó é raiz duma subárvore n. vazia!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{	E temp =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this.delete_menor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	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this.setInfo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(temp);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	return(this);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		}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404C5812-2001-4664-B7BB-4F58E2577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938" y="71438"/>
            <a:ext cx="3059112" cy="981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Apagar um elemento 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uma árvore binária ordenada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preservando a ordem.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>
            <a:extLst>
              <a:ext uri="{FF2B5EF4-FFF2-40B4-BE49-F238E27FC236}">
                <a16:creationId xmlns:a16="http://schemas.microsoft.com/office/drawing/2014/main" id="{37F955DB-6890-4E7E-9F5F-9D2E0BC5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EF12C2CE-6A8C-4A8A-AF92-8102A1DB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A815AF-2982-41B9-8018-A828EA6EC677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PT" altLang="en-US" sz="1400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9853C698-1F0E-4D8B-A438-C6A3BCF541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3350" y="1052513"/>
            <a:ext cx="7200900" cy="55451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procura menor elemento da subárvore direita e elimina.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private E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delete_menor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No inicio = this;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No temp =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this.getDir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();  // vai para o lado direito procurar menor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while(temp != null &amp;&amp;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temp.getEsq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{	inicio = temp;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temp =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temp.getEsq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if(this != inicio)	 // this só tem 1 filho??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inicio.setEsq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temp.getDir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()); // faz delete a nó temp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else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inicio.setDir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temp.getDir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()); // faz delete a nó temp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return(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temp.getInfo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09752893-BA94-49E6-A1A6-EE21D97EC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0"/>
            <a:ext cx="3059113" cy="981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Procura menor elemento da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subárvore direita do nó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eliminar, eliminando-o.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>
            <a:extLst>
              <a:ext uri="{FF2B5EF4-FFF2-40B4-BE49-F238E27FC236}">
                <a16:creationId xmlns:a16="http://schemas.microsoft.com/office/drawing/2014/main" id="{0630DD55-21A3-46D3-A458-114EBDEA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6B6C25D5-8EEF-4F9E-AFDF-D3472194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7A018E-943A-4A75-BC5B-E67236F85081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PT" altLang="en-US" sz="14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5C278E0-EEFD-4E3E-A7C4-A4975B123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20725"/>
          </a:xfrm>
        </p:spPr>
        <p:txBody>
          <a:bodyPr/>
          <a:lstStyle/>
          <a:p>
            <a:pPr eaLnBrk="1" hangingPunct="1"/>
            <a:r>
              <a:rPr lang="pt-PT" altLang="en-US" sz="3200"/>
              <a:t>Balanceamento de Árvores Binárias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2BF0FE6B-6AF9-45C8-83A2-8FDD71B5B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789363"/>
            <a:ext cx="8229600" cy="2735262"/>
          </a:xfrm>
        </p:spPr>
        <p:txBody>
          <a:bodyPr/>
          <a:lstStyle/>
          <a:p>
            <a:pPr eaLnBrk="1" hangingPunct="1"/>
            <a:r>
              <a:rPr lang="pt-PT" altLang="en-US" sz="2000" dirty="0"/>
              <a:t>Pesquisar o elemento 10 requer 5 comparações na árvore esquerda e 2 na direita (ambas representam a mesma sequência)</a:t>
            </a:r>
          </a:p>
          <a:p>
            <a:pPr eaLnBrk="1" hangingPunct="1"/>
            <a:r>
              <a:rPr lang="pt-PT" altLang="en-US" sz="2000" dirty="0"/>
              <a:t>O problema surge com o desequilíbrio da árvore esquerda. As árvores </a:t>
            </a:r>
            <a:r>
              <a:rPr lang="pt-PT" altLang="en-US" sz="2000" i="1" dirty="0"/>
              <a:t>self-</a:t>
            </a:r>
            <a:r>
              <a:rPr lang="pt-PT" altLang="en-US" sz="2000" i="1" dirty="0" err="1"/>
              <a:t>balanced</a:t>
            </a:r>
            <a:r>
              <a:rPr lang="pt-PT" altLang="en-US" sz="2000" dirty="0"/>
              <a:t> e.g., AVL, resolvem este problema </a:t>
            </a:r>
            <a:r>
              <a:rPr lang="pt-PT" altLang="en-US" sz="2000" i="1" dirty="0"/>
              <a:t>balanceando</a:t>
            </a:r>
            <a:r>
              <a:rPr lang="pt-PT" altLang="en-US" sz="2000" dirty="0"/>
              <a:t> os ramos da árvore após cada inserção/remoção, garantindo complexidade logarítmica.</a:t>
            </a:r>
          </a:p>
          <a:p>
            <a:pPr eaLnBrk="1" hangingPunct="1"/>
            <a:r>
              <a:rPr lang="pt-PT" altLang="en-US" sz="2000" dirty="0"/>
              <a:t>A segunda árvore está balanceada: isto é, para cada nó, o ramo de maior tamanho de cada uma das suas subárvores difere no máximo de 1 unidade!</a:t>
            </a:r>
          </a:p>
        </p:txBody>
      </p:sp>
      <p:pic>
        <p:nvPicPr>
          <p:cNvPr id="19462" name="Picture 4">
            <a:extLst>
              <a:ext uri="{FF2B5EF4-FFF2-40B4-BE49-F238E27FC236}">
                <a16:creationId xmlns:a16="http://schemas.microsoft.com/office/drawing/2014/main" id="{440720F5-3AD4-4267-84AA-F78D65471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75" y="665163"/>
            <a:ext cx="6064250" cy="319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>
            <a:extLst>
              <a:ext uri="{FF2B5EF4-FFF2-40B4-BE49-F238E27FC236}">
                <a16:creationId xmlns:a16="http://schemas.microsoft.com/office/drawing/2014/main" id="{0630DD55-21A3-46D3-A458-114EBDEA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6B6C25D5-8EEF-4F9E-AFDF-D3472194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7A018E-943A-4A75-BC5B-E67236F85081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PT" altLang="en-US" sz="14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5C278E0-EEFD-4E3E-A7C4-A4975B123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20725"/>
          </a:xfrm>
        </p:spPr>
        <p:txBody>
          <a:bodyPr/>
          <a:lstStyle/>
          <a:p>
            <a:pPr eaLnBrk="1" hangingPunct="1"/>
            <a:r>
              <a:rPr lang="pt-PT" altLang="en-US" sz="3200" dirty="0"/>
              <a:t>Balanceamento de Árvores Binárias - AVL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587C69-9DF6-4A24-80B9-77F69E91C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2832"/>
            <a:ext cx="8229600" cy="1716088"/>
          </a:xfrm>
        </p:spPr>
        <p:txBody>
          <a:bodyPr/>
          <a:lstStyle/>
          <a:p>
            <a:r>
              <a:rPr lang="pt-PT" sz="2400" dirty="0"/>
              <a:t>Associar um parâmetro a cada nó que indica  se há uma subárvore maior que a outra e qual ou o contrário i.e., equilíbrio.</a:t>
            </a:r>
          </a:p>
          <a:p>
            <a:r>
              <a:rPr lang="pt-PT" sz="2400" dirty="0"/>
              <a:t>B </a:t>
            </a:r>
            <a:r>
              <a:rPr lang="pt-PT" sz="2400" dirty="0">
                <a:sym typeface="Wingdings" panose="05000000000000000000" pitchFamily="2" charset="2"/>
              </a:rPr>
              <a:t></a:t>
            </a:r>
            <a:r>
              <a:rPr lang="pt-PT" sz="2400" dirty="0"/>
              <a:t> balanceada</a:t>
            </a:r>
          </a:p>
          <a:p>
            <a:r>
              <a:rPr lang="pt-PT" sz="2400" dirty="0"/>
              <a:t>R </a:t>
            </a:r>
            <a:r>
              <a:rPr lang="pt-PT" sz="2400" dirty="0">
                <a:sym typeface="Wingdings" panose="05000000000000000000" pitchFamily="2" charset="2"/>
              </a:rPr>
              <a:t></a:t>
            </a:r>
            <a:r>
              <a:rPr lang="pt-PT" sz="2400" dirty="0"/>
              <a:t> </a:t>
            </a:r>
            <a:r>
              <a:rPr lang="pt-PT" sz="2400" dirty="0" err="1"/>
              <a:t>dir</a:t>
            </a:r>
            <a:r>
              <a:rPr lang="pt-PT" sz="2400" dirty="0"/>
              <a:t> &gt; </a:t>
            </a:r>
            <a:r>
              <a:rPr lang="pt-PT" sz="2400" dirty="0" err="1"/>
              <a:t>esq</a:t>
            </a:r>
            <a:endParaRPr lang="pt-PT" sz="2400" dirty="0"/>
          </a:p>
          <a:p>
            <a:r>
              <a:rPr lang="pt-PT" sz="2400" dirty="0"/>
              <a:t>L </a:t>
            </a:r>
            <a:r>
              <a:rPr lang="pt-PT" sz="2400" dirty="0">
                <a:sym typeface="Wingdings" panose="05000000000000000000" pitchFamily="2" charset="2"/>
              </a:rPr>
              <a:t></a:t>
            </a:r>
            <a:r>
              <a:rPr lang="pt-PT" sz="2400" dirty="0"/>
              <a:t> </a:t>
            </a:r>
            <a:r>
              <a:rPr lang="pt-PT" sz="2400" dirty="0" err="1"/>
              <a:t>esq</a:t>
            </a:r>
            <a:r>
              <a:rPr lang="pt-PT" sz="2400" dirty="0"/>
              <a:t> &gt; </a:t>
            </a:r>
            <a:r>
              <a:rPr lang="pt-PT" sz="2400" dirty="0" err="1"/>
              <a:t>dir</a:t>
            </a:r>
            <a:endParaRPr lang="pt-PT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5AB83E-5E42-4E90-BCD6-B22157DB2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633" y="1833417"/>
            <a:ext cx="5174855" cy="32517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B74A9D-11D4-4EBE-B402-B0BA083B4BA5}"/>
              </a:ext>
            </a:extLst>
          </p:cNvPr>
          <p:cNvSpPr txBox="1"/>
          <p:nvPr/>
        </p:nvSpPr>
        <p:spPr>
          <a:xfrm>
            <a:off x="395536" y="4945231"/>
            <a:ext cx="7404015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>
                <a:sym typeface="Wingdings" panose="05000000000000000000" pitchFamily="2" charset="2"/>
              </a:rPr>
              <a:t>Casos sem necessidade de balanceamento:</a:t>
            </a:r>
          </a:p>
          <a:p>
            <a:pPr lvl="1"/>
            <a:r>
              <a:rPr lang="pt-PT" sz="1800" dirty="0">
                <a:sym typeface="Wingdings" panose="05000000000000000000" pitchFamily="2" charset="2"/>
              </a:rPr>
              <a:t>inserção no lado esquerdo e fator é BAL          passa a LEFT</a:t>
            </a:r>
          </a:p>
          <a:p>
            <a:pPr lvl="1"/>
            <a:r>
              <a:rPr lang="pt-PT" sz="1800" dirty="0">
                <a:sym typeface="Wingdings" panose="05000000000000000000" pitchFamily="2" charset="2"/>
              </a:rPr>
              <a:t>inserção no lado direito e fator é BAL               passa a RIGHT</a:t>
            </a:r>
          </a:p>
          <a:p>
            <a:pPr lvl="1"/>
            <a:r>
              <a:rPr lang="pt-PT" sz="1800" dirty="0">
                <a:sym typeface="Wingdings" panose="05000000000000000000" pitchFamily="2" charset="2"/>
              </a:rPr>
              <a:t>inserção no lado esquerdo e fator é RIGHT     passa a BAL</a:t>
            </a:r>
          </a:p>
          <a:p>
            <a:pPr lvl="1"/>
            <a:r>
              <a:rPr lang="pt-PT" sz="1800" dirty="0">
                <a:sym typeface="Wingdings" panose="05000000000000000000" pitchFamily="2" charset="2"/>
              </a:rPr>
              <a:t>inserção no lado direito e fator é LEFT             passa a BAL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07981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>
            <a:extLst>
              <a:ext uri="{FF2B5EF4-FFF2-40B4-BE49-F238E27FC236}">
                <a16:creationId xmlns:a16="http://schemas.microsoft.com/office/drawing/2014/main" id="{0630DD55-21A3-46D3-A458-114EBDEA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6B6C25D5-8EEF-4F9E-AFDF-D3472194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7A018E-943A-4A75-BC5B-E67236F85081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pt-PT" altLang="en-US" sz="14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5C278E0-EEFD-4E3E-A7C4-A4975B123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20725"/>
          </a:xfrm>
        </p:spPr>
        <p:txBody>
          <a:bodyPr/>
          <a:lstStyle/>
          <a:p>
            <a:pPr eaLnBrk="1" hangingPunct="1"/>
            <a:r>
              <a:rPr lang="pt-PT" altLang="en-US" sz="3200" dirty="0"/>
              <a:t>Balanceamento de Árvores Binárias - AVL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EEC4B-30CA-44C1-B5D9-7C19977DA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9261"/>
            <a:ext cx="8229600" cy="1861667"/>
          </a:xfrm>
        </p:spPr>
        <p:txBody>
          <a:bodyPr/>
          <a:lstStyle/>
          <a:p>
            <a:r>
              <a:rPr lang="pt-PT" sz="2000" dirty="0">
                <a:sym typeface="Wingdings" panose="05000000000000000000" pitchFamily="2" charset="2"/>
              </a:rPr>
              <a:t>Nos restantes casos há a necessidade de reajustar a árvore:</a:t>
            </a:r>
          </a:p>
          <a:p>
            <a:pPr lvl="1"/>
            <a:r>
              <a:rPr lang="pt-PT" sz="1800" dirty="0">
                <a:sym typeface="Wingdings" panose="05000000000000000000" pitchFamily="2" charset="2"/>
              </a:rPr>
              <a:t>inserção no lado direito e fator é RIGHT      árvore </a:t>
            </a:r>
            <a:r>
              <a:rPr lang="pt-PT" sz="1800" dirty="0" err="1">
                <a:sym typeface="Wingdings" panose="05000000000000000000" pitchFamily="2" charset="2"/>
              </a:rPr>
              <a:t>desbalanceada</a:t>
            </a:r>
            <a:r>
              <a:rPr lang="pt-PT" sz="1800" dirty="0">
                <a:sym typeface="Wingdings" panose="05000000000000000000" pitchFamily="2" charset="2"/>
              </a:rPr>
              <a:t> para a direita     com diferença = -2</a:t>
            </a:r>
          </a:p>
          <a:p>
            <a:pPr lvl="1"/>
            <a:r>
              <a:rPr lang="pt-PT" sz="1800" dirty="0">
                <a:sym typeface="Wingdings" panose="05000000000000000000" pitchFamily="2" charset="2"/>
              </a:rPr>
              <a:t>inserção no lado esquerdo e fator é LEFT    árvore </a:t>
            </a:r>
            <a:r>
              <a:rPr lang="pt-PT" sz="1800" dirty="0" err="1">
                <a:sym typeface="Wingdings" panose="05000000000000000000" pitchFamily="2" charset="2"/>
              </a:rPr>
              <a:t>desbalanceada</a:t>
            </a:r>
            <a:r>
              <a:rPr lang="pt-PT" sz="1800" dirty="0">
                <a:sym typeface="Wingdings" panose="05000000000000000000" pitchFamily="2" charset="2"/>
              </a:rPr>
              <a:t> para a esquerda com diferença = 2</a:t>
            </a:r>
            <a:endParaRPr lang="pt-P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C84500-C0B1-4D2D-ABB4-53D0AA73D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286" y="3429000"/>
            <a:ext cx="5614034" cy="302631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778D14-BAE2-4155-9185-0B8CF31A9AE5}"/>
              </a:ext>
            </a:extLst>
          </p:cNvPr>
          <p:cNvSpPr txBox="1">
            <a:spLocks/>
          </p:cNvSpPr>
          <p:nvPr/>
        </p:nvSpPr>
        <p:spPr bwMode="auto">
          <a:xfrm>
            <a:off x="412116" y="2909436"/>
            <a:ext cx="8048316" cy="591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t-PT" sz="2400" kern="0" dirty="0"/>
              <a:t>Exemplo de operação para recuperar balanceamento</a:t>
            </a:r>
          </a:p>
        </p:txBody>
      </p:sp>
    </p:spTree>
    <p:extLst>
      <p:ext uri="{BB962C8B-B14F-4D97-AF65-F5344CB8AC3E}">
        <p14:creationId xmlns:p14="http://schemas.microsoft.com/office/powerpoint/2010/main" val="1814937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>
            <a:extLst>
              <a:ext uri="{FF2B5EF4-FFF2-40B4-BE49-F238E27FC236}">
                <a16:creationId xmlns:a16="http://schemas.microsoft.com/office/drawing/2014/main" id="{F56DA9D2-4ACE-4727-A435-BB14768F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ED184D10-79EB-46C6-94A8-7C8F62B7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369B1C-9D9E-45FD-A4F8-84CD9DE207DE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pt-PT" altLang="en-US" sz="1400"/>
          </a:p>
        </p:txBody>
      </p:sp>
      <p:pic>
        <p:nvPicPr>
          <p:cNvPr id="20484" name="Picture 3">
            <a:extLst>
              <a:ext uri="{FF2B5EF4-FFF2-40B4-BE49-F238E27FC236}">
                <a16:creationId xmlns:a16="http://schemas.microsoft.com/office/drawing/2014/main" id="{39493920-2D41-4B4F-8AB2-F40D20F62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620713"/>
            <a:ext cx="8224838" cy="343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 Box 4">
            <a:extLst>
              <a:ext uri="{FF2B5EF4-FFF2-40B4-BE49-F238E27FC236}">
                <a16:creationId xmlns:a16="http://schemas.microsoft.com/office/drawing/2014/main" id="{C78FFC70-B8B6-4A64-A6AB-C41BEBF56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114815"/>
            <a:ext cx="8424936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000" dirty="0"/>
              <a:t> As coleções do tipo </a:t>
            </a:r>
            <a:r>
              <a:rPr lang="pt-PT" altLang="en-US" sz="2000" dirty="0">
                <a:latin typeface="Times New Roman" panose="02020603050405020304" pitchFamily="18" charset="0"/>
              </a:rPr>
              <a:t>Set&lt;E&gt;</a:t>
            </a:r>
            <a:r>
              <a:rPr lang="pt-PT" altLang="en-US" sz="2000" dirty="0"/>
              <a:t> são implementações de conjuntos de objetos, pelo que os seus elementos não são indexados ou acessíveis por índice, nem podem ocorrer em duplicado (referem-se à noção matemática de conjunto).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 dirty="0"/>
              <a:t>As implementações </a:t>
            </a:r>
            <a:r>
              <a:rPr lang="pt-PT" altLang="en-US" sz="2000" dirty="0" err="1">
                <a:latin typeface="Times New Roman" panose="02020603050405020304" pitchFamily="18" charset="0"/>
              </a:rPr>
              <a:t>Tree</a:t>
            </a:r>
            <a:r>
              <a:rPr lang="pt-PT" altLang="en-US" sz="2000" dirty="0"/>
              <a:t> são organizações dos dados que implicam uma ordem, contrastando com as </a:t>
            </a:r>
            <a:r>
              <a:rPr lang="pt-PT" altLang="en-US" sz="2000" dirty="0" err="1">
                <a:latin typeface="Times New Roman" panose="02020603050405020304" pitchFamily="18" charset="0"/>
              </a:rPr>
              <a:t>Hash</a:t>
            </a:r>
            <a:r>
              <a:rPr lang="pt-PT" altLang="en-US" sz="2000" dirty="0"/>
              <a:t>. As classes </a:t>
            </a:r>
            <a:r>
              <a:rPr lang="pt-PT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TreeMap</a:t>
            </a:r>
            <a:r>
              <a:rPr lang="pt-PT" altLang="en-US" sz="2000" dirty="0"/>
              <a:t> e </a:t>
            </a:r>
            <a:r>
              <a:rPr lang="pt-PT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pt-PT" altLang="en-US" sz="2000" dirty="0"/>
              <a:t> são implementadas  usando </a:t>
            </a:r>
            <a:r>
              <a:rPr lang="pt-PT" altLang="en-US" sz="2000" i="1" dirty="0"/>
              <a:t>self-</a:t>
            </a:r>
            <a:r>
              <a:rPr lang="pt-PT" altLang="en-US" sz="2000" i="1" dirty="0" err="1"/>
              <a:t>balanced</a:t>
            </a:r>
            <a:r>
              <a:rPr lang="pt-PT" altLang="en-US" sz="2000" i="1" dirty="0"/>
              <a:t> </a:t>
            </a:r>
            <a:r>
              <a:rPr lang="pt-PT" altLang="en-US" sz="2000" i="1" dirty="0" err="1"/>
              <a:t>binary</a:t>
            </a:r>
            <a:r>
              <a:rPr lang="pt-PT" altLang="en-US" sz="2000" i="1" dirty="0"/>
              <a:t> </a:t>
            </a:r>
            <a:r>
              <a:rPr lang="pt-PT" altLang="en-US" sz="2000" i="1" dirty="0" err="1"/>
              <a:t>trees</a:t>
            </a:r>
            <a:r>
              <a:rPr lang="pt-PT" altLang="en-US" sz="2000" dirty="0"/>
              <a:t> (especificamente </a:t>
            </a:r>
            <a:r>
              <a:rPr lang="pt-PT" altLang="en-US" sz="2000" dirty="0" err="1"/>
              <a:t>Red-Black</a:t>
            </a:r>
            <a:r>
              <a:rPr lang="pt-PT" altLang="en-US" sz="2000" dirty="0"/>
              <a:t> </a:t>
            </a:r>
            <a:r>
              <a:rPr lang="pt-PT" altLang="en-US" sz="2000" dirty="0" err="1"/>
              <a:t>trees</a:t>
            </a:r>
            <a:r>
              <a:rPr lang="pt-PT" altLang="en-US" sz="2000" dirty="0"/>
              <a:t>).</a:t>
            </a:r>
          </a:p>
        </p:txBody>
      </p:sp>
      <p:sp>
        <p:nvSpPr>
          <p:cNvPr id="20486" name="Text Box 6">
            <a:extLst>
              <a:ext uri="{FF2B5EF4-FFF2-40B4-BE49-F238E27FC236}">
                <a16:creationId xmlns:a16="http://schemas.microsoft.com/office/drawing/2014/main" id="{E40DA414-8E35-423C-A54A-E22D6A431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92075"/>
            <a:ext cx="3829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Árvores na API do Java1.8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D533543-A62B-4D96-9678-33658A00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1507" name="Slide Number Placeholder 5">
            <a:extLst>
              <a:ext uri="{FF2B5EF4-FFF2-40B4-BE49-F238E27FC236}">
                <a16:creationId xmlns:a16="http://schemas.microsoft.com/office/drawing/2014/main" id="{5D4809D1-FAFB-4086-A882-6140760E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F1157B-0818-4911-A823-27A3DE31DF4A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pt-PT" altLang="en-US" sz="1400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1466DC70-D888-4AE2-BF96-EBF480D758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22337"/>
          </a:xfrm>
        </p:spPr>
        <p:txBody>
          <a:bodyPr/>
          <a:lstStyle/>
          <a:p>
            <a:pPr eaLnBrk="1" hangingPunct="1"/>
            <a:r>
              <a:rPr lang="pt-PT" altLang="en-US" sz="3600"/>
              <a:t>Classe TreeSet&lt;E&gt;  em Java1.8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A1642A6A-0C25-47FB-8221-9FC87AF2E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7272337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000"/>
              <a:t>Vários construtores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 b="1">
                <a:hlinkClick r:id="rId2"/>
              </a:rPr>
              <a:t>TreeSet</a:t>
            </a:r>
            <a:r>
              <a:rPr lang="pt-PT" altLang="en-US" sz="2000"/>
              <a:t>() 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 b="1">
                <a:hlinkClick r:id="rId3"/>
              </a:rPr>
              <a:t>TreeSet</a:t>
            </a:r>
            <a:r>
              <a:rPr lang="pt-PT" altLang="en-US" sz="2000"/>
              <a:t>(</a:t>
            </a:r>
            <a:r>
              <a:rPr lang="pt-PT" altLang="en-US" sz="2000">
                <a:hlinkClick r:id="rId4" tooltip="interface in java.util"/>
              </a:rPr>
              <a:t>Collection</a:t>
            </a:r>
            <a:r>
              <a:rPr lang="pt-PT" altLang="en-US" sz="2000"/>
              <a:t>&lt;? extends 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&gt; c)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 b="1">
                <a:hlinkClick r:id="rId6"/>
              </a:rPr>
              <a:t>TreeSet</a:t>
            </a:r>
            <a:r>
              <a:rPr lang="pt-PT" altLang="en-US" sz="2000"/>
              <a:t>(</a:t>
            </a:r>
            <a:r>
              <a:rPr lang="pt-PT" altLang="en-US" sz="2000">
                <a:hlinkClick r:id="rId7" tooltip="interface in java.util"/>
              </a:rPr>
              <a:t>Comparator</a:t>
            </a:r>
            <a:r>
              <a:rPr lang="pt-PT" altLang="en-US" sz="2000"/>
              <a:t>&lt;? super 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&gt; c) 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 b="1">
                <a:hlinkClick r:id="rId8"/>
              </a:rPr>
              <a:t>TreeSet</a:t>
            </a:r>
            <a:r>
              <a:rPr lang="pt-PT" altLang="en-US" sz="2000"/>
              <a:t>(</a:t>
            </a:r>
            <a:r>
              <a:rPr lang="pt-PT" altLang="en-US" sz="2000">
                <a:hlinkClick r:id="rId9" tooltip="interface in java.util"/>
              </a:rPr>
              <a:t>SortedSet</a:t>
            </a:r>
            <a:r>
              <a:rPr lang="pt-PT" altLang="en-US" sz="2000"/>
              <a:t>&lt;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&gt; s) </a:t>
            </a:r>
            <a:br>
              <a:rPr lang="pt-PT" altLang="en-US" sz="2000"/>
            </a:br>
            <a:endParaRPr lang="pt-PT" altLang="en-US" sz="2000"/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boolean </a:t>
            </a:r>
            <a:r>
              <a:rPr lang="pt-PT" altLang="en-US" sz="2000" b="1"/>
              <a:t>add</a:t>
            </a:r>
            <a:r>
              <a:rPr lang="pt-PT" altLang="en-US" sz="2000"/>
              <a:t>(</a:t>
            </a:r>
            <a:r>
              <a:rPr lang="pt-PT" altLang="en-US" sz="2000">
                <a:hlinkClick r:id="rId10" tooltip="type parameter in AbstractQueue"/>
              </a:rPr>
              <a:t>E</a:t>
            </a:r>
            <a:r>
              <a:rPr lang="pt-PT" altLang="en-US" sz="2000"/>
              <a:t> o)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boolean </a:t>
            </a:r>
            <a:r>
              <a:rPr lang="pt-PT" altLang="en-US" sz="2000" b="1"/>
              <a:t>contains</a:t>
            </a:r>
            <a:r>
              <a:rPr lang="pt-PT" altLang="en-US" sz="2000"/>
              <a:t>(</a:t>
            </a:r>
            <a:r>
              <a:rPr lang="pt-PT" altLang="en-US" sz="2000">
                <a:hlinkClick r:id="rId11" tooltip="class in java.lang"/>
              </a:rPr>
              <a:t>Object</a:t>
            </a:r>
            <a:r>
              <a:rPr lang="pt-PT" altLang="en-US" sz="2000"/>
              <a:t> o) 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boolean </a:t>
            </a:r>
            <a:r>
              <a:rPr lang="pt-PT" altLang="en-US" sz="2000" b="1"/>
              <a:t>remove</a:t>
            </a:r>
            <a:r>
              <a:rPr lang="pt-PT" altLang="en-US" sz="2000"/>
              <a:t>(</a:t>
            </a:r>
            <a:r>
              <a:rPr lang="pt-PT" altLang="en-US" sz="2000">
                <a:hlinkClick r:id="rId11" tooltip="class in java.lang"/>
              </a:rPr>
              <a:t>Object</a:t>
            </a:r>
            <a:r>
              <a:rPr lang="pt-PT" altLang="en-US" sz="2000"/>
              <a:t> o)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</a:t>
            </a:r>
            <a:r>
              <a:rPr lang="pt-PT" altLang="en-US" sz="2000">
                <a:hlinkClick r:id="rId9" tooltip="interface in java.util"/>
              </a:rPr>
              <a:t>SortedSet</a:t>
            </a:r>
            <a:r>
              <a:rPr lang="pt-PT" altLang="en-US" sz="2000"/>
              <a:t>&lt;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&gt; </a:t>
            </a:r>
            <a:r>
              <a:rPr lang="pt-PT" altLang="en-US" sz="2000" b="1"/>
              <a:t>subSet</a:t>
            </a:r>
            <a:r>
              <a:rPr lang="pt-PT" altLang="en-US" sz="2000"/>
              <a:t>(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 fromElement, 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 toElement)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void </a:t>
            </a:r>
            <a:r>
              <a:rPr lang="pt-PT" altLang="en-US" sz="2000" b="1"/>
              <a:t>clear</a:t>
            </a:r>
            <a:r>
              <a:rPr lang="pt-PT" altLang="en-US" sz="2000"/>
              <a:t>()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</a:t>
            </a:r>
            <a:r>
              <a:rPr lang="pt-PT" altLang="en-US" sz="2000">
                <a:hlinkClick r:id="rId9" tooltip="interface in java.util"/>
              </a:rPr>
              <a:t>SortedSet</a:t>
            </a:r>
            <a:r>
              <a:rPr lang="pt-PT" altLang="en-US" sz="2000"/>
              <a:t>&lt;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&gt; </a:t>
            </a:r>
            <a:r>
              <a:rPr lang="pt-PT" altLang="en-US" sz="2000" b="1"/>
              <a:t>headSet</a:t>
            </a:r>
            <a:r>
              <a:rPr lang="pt-PT" altLang="en-US" sz="2000"/>
              <a:t>(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 toElement)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</a:t>
            </a:r>
            <a:r>
              <a:rPr lang="pt-PT" altLang="en-US" sz="2000">
                <a:hlinkClick r:id="rId9" tooltip="interface in java.util"/>
              </a:rPr>
              <a:t>SortedSet</a:t>
            </a:r>
            <a:r>
              <a:rPr lang="pt-PT" altLang="en-US" sz="2000"/>
              <a:t>&lt;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&gt; </a:t>
            </a:r>
            <a:r>
              <a:rPr lang="pt-PT" altLang="en-US" sz="2000" b="1"/>
              <a:t>tailSet</a:t>
            </a:r>
            <a:r>
              <a:rPr lang="pt-PT" altLang="en-US" sz="2000"/>
              <a:t>(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 fromElement)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 </a:t>
            </a:r>
            <a:r>
              <a:rPr lang="pt-PT" altLang="en-US" sz="2000" b="1"/>
              <a:t>first</a:t>
            </a:r>
            <a:r>
              <a:rPr lang="pt-PT" altLang="en-US" sz="2000"/>
              <a:t>()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 </a:t>
            </a:r>
            <a:r>
              <a:rPr lang="pt-PT" altLang="en-US" sz="2000" b="1"/>
              <a:t>last</a:t>
            </a:r>
            <a:r>
              <a:rPr lang="pt-PT" altLang="en-US" sz="2000"/>
              <a:t>()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</a:t>
            </a:r>
            <a:r>
              <a:rPr lang="pt-PT" altLang="en-US" sz="2000">
                <a:hlinkClick r:id="rId12" tooltip="interface in java.util"/>
              </a:rPr>
              <a:t>Iterator</a:t>
            </a:r>
            <a:r>
              <a:rPr lang="pt-PT" altLang="en-US" sz="2000"/>
              <a:t>&lt;</a:t>
            </a:r>
            <a:r>
              <a:rPr lang="pt-PT" altLang="en-US" sz="2000">
                <a:hlinkClick r:id="rId5" tooltip="type parameter in TreeSet"/>
              </a:rPr>
              <a:t>E</a:t>
            </a:r>
            <a:r>
              <a:rPr lang="pt-PT" altLang="en-US" sz="2000"/>
              <a:t>&gt; </a:t>
            </a:r>
            <a:r>
              <a:rPr lang="pt-PT" altLang="en-US" sz="2000" b="1"/>
              <a:t>iterator</a:t>
            </a:r>
            <a:r>
              <a:rPr lang="pt-PT" altLang="en-US" sz="2000"/>
              <a:t>()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public int </a:t>
            </a:r>
            <a:r>
              <a:rPr lang="pt-PT" altLang="en-US" sz="2000" b="1"/>
              <a:t>size</a:t>
            </a:r>
            <a:r>
              <a:rPr lang="pt-PT" altLang="en-US" sz="2000"/>
              <a:t>(),                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e tudo que herda de AbstractSet&lt;E&gt; …</a:t>
            </a:r>
          </a:p>
        </p:txBody>
      </p:sp>
      <p:sp>
        <p:nvSpPr>
          <p:cNvPr id="21510" name="AutoShape 4">
            <a:extLst>
              <a:ext uri="{FF2B5EF4-FFF2-40B4-BE49-F238E27FC236}">
                <a16:creationId xmlns:a16="http://schemas.microsoft.com/office/drawing/2014/main" id="{9AF09E25-40A2-43E7-97B6-AFEEF6144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908050"/>
            <a:ext cx="2879725" cy="792163"/>
          </a:xfrm>
          <a:prstGeom prst="wedgeRectCallout">
            <a:avLst>
              <a:gd name="adj1" fmla="val -88588"/>
              <a:gd name="adj2" fmla="val 852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 b="1">
                <a:latin typeface="Times New Roman" panose="02020603050405020304" pitchFamily="18" charset="0"/>
              </a:rPr>
              <a:t>Comparator</a:t>
            </a:r>
            <a:r>
              <a:rPr lang="pt-PT" altLang="en-US" sz="1200"/>
              <a:t> é uma interface onde está definida uma função de comparação que impõe uma ordem total sobre os elementos da colecção.</a:t>
            </a:r>
          </a:p>
        </p:txBody>
      </p:sp>
      <p:sp>
        <p:nvSpPr>
          <p:cNvPr id="21511" name="AutoShape 5">
            <a:extLst>
              <a:ext uri="{FF2B5EF4-FFF2-40B4-BE49-F238E27FC236}">
                <a16:creationId xmlns:a16="http://schemas.microsoft.com/office/drawing/2014/main" id="{C3B7ECC2-C7D6-45A6-8405-CE7B60754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76475"/>
            <a:ext cx="2160587" cy="865188"/>
          </a:xfrm>
          <a:prstGeom prst="wedgeRectCallout">
            <a:avLst>
              <a:gd name="adj1" fmla="val -135306"/>
              <a:gd name="adj2" fmla="val 1057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Gera um subconjunto com os elementos entre os dois parâmetros dados. </a:t>
            </a:r>
            <a:r>
              <a:rPr lang="pt-PT" altLang="en-US" sz="1200" b="1">
                <a:latin typeface="Times New Roman" panose="02020603050405020304" pitchFamily="18" charset="0"/>
              </a:rPr>
              <a:t>SortedSet </a:t>
            </a:r>
            <a:r>
              <a:rPr lang="pt-PT" altLang="en-US" sz="1200"/>
              <a:t> é uma interface (ver API)</a:t>
            </a:r>
          </a:p>
        </p:txBody>
      </p:sp>
      <p:sp>
        <p:nvSpPr>
          <p:cNvPr id="21512" name="AutoShape 7">
            <a:extLst>
              <a:ext uri="{FF2B5EF4-FFF2-40B4-BE49-F238E27FC236}">
                <a16:creationId xmlns:a16="http://schemas.microsoft.com/office/drawing/2014/main" id="{EFA9AF6F-1DAD-4520-A7C7-DBB679A4D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4149725"/>
            <a:ext cx="2232025" cy="647700"/>
          </a:xfrm>
          <a:prstGeom prst="wedgeRectCallout">
            <a:avLst>
              <a:gd name="adj1" fmla="val -78306"/>
              <a:gd name="adj2" fmla="val 36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Gera uma subconjunto com todos os elementos menores (maiores) que elemento dado.</a:t>
            </a:r>
          </a:p>
        </p:txBody>
      </p:sp>
      <p:sp>
        <p:nvSpPr>
          <p:cNvPr id="21513" name="AutoShape 8">
            <a:extLst>
              <a:ext uri="{FF2B5EF4-FFF2-40B4-BE49-F238E27FC236}">
                <a16:creationId xmlns:a16="http://schemas.microsoft.com/office/drawing/2014/main" id="{55D00ACF-B729-4C6D-870B-4E9A14A3B871}"/>
              </a:ext>
            </a:extLst>
          </p:cNvPr>
          <p:cNvSpPr>
            <a:spLocks/>
          </p:cNvSpPr>
          <p:nvPr/>
        </p:nvSpPr>
        <p:spPr bwMode="auto">
          <a:xfrm>
            <a:off x="5651500" y="4221163"/>
            <a:ext cx="73025" cy="576262"/>
          </a:xfrm>
          <a:prstGeom prst="rightBrace">
            <a:avLst>
              <a:gd name="adj1" fmla="val 6576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21514" name="AutoShape 9">
            <a:extLst>
              <a:ext uri="{FF2B5EF4-FFF2-40B4-BE49-F238E27FC236}">
                <a16:creationId xmlns:a16="http://schemas.microsoft.com/office/drawing/2014/main" id="{B85C6EB7-EF2F-4519-9C60-918ACF5A55B3}"/>
              </a:ext>
            </a:extLst>
          </p:cNvPr>
          <p:cNvSpPr>
            <a:spLocks/>
          </p:cNvSpPr>
          <p:nvPr/>
        </p:nvSpPr>
        <p:spPr bwMode="auto">
          <a:xfrm>
            <a:off x="2268538" y="4868863"/>
            <a:ext cx="73025" cy="576262"/>
          </a:xfrm>
          <a:prstGeom prst="rightBrace">
            <a:avLst>
              <a:gd name="adj1" fmla="val 6576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21515" name="AutoShape 10">
            <a:extLst>
              <a:ext uri="{FF2B5EF4-FFF2-40B4-BE49-F238E27FC236}">
                <a16:creationId xmlns:a16="http://schemas.microsoft.com/office/drawing/2014/main" id="{1EF359BA-7A83-460B-99D7-B4344C5E1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5013325"/>
            <a:ext cx="3240088" cy="431800"/>
          </a:xfrm>
          <a:prstGeom prst="wedgeRectCallout">
            <a:avLst>
              <a:gd name="adj1" fmla="val -95907"/>
              <a:gd name="adj2" fmla="val -2206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Obtém o primeiro (último) elemento da colecção, de acordo com a ordem imposta.</a:t>
            </a:r>
          </a:p>
        </p:txBody>
      </p:sp>
      <p:sp>
        <p:nvSpPr>
          <p:cNvPr id="21516" name="AutoShape 11">
            <a:extLst>
              <a:ext uri="{FF2B5EF4-FFF2-40B4-BE49-F238E27FC236}">
                <a16:creationId xmlns:a16="http://schemas.microsoft.com/office/drawing/2014/main" id="{7DFBB19B-5DAC-4279-8251-0D16D21BC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5805488"/>
            <a:ext cx="2951163" cy="503237"/>
          </a:xfrm>
          <a:prstGeom prst="wedgeRectCallout">
            <a:avLst>
              <a:gd name="adj1" fmla="val -108903"/>
              <a:gd name="adj2" fmla="val -878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Faz uma travessia (iterator) da colecção seguindo a ordem imposta.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>
            <a:extLst>
              <a:ext uri="{FF2B5EF4-FFF2-40B4-BE49-F238E27FC236}">
                <a16:creationId xmlns:a16="http://schemas.microsoft.com/office/drawing/2014/main" id="{5C08D9B4-EC17-4A2D-BCB4-9D93CBD4E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Exemplo de Comparator</a:t>
            </a:r>
          </a:p>
        </p:txBody>
      </p:sp>
      <p:sp>
        <p:nvSpPr>
          <p:cNvPr id="22531" name="Marcador de Posição de Conteúdo 2">
            <a:extLst>
              <a:ext uri="{FF2B5EF4-FFF2-40B4-BE49-F238E27FC236}">
                <a16:creationId xmlns:a16="http://schemas.microsoft.com/office/drawing/2014/main" id="{343B9BD9-B291-42B2-BDB9-043B9FCDBA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604838"/>
          </a:xfrm>
        </p:spPr>
        <p:txBody>
          <a:bodyPr/>
          <a:lstStyle/>
          <a:p>
            <a:r>
              <a:rPr lang="en-US" altLang="en-US" sz="2800"/>
              <a:t>Ponto2D</a:t>
            </a:r>
          </a:p>
        </p:txBody>
      </p:sp>
      <p:sp>
        <p:nvSpPr>
          <p:cNvPr id="22532" name="Marcador de Posição do Rodapé 3">
            <a:extLst>
              <a:ext uri="{FF2B5EF4-FFF2-40B4-BE49-F238E27FC236}">
                <a16:creationId xmlns:a16="http://schemas.microsoft.com/office/drawing/2014/main" id="{45D7EDA0-0FA0-4DDA-B90D-5781D6CE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2533" name="Marcador de Posição do Número do Diapositivo 4">
            <a:extLst>
              <a:ext uri="{FF2B5EF4-FFF2-40B4-BE49-F238E27FC236}">
                <a16:creationId xmlns:a16="http://schemas.microsoft.com/office/drawing/2014/main" id="{0F3E40A2-3928-44B1-9E07-696CCC76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5CDE34-3332-4B90-8F5C-6F7A4107FE07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pt-PT" altLang="en-US" sz="1400"/>
          </a:p>
        </p:txBody>
      </p:sp>
      <p:sp>
        <p:nvSpPr>
          <p:cNvPr id="22534" name="CaixaDeTexto 5">
            <a:extLst>
              <a:ext uri="{FF2B5EF4-FFF2-40B4-BE49-F238E27FC236}">
                <a16:creationId xmlns:a16="http://schemas.microsoft.com/office/drawing/2014/main" id="{64A88D5A-97D7-45C7-B65B-0E0D8BAB4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133600"/>
            <a:ext cx="7489825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public class </a:t>
            </a:r>
            <a:r>
              <a:rPr lang="en-US" altLang="en-US" sz="1600" b="1"/>
              <a:t>Ponto2DComparator </a:t>
            </a:r>
            <a:r>
              <a:rPr lang="en-US" altLang="en-US" sz="1600"/>
              <a:t>implements Comparator&lt;Ponto2D&gt;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{ /**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    * </a:t>
            </a:r>
            <a:r>
              <a:rPr lang="pt-PT" altLang="en-US" sz="1600"/>
              <a:t>Nota: a implementação utilizada  apenas uma das várias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/>
              <a:t>   *  formas que poderíamos ter de comparar Ponto2D.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   **/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public int compare(Ponto2D p1, Ponto2D p2)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if (p1.getX() &lt; p2.getX()) return -1;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if( p1.getX() &gt; p2.getX() ) return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if( p1.getY() &lt; p2.getY() ) return -1;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if( p1.getY() &gt; p2.getY() ) return 1; else return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29AD849-98F3-491C-AD28-7E4C44FD6849}"/>
              </a:ext>
            </a:extLst>
          </p:cNvPr>
          <p:cNvSpPr txBox="1"/>
          <p:nvPr/>
        </p:nvSpPr>
        <p:spPr>
          <a:xfrm>
            <a:off x="539750" y="5365750"/>
            <a:ext cx="7199313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Char char="•"/>
              <a:defRPr/>
            </a:pPr>
            <a:r>
              <a:rPr lang="en-US" sz="32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Criação</a:t>
            </a:r>
            <a:r>
              <a:rPr lang="en-US" sz="2800" dirty="0">
                <a:latin typeface="+mn-lt"/>
              </a:rPr>
              <a:t> de </a:t>
            </a:r>
            <a:r>
              <a:rPr lang="en-US" sz="2800" dirty="0" err="1">
                <a:latin typeface="+mn-lt"/>
              </a:rPr>
              <a:t>TreeSet</a:t>
            </a:r>
            <a:r>
              <a:rPr lang="en-US" sz="2800" dirty="0">
                <a:latin typeface="+mn-lt"/>
              </a:rPr>
              <a:t> com </a:t>
            </a:r>
            <a:r>
              <a:rPr lang="en-US" sz="2800" dirty="0" err="1">
                <a:latin typeface="+mn-lt"/>
              </a:rPr>
              <a:t>esta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ordem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seria</a:t>
            </a:r>
            <a:r>
              <a:rPr lang="en-US" sz="2800" dirty="0">
                <a:latin typeface="+mn-lt"/>
              </a:rPr>
              <a:t>:</a:t>
            </a:r>
          </a:p>
        </p:txBody>
      </p:sp>
      <p:sp>
        <p:nvSpPr>
          <p:cNvPr id="22536" name="CaixaDeTexto 7">
            <a:extLst>
              <a:ext uri="{FF2B5EF4-FFF2-40B4-BE49-F238E27FC236}">
                <a16:creationId xmlns:a16="http://schemas.microsoft.com/office/drawing/2014/main" id="{D82B1763-6818-45A1-BEF3-105A608BB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6032500"/>
            <a:ext cx="72183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TreeSet&lt;Ponto2D&gt; pontos = new TreeSet&lt;Ponto2D&gt;(new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Ponto2DComparator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32E7D22E-E59F-45D9-8A93-6E9AF4A690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pt-P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Comparators</a:t>
            </a:r>
            <a:r>
              <a:rPr lang="pt-PT" altLang="en-US"/>
              <a:t> em Java1.8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2A4A7-D4D3-44A9-9EF2-E0A22FB2E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6025"/>
            <a:ext cx="8335963" cy="5597525"/>
          </a:xfrm>
        </p:spPr>
        <p:txBody>
          <a:bodyPr/>
          <a:lstStyle/>
          <a:p>
            <a:pPr>
              <a:defRPr/>
            </a:pPr>
            <a:r>
              <a:rPr lang="pt-PT" sz="2800" dirty="0"/>
              <a:t>Em 1.8 é possível definir a comparação entre elementos da coleção via construções funcionais.</a:t>
            </a:r>
          </a:p>
          <a:p>
            <a:pPr>
              <a:defRPr/>
            </a:pPr>
            <a:r>
              <a:rPr lang="pt-PT" sz="2800" dirty="0"/>
              <a:t>Exemplos (declaração de um </a:t>
            </a:r>
            <a:r>
              <a:rPr lang="pt-P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pt-PT" sz="2800" dirty="0"/>
              <a:t>)</a:t>
            </a:r>
          </a:p>
          <a:p>
            <a:pPr lvl="1">
              <a:defRPr/>
            </a:pP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&lt;Ponto2D&gt; novo =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&lt;Ponto2D&gt;( (a1,a2) -&gt; 	{	            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(a1.getX() &lt; a2.getX())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-1; </a:t>
            </a:r>
          </a:p>
          <a:p>
            <a:pPr marL="457200" lvl="1" indent="0">
              <a:buFontTx/>
              <a:buNone/>
              <a:defRPr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(a1.getX() &gt; a2.getX())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1; </a:t>
            </a:r>
          </a:p>
          <a:p>
            <a:pPr marL="457200" lvl="1" indent="0">
              <a:buFontTx/>
              <a:buNone/>
              <a:defRPr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(a1.getY() &lt; a2.getY())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-1; </a:t>
            </a:r>
          </a:p>
          <a:p>
            <a:pPr marL="457200" lvl="1" indent="0">
              <a:buFontTx/>
              <a:buNone/>
              <a:defRPr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(a1.getY() &gt; a2.getY())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1;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0; });</a:t>
            </a:r>
          </a:p>
          <a:p>
            <a:pPr lvl="1">
              <a:defRPr/>
            </a:pP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&lt;Veiculo&gt; lista =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&lt;Veiculo&gt;((v1,v2) -&gt; </a:t>
            </a:r>
          </a:p>
          <a:p>
            <a:pPr marL="0" indent="0">
              <a:buFontTx/>
              <a:buNone/>
              <a:defRPr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v2.getKms() – v1.getKms() );</a:t>
            </a:r>
          </a:p>
          <a:p>
            <a:pPr lvl="1">
              <a:defRPr/>
            </a:pPr>
            <a:r>
              <a:rPr lang="pt-PT" sz="2000" dirty="0">
                <a:cs typeface="Times New Roman" panose="02020603050405020304" pitchFamily="18" charset="0"/>
              </a:rPr>
              <a:t>Mas também podemos fazer   </a:t>
            </a:r>
            <a:r>
              <a:rPr lang="pt-PT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</a:t>
            </a:r>
            <a:r>
              <a:rPr lang="pt-PT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&lt;Veiculo&gt; co = (v1,v2) -&gt; (v2.getKms() – v1.getKms() );</a:t>
            </a:r>
          </a:p>
          <a:p>
            <a:pPr marL="457200" lvl="1" indent="0">
              <a:buFontTx/>
              <a:buNone/>
              <a:defRPr/>
            </a:pPr>
            <a:r>
              <a:rPr lang="pt-PT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e   </a:t>
            </a:r>
            <a:r>
              <a:rPr lang="pt-PT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pt-PT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&lt;Veiculo&gt; lista = </a:t>
            </a:r>
            <a:r>
              <a:rPr lang="pt-PT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PT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pt-PT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&lt;Veiculo&gt;( co);</a:t>
            </a:r>
          </a:p>
          <a:p>
            <a:pPr>
              <a:defRPr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Tx/>
              <a:buNone/>
              <a:defRPr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pt-PT" dirty="0"/>
          </a:p>
        </p:txBody>
      </p:sp>
      <p:sp>
        <p:nvSpPr>
          <p:cNvPr id="23556" name="Footer Placeholder 3">
            <a:extLst>
              <a:ext uri="{FF2B5EF4-FFF2-40B4-BE49-F238E27FC236}">
                <a16:creationId xmlns:a16="http://schemas.microsoft.com/office/drawing/2014/main" id="{37BB5CD7-9C4B-404D-B534-052ABBB30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DBACAA46-C9A4-40FA-B364-5AC90956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B7986B-E8FF-45E9-8A25-0D5472A4D1FB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pt-PT" alt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B0B6F86E-E4F3-4281-805A-CC077CB15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9516C9FF-E804-4EE1-80BD-0915F1BF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6DBB73-74BA-4CAA-8C00-7557D1D59E28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pt-PT" altLang="en-US" sz="1400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8F4FE79B-E2E4-4A53-A58D-E347A04C5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927100"/>
          </a:xfrm>
        </p:spPr>
        <p:txBody>
          <a:bodyPr/>
          <a:lstStyle/>
          <a:p>
            <a:pPr eaLnBrk="1" hangingPunct="1"/>
            <a:r>
              <a:rPr lang="pt-PT" altLang="en-US"/>
              <a:t>Exercícios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CC60FAE3-7C40-4DE8-AFD3-31708DFF5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5451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2000" dirty="0"/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Desenvolva um método que produz um </a:t>
            </a:r>
            <a:r>
              <a:rPr lang="pt-PT" altLang="en-US" sz="2000" dirty="0" err="1"/>
              <a:t>array</a:t>
            </a:r>
            <a:r>
              <a:rPr lang="pt-PT" altLang="en-US" sz="2000" dirty="0"/>
              <a:t> com os elementos de um determinado nível de uma árvore binária.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2000" dirty="0"/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Escreva um programa que compila (traduza) uma expressão aritmética (só com as operações básicas +, −, *, /) numa linguagem máquina com as operações básicas (</a:t>
            </a:r>
            <a:r>
              <a:rPr lang="pt-PT" altLang="en-US" sz="2000" dirty="0" err="1">
                <a:latin typeface="Times New Roman" panose="02020603050405020304" pitchFamily="18" charset="0"/>
                <a:ea typeface="Arial Unicode MS" pitchFamily="34" charset="-128"/>
              </a:rPr>
              <a:t>add</a:t>
            </a:r>
            <a:r>
              <a:rPr lang="pt-PT" altLang="en-US" sz="2000" dirty="0"/>
              <a:t>, </a:t>
            </a:r>
            <a:r>
              <a:rPr lang="pt-PT" altLang="en-US" sz="2000" dirty="0" err="1">
                <a:latin typeface="Times New Roman" panose="02020603050405020304" pitchFamily="18" charset="0"/>
              </a:rPr>
              <a:t>sub</a:t>
            </a:r>
            <a:r>
              <a:rPr lang="pt-PT" altLang="en-US" sz="2000" dirty="0"/>
              <a:t>, </a:t>
            </a:r>
            <a:r>
              <a:rPr lang="pt-PT" altLang="en-US" sz="2000" dirty="0" err="1">
                <a:latin typeface="Times New Roman" panose="02020603050405020304" pitchFamily="18" charset="0"/>
              </a:rPr>
              <a:t>mul</a:t>
            </a:r>
            <a:r>
              <a:rPr lang="pt-PT" altLang="en-US" sz="2000" dirty="0"/>
              <a:t>, </a:t>
            </a:r>
            <a:r>
              <a:rPr lang="pt-PT" altLang="en-US" sz="2000" dirty="0" err="1">
                <a:latin typeface="Times New Roman" panose="02020603050405020304" pitchFamily="18" charset="0"/>
              </a:rPr>
              <a:t>div</a:t>
            </a:r>
            <a:r>
              <a:rPr lang="pt-PT" altLang="en-US" sz="2000" dirty="0"/>
              <a:t>) e com a operação </a:t>
            </a:r>
            <a:r>
              <a:rPr lang="pt-PT" altLang="en-US" sz="2000" dirty="0" err="1">
                <a:latin typeface="Times New Roman" panose="02020603050405020304" pitchFamily="18" charset="0"/>
              </a:rPr>
              <a:t>load</a:t>
            </a:r>
            <a:r>
              <a:rPr lang="pt-PT" altLang="en-US" sz="2000" dirty="0">
                <a:latin typeface="Times New Roman" panose="02020603050405020304" pitchFamily="18" charset="0"/>
              </a:rPr>
              <a:t>,</a:t>
            </a:r>
            <a:r>
              <a:rPr lang="pt-PT" altLang="en-US" sz="2000" dirty="0"/>
              <a:t> de carregamento de um valor para um registo máquina. A expressão deve ser lida e inserida numa árvore binária. Depois, através de uma travessia pós-ordem, a expressão é traduzida para a </a:t>
            </a:r>
            <a:r>
              <a:rPr lang="pt-PT" altLang="en-US" sz="2000" dirty="0" err="1"/>
              <a:t>respectiva</a:t>
            </a:r>
            <a:r>
              <a:rPr lang="pt-PT" altLang="en-US" sz="2000" dirty="0"/>
              <a:t> linguagem máquina. Assuma que não há limite de registos máquina disponíveis! A árvore usada nas nossas travessias da página 10 é traduzida no seguinte código: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2000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/>
              <a:t>		</a:t>
            </a:r>
            <a:r>
              <a:rPr lang="pt-PT" altLang="en-US" sz="2000" dirty="0">
                <a:latin typeface="Times New Roman" panose="02020603050405020304" pitchFamily="18" charset="0"/>
              </a:rPr>
              <a:t>[</a:t>
            </a:r>
            <a:r>
              <a:rPr lang="pt-PT" altLang="en-US" sz="2000" dirty="0" err="1">
                <a:latin typeface="Times New Roman" panose="02020603050405020304" pitchFamily="18" charset="0"/>
              </a:rPr>
              <a:t>load</a:t>
            </a:r>
            <a:r>
              <a:rPr lang="pt-PT" altLang="en-US" sz="2000" dirty="0">
                <a:latin typeface="Times New Roman" panose="02020603050405020304" pitchFamily="18" charset="0"/>
              </a:rPr>
              <a:t>, 1, 3], [</a:t>
            </a:r>
            <a:r>
              <a:rPr lang="pt-PT" altLang="en-US" sz="2000" dirty="0" err="1">
                <a:latin typeface="Times New Roman" panose="02020603050405020304" pitchFamily="18" charset="0"/>
              </a:rPr>
              <a:t>load</a:t>
            </a:r>
            <a:r>
              <a:rPr lang="pt-PT" altLang="en-US" sz="2000" dirty="0">
                <a:latin typeface="Times New Roman" panose="02020603050405020304" pitchFamily="18" charset="0"/>
              </a:rPr>
              <a:t>, 2, 5], [</a:t>
            </a:r>
            <a:r>
              <a:rPr lang="pt-PT" altLang="en-US" sz="2000" dirty="0" err="1">
                <a:latin typeface="Times New Roman" panose="02020603050405020304" pitchFamily="18" charset="0"/>
              </a:rPr>
              <a:t>load</a:t>
            </a:r>
            <a:r>
              <a:rPr lang="pt-PT" altLang="en-US" sz="2000" dirty="0">
                <a:latin typeface="Times New Roman" panose="02020603050405020304" pitchFamily="18" charset="0"/>
              </a:rPr>
              <a:t>, 3, 7], [</a:t>
            </a:r>
            <a:r>
              <a:rPr lang="pt-PT" altLang="en-US" sz="2000" dirty="0" err="1">
                <a:latin typeface="Times New Roman" panose="02020603050405020304" pitchFamily="18" charset="0"/>
              </a:rPr>
              <a:t>div</a:t>
            </a:r>
            <a:r>
              <a:rPr lang="pt-PT" altLang="en-US" sz="2000" dirty="0">
                <a:latin typeface="Times New Roman" panose="02020603050405020304" pitchFamily="18" charset="0"/>
              </a:rPr>
              <a:t>, 2, 3], [</a:t>
            </a:r>
            <a:r>
              <a:rPr lang="pt-PT" altLang="en-US" sz="2000" dirty="0" err="1">
                <a:latin typeface="Times New Roman" panose="02020603050405020304" pitchFamily="18" charset="0"/>
              </a:rPr>
              <a:t>mul</a:t>
            </a:r>
            <a:r>
              <a:rPr lang="pt-PT" altLang="en-US" sz="2000" dirty="0">
                <a:latin typeface="Times New Roman" panose="02020603050405020304" pitchFamily="18" charset="0"/>
              </a:rPr>
              <a:t>, 1, 2]</a:t>
            </a:r>
          </a:p>
          <a:p>
            <a:pPr eaLnBrk="1" hangingPunct="1">
              <a:lnSpc>
                <a:spcPct val="90000"/>
              </a:lnSpc>
            </a:pPr>
            <a:endParaRPr lang="pt-PT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21608</TotalTime>
  <Words>3044</Words>
  <Application>Microsoft Office PowerPoint</Application>
  <PresentationFormat>Apresentação no Ecrã (4:3)</PresentationFormat>
  <Paragraphs>308</Paragraphs>
  <Slides>24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28" baseType="lpstr">
      <vt:lpstr>Arial</vt:lpstr>
      <vt:lpstr>Times New Roman</vt:lpstr>
      <vt:lpstr>Wingdings</vt:lpstr>
      <vt:lpstr>Default Design</vt:lpstr>
      <vt:lpstr>Programação Orientada aos Objetos (Licenciatura em Engenharia de Telecomunicações &amp; Informática)  2º Ano, 1º Semestre</vt:lpstr>
      <vt:lpstr>Estruturas Hierárquicas (Árvores)</vt:lpstr>
      <vt:lpstr>Árvores</vt:lpstr>
      <vt:lpstr>Árvores (cont)</vt:lpstr>
      <vt:lpstr>Árvores Binárias</vt:lpstr>
      <vt:lpstr>Árvores Binárias (cont)</vt:lpstr>
      <vt:lpstr>Implementação &amp; Operações</vt:lpstr>
      <vt:lpstr>Inserção Ordenada</vt:lpstr>
      <vt:lpstr>Implementação da Inserção Ordenada</vt:lpstr>
      <vt:lpstr>Travessias em Árvores Binárias</vt:lpstr>
      <vt:lpstr>Travessias (implementação)</vt:lpstr>
      <vt:lpstr>Pesquisa numa Árvore Binária</vt:lpstr>
      <vt:lpstr>Eliminação em Árvores Binárias Ordenadas</vt:lpstr>
      <vt:lpstr>Eliminação em Árvores Binárias (cont)</vt:lpstr>
      <vt:lpstr>Apresentação do PowerPoint</vt:lpstr>
      <vt:lpstr>Apresentação do PowerPoint</vt:lpstr>
      <vt:lpstr>Balanceamento de Árvores Binárias</vt:lpstr>
      <vt:lpstr>Balanceamento de Árvores Binárias - AVL</vt:lpstr>
      <vt:lpstr>Balanceamento de Árvores Binárias - AVL</vt:lpstr>
      <vt:lpstr>Apresentação do PowerPoint</vt:lpstr>
      <vt:lpstr>Classe TreeSet&lt;E&gt;  em Java1.8</vt:lpstr>
      <vt:lpstr>Exemplo de Comparator</vt:lpstr>
      <vt:lpstr>Comparators em Java1.8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Programação II (Mestrado Integrado em Engenharia de Comunicações)</dc:title>
  <dc:creator>pja</dc:creator>
  <cp:lastModifiedBy>Luís Pedro Cerqueira Baptista</cp:lastModifiedBy>
  <cp:revision>1336</cp:revision>
  <dcterms:created xsi:type="dcterms:W3CDTF">2008-02-28T16:13:14Z</dcterms:created>
  <dcterms:modified xsi:type="dcterms:W3CDTF">2025-07-19T21:24:10Z</dcterms:modified>
</cp:coreProperties>
</file>