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73" r:id="rId13"/>
    <p:sldId id="283" r:id="rId14"/>
    <p:sldId id="284" r:id="rId15"/>
  </p:sldIdLst>
  <p:sldSz cx="9144000" cy="6858000" type="screen4x3"/>
  <p:notesSz cx="6858000" cy="9144000"/>
  <p:defaultTextStyle>
    <a:defPPr>
      <a:defRPr lang="pt-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27" autoAdjust="0"/>
  </p:normalViewPr>
  <p:slideViewPr>
    <p:cSldViewPr>
      <p:cViewPr varScale="1">
        <p:scale>
          <a:sx n="78" d="100"/>
          <a:sy n="78" d="100"/>
        </p:scale>
        <p:origin x="94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13232AF-51E1-4B0B-A06A-72824430C3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DB8B1E9-C8A3-4544-A7CB-DC7F8FF1081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60E386C-4D13-47E5-88FB-F6F9FED10FF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93A3CC7-065D-499A-95F5-B95D16C156B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B8435704-24E5-4A5A-AD38-05C4EFC967B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7638B4D1-5BC4-4359-B727-8AC0941BF4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9B47BC-B10B-44A3-9422-B3795AFB5DD8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PT"/>
              <a:t>Faça clique para editar o estilo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73F3A3-3668-486B-96FA-41EA58E0FA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4022E53-5005-4F52-9115-5201E27938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443244-CC9A-404F-BBEE-62EF59E5CF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975705-7909-4189-950B-B97D49A0646D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309015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FF001A-0A3F-4D19-8F56-22C71E7796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885E09-6B1B-4F54-A809-2814BC2A8E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43EE28-EE1F-4011-B360-A7673789C2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764A0C-0D45-42E8-81CD-E88A2DBD2553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194399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81B98C-AFCB-437A-9CB6-07946B3126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26EE9D-7071-4B22-9235-91EDA4B5F4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FF91F0-EE80-4B27-94FD-671322B0B6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57D48-8B7B-4359-94D8-347B3BEFCC7F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142620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AEECB2-8EAA-4242-8FBA-5325863428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B40FB6-D4AC-4BA3-A582-6AC51F4361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3F47BB-0A28-433F-8397-9BA5F0EA76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B4FF0-7666-4954-8702-731DF05851FA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80040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0705E1B-1B0A-4202-BAC5-CC87555DF5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65BAF92-8EE3-42F2-84F8-CB221A9ED2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1F21EFC-CE91-49BA-A696-4676F69EEC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86A41A-E054-4303-B3C5-2B70BBCA5DCD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08214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CC494BD-E4C0-4150-A9C8-701F15860A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6EC324D-D47F-42B8-BE6C-6D92DF3EFC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CEAD2E7-08A0-4B4E-BA6A-FE3D2450EC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688D2-5ADD-4CA3-8DC7-C9447EBB2F60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74083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BCFFE25-E389-4ED4-94D0-8C954EAF12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FEB6F35-66D3-4357-ADBF-7F7B9BB203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D874677-4943-4B15-AF28-8FB8892723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D3783-BAE5-4C6A-B5C1-603528D182AF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234752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E3442-28D6-467A-BE8E-459C6BDFA5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59D1E1-9A3D-4F3A-9371-5124F1BCE6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E40C70-75EE-4224-ABA6-18C66EAFEF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71B5EA-EFD9-4926-8523-C5740B32C79B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968732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2273E5-F08A-4858-809B-83620F8288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338C7F-92C7-437F-ACB3-F9E8517019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9231C7-E05A-4ED7-8518-AED38EECA0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AF977-EF4E-4B8A-82EC-DA5D1485DC7D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19759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A7A8D2-7F99-427E-9573-2C1E9ABA28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897584-F020-4E4C-A6E1-1BA93619C9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26E904-D49A-4215-9139-C2EE20B6C8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14A487-DADC-4DC3-A904-F725E57005C9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52148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247B39-D6A5-4327-BC33-BDAF86750C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EEFF26-1126-4B6E-AED9-2B8EABD013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073AFF-320E-43D7-ADDA-F3942D07C9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32294D-6BE9-4D9D-8F79-9A8FFB92346A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242271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D4FED1A-5AAB-4C47-A98E-CA9763CB3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69B3066-659F-42F4-B8E3-98F2DD6829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text styles</a:t>
            </a:r>
          </a:p>
          <a:p>
            <a:pPr lvl="1"/>
            <a:r>
              <a:rPr lang="pt-PT" altLang="en-US"/>
              <a:t>Second level</a:t>
            </a:r>
          </a:p>
          <a:p>
            <a:pPr lvl="2"/>
            <a:r>
              <a:rPr lang="pt-PT" altLang="en-US"/>
              <a:t>Third level</a:t>
            </a:r>
          </a:p>
          <a:p>
            <a:pPr lvl="3"/>
            <a:r>
              <a:rPr lang="pt-PT" altLang="en-US"/>
              <a:t>Fourth level</a:t>
            </a:r>
          </a:p>
          <a:p>
            <a:pPr lvl="4"/>
            <a:r>
              <a:rPr lang="pt-PT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D3A5F05-9918-4002-A0F0-5568B0F851D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3D99D6B-358F-46E1-9A0B-8914C9C7E3D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78600"/>
            <a:ext cx="424815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A669401-3E1B-4CE3-80C0-75221857B5D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597650"/>
            <a:ext cx="2133600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E4587AB-9204-4A86-A5C6-C883D584BF94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Posição do Rodapé 4">
            <a:extLst>
              <a:ext uri="{FF2B5EF4-FFF2-40B4-BE49-F238E27FC236}">
                <a16:creationId xmlns:a16="http://schemas.microsoft.com/office/drawing/2014/main" id="{CCF438F1-673E-4CEA-9CD8-9D37119E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075" name="Marcador de Posição do Número do Diapositivo 5">
            <a:extLst>
              <a:ext uri="{FF2B5EF4-FFF2-40B4-BE49-F238E27FC236}">
                <a16:creationId xmlns:a16="http://schemas.microsoft.com/office/drawing/2014/main" id="{5A74BDF1-BA04-4549-8C89-06879B4B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BA1FB7-E628-4519-AAF0-E6EACA1FF8B1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pt-PT" altLang="en-US" sz="1400"/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C05755DF-7EB7-477C-B2F6-8D9B82611F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341438"/>
            <a:ext cx="7772400" cy="1470025"/>
          </a:xfrm>
        </p:spPr>
        <p:txBody>
          <a:bodyPr/>
          <a:lstStyle/>
          <a:p>
            <a:pPr eaLnBrk="1" hangingPunct="1"/>
            <a:r>
              <a:rPr lang="pt-PT" altLang="en-US" sz="3600"/>
              <a:t>Programação Orientada aos Objetos</a:t>
            </a:r>
            <a:br>
              <a:rPr lang="pt-PT" altLang="en-US" sz="4000"/>
            </a:br>
            <a:r>
              <a:rPr lang="pt-PT" altLang="en-US" sz="2000"/>
              <a:t>(Licenciatura em Engenharia de Telecomunicações &amp; Informática) </a:t>
            </a:r>
            <a:br>
              <a:rPr lang="pt-PT" altLang="en-US" sz="2000"/>
            </a:br>
            <a:r>
              <a:rPr lang="pt-PT" altLang="en-US" sz="2000"/>
              <a:t>2º Ano, 1º Semestre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E940B8E0-AC41-4634-ACB6-8E00C0965F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982663"/>
          </a:xfrm>
        </p:spPr>
        <p:txBody>
          <a:bodyPr/>
          <a:lstStyle/>
          <a:p>
            <a:pPr eaLnBrk="1" hangingPunct="1"/>
            <a:r>
              <a:rPr lang="pt-PT" altLang="en-US" sz="2800"/>
              <a:t>Classes &amp; Objetos em JAVA8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Posição do Rodapé 4">
            <a:extLst>
              <a:ext uri="{FF2B5EF4-FFF2-40B4-BE49-F238E27FC236}">
                <a16:creationId xmlns:a16="http://schemas.microsoft.com/office/drawing/2014/main" id="{253373DA-C5AE-4877-AA8D-06850BA8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4099" name="Marcador de Posição do Número do Diapositivo 5">
            <a:extLst>
              <a:ext uri="{FF2B5EF4-FFF2-40B4-BE49-F238E27FC236}">
                <a16:creationId xmlns:a16="http://schemas.microsoft.com/office/drawing/2014/main" id="{8CCEE39B-F97E-418F-956F-92E77B95E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0C1955-C008-4B57-80FC-28098BF1ECE2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PT" altLang="en-US" sz="1400"/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7BCC2923-2588-487C-8A1D-3AB157EA8A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Classes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B62D4A2C-E569-4D1A-996A-C1AC0D1F4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25538"/>
            <a:ext cx="4968875" cy="4967287"/>
          </a:xfrm>
        </p:spPr>
        <p:txBody>
          <a:bodyPr/>
          <a:lstStyle/>
          <a:p>
            <a:pPr eaLnBrk="1" hangingPunct="1"/>
            <a:r>
              <a:rPr lang="pt-PT" altLang="en-US" sz="2000" i="1"/>
              <a:t>Classes</a:t>
            </a:r>
            <a:r>
              <a:rPr lang="pt-PT" altLang="en-US" sz="2000"/>
              <a:t>: conjunto de dados e métodos (procedimentos) para operar sobre esses dados.</a:t>
            </a:r>
          </a:p>
          <a:p>
            <a:pPr eaLnBrk="1" hangingPunct="1"/>
            <a:r>
              <a:rPr lang="pt-PT" altLang="en-US" sz="2000"/>
              <a:t>Classes são tipos de dados!</a:t>
            </a:r>
          </a:p>
          <a:p>
            <a:pPr eaLnBrk="1" hangingPunct="1"/>
            <a:r>
              <a:rPr lang="pt-PT" altLang="en-US" sz="2000"/>
              <a:t>Este conjunto de dados e métodos juntos definem o conteúdo e comportamento de um </a:t>
            </a:r>
            <a:r>
              <a:rPr lang="pt-PT" altLang="en-US" sz="2000" i="1"/>
              <a:t>objecto</a:t>
            </a:r>
            <a:r>
              <a:rPr lang="pt-PT" altLang="en-US" sz="2000"/>
              <a:t>.</a:t>
            </a:r>
          </a:p>
          <a:p>
            <a:pPr eaLnBrk="1" hangingPunct="1"/>
            <a:r>
              <a:rPr lang="pt-PT" altLang="en-US" sz="2000"/>
              <a:t>As classes servem para definir a estrutura (variáveis) e comportamentos comuns (métodos) de todos os objectos criados a partir delas.</a:t>
            </a:r>
          </a:p>
          <a:p>
            <a:pPr eaLnBrk="1" hangingPunct="1"/>
            <a:r>
              <a:rPr lang="pt-PT" altLang="en-US" sz="2000"/>
              <a:t>Excelente mecanismo de partilha de código.</a:t>
            </a:r>
          </a:p>
        </p:txBody>
      </p:sp>
      <p:pic>
        <p:nvPicPr>
          <p:cNvPr id="4102" name="Picture 4">
            <a:extLst>
              <a:ext uri="{FF2B5EF4-FFF2-40B4-BE49-F238E27FC236}">
                <a16:creationId xmlns:a16="http://schemas.microsoft.com/office/drawing/2014/main" id="{D1524518-71AD-4203-9C65-682222C1C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413" y="981075"/>
            <a:ext cx="3938587" cy="368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Posição do Rodapé 4">
            <a:extLst>
              <a:ext uri="{FF2B5EF4-FFF2-40B4-BE49-F238E27FC236}">
                <a16:creationId xmlns:a16="http://schemas.microsoft.com/office/drawing/2014/main" id="{C8A725CD-793D-4242-9355-FFA3E6C9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5123" name="Marcador de Posição do Número do Diapositivo 5">
            <a:extLst>
              <a:ext uri="{FF2B5EF4-FFF2-40B4-BE49-F238E27FC236}">
                <a16:creationId xmlns:a16="http://schemas.microsoft.com/office/drawing/2014/main" id="{86DCBF32-2946-4F00-BAD7-D80A5A3D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7F81C6-A7D1-4757-9B79-2D04AE91A03E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PT" altLang="en-US" sz="14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5FB5E595-A994-45BA-9D3C-08D7C5DA7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Definição de Classe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50FE6BBD-91BD-4554-81A0-007F7D7859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51133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 b="1">
                <a:latin typeface="Times New Roman" panose="02020603050405020304" pitchFamily="18" charset="0"/>
              </a:rPr>
              <a:t>public</a:t>
            </a:r>
            <a:r>
              <a:rPr lang="pt-PT" altLang="en-US" sz="2000">
                <a:latin typeface="Times New Roman" panose="02020603050405020304" pitchFamily="18" charset="0"/>
              </a:rPr>
              <a:t> class Ponto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{ // variáveis de instância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</a:t>
            </a:r>
            <a:r>
              <a:rPr lang="pt-PT" altLang="en-US" sz="2000" b="1">
                <a:latin typeface="Times New Roman" panose="02020603050405020304" pitchFamily="18" charset="0"/>
              </a:rPr>
              <a:t>private</a:t>
            </a:r>
            <a:r>
              <a:rPr lang="pt-PT" altLang="en-US" sz="2000">
                <a:latin typeface="Times New Roman" panose="02020603050405020304" pitchFamily="18" charset="0"/>
              </a:rPr>
              <a:t> double x, y;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PT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// constructores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Ponto()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{ this.x = 0.0; </a:t>
            </a:r>
            <a:r>
              <a:rPr lang="pt-PT" altLang="en-US" sz="2000" b="1">
                <a:latin typeface="Times New Roman" panose="02020603050405020304" pitchFamily="18" charset="0"/>
              </a:rPr>
              <a:t>this</a:t>
            </a:r>
            <a:r>
              <a:rPr lang="pt-PT" altLang="en-US" sz="2000">
                <a:latin typeface="Times New Roman" panose="02020603050405020304" pitchFamily="18" charset="0"/>
              </a:rPr>
              <a:t>.y = 0.0;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Ponto(double x, double y)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{ this.x = x; this.y = y;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PT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// métodos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public double getX(){ return this.x;}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public void setX(double x)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{ this.x = x;}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5126" name="AutoShape 4">
            <a:extLst>
              <a:ext uri="{FF2B5EF4-FFF2-40B4-BE49-F238E27FC236}">
                <a16:creationId xmlns:a16="http://schemas.microsoft.com/office/drawing/2014/main" id="{F4BB607B-2E3D-45B2-8096-AD19AE354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92150"/>
            <a:ext cx="1008063" cy="360363"/>
          </a:xfrm>
          <a:prstGeom prst="wedgeRoundRectCallout">
            <a:avLst>
              <a:gd name="adj1" fmla="val -6537"/>
              <a:gd name="adj2" fmla="val 18920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7" name="Text Box 6">
            <a:extLst>
              <a:ext uri="{FF2B5EF4-FFF2-40B4-BE49-F238E27FC236}">
                <a16:creationId xmlns:a16="http://schemas.microsoft.com/office/drawing/2014/main" id="{29ABF78F-F034-4B41-B289-AFA58DB71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690563"/>
            <a:ext cx="1082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/>
              <a:t>Visibilidade</a:t>
            </a:r>
          </a:p>
        </p:txBody>
      </p:sp>
      <p:sp>
        <p:nvSpPr>
          <p:cNvPr id="5128" name="AutoShape 7">
            <a:extLst>
              <a:ext uri="{FF2B5EF4-FFF2-40B4-BE49-F238E27FC236}">
                <a16:creationId xmlns:a16="http://schemas.microsoft.com/office/drawing/2014/main" id="{C1A83D28-91CF-469D-A84B-044F0CFC4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844675"/>
            <a:ext cx="936625" cy="360363"/>
          </a:xfrm>
          <a:prstGeom prst="wedgeRoundRectCallout">
            <a:avLst>
              <a:gd name="adj1" fmla="val -150676"/>
              <a:gd name="adj2" fmla="val 8127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400"/>
              <a:t>Estado</a:t>
            </a:r>
          </a:p>
        </p:txBody>
      </p:sp>
      <p:sp>
        <p:nvSpPr>
          <p:cNvPr id="5129" name="AutoShape 9">
            <a:extLst>
              <a:ext uri="{FF2B5EF4-FFF2-40B4-BE49-F238E27FC236}">
                <a16:creationId xmlns:a16="http://schemas.microsoft.com/office/drawing/2014/main" id="{782A1028-ADC1-4459-B244-E078137849F8}"/>
              </a:ext>
            </a:extLst>
          </p:cNvPr>
          <p:cNvSpPr>
            <a:spLocks/>
          </p:cNvSpPr>
          <p:nvPr/>
        </p:nvSpPr>
        <p:spPr bwMode="auto">
          <a:xfrm>
            <a:off x="4787900" y="2997200"/>
            <a:ext cx="720725" cy="2447925"/>
          </a:xfrm>
          <a:prstGeom prst="leftBrace">
            <a:avLst>
              <a:gd name="adj1" fmla="val 28304"/>
              <a:gd name="adj2" fmla="val 4513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30" name="Text Box 10">
            <a:extLst>
              <a:ext uri="{FF2B5EF4-FFF2-40B4-BE49-F238E27FC236}">
                <a16:creationId xmlns:a16="http://schemas.microsoft.com/office/drawing/2014/main" id="{3727B637-A7DB-4722-92F3-B553F7EE1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933825"/>
            <a:ext cx="1822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Comportamento</a:t>
            </a:r>
          </a:p>
        </p:txBody>
      </p:sp>
      <p:sp>
        <p:nvSpPr>
          <p:cNvPr id="5131" name="Text Box 11">
            <a:extLst>
              <a:ext uri="{FF2B5EF4-FFF2-40B4-BE49-F238E27FC236}">
                <a16:creationId xmlns:a16="http://schemas.microsoft.com/office/drawing/2014/main" id="{56526D2C-C2C0-461B-A8F8-877997AEC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3162300"/>
            <a:ext cx="34845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Constructores: definem a inicialização do objecto</a:t>
            </a:r>
          </a:p>
        </p:txBody>
      </p:sp>
      <p:sp>
        <p:nvSpPr>
          <p:cNvPr id="5132" name="AutoShape 12">
            <a:extLst>
              <a:ext uri="{FF2B5EF4-FFF2-40B4-BE49-F238E27FC236}">
                <a16:creationId xmlns:a16="http://schemas.microsoft.com/office/drawing/2014/main" id="{ADB7C49E-F0FA-4551-8D94-8FEDA43D4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2420938"/>
            <a:ext cx="1584325" cy="863600"/>
          </a:xfrm>
          <a:prstGeom prst="wedgeRoundRectCallout">
            <a:avLst>
              <a:gd name="adj1" fmla="val -101505"/>
              <a:gd name="adj2" fmla="val 8639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Keyword para indicar referência ao próprio objecto</a:t>
            </a:r>
          </a:p>
        </p:txBody>
      </p:sp>
      <p:sp>
        <p:nvSpPr>
          <p:cNvPr id="5133" name="AutoShape 13">
            <a:extLst>
              <a:ext uri="{FF2B5EF4-FFF2-40B4-BE49-F238E27FC236}">
                <a16:creationId xmlns:a16="http://schemas.microsoft.com/office/drawing/2014/main" id="{9236C10C-2574-45F8-9614-FF7808843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5589588"/>
            <a:ext cx="3024187" cy="503237"/>
          </a:xfrm>
          <a:prstGeom prst="wedgeRoundRectCallout">
            <a:avLst>
              <a:gd name="adj1" fmla="val -115250"/>
              <a:gd name="adj2" fmla="val -6545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Exemplo de um método de consulta. Permite preservar encapsulamento.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Marcador de Posição do Rodapé 4">
            <a:extLst>
              <a:ext uri="{FF2B5EF4-FFF2-40B4-BE49-F238E27FC236}">
                <a16:creationId xmlns:a16="http://schemas.microsoft.com/office/drawing/2014/main" id="{B4CF94E7-8483-460D-83CC-E22146DE5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6147" name="Marcador de Posição do Número do Diapositivo 5">
            <a:extLst>
              <a:ext uri="{FF2B5EF4-FFF2-40B4-BE49-F238E27FC236}">
                <a16:creationId xmlns:a16="http://schemas.microsoft.com/office/drawing/2014/main" id="{68060247-D0A9-4474-9006-5B49BCD15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94382C-7AC2-4B5D-BEB7-92880794FFDE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PT" altLang="en-US" sz="14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2404A3B3-1073-4735-8FA0-81B77A698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Criação de Instâncias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06780735-7855-40C6-82E9-EA8BD718B9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class Test</a:t>
            </a:r>
          </a:p>
          <a:p>
            <a:pPr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 s[])</a:t>
            </a:r>
          </a:p>
          <a:p>
            <a:pPr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Ponto p1 = new Ponto();</a:t>
            </a:r>
          </a:p>
          <a:p>
            <a:pPr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Ponto p2 = new Ponto(4,5);</a:t>
            </a:r>
          </a:p>
          <a:p>
            <a:pPr eaLnBrk="1" hangingPunct="1">
              <a:buFontTx/>
              <a:buNone/>
            </a:pPr>
            <a:endParaRPr lang="pt-PT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double a = p1.getX();</a:t>
            </a:r>
          </a:p>
          <a:p>
            <a:pPr eaLnBrk="1" hangingPunct="1">
              <a:buFontTx/>
              <a:buNone/>
            </a:pPr>
            <a:endParaRPr lang="pt-PT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// notar!!</a:t>
            </a:r>
          </a:p>
          <a:p>
            <a:pPr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p1.x = 0.4;</a:t>
            </a:r>
          </a:p>
          <a:p>
            <a:pPr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eaLnBrk="1" hangingPunct="1"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150" name="AutoShape 4">
            <a:extLst>
              <a:ext uri="{FF2B5EF4-FFF2-40B4-BE49-F238E27FC236}">
                <a16:creationId xmlns:a16="http://schemas.microsoft.com/office/drawing/2014/main" id="{FFD088A8-E384-41AF-A845-215C96FCA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068638"/>
            <a:ext cx="3313112" cy="1655762"/>
          </a:xfrm>
          <a:prstGeom prst="wedgeRoundRectCallout">
            <a:avLst>
              <a:gd name="adj1" fmla="val -114301"/>
              <a:gd name="adj2" fmla="val 6984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600"/>
              <a:t>A keyword </a:t>
            </a:r>
            <a:r>
              <a:rPr lang="pt-PT" altLang="en-US" sz="1600" b="1"/>
              <a:t>private</a:t>
            </a:r>
            <a:r>
              <a:rPr lang="pt-PT" altLang="en-US" sz="1600"/>
              <a:t> ajuda a preservar encapsulamento. Esta situação não é admitida pelo compilador. No entanto, (mesmo sem private), </a:t>
            </a:r>
            <a:r>
              <a:rPr lang="pt-PT" altLang="en-US" sz="1600" u="sng"/>
              <a:t>NUNCA</a:t>
            </a:r>
            <a:r>
              <a:rPr lang="pt-PT" altLang="en-US" sz="1600"/>
              <a:t> deve ser implementado por nós</a:t>
            </a:r>
          </a:p>
        </p:txBody>
      </p:sp>
      <p:sp>
        <p:nvSpPr>
          <p:cNvPr id="35845" name="Line 5">
            <a:extLst>
              <a:ext uri="{FF2B5EF4-FFF2-40B4-BE49-F238E27FC236}">
                <a16:creationId xmlns:a16="http://schemas.microsoft.com/office/drawing/2014/main" id="{FAA7A57C-35CA-4974-B0D9-72999F2B61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4581525"/>
            <a:ext cx="1079500" cy="9350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35846" name="Line 6">
            <a:extLst>
              <a:ext uri="{FF2B5EF4-FFF2-40B4-BE49-F238E27FC236}">
                <a16:creationId xmlns:a16="http://schemas.microsoft.com/office/drawing/2014/main" id="{55CD0870-2AB3-4071-9DE9-C79294ACF5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2275" y="4581525"/>
            <a:ext cx="863600" cy="10080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Posição do Rodapé 4">
            <a:extLst>
              <a:ext uri="{FF2B5EF4-FFF2-40B4-BE49-F238E27FC236}">
                <a16:creationId xmlns:a16="http://schemas.microsoft.com/office/drawing/2014/main" id="{69DB0AE9-96E8-444B-8F08-2DC040F2A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7171" name="Marcador de Posição do Número do Diapositivo 5">
            <a:extLst>
              <a:ext uri="{FF2B5EF4-FFF2-40B4-BE49-F238E27FC236}">
                <a16:creationId xmlns:a16="http://schemas.microsoft.com/office/drawing/2014/main" id="{37DDE379-1BAB-4A4F-BA76-A0830F063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7A19EE-D594-40C2-AEB1-78128D5A034F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PT" altLang="en-US" sz="1400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927C3C7D-7C73-4CA7-AC34-08FBC069A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Formato de um método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8B434215-659C-483F-8BBA-D08D09164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 sz="2000"/>
              <a:t>&lt;tipo de resultado&gt; &lt;identificador&gt; ( tipo nome_parâmetro, … )</a:t>
            </a:r>
          </a:p>
          <a:p>
            <a:pPr eaLnBrk="1" hangingPunct="1"/>
            <a:r>
              <a:rPr lang="pt-PT" altLang="en-US" sz="2000"/>
              <a:t>Assinatura de um método:</a:t>
            </a:r>
          </a:p>
          <a:p>
            <a:pPr lvl="1" eaLnBrk="1" hangingPunct="1"/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int getConta()</a:t>
            </a:r>
          </a:p>
          <a:p>
            <a:pPr lvl="1" eaLnBrk="1" hangingPunct="1"/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boolean maiorQue(int valor)</a:t>
            </a:r>
          </a:p>
          <a:p>
            <a:pPr lvl="1" eaLnBrk="1" hangingPunct="1"/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void setValor(int valor)</a:t>
            </a:r>
          </a:p>
          <a:p>
            <a:pPr lvl="1" eaLnBrk="1" hangingPunct="1"/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boolean valorEntre(double min, double max)</a:t>
            </a:r>
          </a:p>
          <a:p>
            <a:pPr lvl="1" eaLnBrk="1" hangingPunct="1"/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String toString()</a:t>
            </a:r>
          </a:p>
          <a:p>
            <a:pPr lvl="1" eaLnBrk="1" hangingPunct="1"/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Nt[] notasAcimaDe(int NotaRef)</a:t>
            </a:r>
          </a:p>
          <a:p>
            <a:pPr lvl="1" eaLnBrk="1" hangingPunct="1"/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Triangulo maiorTtri(Triangulo t2)</a:t>
            </a:r>
          </a:p>
          <a:p>
            <a:pPr lvl="1" eaLnBrk="1" hangingPunct="1">
              <a:buFontTx/>
              <a:buNone/>
            </a:pPr>
            <a:endParaRPr lang="pt-PT" altLang="en-US" sz="1800"/>
          </a:p>
          <a:p>
            <a:pPr eaLnBrk="1" hangingPunct="1"/>
            <a:r>
              <a:rPr lang="pt-PT" altLang="en-US" sz="2000"/>
              <a:t>Falta aqui falar de visibilidade de um método (similar a classes e variáveis).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Marcador de Posição do Rodapé 4">
            <a:extLst>
              <a:ext uri="{FF2B5EF4-FFF2-40B4-BE49-F238E27FC236}">
                <a16:creationId xmlns:a16="http://schemas.microsoft.com/office/drawing/2014/main" id="{65EB8DDD-AC59-4FD6-8D37-E7293C733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8195" name="Marcador de Posição do Número do Diapositivo 5">
            <a:extLst>
              <a:ext uri="{FF2B5EF4-FFF2-40B4-BE49-F238E27FC236}">
                <a16:creationId xmlns:a16="http://schemas.microsoft.com/office/drawing/2014/main" id="{AD233BF2-E49F-40AD-8C2B-5CAB7700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8496B4-F023-4855-95DA-7F8A92F36EFE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PT" altLang="en-US" sz="1400"/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F34732B2-1CB6-4161-AA86-269946346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Acessibilidade de uma classe</a:t>
            </a:r>
          </a:p>
        </p:txBody>
      </p:sp>
      <p:pic>
        <p:nvPicPr>
          <p:cNvPr id="8197" name="Picture 4">
            <a:extLst>
              <a:ext uri="{FF2B5EF4-FFF2-40B4-BE49-F238E27FC236}">
                <a16:creationId xmlns:a16="http://schemas.microsoft.com/office/drawing/2014/main" id="{BA102361-49A2-40EC-A548-4F89CBA981F5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5300" y="1196975"/>
            <a:ext cx="5613400" cy="1574800"/>
          </a:xfrm>
          <a:noFill/>
        </p:spPr>
      </p:pic>
      <p:sp>
        <p:nvSpPr>
          <p:cNvPr id="8198" name="Text Box 6">
            <a:extLst>
              <a:ext uri="{FF2B5EF4-FFF2-40B4-BE49-F238E27FC236}">
                <a16:creationId xmlns:a16="http://schemas.microsoft.com/office/drawing/2014/main" id="{A9BD9B25-60DF-4337-99C6-D9215340D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8" y="2708275"/>
            <a:ext cx="7867650" cy="356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1800"/>
              <a:t> </a:t>
            </a:r>
            <a:r>
              <a:rPr lang="pt-PT" altLang="en-US" sz="2000" b="1"/>
              <a:t>public</a:t>
            </a:r>
            <a:r>
              <a:rPr lang="pt-PT" altLang="en-US" sz="2000"/>
              <a:t>	 acesso para todos…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1800"/>
              <a:t> </a:t>
            </a:r>
            <a:r>
              <a:rPr lang="pt-PT" altLang="en-US" sz="2000" b="1"/>
              <a:t>private</a:t>
            </a:r>
            <a:r>
              <a:rPr lang="pt-PT" altLang="en-US" sz="2000"/>
              <a:t> e </a:t>
            </a:r>
            <a:r>
              <a:rPr lang="pt-PT" altLang="en-US" sz="2000" b="1"/>
              <a:t>protected</a:t>
            </a:r>
            <a:r>
              <a:rPr lang="pt-PT" altLang="en-US" sz="2000"/>
              <a:t>	só usado em casos de classes que ajudam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a implementar outras.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000"/>
              <a:t> nenhum	acessível por classes dentro da </a:t>
            </a:r>
            <a:r>
              <a:rPr lang="pt-PT" altLang="en-US" sz="2000" b="1"/>
              <a:t>package</a:t>
            </a:r>
            <a:r>
              <a:rPr lang="pt-PT" altLang="en-US" sz="2000"/>
              <a:t>.</a:t>
            </a:r>
          </a:p>
          <a:p>
            <a:pPr eaLnBrk="1" hangingPunct="1">
              <a:spcBef>
                <a:spcPct val="0"/>
              </a:spcBef>
            </a:pPr>
            <a:endParaRPr lang="pt-PT" altLang="en-US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Quando não definimos um package é assumido que só as classes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definidas dentro do mesmo directório têm acesso…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000"/>
              <a:t>No entanto, podemos sempre fazer: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package java.classes1;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class Ponto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600">
                <a:latin typeface="Times New Roman" panose="02020603050405020304" pitchFamily="18" charset="0"/>
              </a:rPr>
              <a:t>{ 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Marcador de Posição do Rodapé 4">
            <a:extLst>
              <a:ext uri="{FF2B5EF4-FFF2-40B4-BE49-F238E27FC236}">
                <a16:creationId xmlns:a16="http://schemas.microsoft.com/office/drawing/2014/main" id="{D5F80AB1-F826-469A-9F67-EB57D654C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9219" name="Marcador de Posição do Número do Diapositivo 5">
            <a:extLst>
              <a:ext uri="{FF2B5EF4-FFF2-40B4-BE49-F238E27FC236}">
                <a16:creationId xmlns:a16="http://schemas.microsoft.com/office/drawing/2014/main" id="{6903B661-7100-4014-BCAC-2412BB8C1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4C7BB0-2964-4559-9BAD-75E6057F68F5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PT" altLang="en-US" sz="1400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79EE05C2-7B3D-48EC-AFBF-1C06F74D3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 sz="4000"/>
              <a:t>Acessibilidade para métodos e variáveis</a:t>
            </a:r>
          </a:p>
        </p:txBody>
      </p:sp>
      <p:pic>
        <p:nvPicPr>
          <p:cNvPr id="9221" name="Picture 4">
            <a:extLst>
              <a:ext uri="{FF2B5EF4-FFF2-40B4-BE49-F238E27FC236}">
                <a16:creationId xmlns:a16="http://schemas.microsoft.com/office/drawing/2014/main" id="{82E949F6-CD8C-4CF5-854C-EF0BBFF6C5BC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31975" y="1412875"/>
            <a:ext cx="5478463" cy="1631950"/>
          </a:xfrm>
          <a:noFill/>
        </p:spPr>
      </p:pic>
      <p:sp>
        <p:nvSpPr>
          <p:cNvPr id="9222" name="Text Box 5">
            <a:extLst>
              <a:ext uri="{FF2B5EF4-FFF2-40B4-BE49-F238E27FC236}">
                <a16:creationId xmlns:a16="http://schemas.microsoft.com/office/drawing/2014/main" id="{637CBA0C-A657-49EB-A3EB-73E563122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3232150"/>
            <a:ext cx="76390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1800"/>
              <a:t> as variáveis de instância são </a:t>
            </a:r>
            <a:r>
              <a:rPr lang="pt-PT" altLang="en-US" sz="1800" b="1"/>
              <a:t>private</a:t>
            </a:r>
            <a:r>
              <a:rPr lang="pt-PT" altLang="en-US" sz="1800"/>
              <a:t> por questões de encapsulamento.</a:t>
            </a:r>
          </a:p>
          <a:p>
            <a:pPr eaLnBrk="1" hangingPunct="1">
              <a:spcBef>
                <a:spcPct val="0"/>
              </a:spcBef>
            </a:pPr>
            <a:endParaRPr lang="pt-PT" altLang="en-US" sz="1800"/>
          </a:p>
          <a:p>
            <a:pPr eaLnBrk="1" hangingPunct="1">
              <a:spcBef>
                <a:spcPct val="0"/>
              </a:spcBef>
            </a:pPr>
            <a:r>
              <a:rPr lang="pt-PT" altLang="en-US" sz="1800"/>
              <a:t> alguns métodos também o podem ser, sobretudo quando são usados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para consumo interno à classe (métodos auxiliares).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1800"/>
          </a:p>
          <a:p>
            <a:pPr eaLnBrk="1" hangingPunct="1">
              <a:spcBef>
                <a:spcPct val="0"/>
              </a:spcBef>
            </a:pPr>
            <a:r>
              <a:rPr lang="pt-PT" altLang="en-US" sz="1800"/>
              <a:t> </a:t>
            </a:r>
            <a:r>
              <a:rPr lang="pt-PT" altLang="en-US" sz="1800" b="1"/>
              <a:t>protected</a:t>
            </a:r>
            <a:r>
              <a:rPr lang="pt-PT" altLang="en-US" sz="1800"/>
              <a:t> pode ser a forma de se ter classes a herdar variáveis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(a ver mais tarde – No entanto não vamos usar nesta UC!)</a:t>
            </a:r>
          </a:p>
          <a:p>
            <a:pPr eaLnBrk="1" hangingPunct="1">
              <a:spcBef>
                <a:spcPct val="0"/>
              </a:spcBef>
            </a:pPr>
            <a:endParaRPr lang="pt-PT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Marcador de Posição do Rodapé 4">
            <a:extLst>
              <a:ext uri="{FF2B5EF4-FFF2-40B4-BE49-F238E27FC236}">
                <a16:creationId xmlns:a16="http://schemas.microsoft.com/office/drawing/2014/main" id="{A69C7A1F-90F2-48A9-944C-9BEAC655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0243" name="Marcador de Posição do Número do Diapositivo 5">
            <a:extLst>
              <a:ext uri="{FF2B5EF4-FFF2-40B4-BE49-F238E27FC236}">
                <a16:creationId xmlns:a16="http://schemas.microsoft.com/office/drawing/2014/main" id="{FB0D8123-3C3E-49EA-AAC8-F95C5585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6DA3BA-87D8-43E9-9FC8-1F14DEA211A2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PT" altLang="en-US" sz="1400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31744D2B-B6B6-498C-AA2D-4EBACC126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Métodos complementares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925450B3-4700-405E-955D-2FF4D7B3EF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000">
                <a:latin typeface="Times New Roman" panose="02020603050405020304" pitchFamily="18" charset="0"/>
              </a:rPr>
              <a:t>equals(</a:t>
            </a:r>
            <a:r>
              <a:rPr lang="pt-PT" altLang="en-US" sz="2000" i="1">
                <a:latin typeface="Times New Roman" panose="02020603050405020304" pitchFamily="18" charset="0"/>
              </a:rPr>
              <a:t>ObjectType</a:t>
            </a:r>
            <a:r>
              <a:rPr lang="pt-PT" altLang="en-US" sz="2000">
                <a:latin typeface="Times New Roman" panose="02020603050405020304" pitchFamily="18" charset="0"/>
              </a:rPr>
              <a:t> p)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i="1">
                <a:latin typeface="Times New Roman" panose="02020603050405020304" pitchFamily="18" charset="0"/>
              </a:rPr>
              <a:t>ObjectType</a:t>
            </a:r>
            <a:r>
              <a:rPr lang="pt-PT" altLang="en-US" sz="2000">
                <a:latin typeface="Times New Roman" panose="02020603050405020304" pitchFamily="18" charset="0"/>
              </a:rPr>
              <a:t> clone()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i="1">
                <a:latin typeface="Times New Roman" panose="02020603050405020304" pitchFamily="18" charset="0"/>
              </a:rPr>
              <a:t>String</a:t>
            </a:r>
            <a:r>
              <a:rPr lang="pt-PT" altLang="en-US" sz="2000">
                <a:latin typeface="Times New Roman" panose="02020603050405020304" pitchFamily="18" charset="0"/>
              </a:rPr>
              <a:t> toString()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Exemplos: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public boolean equals(Ponto p)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	</a:t>
            </a:r>
            <a:r>
              <a:rPr lang="pt-PT" altLang="en-US" sz="200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if (p != null)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	return (this.x == p.getX()) &amp;&amp; (this.y == p.getY());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else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	return(false);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public Ponto clone()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{	return new Ponto(this.x,this.y);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public String toString()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{	return(“Ponto(” + this.x +”,”+ this.y + “)”);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Posição do Rodapé 4">
            <a:extLst>
              <a:ext uri="{FF2B5EF4-FFF2-40B4-BE49-F238E27FC236}">
                <a16:creationId xmlns:a16="http://schemas.microsoft.com/office/drawing/2014/main" id="{FE0DACEA-6940-466A-B140-D7A191B1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1267" name="Marcador de Posição do Número do Diapositivo 5">
            <a:extLst>
              <a:ext uri="{FF2B5EF4-FFF2-40B4-BE49-F238E27FC236}">
                <a16:creationId xmlns:a16="http://schemas.microsoft.com/office/drawing/2014/main" id="{058D8FC6-941F-4A44-8954-2204D3A0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67EA79-7F47-4AB6-B41F-11C3418F77FC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pt-PT" altLang="en-US" sz="1400"/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F465D2FD-1504-493C-A698-2B64336B3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706438"/>
          </a:xfrm>
        </p:spPr>
        <p:txBody>
          <a:bodyPr/>
          <a:lstStyle/>
          <a:p>
            <a:pPr eaLnBrk="1" hangingPunct="1"/>
            <a:r>
              <a:rPr lang="pt-PT" altLang="en-US" sz="3600"/>
              <a:t>Overloading de métodos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805BD13E-E91C-41D4-B45B-22C1E4EF8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229600" cy="568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Numa classe podemos ter o mesmo método com assinaturas diferentes, representado implementações diferentes.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Exemplo: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600" dirty="0">
                <a:latin typeface="Times New Roman" panose="02020603050405020304" pitchFamily="18" charset="0"/>
              </a:rPr>
              <a:t>	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800" dirty="0">
                <a:latin typeface="Times New Roman" panose="02020603050405020304" pitchFamily="18" charset="0"/>
              </a:rPr>
              <a:t> imposto(</a:t>
            </a:r>
            <a:r>
              <a:rPr lang="pt-PT" altLang="en-US" sz="18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800" dirty="0">
                <a:latin typeface="Times New Roman" panose="02020603050405020304" pitchFamily="18" charset="0"/>
              </a:rPr>
              <a:t> taxa, </a:t>
            </a: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 val1, </a:t>
            </a: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 val2)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	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return</a:t>
            </a:r>
            <a:r>
              <a:rPr lang="pt-PT" altLang="en-US" sz="1800" dirty="0">
                <a:latin typeface="Times New Roman" panose="02020603050405020304" pitchFamily="18" charset="0"/>
              </a:rPr>
              <a:t> val1*taxa + val2*taxa;}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	</a:t>
            </a: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800" dirty="0">
                <a:latin typeface="Times New Roman" panose="02020603050405020304" pitchFamily="18" charset="0"/>
              </a:rPr>
              <a:t> imposto(</a:t>
            </a:r>
            <a:r>
              <a:rPr lang="pt-PT" altLang="en-US" sz="18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800" dirty="0">
                <a:latin typeface="Times New Roman" panose="02020603050405020304" pitchFamily="18" charset="0"/>
              </a:rPr>
              <a:t> taxa, </a:t>
            </a: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 val1, </a:t>
            </a: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 val2,int val3)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	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return</a:t>
            </a:r>
            <a:r>
              <a:rPr lang="pt-PT" altLang="en-US" sz="1800" dirty="0">
                <a:latin typeface="Times New Roman" panose="02020603050405020304" pitchFamily="18" charset="0"/>
              </a:rPr>
              <a:t> val1*taxa + val2*taxa + val3*taxa;}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pt-PT" altLang="en-US" sz="1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Podemos ter até um número indefinido de parâmetros: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 err="1">
                <a:latin typeface="Times New Roman" panose="02020603050405020304" pitchFamily="18" charset="0"/>
              </a:rPr>
              <a:t>public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800" dirty="0">
                <a:latin typeface="Times New Roman" panose="02020603050405020304" pitchFamily="18" charset="0"/>
              </a:rPr>
              <a:t> imposto(</a:t>
            </a:r>
            <a:r>
              <a:rPr lang="pt-PT" altLang="en-US" sz="18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800" dirty="0">
                <a:latin typeface="Times New Roman" panose="02020603050405020304" pitchFamily="18" charset="0"/>
              </a:rPr>
              <a:t> taxa, </a:t>
            </a: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... </a:t>
            </a:r>
            <a:r>
              <a:rPr lang="pt-PT" altLang="en-US" sz="1800" dirty="0" err="1">
                <a:latin typeface="Times New Roman" panose="02020603050405020304" pitchFamily="18" charset="0"/>
              </a:rPr>
              <a:t>vals</a:t>
            </a:r>
            <a:r>
              <a:rPr lang="pt-PT" altLang="en-US" sz="1800" dirty="0">
                <a:latin typeface="Times New Roman" panose="02020603050405020304" pitchFamily="18" charset="0"/>
              </a:rPr>
              <a:t>) 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{ </a:t>
            </a:r>
            <a:r>
              <a:rPr lang="pt-PT" altLang="en-US" sz="18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impTotal</a:t>
            </a:r>
            <a:r>
              <a:rPr lang="pt-PT" altLang="en-US" sz="1800" dirty="0">
                <a:latin typeface="Times New Roman" panose="02020603050405020304" pitchFamily="18" charset="0"/>
              </a:rPr>
              <a:t> = 0.0;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 for(</a:t>
            </a:r>
            <a:r>
              <a:rPr lang="pt-PT" altLang="en-US" sz="1800" dirty="0" err="1">
                <a:latin typeface="Times New Roman" panose="02020603050405020304" pitchFamily="18" charset="0"/>
              </a:rPr>
              <a:t>int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val</a:t>
            </a:r>
            <a:r>
              <a:rPr lang="pt-PT" altLang="en-US" sz="1800" dirty="0">
                <a:latin typeface="Times New Roman" panose="02020603050405020304" pitchFamily="18" charset="0"/>
              </a:rPr>
              <a:t> : </a:t>
            </a:r>
            <a:r>
              <a:rPr lang="pt-PT" altLang="en-US" sz="1800" dirty="0" err="1">
                <a:latin typeface="Times New Roman" panose="02020603050405020304" pitchFamily="18" charset="0"/>
              </a:rPr>
              <a:t>vals</a:t>
            </a:r>
            <a:r>
              <a:rPr lang="pt-PT" altLang="en-US" sz="1800" dirty="0">
                <a:latin typeface="Times New Roman" panose="02020603050405020304" pitchFamily="18" charset="0"/>
              </a:rPr>
              <a:t>) </a:t>
            </a:r>
            <a:r>
              <a:rPr lang="pt-PT" altLang="en-US" sz="1800" dirty="0" err="1">
                <a:latin typeface="Times New Roman" panose="02020603050405020304" pitchFamily="18" charset="0"/>
              </a:rPr>
              <a:t>impTotal</a:t>
            </a:r>
            <a:r>
              <a:rPr lang="pt-PT" altLang="en-US" sz="1800" dirty="0">
                <a:latin typeface="Times New Roman" panose="02020603050405020304" pitchFamily="18" charset="0"/>
              </a:rPr>
              <a:t> += </a:t>
            </a:r>
            <a:r>
              <a:rPr lang="pt-PT" altLang="en-US" sz="1800" dirty="0" err="1">
                <a:latin typeface="Times New Roman" panose="02020603050405020304" pitchFamily="18" charset="0"/>
              </a:rPr>
              <a:t>val</a:t>
            </a:r>
            <a:r>
              <a:rPr lang="pt-PT" altLang="en-US" sz="1800" dirty="0">
                <a:latin typeface="Times New Roman" panose="02020603050405020304" pitchFamily="18" charset="0"/>
              </a:rPr>
              <a:t>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  </a:t>
            </a:r>
            <a:r>
              <a:rPr lang="pt-PT" altLang="en-US" sz="1800" dirty="0" err="1">
                <a:latin typeface="Times New Roman" panose="02020603050405020304" pitchFamily="18" charset="0"/>
              </a:rPr>
              <a:t>return</a:t>
            </a:r>
            <a:r>
              <a:rPr lang="pt-PT" altLang="en-US" sz="1800" dirty="0">
                <a:latin typeface="Times New Roman" panose="02020603050405020304" pitchFamily="18" charset="0"/>
              </a:rPr>
              <a:t> </a:t>
            </a:r>
            <a:r>
              <a:rPr lang="pt-PT" altLang="en-US" sz="1800" dirty="0" err="1">
                <a:latin typeface="Times New Roman" panose="02020603050405020304" pitchFamily="18" charset="0"/>
              </a:rPr>
              <a:t>impTotal</a:t>
            </a:r>
            <a:r>
              <a:rPr lang="pt-PT" altLang="en-US" sz="1800" dirty="0">
                <a:latin typeface="Times New Roman" panose="02020603050405020304" pitchFamily="18" charset="0"/>
              </a:rPr>
              <a:t>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 }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Modos de uso…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 err="1">
                <a:latin typeface="Times New Roman" panose="02020603050405020304" pitchFamily="18" charset="0"/>
              </a:rPr>
              <a:t>double</a:t>
            </a:r>
            <a:r>
              <a:rPr lang="pt-PT" altLang="en-US" sz="1800" dirty="0">
                <a:latin typeface="Times New Roman" panose="02020603050405020304" pitchFamily="18" charset="0"/>
              </a:rPr>
              <a:t> calc1 = 0.0, calc2 = 0.0;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calc1 = imposto(0.45, 12, 34, 44, 25);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1800" dirty="0">
                <a:latin typeface="Times New Roman" panose="02020603050405020304" pitchFamily="18" charset="0"/>
              </a:rPr>
              <a:t>calc2 = imposto(0.21, 56, 34, 11, 23, 45, 2, 45, 67);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Marcador de Posição do Rodapé 4">
            <a:extLst>
              <a:ext uri="{FF2B5EF4-FFF2-40B4-BE49-F238E27FC236}">
                <a16:creationId xmlns:a16="http://schemas.microsoft.com/office/drawing/2014/main" id="{AEA41542-3245-41D6-95C4-1ADAD690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2291" name="Marcador de Posição do Número do Diapositivo 5">
            <a:extLst>
              <a:ext uri="{FF2B5EF4-FFF2-40B4-BE49-F238E27FC236}">
                <a16:creationId xmlns:a16="http://schemas.microsoft.com/office/drawing/2014/main" id="{622D0F31-A5B1-4C38-82A3-CE2E3D77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D609E2-06ED-41F3-9451-BC5A4D70C08C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PT" altLang="en-US" sz="1400"/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426BFBE5-5307-44D8-A31F-F04A2A0D6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 sz="4000"/>
              <a:t>Definição de classes por composição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342C5367-2432-4A52-B748-DCA842D5DF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000"/>
              <a:t>Podemos sempre reutilizar classes para construir por composição, outras classes.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Exemplo, definição de Circulo:</a:t>
            </a:r>
          </a:p>
          <a:p>
            <a:pPr eaLnBrk="1" hangingPunct="1">
              <a:lnSpc>
                <a:spcPct val="90000"/>
              </a:lnSpc>
            </a:pPr>
            <a:endParaRPr lang="pt-PT" altLang="en-US" sz="2000"/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public class Circulo 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{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pt-PT" altLang="en-US" sz="200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// variáveis de instância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private Ponto centro;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private double raio;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...................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// construtores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. . . . . . .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Marcador de Posição do Rodapé 4">
            <a:extLst>
              <a:ext uri="{FF2B5EF4-FFF2-40B4-BE49-F238E27FC236}">
                <a16:creationId xmlns:a16="http://schemas.microsoft.com/office/drawing/2014/main" id="{89305B50-2EEB-467D-A3E2-8CE8B3F9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3315" name="Marcador de Posição do Número do Diapositivo 5">
            <a:extLst>
              <a:ext uri="{FF2B5EF4-FFF2-40B4-BE49-F238E27FC236}">
                <a16:creationId xmlns:a16="http://schemas.microsoft.com/office/drawing/2014/main" id="{259D7705-E7D6-4A27-9370-3E3CAA40E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90CB8A-0B30-42B0-8E34-433A8AA2DA00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PT" altLang="en-US" sz="1400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1C90CB04-A146-47D4-A539-00810298EE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Outro exemplo</a:t>
            </a:r>
          </a:p>
        </p:txBody>
      </p:sp>
      <p:pic>
        <p:nvPicPr>
          <p:cNvPr id="13317" name="Picture 4">
            <a:extLst>
              <a:ext uri="{FF2B5EF4-FFF2-40B4-BE49-F238E27FC236}">
                <a16:creationId xmlns:a16="http://schemas.microsoft.com/office/drawing/2014/main" id="{988AC266-8E70-43E1-A202-E414D9FF6C87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27388" y="1117600"/>
            <a:ext cx="2689225" cy="2598738"/>
          </a:xfrm>
          <a:noFill/>
        </p:spPr>
      </p:pic>
      <p:sp>
        <p:nvSpPr>
          <p:cNvPr id="13318" name="Text Box 6">
            <a:extLst>
              <a:ext uri="{FF2B5EF4-FFF2-40B4-BE49-F238E27FC236}">
                <a16:creationId xmlns:a16="http://schemas.microsoft.com/office/drawing/2014/main" id="{21635413-9004-4BDE-B64A-FB805C048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644900"/>
            <a:ext cx="5556250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Segmento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 private Ponto x,y;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// constructor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Segmento()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{ this.x = new Ponto(); this.y = new Ponto();}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Segmento(Ponto a, Ponto b)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{ this.x = a.clone(); this.y = b.clone()}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arcador de Posição do Rodapé 4">
            <a:extLst>
              <a:ext uri="{FF2B5EF4-FFF2-40B4-BE49-F238E27FC236}">
                <a16:creationId xmlns:a16="http://schemas.microsoft.com/office/drawing/2014/main" id="{99DCEE2B-32DE-4831-8C9A-662D4C638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4339" name="Marcador de Posição do Número do Diapositivo 5">
            <a:extLst>
              <a:ext uri="{FF2B5EF4-FFF2-40B4-BE49-F238E27FC236}">
                <a16:creationId xmlns:a16="http://schemas.microsoft.com/office/drawing/2014/main" id="{704DC86D-B17B-4484-885F-B1B8C444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503E93-3E94-40F2-BE8D-4CA58BC5A7B4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PT" altLang="en-US" sz="1400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B925D3D5-0D1D-4255-A510-394A51A81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Exercícios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A39BDB91-9FDB-45B6-A0C5-12D39DA562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7847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pt-PT" altLang="en-US"/>
              <a:t> </a:t>
            </a:r>
          </a:p>
          <a:p>
            <a:pPr eaLnBrk="1" hangingPunct="1"/>
            <a:r>
              <a:rPr lang="pt-PT" altLang="en-US"/>
              <a:t>Definir a classe Ponto</a:t>
            </a:r>
          </a:p>
          <a:p>
            <a:pPr eaLnBrk="1" hangingPunct="1"/>
            <a:r>
              <a:rPr lang="pt-PT" altLang="en-US"/>
              <a:t>Definir a classe </a:t>
            </a:r>
            <a:r>
              <a:rPr lang="pt-PT" altLang="en-US" b="1"/>
              <a:t>Circulo</a:t>
            </a:r>
            <a:r>
              <a:rPr lang="pt-PT" altLang="en-US"/>
              <a:t> usando </a:t>
            </a:r>
            <a:r>
              <a:rPr lang="pt-PT" altLang="en-US" b="1"/>
              <a:t>Ponto</a:t>
            </a:r>
            <a:r>
              <a:rPr lang="pt-PT" altLang="en-US"/>
              <a:t>.</a:t>
            </a:r>
          </a:p>
          <a:p>
            <a:pPr eaLnBrk="1" hangingPunct="1"/>
            <a:r>
              <a:rPr lang="pt-PT" altLang="en-US"/>
              <a:t>Para a classe </a:t>
            </a:r>
            <a:r>
              <a:rPr lang="pt-PT" altLang="en-US" b="1"/>
              <a:t>Circulo</a:t>
            </a:r>
            <a:r>
              <a:rPr lang="pt-PT" altLang="en-US"/>
              <a:t> implementar os métodos que permitam:	</a:t>
            </a:r>
          </a:p>
          <a:p>
            <a:pPr lvl="1" eaLnBrk="1" hangingPunct="1"/>
            <a:r>
              <a:rPr lang="pt-PT" altLang="en-US"/>
              <a:t>Área do circulo</a:t>
            </a:r>
          </a:p>
          <a:p>
            <a:pPr lvl="1" eaLnBrk="1" hangingPunct="1"/>
            <a:r>
              <a:rPr lang="pt-PT" altLang="en-US"/>
              <a:t>Perímetro</a:t>
            </a:r>
          </a:p>
          <a:p>
            <a:pPr lvl="1" eaLnBrk="1" hangingPunct="1"/>
            <a:r>
              <a:rPr lang="pt-PT" altLang="en-US"/>
              <a:t>Distância entre dois círculos</a:t>
            </a:r>
          </a:p>
          <a:p>
            <a:pPr lvl="1" eaLnBrk="1" hangingPunct="1"/>
            <a:r>
              <a:rPr lang="pt-PT" altLang="en-US"/>
              <a:t>Implementar método maior_que() entre dois Círculos.</a:t>
            </a:r>
          </a:p>
          <a:p>
            <a:pPr lvl="1" eaLnBrk="1" hangingPunct="1"/>
            <a:endParaRPr lang="pt-PT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86B23426-C901-4F05-AEC2-EDA304534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en-US"/>
              <a:t>Exercícios (2)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1939916B-D2A0-4D70-9C4C-3BAC6F4310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78400"/>
          </a:xfrm>
        </p:spPr>
        <p:txBody>
          <a:bodyPr/>
          <a:lstStyle/>
          <a:p>
            <a:r>
              <a:rPr lang="pt-PT" altLang="en-US"/>
              <a:t>Definir uma classe </a:t>
            </a:r>
            <a:r>
              <a:rPr lang="pt-PT" altLang="en-US" b="1"/>
              <a:t>Triângulo</a:t>
            </a:r>
            <a:r>
              <a:rPr lang="pt-PT" altLang="en-US"/>
              <a:t> à custa da classe </a:t>
            </a:r>
            <a:r>
              <a:rPr lang="pt-PT" altLang="en-US" b="1"/>
              <a:t>Ponto</a:t>
            </a:r>
            <a:r>
              <a:rPr lang="pt-PT" altLang="en-US"/>
              <a:t> (um triângulo definido por 3 pontos). Implementar os métodos que permitem calcular</a:t>
            </a:r>
          </a:p>
          <a:p>
            <a:pPr lvl="1"/>
            <a:r>
              <a:rPr lang="pt-PT" altLang="en-US"/>
              <a:t>O tamanho de cada lado;</a:t>
            </a:r>
          </a:p>
          <a:p>
            <a:pPr lvl="1"/>
            <a:r>
              <a:rPr lang="pt-PT" altLang="en-US"/>
              <a:t>O perímetro;</a:t>
            </a:r>
          </a:p>
          <a:p>
            <a:pPr lvl="1"/>
            <a:r>
              <a:rPr lang="pt-PT" altLang="en-US"/>
              <a:t>A área (nota: usar o teorema de Heron </a:t>
            </a:r>
            <a:r>
              <a:rPr lang="pt-PT" altLang="en-US">
                <a:sym typeface="Wingdings" panose="05000000000000000000" pitchFamily="2" charset="2"/>
              </a:rPr>
              <a:t>  </a:t>
            </a:r>
            <a:r>
              <a:rPr lang="pt-PT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área = sqrt(s x (s-a) x (s-b) x (s-c))</a:t>
            </a:r>
            <a:r>
              <a:rPr lang="pt-PT" altLang="en-US">
                <a:sym typeface="Wingdings" panose="05000000000000000000" pitchFamily="2" charset="2"/>
              </a:rPr>
              <a:t>,  onde             </a:t>
            </a:r>
            <a:r>
              <a:rPr lang="pt-PT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 = (a+b+c)/2 (semi-perímetro)</a:t>
            </a:r>
            <a:r>
              <a:rPr lang="pt-PT" altLang="en-US">
                <a:sym typeface="Wingdings" panose="05000000000000000000" pitchFamily="2" charset="2"/>
              </a:rPr>
              <a:t>, sendo </a:t>
            </a:r>
            <a:r>
              <a:rPr lang="pt-PT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a,b,c</a:t>
            </a:r>
            <a:r>
              <a:rPr lang="pt-PT" altLang="en-US">
                <a:sym typeface="Wingdings" panose="05000000000000000000" pitchFamily="2" charset="2"/>
              </a:rPr>
              <a:t> os lados do triângulo.</a:t>
            </a:r>
            <a:endParaRPr lang="pt-PT" altLang="en-US"/>
          </a:p>
          <a:p>
            <a:pPr lvl="1"/>
            <a:endParaRPr lang="pt-PT" altLang="en-US"/>
          </a:p>
          <a:p>
            <a:endParaRPr lang="pt-PT" altLang="en-US"/>
          </a:p>
        </p:txBody>
      </p:sp>
      <p:sp>
        <p:nvSpPr>
          <p:cNvPr id="15364" name="Footer Placeholder 3">
            <a:extLst>
              <a:ext uri="{FF2B5EF4-FFF2-40B4-BE49-F238E27FC236}">
                <a16:creationId xmlns:a16="http://schemas.microsoft.com/office/drawing/2014/main" id="{6930EF2E-21DD-4575-9D54-2EBEC36FD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5365" name="Slide Number Placeholder 4">
            <a:extLst>
              <a:ext uri="{FF2B5EF4-FFF2-40B4-BE49-F238E27FC236}">
                <a16:creationId xmlns:a16="http://schemas.microsoft.com/office/drawing/2014/main" id="{439B2172-B716-4D50-9465-E7108435A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7BC36E-F688-4307-BE26-76BEF092D899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PT" alt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86B23426-C901-4F05-AEC2-EDA304534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en-US" dirty="0"/>
              <a:t>Exercícios (3)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1939916B-D2A0-4D70-9C4C-3BAC6F4310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78400"/>
          </a:xfrm>
        </p:spPr>
        <p:txBody>
          <a:bodyPr/>
          <a:lstStyle/>
          <a:p>
            <a:r>
              <a:rPr lang="pt-PT" altLang="en-US" dirty="0"/>
              <a:t>Definir uma classe </a:t>
            </a:r>
            <a:r>
              <a:rPr lang="pt-PT" altLang="en-US" b="1" dirty="0"/>
              <a:t>Caixa</a:t>
            </a:r>
            <a:r>
              <a:rPr lang="pt-PT" altLang="en-US" dirty="0"/>
              <a:t> à custa da classe </a:t>
            </a:r>
            <a:r>
              <a:rPr lang="pt-PT" altLang="en-US" b="1" dirty="0"/>
              <a:t>Ponto</a:t>
            </a:r>
            <a:r>
              <a:rPr lang="pt-PT" altLang="en-US" dirty="0"/>
              <a:t> (uma caixa contem 4 pontos). Implementar os métodos:</a:t>
            </a:r>
          </a:p>
          <a:p>
            <a:pPr lvl="1"/>
            <a:r>
              <a:rPr lang="pt-PT" altLang="en-US" dirty="0"/>
              <a:t>calcular quantos triângulos existem numa caixa</a:t>
            </a:r>
          </a:p>
          <a:p>
            <a:pPr lvl="1"/>
            <a:r>
              <a:rPr lang="pt-PT" altLang="en-US" dirty="0"/>
              <a:t>dado dois pontos que definem um segmento, assumir que esse segmento é o diâmetro de uma circunferência. Indicar quantos pontos da caixa estão dentro do circulo definido por esta circunferência.</a:t>
            </a:r>
          </a:p>
          <a:p>
            <a:pPr marL="457200" lvl="1" indent="0">
              <a:buNone/>
            </a:pPr>
            <a:endParaRPr lang="pt-PT" altLang="en-US" dirty="0"/>
          </a:p>
          <a:p>
            <a:pPr lvl="1"/>
            <a:endParaRPr lang="pt-PT" altLang="en-US" dirty="0"/>
          </a:p>
          <a:p>
            <a:endParaRPr lang="pt-PT" altLang="en-US" dirty="0"/>
          </a:p>
        </p:txBody>
      </p:sp>
      <p:sp>
        <p:nvSpPr>
          <p:cNvPr id="15364" name="Footer Placeholder 3">
            <a:extLst>
              <a:ext uri="{FF2B5EF4-FFF2-40B4-BE49-F238E27FC236}">
                <a16:creationId xmlns:a16="http://schemas.microsoft.com/office/drawing/2014/main" id="{6930EF2E-21DD-4575-9D54-2EBEC36FD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5365" name="Slide Number Placeholder 4">
            <a:extLst>
              <a:ext uri="{FF2B5EF4-FFF2-40B4-BE49-F238E27FC236}">
                <a16:creationId xmlns:a16="http://schemas.microsoft.com/office/drawing/2014/main" id="{439B2172-B716-4D50-9465-E7108435A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7BC36E-F688-4307-BE26-76BEF092D899}" type="slidenum">
              <a:rPr lang="pt-PT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PT" altLang="en-US" sz="1400"/>
          </a:p>
        </p:txBody>
      </p:sp>
    </p:spTree>
    <p:extLst>
      <p:ext uri="{BB962C8B-B14F-4D97-AF65-F5344CB8AC3E}">
        <p14:creationId xmlns:p14="http://schemas.microsoft.com/office/powerpoint/2010/main" val="414981403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6796</TotalTime>
  <Words>1192</Words>
  <Application>Microsoft Office PowerPoint</Application>
  <PresentationFormat>On-screen Show (4:3)</PresentationFormat>
  <Paragraphs>183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Default Design</vt:lpstr>
      <vt:lpstr>Programação Orientada aos Objetos (Licenciatura em Engenharia de Telecomunicações &amp; Informática)  2º Ano, 1º Semestre</vt:lpstr>
      <vt:lpstr>Classes</vt:lpstr>
      <vt:lpstr>Definição de Classe</vt:lpstr>
      <vt:lpstr>Criação de Instâncias</vt:lpstr>
      <vt:lpstr>Formato de um método</vt:lpstr>
      <vt:lpstr>Acessibilidade de uma classe</vt:lpstr>
      <vt:lpstr>Acessibilidade para métodos e variáveis</vt:lpstr>
      <vt:lpstr>Métodos complementares</vt:lpstr>
      <vt:lpstr>Overloading de métodos</vt:lpstr>
      <vt:lpstr>Definição de classes por composição</vt:lpstr>
      <vt:lpstr>Outro exemplo</vt:lpstr>
      <vt:lpstr>Exercícios</vt:lpstr>
      <vt:lpstr>Exercícios (2)</vt:lpstr>
      <vt:lpstr>Exercícios (3)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Programação II (Mestrado Integrado em Engenharia de Comunicações)</dc:title>
  <dc:creator>pja</dc:creator>
  <cp:lastModifiedBy>Paulo Jorge Sousa Azevedo</cp:lastModifiedBy>
  <cp:revision>327</cp:revision>
  <dcterms:created xsi:type="dcterms:W3CDTF">2008-02-28T16:13:14Z</dcterms:created>
  <dcterms:modified xsi:type="dcterms:W3CDTF">2024-09-19T10:29:24Z</dcterms:modified>
</cp:coreProperties>
</file>