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5" r:id="rId11"/>
    <p:sldId id="280" r:id="rId12"/>
    <p:sldId id="281" r:id="rId13"/>
    <p:sldId id="286" r:id="rId14"/>
    <p:sldId id="287" r:id="rId15"/>
    <p:sldId id="282" r:id="rId16"/>
    <p:sldId id="288" r:id="rId17"/>
    <p:sldId id="289" r:id="rId18"/>
    <p:sldId id="291" r:id="rId19"/>
    <p:sldId id="292" r:id="rId20"/>
    <p:sldId id="293" r:id="rId21"/>
    <p:sldId id="284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272" r:id="rId33"/>
  </p:sldIdLst>
  <p:sldSz cx="9144000" cy="6858000" type="screen4x3"/>
  <p:notesSz cx="6858000" cy="9144000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62" autoAdjust="0"/>
    <p:restoredTop sz="94627" autoAdjust="0"/>
  </p:normalViewPr>
  <p:slideViewPr>
    <p:cSldViewPr>
      <p:cViewPr varScale="1">
        <p:scale>
          <a:sx n="84" d="100"/>
          <a:sy n="84" d="100"/>
        </p:scale>
        <p:origin x="157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D564F4A-F84B-4D7A-B024-5BFE33401F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DCA5433-A024-4477-8822-E201B6E566D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BFED56D-5186-4363-9B68-F0344F6DD85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638C443E-05BB-4AD4-829A-6F6C7136732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4BEF139-3E85-4B5B-9870-720C3A098F8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AABFCB8-EF58-41EC-A961-3337AC0DFD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mtClean="0"/>
            </a:lvl1pPr>
          </a:lstStyle>
          <a:p>
            <a:pPr>
              <a:defRPr/>
            </a:pPr>
            <a:fld id="{6BAF9F14-E235-4047-A889-2F934A6236BD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41E411-FDE4-4011-BB5B-EEFCFD3C5E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E6C1A4-6458-4106-9EF8-332756B03D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FA915F-E656-47EE-BCB7-21EEF24C60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1FF42-C81A-4C3E-BE19-570168CAE6A6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92403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E30E23-BF8C-48C0-9F43-CAD695B4AD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49966F-D297-47A6-9BF3-965F2E59E3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AB8FD1-76E8-4BAF-BEA8-D553804469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D0BD0A-A5D5-4433-B4B3-2FA7AF9E5AF0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20448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0721A9-2104-43E9-870A-B829E2F103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3693A8-381C-42AC-A078-4AB23B29E7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D42D35-8116-46A7-9C0A-5333572CE9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2133B-CDAA-4461-9608-A7D4FBEE72DE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08623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5CB1A-92C1-4C3B-9B04-C9C5CF31EB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56526D-BE58-431D-B38B-F916C2EADC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22C18C-AA31-44E0-B5DD-9F9C8CD630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3B656-2B54-423D-8D4F-0C5E99235569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01446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6F56FD3-A3E0-4A76-91B7-C0EC0DAD01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D95636E-1F54-44EF-97F4-AB3A9D7873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4309D04-5A60-4EE2-B123-52187E4B34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7C227F-CAA5-4B82-AE95-261521E252D6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91338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D4EDF7A-E745-4308-8A3B-5FB3FF7207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1671FE0-4500-4F08-8316-8B5B9F7A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C554A32-F5B9-43EC-AA53-5AFDEC823B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051B62-F7C4-49E5-ACCD-B27BE40D45F5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70295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8F46C01-1383-47F8-B0B5-5F088ED2D0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45F5F53-E08B-4CA5-9A57-87FFB338DB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F491FC-D596-424B-9AD6-7DFE3ECA7A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4B94-BF41-4B4B-9593-108A19430B4E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2063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D1FC50-B0F5-4D7D-ACE7-306F158151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18BB38-ADE8-4217-B7F4-86D61503B1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29C4EB-C6EE-4A00-B390-7F877FE206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82A2CD-2B70-4783-8B6A-3B923CB9AF57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923273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P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9598AD-2DFC-4992-9F2A-4A904CC424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F9715D-5FC6-4B42-84B6-3720FA25FE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AE886A-BC52-413F-9DDE-85C6D5FBC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973FF-4FF7-4FF5-A5A4-34D12ED45A36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63987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5DE7FF-05A8-41CD-B8A8-38DAE5A2DD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4430AB-8502-4B84-84C4-5154C89100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75E3C9-6C6F-4251-9446-938E970240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0B61-9490-4D4C-A4AD-3F9ABED6F19D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29189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622ADF-8000-479E-867E-F9C8FC93F7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638873-1BEC-40E3-983A-6A103B4963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2AB5FB-BEF8-44CB-9AE7-947AAEA69D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77B65-F42C-4D5E-9F92-26D5D441BE4C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922199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8F683C0-F5D6-4141-98F1-4839EF1F75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360C3AA-A29B-4515-B2E7-267FE9A942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92D4979-658C-4317-BF94-AED79F0296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BBD8CE-0FF6-4BDB-8C6D-001465688A0D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327610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33F4954-6D03-4BDE-8763-49A794FAED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9D788D0-1049-47DC-B041-D5874F2509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text styles</a:t>
            </a:r>
          </a:p>
          <a:p>
            <a:pPr lvl="1"/>
            <a:r>
              <a:rPr lang="pt-PT" altLang="en-US"/>
              <a:t>Second level</a:t>
            </a:r>
          </a:p>
          <a:p>
            <a:pPr lvl="2"/>
            <a:r>
              <a:rPr lang="pt-PT" altLang="en-US"/>
              <a:t>Third level</a:t>
            </a:r>
          </a:p>
          <a:p>
            <a:pPr lvl="3"/>
            <a:r>
              <a:rPr lang="pt-PT" altLang="en-US"/>
              <a:t>Fourth level</a:t>
            </a:r>
          </a:p>
          <a:p>
            <a:pPr lvl="4"/>
            <a:r>
              <a:rPr lang="pt-PT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9A0AAA8-14AB-42C4-9C9E-C3B64864A3C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DEAE2D8-017E-429A-9080-9FAB9037E9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78600"/>
            <a:ext cx="424815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7851039-6B3B-40DA-ABB4-685BF3D8BA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597650"/>
            <a:ext cx="2133600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5EA23AE5-D8C9-48D8-8998-1463AB90B5EA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.uminho.pt/~pja/mp2/docs/api/java/lang/Object.html" TargetMode="External"/><Relationship Id="rId2" Type="http://schemas.openxmlformats.org/officeDocument/2006/relationships/hyperlink" Target="http://www.di.uminho.pt/~pja/mp2/docs/api/java/util/LinkedList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.uminho.pt/~pja/mp2/docs/api/java/lang/Object.html" TargetMode="External"/><Relationship Id="rId2" Type="http://schemas.openxmlformats.org/officeDocument/2006/relationships/hyperlink" Target="http://www.di.uminho.pt/~pja/mp2/docs/api/java/util/Stack.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i.uminho.pt/~pja/mp2/docs/api/java/util/AbstractQueue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4">
            <a:extLst>
              <a:ext uri="{FF2B5EF4-FFF2-40B4-BE49-F238E27FC236}">
                <a16:creationId xmlns:a16="http://schemas.microsoft.com/office/drawing/2014/main" id="{7FCDE71E-E80D-4C55-AB87-188895D8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075" name="Slide Number Placeholder 5">
            <a:extLst>
              <a:ext uri="{FF2B5EF4-FFF2-40B4-BE49-F238E27FC236}">
                <a16:creationId xmlns:a16="http://schemas.microsoft.com/office/drawing/2014/main" id="{6DCC87B1-FE61-4482-ABA6-2591105E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600E91-4639-4254-B586-1F921C5AC252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pt-PT" altLang="en-US" sz="1400"/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561DA816-350B-4617-8C90-73E5CC26C47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341438"/>
            <a:ext cx="7772400" cy="1470025"/>
          </a:xfrm>
        </p:spPr>
        <p:txBody>
          <a:bodyPr/>
          <a:lstStyle/>
          <a:p>
            <a:pPr eaLnBrk="1" hangingPunct="1"/>
            <a:r>
              <a:rPr lang="pt-PT" altLang="en-US" sz="3600"/>
              <a:t>Programação Orientada aos Objetos</a:t>
            </a:r>
            <a:br>
              <a:rPr lang="pt-PT" altLang="en-US" sz="4000"/>
            </a:br>
            <a:r>
              <a:rPr lang="pt-PT" altLang="en-US" sz="2000"/>
              <a:t>(Licenciatura em Engenharia de Telecomunicações &amp; Informática) </a:t>
            </a:r>
            <a:br>
              <a:rPr lang="pt-PT" altLang="en-US" sz="2000"/>
            </a:br>
            <a:r>
              <a:rPr lang="pt-PT" altLang="en-US" sz="2000"/>
              <a:t>2º Ano,1º Semestre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855FBEAE-C26C-4A5F-BBDF-7D8644B905B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982663"/>
          </a:xfrm>
        </p:spPr>
        <p:txBody>
          <a:bodyPr/>
          <a:lstStyle/>
          <a:p>
            <a:pPr eaLnBrk="1" hangingPunct="1"/>
            <a:r>
              <a:rPr lang="pt-PT" altLang="en-US"/>
              <a:t>Colecções em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>
            <a:extLst>
              <a:ext uri="{FF2B5EF4-FFF2-40B4-BE49-F238E27FC236}">
                <a16:creationId xmlns:a16="http://schemas.microsoft.com/office/drawing/2014/main" id="{0F3D2BB1-7A41-4371-B041-B274B69DF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4099" name="Slide Number Placeholder 5">
            <a:extLst>
              <a:ext uri="{FF2B5EF4-FFF2-40B4-BE49-F238E27FC236}">
                <a16:creationId xmlns:a16="http://schemas.microsoft.com/office/drawing/2014/main" id="{CC03D3CF-8390-4595-A56D-C718C2F3E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F2C4FD-4A19-4792-AEB8-A5899BD341B8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PT" altLang="en-US" sz="1400"/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4D07D0B3-1B3B-4E6F-BD0B-4B194E50D5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Coleções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3F4962B6-67BE-4866-B73C-1B812E0F80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3292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400"/>
              <a:t>O Java fornece um conjunto de classes e interfaces para representar uma variedade de tipos abstratos de dados.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Estas classes correspondem à representação de estruturas de dados clássicas da algoritmia e programação.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São tipicamente representações de estruturas dinâmicas para guardar dados.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Exemplos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Arrays (lists)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LinkedLists (listas ligadas)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DoubleLinkedLists (Listas Duplamente ligadas)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Stacks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Queues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Trees (estruturas em árvore como as árvores binárias, AVL, etc)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Maps (representação de correspondências como tabelas de hash, etc)</a:t>
            </a:r>
          </a:p>
          <a:p>
            <a:pPr lvl="1" eaLnBrk="1" hangingPunct="1">
              <a:lnSpc>
                <a:spcPct val="80000"/>
              </a:lnSpc>
            </a:pPr>
            <a:endParaRPr lang="pt-PT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4">
            <a:extLst>
              <a:ext uri="{FF2B5EF4-FFF2-40B4-BE49-F238E27FC236}">
                <a16:creationId xmlns:a16="http://schemas.microsoft.com/office/drawing/2014/main" id="{BBE226A2-4812-4CD6-B5E6-AFAD887C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5123" name="Slide Number Placeholder 5">
            <a:extLst>
              <a:ext uri="{FF2B5EF4-FFF2-40B4-BE49-F238E27FC236}">
                <a16:creationId xmlns:a16="http://schemas.microsoft.com/office/drawing/2014/main" id="{2231453D-CBF5-40CA-91B9-C43E6410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1BE178-C33D-47B5-8B8C-3F9303260B1D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PT" altLang="en-US" sz="14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DD94A527-5672-40FC-B9EE-D2D68A6C1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Hierarquia Java de Coleções (1.8)</a:t>
            </a:r>
          </a:p>
        </p:txBody>
      </p:sp>
      <p:pic>
        <p:nvPicPr>
          <p:cNvPr id="5125" name="Picture 4">
            <a:extLst>
              <a:ext uri="{FF2B5EF4-FFF2-40B4-BE49-F238E27FC236}">
                <a16:creationId xmlns:a16="http://schemas.microsoft.com/office/drawing/2014/main" id="{7C6A82D1-ACE9-46DE-B1FD-3AC8930E0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1412875"/>
            <a:ext cx="8224838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Text Box 5">
            <a:extLst>
              <a:ext uri="{FF2B5EF4-FFF2-40B4-BE49-F238E27FC236}">
                <a16:creationId xmlns:a16="http://schemas.microsoft.com/office/drawing/2014/main" id="{127A404B-3AA4-4333-AC61-24954F060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5013325"/>
            <a:ext cx="8224837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1800"/>
              <a:t> As classes (e interfaces) são sempre parametrizadas (tipos Genéricos)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1800">
                <a:latin typeface="Times New Roman" panose="02020603050405020304" pitchFamily="18" charset="0"/>
              </a:rPr>
              <a:t> ArrayList&lt;E&gt;</a:t>
            </a:r>
            <a:r>
              <a:rPr lang="pt-PT" altLang="en-US" sz="1800"/>
              <a:t> é já nossa conhecida e é uma implementação de </a:t>
            </a:r>
            <a:r>
              <a:rPr lang="pt-PT" altLang="en-US" sz="1800">
                <a:latin typeface="Times New Roman" panose="02020603050405020304" pitchFamily="18" charset="0"/>
              </a:rPr>
              <a:t>List</a:t>
            </a:r>
            <a:r>
              <a:rPr lang="pt-PT" altLang="en-US" sz="1800"/>
              <a:t>, que por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sua vez  é uma </a:t>
            </a:r>
            <a:r>
              <a:rPr lang="pt-PT" altLang="en-US" sz="1800">
                <a:latin typeface="Times New Roman" panose="02020603050405020304" pitchFamily="18" charset="0"/>
              </a:rPr>
              <a:t>Collection</a:t>
            </a:r>
            <a:r>
              <a:rPr lang="pt-PT" altLang="en-US" sz="1800"/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1800"/>
              <a:t> </a:t>
            </a:r>
            <a:r>
              <a:rPr lang="pt-PT" altLang="en-US" sz="1800">
                <a:latin typeface="Times New Roman" panose="02020603050405020304" pitchFamily="18" charset="0"/>
              </a:rPr>
              <a:t>List</a:t>
            </a:r>
            <a:r>
              <a:rPr lang="pt-PT" altLang="en-US" sz="1800"/>
              <a:t>, </a:t>
            </a:r>
            <a:r>
              <a:rPr lang="pt-PT" altLang="en-US" sz="1800">
                <a:latin typeface="Times New Roman" panose="02020603050405020304" pitchFamily="18" charset="0"/>
              </a:rPr>
              <a:t>Set</a:t>
            </a:r>
            <a:r>
              <a:rPr lang="pt-PT" altLang="en-US" sz="1800"/>
              <a:t> e </a:t>
            </a:r>
            <a:r>
              <a:rPr lang="pt-PT" altLang="en-US" sz="1800">
                <a:latin typeface="Times New Roman" panose="02020603050405020304" pitchFamily="18" charset="0"/>
              </a:rPr>
              <a:t>Map</a:t>
            </a:r>
            <a:r>
              <a:rPr lang="pt-PT" altLang="en-US" sz="1800"/>
              <a:t> (assim </a:t>
            </a:r>
            <a:r>
              <a:rPr lang="pt-PT" altLang="en-US" sz="1800">
                <a:latin typeface="Times New Roman" panose="02020603050405020304" pitchFamily="18" charset="0"/>
              </a:rPr>
              <a:t>Collection</a:t>
            </a:r>
            <a:r>
              <a:rPr lang="pt-PT" altLang="en-US" sz="1800"/>
              <a:t>) como são abstrações de organizações de coleções de objetos. São apresentadas na forma de </a:t>
            </a:r>
            <a:r>
              <a:rPr lang="pt-PT" altLang="en-US" sz="1800" i="1" u="sng"/>
              <a:t>Interfaces</a:t>
            </a:r>
            <a:r>
              <a:rPr lang="pt-PT" altLang="en-US" sz="180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EC00CE41-33FC-40F6-8C2A-D04F1B77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F5678554-A901-42A9-976A-DEBE6A59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FD305C-7919-42C7-89ED-8EDB7DD2691D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PT" altLang="en-US" sz="1400"/>
          </a:p>
        </p:txBody>
      </p:sp>
      <p:pic>
        <p:nvPicPr>
          <p:cNvPr id="6148" name="Picture 3">
            <a:extLst>
              <a:ext uri="{FF2B5EF4-FFF2-40B4-BE49-F238E27FC236}">
                <a16:creationId xmlns:a16="http://schemas.microsoft.com/office/drawing/2014/main" id="{E814E483-63F0-4A7B-A30D-276E178BC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620713"/>
            <a:ext cx="8224838" cy="343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Box 4">
            <a:extLst>
              <a:ext uri="{FF2B5EF4-FFF2-40B4-BE49-F238E27FC236}">
                <a16:creationId xmlns:a16="http://schemas.microsoft.com/office/drawing/2014/main" id="{DFD9EBB5-12B0-42B2-AE18-1E1A733DD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4076700"/>
            <a:ext cx="8743950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1800"/>
              <a:t> </a:t>
            </a:r>
            <a:r>
              <a:rPr lang="pt-PT" altLang="en-US" sz="1800">
                <a:latin typeface="Times New Roman" panose="02020603050405020304" pitchFamily="18" charset="0"/>
              </a:rPr>
              <a:t>Lists</a:t>
            </a:r>
            <a:r>
              <a:rPr lang="pt-PT" altLang="en-US" sz="1800"/>
              <a:t> são sequências de objectos. Temos várias implementações deste tipo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de organização, como por exemplo </a:t>
            </a:r>
            <a:r>
              <a:rPr lang="pt-PT" altLang="en-US" sz="1800">
                <a:latin typeface="Times New Roman" panose="02020603050405020304" pitchFamily="18" charset="0"/>
              </a:rPr>
              <a:t>ArrayList&lt;E&gt;</a:t>
            </a:r>
            <a:r>
              <a:rPr lang="pt-PT" altLang="en-US" sz="180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1800"/>
              <a:t> As colecções do tipo </a:t>
            </a:r>
            <a:r>
              <a:rPr lang="pt-PT" altLang="en-US" sz="1800">
                <a:latin typeface="Times New Roman" panose="02020603050405020304" pitchFamily="18" charset="0"/>
              </a:rPr>
              <a:t>Set&lt;E&gt;</a:t>
            </a:r>
            <a:r>
              <a:rPr lang="pt-PT" altLang="en-US" sz="1800"/>
              <a:t> são implementações de conjuntos de objectos,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pelo que os seus elementos não são indexados ou acessíveis por índice, nem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podem ocorrer em duplicado (referem-se à noção matemática de conjunto).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1800"/>
              <a:t> As estruturas do tipo </a:t>
            </a:r>
            <a:r>
              <a:rPr lang="pt-PT" altLang="en-US" sz="1800">
                <a:latin typeface="Times New Roman" panose="02020603050405020304" pitchFamily="18" charset="0"/>
              </a:rPr>
              <a:t>Map&lt;K,V&gt;</a:t>
            </a:r>
            <a:r>
              <a:rPr lang="pt-PT" altLang="en-US" sz="1800"/>
              <a:t> são correspondências finitas, um para um,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entre os objectos de um tipo/classe </a:t>
            </a:r>
            <a:r>
              <a:rPr lang="pt-PT" altLang="en-US" sz="1800">
                <a:latin typeface="Times New Roman" panose="02020603050405020304" pitchFamily="18" charset="0"/>
              </a:rPr>
              <a:t>K</a:t>
            </a:r>
            <a:r>
              <a:rPr lang="pt-PT" altLang="en-US" sz="1800"/>
              <a:t> (chaves) e objectos do tipo/classe </a:t>
            </a:r>
            <a:r>
              <a:rPr lang="pt-PT" altLang="en-US" sz="1800">
                <a:latin typeface="Times New Roman" panose="02020603050405020304" pitchFamily="18" charset="0"/>
              </a:rPr>
              <a:t>V</a:t>
            </a:r>
            <a:r>
              <a:rPr lang="pt-PT" altLang="en-US" sz="1800"/>
              <a:t> (valores).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1800"/>
              <a:t> As implementações </a:t>
            </a:r>
            <a:r>
              <a:rPr lang="pt-PT" altLang="en-US" sz="1800">
                <a:latin typeface="Times New Roman" panose="02020603050405020304" pitchFamily="18" charset="0"/>
              </a:rPr>
              <a:t>Tree</a:t>
            </a:r>
            <a:r>
              <a:rPr lang="pt-PT" altLang="en-US" sz="1800"/>
              <a:t> são organizações dos dados que implicam uma ordem,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contrastando com as </a:t>
            </a:r>
            <a:r>
              <a:rPr lang="pt-PT" altLang="en-US" sz="1800">
                <a:latin typeface="Times New Roman" panose="02020603050405020304" pitchFamily="18" charset="0"/>
              </a:rPr>
              <a:t>Hash</a:t>
            </a:r>
            <a:r>
              <a:rPr lang="pt-PT" altLang="en-US" sz="1800"/>
              <a:t>.</a:t>
            </a:r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B927790E-273A-40A7-88DE-6B8CCC98B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50" y="92075"/>
            <a:ext cx="4811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Três formas de organizar objectos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>
            <a:extLst>
              <a:ext uri="{FF2B5EF4-FFF2-40B4-BE49-F238E27FC236}">
                <a16:creationId xmlns:a16="http://schemas.microsoft.com/office/drawing/2014/main" id="{E78619A1-8825-4F7A-987F-993BA119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98875FF4-6A61-4B5A-B74F-DFE4FB529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44048A-9951-435B-B1A2-EC77DF395525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PT" altLang="en-US" sz="14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A7B49439-B16D-42E1-9673-745F2F7E7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 sz="4000"/>
              <a:t>Deep Copy de Colecções de Objectos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24CD1AC9-B54B-48EE-A5BF-2A41A61676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15414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000"/>
              <a:t>O clone de qualquer classe do tipo </a:t>
            </a:r>
            <a:r>
              <a:rPr lang="pt-PT" altLang="en-US" sz="2000">
                <a:latin typeface="Times New Roman" panose="02020603050405020304" pitchFamily="18" charset="0"/>
              </a:rPr>
              <a:t>List</a:t>
            </a:r>
            <a:r>
              <a:rPr lang="pt-PT" altLang="en-US" sz="2000"/>
              <a:t>, </a:t>
            </a:r>
            <a:r>
              <a:rPr lang="pt-PT" altLang="en-US" sz="2000">
                <a:latin typeface="Times New Roman" panose="02020603050405020304" pitchFamily="18" charset="0"/>
              </a:rPr>
              <a:t>Set</a:t>
            </a:r>
            <a:r>
              <a:rPr lang="pt-PT" altLang="en-US" sz="2000"/>
              <a:t> ou </a:t>
            </a:r>
            <a:r>
              <a:rPr lang="pt-PT" altLang="en-US" sz="2000">
                <a:latin typeface="Times New Roman" panose="02020603050405020304" pitchFamily="18" charset="0"/>
              </a:rPr>
              <a:t>Map</a:t>
            </a:r>
            <a:r>
              <a:rPr lang="pt-PT" altLang="en-US" sz="2000"/>
              <a:t> é sempre uma shallow copy !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Representação esquemática do método </a:t>
            </a:r>
            <a:r>
              <a:rPr lang="pt-PT" altLang="en-US" sz="2000">
                <a:latin typeface="Times New Roman" panose="02020603050405020304" pitchFamily="18" charset="0"/>
              </a:rPr>
              <a:t>addall()</a:t>
            </a:r>
            <a:r>
              <a:rPr lang="pt-PT" altLang="en-US" sz="2000"/>
              <a:t> sobre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a lista lst1 dando lst2.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000"/>
              <a:t>Desta forma temas lst1 e lst2 a partilhar os seus conteúdos!!</a:t>
            </a:r>
          </a:p>
          <a:p>
            <a:pPr eaLnBrk="1" hangingPunct="1">
              <a:lnSpc>
                <a:spcPct val="80000"/>
              </a:lnSpc>
            </a:pPr>
            <a:endParaRPr lang="pt-PT" altLang="en-US" sz="2000"/>
          </a:p>
        </p:txBody>
      </p:sp>
      <p:pic>
        <p:nvPicPr>
          <p:cNvPr id="7174" name="Picture 4">
            <a:extLst>
              <a:ext uri="{FF2B5EF4-FFF2-40B4-BE49-F238E27FC236}">
                <a16:creationId xmlns:a16="http://schemas.microsoft.com/office/drawing/2014/main" id="{C823F8C9-DCE3-4BAF-B0EC-815248D5B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581400"/>
            <a:ext cx="169862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5">
            <a:extLst>
              <a:ext uri="{FF2B5EF4-FFF2-40B4-BE49-F238E27FC236}">
                <a16:creationId xmlns:a16="http://schemas.microsoft.com/office/drawing/2014/main" id="{F1832030-38DA-41C1-8612-BEF3812DB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388" y="3500438"/>
            <a:ext cx="1968500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Box 6">
            <a:extLst>
              <a:ext uri="{FF2B5EF4-FFF2-40B4-BE49-F238E27FC236}">
                <a16:creationId xmlns:a16="http://schemas.microsoft.com/office/drawing/2014/main" id="{3187B66F-3C63-47FC-8571-F2474A204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200" y="4214813"/>
            <a:ext cx="1676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lst1.addAll(lst2)</a:t>
            </a:r>
          </a:p>
        </p:txBody>
      </p:sp>
      <p:sp>
        <p:nvSpPr>
          <p:cNvPr id="7177" name="Line 7">
            <a:extLst>
              <a:ext uri="{FF2B5EF4-FFF2-40B4-BE49-F238E27FC236}">
                <a16:creationId xmlns:a16="http://schemas.microsoft.com/office/drawing/2014/main" id="{0D12D124-022E-4714-AC67-528048CA5A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4508500"/>
            <a:ext cx="3313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6">
            <a:extLst>
              <a:ext uri="{FF2B5EF4-FFF2-40B4-BE49-F238E27FC236}">
                <a16:creationId xmlns:a16="http://schemas.microsoft.com/office/drawing/2014/main" id="{1E9A2C7B-0A6F-46DD-8E9A-7FFE2EF0F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8195" name="Slide Number Placeholder 7">
            <a:extLst>
              <a:ext uri="{FF2B5EF4-FFF2-40B4-BE49-F238E27FC236}">
                <a16:creationId xmlns:a16="http://schemas.microsoft.com/office/drawing/2014/main" id="{56D970A9-725B-4D0E-AECC-8B092281F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12D73B-C558-4622-A3C8-EE99A14BB413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PT" altLang="en-US" sz="1400"/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8CBEEE2D-34F5-4F09-8E9C-8AC2DBBD3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Clone de Colecções</a:t>
            </a:r>
          </a:p>
        </p:txBody>
      </p:sp>
      <p:graphicFrame>
        <p:nvGraphicFramePr>
          <p:cNvPr id="8197" name="Object 11">
            <a:extLst>
              <a:ext uri="{FF2B5EF4-FFF2-40B4-BE49-F238E27FC236}">
                <a16:creationId xmlns:a16="http://schemas.microsoft.com/office/drawing/2014/main" id="{F9E5D279-BBF0-4CC3-A1C6-CC40753260E6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457200" y="2516188"/>
          <a:ext cx="4038600" cy="269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000" imgH="4067251" progId="MSGraph.Chart.8">
                  <p:embed followColorScheme="full"/>
                </p:oleObj>
              </mc:Choice>
              <mc:Fallback>
                <p:oleObj name="Chart" r:id="rId2" imgW="6096000" imgH="4067251" progId="MSGraph.Chart.8">
                  <p:embed followColorScheme="full"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516188"/>
                        <a:ext cx="4038600" cy="2693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16">
            <a:extLst>
              <a:ext uri="{FF2B5EF4-FFF2-40B4-BE49-F238E27FC236}">
                <a16:creationId xmlns:a16="http://schemas.microsoft.com/office/drawing/2014/main" id="{3F96063A-6A08-4A39-94BF-CBC067803F02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295900" y="1778000"/>
          <a:ext cx="27432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2745740" imgH="1831340" progId="Word.Picture.8">
                  <p:embed/>
                </p:oleObj>
              </mc:Choice>
              <mc:Fallback>
                <p:oleObj name="Picture" r:id="rId4" imgW="2745740" imgH="1831340" progId="Word.Picture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900" y="1778000"/>
                        <a:ext cx="27432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9" name="Picture 5">
            <a:extLst>
              <a:ext uri="{FF2B5EF4-FFF2-40B4-BE49-F238E27FC236}">
                <a16:creationId xmlns:a16="http://schemas.microsoft.com/office/drawing/2014/main" id="{AEFC05F7-BB75-4E27-9DBD-078996ACD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000125"/>
            <a:ext cx="3589337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0" name="Text Box 6">
            <a:extLst>
              <a:ext uri="{FF2B5EF4-FFF2-40B4-BE49-F238E27FC236}">
                <a16:creationId xmlns:a16="http://schemas.microsoft.com/office/drawing/2014/main" id="{8B72E35F-BB2B-4CB8-9DC5-1DA667328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068638"/>
            <a:ext cx="77692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1800"/>
              <a:t> O comando </a:t>
            </a:r>
            <a:r>
              <a:rPr lang="pt-PT" altLang="en-US" sz="1800">
                <a:latin typeface="Times New Roman" panose="02020603050405020304" pitchFamily="18" charset="0"/>
              </a:rPr>
              <a:t>lst2 = lst1.clone();</a:t>
            </a:r>
            <a:r>
              <a:rPr lang="pt-PT" altLang="en-US" sz="1800"/>
              <a:t> produz o resultado da figura. Isto é,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só há cópia da estrutura e não dos conteúdos.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1800"/>
              <a:t> Um clone completo implica fazer clone() sobre a estrutura lista mais uma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travessia da lista para fazer clone() sobre os objectos em cada célula.</a:t>
            </a:r>
          </a:p>
        </p:txBody>
      </p:sp>
      <p:sp>
        <p:nvSpPr>
          <p:cNvPr id="8201" name="Rectangle 20">
            <a:extLst>
              <a:ext uri="{FF2B5EF4-FFF2-40B4-BE49-F238E27FC236}">
                <a16:creationId xmlns:a16="http://schemas.microsoft.com/office/drawing/2014/main" id="{D8499550-08E7-4D37-8097-560A64276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984750"/>
            <a:ext cx="428625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8202" name="Line 21">
            <a:extLst>
              <a:ext uri="{FF2B5EF4-FFF2-40B4-BE49-F238E27FC236}">
                <a16:creationId xmlns:a16="http://schemas.microsoft.com/office/drawing/2014/main" id="{D28759F3-2092-4AA8-97C9-7BF45567A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3" y="5327650"/>
            <a:ext cx="428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8203" name="Line 22">
            <a:extLst>
              <a:ext uri="{FF2B5EF4-FFF2-40B4-BE49-F238E27FC236}">
                <a16:creationId xmlns:a16="http://schemas.microsoft.com/office/drawing/2014/main" id="{B8E9D94C-7352-4052-A0B0-2F99DDAFD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3" y="5756275"/>
            <a:ext cx="428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8204" name="Oval 24">
            <a:extLst>
              <a:ext uri="{FF2B5EF4-FFF2-40B4-BE49-F238E27FC236}">
                <a16:creationId xmlns:a16="http://schemas.microsoft.com/office/drawing/2014/main" id="{D616E393-3F1E-4C2E-8AAA-43E15D259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3" y="5346700"/>
            <a:ext cx="631825" cy="333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000"/>
              <a:t>(2,2)</a:t>
            </a:r>
          </a:p>
        </p:txBody>
      </p:sp>
      <p:sp>
        <p:nvSpPr>
          <p:cNvPr id="8205" name="Oval 25">
            <a:extLst>
              <a:ext uri="{FF2B5EF4-FFF2-40B4-BE49-F238E27FC236}">
                <a16:creationId xmlns:a16="http://schemas.microsoft.com/office/drawing/2014/main" id="{5D858B8B-0E1A-4C0A-AEB0-726C829F3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138" y="5784850"/>
            <a:ext cx="693737" cy="333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000"/>
              <a:t>(3,3)</a:t>
            </a:r>
          </a:p>
        </p:txBody>
      </p:sp>
      <p:sp>
        <p:nvSpPr>
          <p:cNvPr id="8206" name="Rectangle 26">
            <a:extLst>
              <a:ext uri="{FF2B5EF4-FFF2-40B4-BE49-F238E27FC236}">
                <a16:creationId xmlns:a16="http://schemas.microsoft.com/office/drawing/2014/main" id="{657035A5-BC22-47A9-9B41-9FD77DF60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038" y="4984750"/>
            <a:ext cx="428625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8207" name="Line 27">
            <a:extLst>
              <a:ext uri="{FF2B5EF4-FFF2-40B4-BE49-F238E27FC236}">
                <a16:creationId xmlns:a16="http://schemas.microsoft.com/office/drawing/2014/main" id="{D7F0FCFF-5C46-4C27-A49A-C4B63952E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7038" y="5327650"/>
            <a:ext cx="428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8208" name="Line 28">
            <a:extLst>
              <a:ext uri="{FF2B5EF4-FFF2-40B4-BE49-F238E27FC236}">
                <a16:creationId xmlns:a16="http://schemas.microsoft.com/office/drawing/2014/main" id="{B51A6D17-85B9-4122-B0CB-C3582497C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7038" y="5756275"/>
            <a:ext cx="428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8209" name="Oval 29">
            <a:extLst>
              <a:ext uri="{FF2B5EF4-FFF2-40B4-BE49-F238E27FC236}">
                <a16:creationId xmlns:a16="http://schemas.microsoft.com/office/drawing/2014/main" id="{1909845B-9FDE-4EC9-A431-DA8C1E20C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1988" y="5118100"/>
            <a:ext cx="90487" cy="90488"/>
          </a:xfrm>
          <a:prstGeom prst="ellipse">
            <a:avLst/>
          </a:prstGeom>
          <a:solidFill>
            <a:srgbClr val="33333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8210" name="Oval 30">
            <a:extLst>
              <a:ext uri="{FF2B5EF4-FFF2-40B4-BE49-F238E27FC236}">
                <a16:creationId xmlns:a16="http://schemas.microsoft.com/office/drawing/2014/main" id="{862E6CC2-4D54-4753-856A-7A7298248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1988" y="5537200"/>
            <a:ext cx="90487" cy="90488"/>
          </a:xfrm>
          <a:prstGeom prst="ellipse">
            <a:avLst/>
          </a:prstGeom>
          <a:solidFill>
            <a:srgbClr val="33333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8211" name="Oval 31">
            <a:extLst>
              <a:ext uri="{FF2B5EF4-FFF2-40B4-BE49-F238E27FC236}">
                <a16:creationId xmlns:a16="http://schemas.microsoft.com/office/drawing/2014/main" id="{BC148412-CD9B-4BE5-BA65-D87291BA9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1513" y="5937250"/>
            <a:ext cx="90487" cy="90488"/>
          </a:xfrm>
          <a:prstGeom prst="ellipse">
            <a:avLst/>
          </a:prstGeom>
          <a:solidFill>
            <a:srgbClr val="33333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8212" name="Line 32">
            <a:extLst>
              <a:ext uri="{FF2B5EF4-FFF2-40B4-BE49-F238E27FC236}">
                <a16:creationId xmlns:a16="http://schemas.microsoft.com/office/drawing/2014/main" id="{22F1734A-FFEB-4BD0-97F3-9EAFD71881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11513" y="5118100"/>
            <a:ext cx="762000" cy="365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8213" name="Line 33">
            <a:extLst>
              <a:ext uri="{FF2B5EF4-FFF2-40B4-BE49-F238E27FC236}">
                <a16:creationId xmlns:a16="http://schemas.microsoft.com/office/drawing/2014/main" id="{314F8378-EA64-4684-9A6B-340B5BF910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30563" y="5508625"/>
            <a:ext cx="790575" cy="809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8214" name="Line 34">
            <a:extLst>
              <a:ext uri="{FF2B5EF4-FFF2-40B4-BE49-F238E27FC236}">
                <a16:creationId xmlns:a16="http://schemas.microsoft.com/office/drawing/2014/main" id="{13C002B5-A056-49E4-B5E1-59F9F7F05E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30563" y="5937250"/>
            <a:ext cx="809625" cy="38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8215" name="Oval 35">
            <a:extLst>
              <a:ext uri="{FF2B5EF4-FFF2-40B4-BE49-F238E27FC236}">
                <a16:creationId xmlns:a16="http://schemas.microsoft.com/office/drawing/2014/main" id="{2DAA3889-E640-4918-A0DE-105E57DF2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938" y="4581525"/>
            <a:ext cx="673100" cy="333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000"/>
              <a:t>(1,1)</a:t>
            </a:r>
          </a:p>
        </p:txBody>
      </p:sp>
      <p:sp>
        <p:nvSpPr>
          <p:cNvPr id="8216" name="Oval 36">
            <a:extLst>
              <a:ext uri="{FF2B5EF4-FFF2-40B4-BE49-F238E27FC236}">
                <a16:creationId xmlns:a16="http://schemas.microsoft.com/office/drawing/2014/main" id="{A82A77DA-5BAC-4AC0-928C-C3C57DFF6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5137150"/>
            <a:ext cx="642938" cy="333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000"/>
              <a:t>(2,2)</a:t>
            </a:r>
          </a:p>
        </p:txBody>
      </p:sp>
      <p:sp>
        <p:nvSpPr>
          <p:cNvPr id="8217" name="Oval 37">
            <a:extLst>
              <a:ext uri="{FF2B5EF4-FFF2-40B4-BE49-F238E27FC236}">
                <a16:creationId xmlns:a16="http://schemas.microsoft.com/office/drawing/2014/main" id="{376F3C1E-B432-4BC1-BB53-AD87CA7E3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5975350"/>
            <a:ext cx="701675" cy="333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000"/>
              <a:t>(3,3)</a:t>
            </a:r>
          </a:p>
        </p:txBody>
      </p:sp>
      <p:sp>
        <p:nvSpPr>
          <p:cNvPr id="8218" name="Oval 38">
            <a:extLst>
              <a:ext uri="{FF2B5EF4-FFF2-40B4-BE49-F238E27FC236}">
                <a16:creationId xmlns:a16="http://schemas.microsoft.com/office/drawing/2014/main" id="{D3607B5D-A2FB-4A02-A857-49E89BA11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438" y="5499100"/>
            <a:ext cx="90487" cy="90488"/>
          </a:xfrm>
          <a:prstGeom prst="ellipse">
            <a:avLst/>
          </a:prstGeom>
          <a:solidFill>
            <a:srgbClr val="33333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8219" name="Oval 39">
            <a:extLst>
              <a:ext uri="{FF2B5EF4-FFF2-40B4-BE49-F238E27FC236}">
                <a16:creationId xmlns:a16="http://schemas.microsoft.com/office/drawing/2014/main" id="{2721DE06-14C7-4335-ADCF-9408B12CD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5127625"/>
            <a:ext cx="90487" cy="90488"/>
          </a:xfrm>
          <a:prstGeom prst="ellipse">
            <a:avLst/>
          </a:prstGeom>
          <a:solidFill>
            <a:srgbClr val="33333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8220" name="Oval 40">
            <a:extLst>
              <a:ext uri="{FF2B5EF4-FFF2-40B4-BE49-F238E27FC236}">
                <a16:creationId xmlns:a16="http://schemas.microsoft.com/office/drawing/2014/main" id="{947C8B10-88A7-4DF0-B04C-53AD889B0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8" y="5899150"/>
            <a:ext cx="90487" cy="90488"/>
          </a:xfrm>
          <a:prstGeom prst="ellipse">
            <a:avLst/>
          </a:prstGeom>
          <a:solidFill>
            <a:srgbClr val="33333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8221" name="Line 41">
            <a:extLst>
              <a:ext uri="{FF2B5EF4-FFF2-40B4-BE49-F238E27FC236}">
                <a16:creationId xmlns:a16="http://schemas.microsoft.com/office/drawing/2014/main" id="{EBC72927-00E3-49E0-9BCD-0E202F2144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45038" y="4794250"/>
            <a:ext cx="93345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8222" name="Line 42">
            <a:extLst>
              <a:ext uri="{FF2B5EF4-FFF2-40B4-BE49-F238E27FC236}">
                <a16:creationId xmlns:a16="http://schemas.microsoft.com/office/drawing/2014/main" id="{A9C932C7-6C03-44BA-910D-9BD27489F9F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49838" y="5346700"/>
            <a:ext cx="628650" cy="190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8223" name="Line 43">
            <a:extLst>
              <a:ext uri="{FF2B5EF4-FFF2-40B4-BE49-F238E27FC236}">
                <a16:creationId xmlns:a16="http://schemas.microsoft.com/office/drawing/2014/main" id="{33B3483A-3537-4D0E-BBBC-45C8867BED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2238" y="5937250"/>
            <a:ext cx="547687" cy="180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8224" name="Oval 48">
            <a:extLst>
              <a:ext uri="{FF2B5EF4-FFF2-40B4-BE49-F238E27FC236}">
                <a16:creationId xmlns:a16="http://schemas.microsoft.com/office/drawing/2014/main" id="{711FDC85-74D3-4B97-A898-76D0A5559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975" y="4941888"/>
            <a:ext cx="652463" cy="333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000"/>
              <a:t>(1,1)</a:t>
            </a:r>
          </a:p>
        </p:txBody>
      </p:sp>
      <p:sp>
        <p:nvSpPr>
          <p:cNvPr id="8225" name="Line 55">
            <a:extLst>
              <a:ext uri="{FF2B5EF4-FFF2-40B4-BE49-F238E27FC236}">
                <a16:creationId xmlns:a16="http://schemas.microsoft.com/office/drawing/2014/main" id="{E93AF5ED-1FFA-41D5-943E-CCADF6A3B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3" y="6092825"/>
            <a:ext cx="14287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8226" name="Line 56">
            <a:extLst>
              <a:ext uri="{FF2B5EF4-FFF2-40B4-BE49-F238E27FC236}">
                <a16:creationId xmlns:a16="http://schemas.microsoft.com/office/drawing/2014/main" id="{0A65A4D3-BFBA-4076-BFE2-E327F0FC93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7538" y="6237288"/>
            <a:ext cx="215900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8227" name="Text Box 58">
            <a:extLst>
              <a:ext uri="{FF2B5EF4-FFF2-40B4-BE49-F238E27FC236}">
                <a16:creationId xmlns:a16="http://schemas.microsoft.com/office/drawing/2014/main" id="{B8038247-5602-4CAD-A477-40BC9FC16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9563" y="6237288"/>
            <a:ext cx="5715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000"/>
              <a:t>clone()</a:t>
            </a:r>
          </a:p>
        </p:txBody>
      </p:sp>
      <p:sp>
        <p:nvSpPr>
          <p:cNvPr id="8228" name="Text Box 60">
            <a:extLst>
              <a:ext uri="{FF2B5EF4-FFF2-40B4-BE49-F238E27FC236}">
                <a16:creationId xmlns:a16="http://schemas.microsoft.com/office/drawing/2014/main" id="{4346A588-9DD0-4AC1-8A9E-4D73531DB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038" y="4673600"/>
            <a:ext cx="4460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 b="1"/>
              <a:t>lst1</a:t>
            </a:r>
          </a:p>
        </p:txBody>
      </p:sp>
      <p:sp>
        <p:nvSpPr>
          <p:cNvPr id="8229" name="Text Box 61">
            <a:extLst>
              <a:ext uri="{FF2B5EF4-FFF2-40B4-BE49-F238E27FC236}">
                <a16:creationId xmlns:a16="http://schemas.microsoft.com/office/drawing/2014/main" id="{B42A1C35-886A-45B0-893F-DDF9707E8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550" y="4673600"/>
            <a:ext cx="9794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l</a:t>
            </a:r>
            <a:r>
              <a:rPr lang="pt-PT" altLang="en-US" sz="1200" b="1"/>
              <a:t>st1.clone()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>
            <a:extLst>
              <a:ext uri="{FF2B5EF4-FFF2-40B4-BE49-F238E27FC236}">
                <a16:creationId xmlns:a16="http://schemas.microsoft.com/office/drawing/2014/main" id="{BAD0FFD0-B598-4E96-B049-8DBA9780D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3D75F74A-A75F-49DA-A457-A3C2C340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9A2824-163D-4766-BE60-8FCF96C6E9A2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PT" altLang="en-US" sz="14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E583CBCE-B573-4B8D-9E91-1B7B82145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Implementações Ligadas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FCA658B5-4A44-4626-91D9-345FE1E8F8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679950"/>
          </a:xfrm>
        </p:spPr>
        <p:txBody>
          <a:bodyPr/>
          <a:lstStyle/>
          <a:p>
            <a:pPr eaLnBrk="1" hangingPunct="1"/>
            <a:r>
              <a:rPr lang="pt-PT" altLang="en-US" sz="2400"/>
              <a:t>Representar sequência através de uma implementação dinâmica.</a:t>
            </a:r>
          </a:p>
          <a:p>
            <a:pPr eaLnBrk="1" hangingPunct="1"/>
            <a:r>
              <a:rPr lang="pt-PT" altLang="en-US" sz="2400"/>
              <a:t>As células que representam os elementos das sequências que estão “ligados” entre si. Isto contrasta com a representação sequencial dos arrays!</a:t>
            </a:r>
          </a:p>
          <a:p>
            <a:pPr eaLnBrk="1" hangingPunct="1"/>
            <a:r>
              <a:rPr lang="pt-PT" altLang="en-US" sz="2400"/>
              <a:t>Cada célula (que referimos como </a:t>
            </a:r>
            <a:r>
              <a:rPr lang="pt-PT" altLang="en-US" sz="2400" i="1"/>
              <a:t>nó</a:t>
            </a:r>
            <a:r>
              <a:rPr lang="pt-PT" altLang="en-US" sz="2400"/>
              <a:t> da lista) é constituído por:</a:t>
            </a:r>
          </a:p>
          <a:p>
            <a:pPr lvl="1" eaLnBrk="1" hangingPunct="1"/>
            <a:r>
              <a:rPr lang="pt-PT" altLang="en-US" sz="2000"/>
              <a:t>Uma referência para a próxima célula,</a:t>
            </a:r>
          </a:p>
          <a:p>
            <a:pPr lvl="1" eaLnBrk="1" hangingPunct="1"/>
            <a:r>
              <a:rPr lang="pt-PT" altLang="en-US" sz="2000"/>
              <a:t>Um compartimento para guardar a informação, que no nosso caso é o elemento da sequência,</a:t>
            </a:r>
          </a:p>
          <a:p>
            <a:pPr lvl="1" eaLnBrk="1" hangingPunct="1"/>
            <a:r>
              <a:rPr lang="pt-PT" altLang="en-US" sz="2000"/>
              <a:t>Uma referência para a célula anterior (opcional) </a:t>
            </a:r>
          </a:p>
          <a:p>
            <a:pPr eaLnBrk="1" hangingPunct="1"/>
            <a:r>
              <a:rPr lang="pt-PT" altLang="en-US" sz="2400"/>
              <a:t>Um exemplo:</a:t>
            </a:r>
          </a:p>
          <a:p>
            <a:pPr lvl="1" eaLnBrk="1" hangingPunct="1"/>
            <a:endParaRPr lang="pt-PT" altLang="en-US" sz="2000"/>
          </a:p>
        </p:txBody>
      </p:sp>
      <p:pic>
        <p:nvPicPr>
          <p:cNvPr id="9222" name="Picture 5">
            <a:extLst>
              <a:ext uri="{FF2B5EF4-FFF2-40B4-BE49-F238E27FC236}">
                <a16:creationId xmlns:a16="http://schemas.microsoft.com/office/drawing/2014/main" id="{B98899BF-26AB-4AFA-B195-450CF634D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088" y="5434013"/>
            <a:ext cx="2733675" cy="109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>
            <a:extLst>
              <a:ext uri="{FF2B5EF4-FFF2-40B4-BE49-F238E27FC236}">
                <a16:creationId xmlns:a16="http://schemas.microsoft.com/office/drawing/2014/main" id="{F0C23700-F31A-4F3B-A714-ACC87859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A76ED4DD-7C26-4B8C-8348-38BE9362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E49050-1063-4BA8-AE31-BF6557679FF7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PT" altLang="en-US" sz="1400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3A26A163-28C0-4C08-9FC9-E2006006C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Listas Ligadas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8150BAB8-3003-4D35-9977-463F5A3E7C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757363"/>
          </a:xfrm>
        </p:spPr>
        <p:txBody>
          <a:bodyPr/>
          <a:lstStyle/>
          <a:p>
            <a:pPr eaLnBrk="1" hangingPunct="1"/>
            <a:r>
              <a:rPr lang="pt-PT" altLang="en-US" sz="2400"/>
              <a:t>Exemplo de uma sequência representada por células ligadas. A ligação é simples (num só sentido), permitindo percorrer a sequência do primeiro ao último elemento.</a:t>
            </a:r>
          </a:p>
        </p:txBody>
      </p:sp>
      <p:pic>
        <p:nvPicPr>
          <p:cNvPr id="10246" name="Picture 4">
            <a:extLst>
              <a:ext uri="{FF2B5EF4-FFF2-40B4-BE49-F238E27FC236}">
                <a16:creationId xmlns:a16="http://schemas.microsoft.com/office/drawing/2014/main" id="{8913FA60-1A0B-496B-8380-F92F26677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3668713"/>
            <a:ext cx="7278687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>
            <a:extLst>
              <a:ext uri="{FF2B5EF4-FFF2-40B4-BE49-F238E27FC236}">
                <a16:creationId xmlns:a16="http://schemas.microsoft.com/office/drawing/2014/main" id="{40A45368-D98D-4EF0-A96A-2A62E3CA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A7BF91B2-4D3F-448D-A5B5-249620D6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646B3A-95F6-435A-A67D-D960400E6049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PT" altLang="en-US" sz="1400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B7AC07A5-AEC8-4C85-8ED8-17FAF667F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0837" y="71437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 sz="3600" dirty="0">
                <a:solidFill>
                  <a:srgbClr val="FF0000"/>
                </a:solidFill>
              </a:rPr>
              <a:t>Representação de uma Célula em Java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C16D9B63-0A09-45F2-8EEF-E75F3C1F77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545137"/>
          </a:xfrm>
        </p:spPr>
        <p:txBody>
          <a:bodyPr/>
          <a:lstStyle/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public class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&lt;E&gt;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{  private E info;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private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&lt;E&gt;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prox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</a:p>
          <a:p>
            <a:pPr lvl="2" eaLnBrk="1" hangingPunct="1">
              <a:buFontTx/>
              <a:buNone/>
            </a:pPr>
            <a:endParaRPr lang="pt-PT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public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(E info)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{ this.info = info.clone();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this.prox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= null; }</a:t>
            </a:r>
          </a:p>
          <a:p>
            <a:pPr lvl="2" eaLnBrk="1" hangingPunct="1">
              <a:buFontTx/>
              <a:buNone/>
            </a:pPr>
            <a:endParaRPr lang="pt-PT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public E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getInfo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{ return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this.info.clone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(); }</a:t>
            </a:r>
          </a:p>
          <a:p>
            <a:pPr lvl="2" eaLnBrk="1" hangingPunct="1">
              <a:buFontTx/>
              <a:buNone/>
            </a:pPr>
            <a:endParaRPr lang="pt-PT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public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&lt;E&gt;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getProx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{ return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this.prox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;}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public void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setProx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&lt;E&gt; p)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{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this.prox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= p; }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1270" name="AutoShape 4">
            <a:extLst>
              <a:ext uri="{FF2B5EF4-FFF2-40B4-BE49-F238E27FC236}">
                <a16:creationId xmlns:a16="http://schemas.microsoft.com/office/drawing/2014/main" id="{EC072E84-36A7-4388-BB2F-A246F5A8A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484313"/>
            <a:ext cx="2808288" cy="792162"/>
          </a:xfrm>
          <a:prstGeom prst="wedgeRoundRectCallout">
            <a:avLst>
              <a:gd name="adj1" fmla="val -100199"/>
              <a:gd name="adj2" fmla="val -6543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Notar o facto da classe ser genérica. Assim, o conteúdo da informação da célula pode ser de qualquer tipo!</a:t>
            </a:r>
          </a:p>
        </p:txBody>
      </p:sp>
      <p:sp>
        <p:nvSpPr>
          <p:cNvPr id="11271" name="AutoShape 5">
            <a:extLst>
              <a:ext uri="{FF2B5EF4-FFF2-40B4-BE49-F238E27FC236}">
                <a16:creationId xmlns:a16="http://schemas.microsoft.com/office/drawing/2014/main" id="{D0CCC2A6-372E-4BD5-8B30-B1E951738FB5}"/>
              </a:ext>
            </a:extLst>
          </p:cNvPr>
          <p:cNvSpPr>
            <a:spLocks/>
          </p:cNvSpPr>
          <p:nvPr/>
        </p:nvSpPr>
        <p:spPr bwMode="auto">
          <a:xfrm>
            <a:off x="5580063" y="4868863"/>
            <a:ext cx="287337" cy="1439862"/>
          </a:xfrm>
          <a:prstGeom prst="leftBrace">
            <a:avLst>
              <a:gd name="adj1" fmla="val 41759"/>
              <a:gd name="adj2" fmla="val 5005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11272" name="Text Box 6">
            <a:extLst>
              <a:ext uri="{FF2B5EF4-FFF2-40B4-BE49-F238E27FC236}">
                <a16:creationId xmlns:a16="http://schemas.microsoft.com/office/drawing/2014/main" id="{801E1A08-55A9-4A7B-BECA-581BE62F9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5237163"/>
            <a:ext cx="2884488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Métodos para concretizar o encadear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das células associadas à representação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da sequência.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>
            <a:extLst>
              <a:ext uri="{FF2B5EF4-FFF2-40B4-BE49-F238E27FC236}">
                <a16:creationId xmlns:a16="http://schemas.microsoft.com/office/drawing/2014/main" id="{BB211ECA-1BAF-465F-A6BC-C672C794A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BD81D917-23C9-4D68-BFC9-75F053AA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2EC958-B1FD-4EAC-92DE-563661E431FF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PT" altLang="en-US" sz="1400"/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FA274A8C-CB2A-4792-8157-5416550ED8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 sz="4000"/>
              <a:t>Inserção de um novo Nó (esquematicamente)</a:t>
            </a:r>
          </a:p>
        </p:txBody>
      </p:sp>
      <p:pic>
        <p:nvPicPr>
          <p:cNvPr id="12293" name="Picture 10">
            <a:extLst>
              <a:ext uri="{FF2B5EF4-FFF2-40B4-BE49-F238E27FC236}">
                <a16:creationId xmlns:a16="http://schemas.microsoft.com/office/drawing/2014/main" id="{7BBDD85D-16AE-454E-A4F1-08724E7BF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738" y="1557338"/>
            <a:ext cx="6738937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11">
            <a:extLst>
              <a:ext uri="{FF2B5EF4-FFF2-40B4-BE49-F238E27FC236}">
                <a16:creationId xmlns:a16="http://schemas.microsoft.com/office/drawing/2014/main" id="{CE098C48-DE7A-4F8B-BC7E-0E698A873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613" y="4235450"/>
            <a:ext cx="6738937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>
            <a:extLst>
              <a:ext uri="{FF2B5EF4-FFF2-40B4-BE49-F238E27FC236}">
                <a16:creationId xmlns:a16="http://schemas.microsoft.com/office/drawing/2014/main" id="{2B6D92CD-ABB8-4B97-A5D7-4437AB148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3315" name="Slide Number Placeholder 5">
            <a:extLst>
              <a:ext uri="{FF2B5EF4-FFF2-40B4-BE49-F238E27FC236}">
                <a16:creationId xmlns:a16="http://schemas.microsoft.com/office/drawing/2014/main" id="{E175950E-B454-49E4-B1C9-208DB073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65C98D-550F-4B1F-8620-CEE5B8E673B2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PT" altLang="en-US" sz="1400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0F4F221F-6DB4-462C-B150-CC8AC25B2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649287"/>
          </a:xfrm>
        </p:spPr>
        <p:txBody>
          <a:bodyPr/>
          <a:lstStyle/>
          <a:p>
            <a:pPr eaLnBrk="1" hangingPunct="1"/>
            <a:r>
              <a:rPr lang="pt-PT" altLang="en-US" sz="4000"/>
              <a:t>Exemplo de uso de Célula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F8017FFD-AA3F-435F-AB65-88CC34AD5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65175"/>
            <a:ext cx="9144000" cy="5949950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public static void main(String a[ ])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{  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&lt;Ponto&gt; a1 = new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&lt;Ponto&gt;(new Ponto(1,2));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&lt;Ponto&gt; a2 = new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&lt;Ponto&gt;(new Ponto(5,1));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&lt;Ponto&gt; inicio = a1;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a1.setProx(a2);  //  inserir  a2  no fim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&lt;Ponto&gt; a3 = new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&lt;Ponto&gt;(new Ponto(1,1));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a3.setProx(a1); inicio = a3; // inserir no início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&lt;Ponto&gt; a4 = new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&lt;Ponto&gt;(new Ponto(5,5));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inserir a meio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a4.setProx(a1.getProx());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a1.setProx(a4);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endParaRPr lang="pt-PT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imprimir elementos da lista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&lt;E&gt; temp = inicio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while(temp != null)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{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System.out.println(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temp.getInfo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().toString()); temp =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temp.getProx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>
            <a:extLst>
              <a:ext uri="{FF2B5EF4-FFF2-40B4-BE49-F238E27FC236}">
                <a16:creationId xmlns:a16="http://schemas.microsoft.com/office/drawing/2014/main" id="{25E40A05-ED15-4650-A616-AF2DA2E0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73E4DC91-F22D-40F7-A24D-0E524B1B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24D3A9-6230-48EF-8A14-0C16560E21EB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PT" altLang="en-US" sz="140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5386B810-8039-4A8B-9B33-36669FA05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561975"/>
          </a:xfrm>
        </p:spPr>
        <p:txBody>
          <a:bodyPr/>
          <a:lstStyle/>
          <a:p>
            <a:pPr eaLnBrk="1" hangingPunct="1"/>
            <a:r>
              <a:rPr lang="pt-PT" altLang="en-US" sz="4000"/>
              <a:t>Inserção Ordenada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B85D9567-6A44-4EA3-B9BF-E0F3632525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229600" cy="59055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1800" dirty="0"/>
              <a:t>Método da classe </a:t>
            </a:r>
            <a:r>
              <a:rPr lang="pt-PT" altLang="en-US" sz="1800" dirty="0" err="1">
                <a:latin typeface="Times New Roman" panose="02020603050405020304" pitchFamily="18" charset="0"/>
              </a:rPr>
              <a:t>Celula</a:t>
            </a:r>
            <a:r>
              <a:rPr lang="pt-PT" altLang="en-US" sz="1800" dirty="0"/>
              <a:t> para inserir ordenadamente um novo elemento da sequência. Como há necessidade de existir uma ordem total sobre os elementos da lista, vamos assumir que o tipo de dados do </a:t>
            </a:r>
            <a:r>
              <a:rPr lang="pt-PT" altLang="en-US" sz="1800" dirty="0" err="1"/>
              <a:t>objecto</a:t>
            </a:r>
            <a:r>
              <a:rPr lang="pt-PT" altLang="en-US" sz="1800" dirty="0"/>
              <a:t> </a:t>
            </a:r>
            <a:r>
              <a:rPr lang="pt-PT" altLang="en-US" sz="1800" dirty="0">
                <a:latin typeface="Times New Roman" panose="02020603050405020304" pitchFamily="18" charset="0"/>
              </a:rPr>
              <a:t>info</a:t>
            </a:r>
            <a:r>
              <a:rPr lang="pt-PT" altLang="en-US" sz="1800" dirty="0"/>
              <a:t> da sequência têm um método </a:t>
            </a:r>
            <a:r>
              <a:rPr lang="pt-PT" altLang="en-US" sz="1800" dirty="0" err="1">
                <a:latin typeface="Times New Roman" panose="02020603050405020304" pitchFamily="18" charset="0"/>
              </a:rPr>
              <a:t>less</a:t>
            </a:r>
            <a:r>
              <a:rPr lang="pt-PT" altLang="en-US" sz="1800" dirty="0">
                <a:latin typeface="Times New Roman" panose="02020603050405020304" pitchFamily="18" charset="0"/>
              </a:rPr>
              <a:t>()</a:t>
            </a:r>
            <a:r>
              <a:rPr lang="pt-PT" altLang="en-US" sz="1800" dirty="0"/>
              <a:t>.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endParaRPr lang="pt-PT" altLang="en-US" sz="1800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public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&lt;E&gt;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insord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&lt;E&gt; novo)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{     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if(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this.info.less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novo.getInfo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())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{ if(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!= null)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	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this.prox.insord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(novo);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	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= novo;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return(this)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}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else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{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novo.setProx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(this);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return(novo);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}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6" name="Chamada rectangular arredondada 5">
            <a:extLst>
              <a:ext uri="{FF2B5EF4-FFF2-40B4-BE49-F238E27FC236}">
                <a16:creationId xmlns:a16="http://schemas.microsoft.com/office/drawing/2014/main" id="{46D1E556-C41C-4F30-B3F7-71EBCECE0ABC}"/>
              </a:ext>
            </a:extLst>
          </p:cNvPr>
          <p:cNvSpPr/>
          <p:nvPr/>
        </p:nvSpPr>
        <p:spPr>
          <a:xfrm>
            <a:off x="7451725" y="3213100"/>
            <a:ext cx="1512888" cy="1079500"/>
          </a:xfrm>
          <a:prstGeom prst="wedgeRoundRectCallout">
            <a:avLst>
              <a:gd name="adj1" fmla="val -229848"/>
              <a:gd name="adj2" fmla="val -674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t-PT" dirty="0">
                <a:solidFill>
                  <a:schemeClr val="tx1"/>
                </a:solidFill>
              </a:rPr>
              <a:t>Assumida a existência do</a:t>
            </a:r>
            <a:r>
              <a:rPr lang="pt-PT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método </a:t>
            </a:r>
            <a:r>
              <a:rPr lang="pt-PT" dirty="0" err="1">
                <a:solidFill>
                  <a:schemeClr val="tx1"/>
                </a:solidFill>
              </a:rPr>
              <a:t>l</a:t>
            </a:r>
            <a:r>
              <a:rPr lang="pt-PT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ess</a:t>
            </a:r>
            <a:r>
              <a:rPr lang="pt-PT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pt-PT" dirty="0">
                <a:solidFill>
                  <a:schemeClr val="tx1"/>
                </a:solidFill>
              </a:rPr>
              <a:t>  de comparação na classe &lt;E&gt;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>
            <a:extLst>
              <a:ext uri="{FF2B5EF4-FFF2-40B4-BE49-F238E27FC236}">
                <a16:creationId xmlns:a16="http://schemas.microsoft.com/office/drawing/2014/main" id="{B2EA626E-DD2D-4F95-B783-06A2940EB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5363" name="Slide Number Placeholder 5">
            <a:extLst>
              <a:ext uri="{FF2B5EF4-FFF2-40B4-BE49-F238E27FC236}">
                <a16:creationId xmlns:a16="http://schemas.microsoft.com/office/drawing/2014/main" id="{A3C54407-8D9B-439E-8752-A88342203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E3E17E-6425-4B51-8820-5599C3DFE7C7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PT" altLang="en-US" sz="1400"/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584C1EEB-F06E-49F0-8335-17F9956ED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92162"/>
          </a:xfrm>
        </p:spPr>
        <p:txBody>
          <a:bodyPr/>
          <a:lstStyle/>
          <a:p>
            <a:pPr eaLnBrk="1" hangingPunct="1"/>
            <a:r>
              <a:rPr lang="pt-PT" altLang="en-US" sz="4000"/>
              <a:t>Exemplo de inserção ordenada</a:t>
            </a: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38E33E4A-8B51-4157-9DA8-9B63A15844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686800" cy="56896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public static void main(String a[ ])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  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Celula&lt;Integer&gt; a1 = new Celula&lt;Integer&gt;(new Integer(2));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Celula&lt;Integer&gt; a2 = new Celula&lt;Integer&gt;(new Integer(5));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Celula&lt;Integer&gt; inicio = a1;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inicio = inicio.insord(a2);  //  inserir a2 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Celula&lt;Integer&gt; a3 = new Celula&lt;Integer&gt;(new Integer(11));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inicio = inicio.insord(a3); 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Celula&lt;Integer&gt; a4 = new Celula&lt;Integer&gt;(new Integer(6));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// mais um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inicio = inicio.insord(a4);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// imprimir elementos da lista por ordem crescente.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Celula&lt;E&gt; temp = inicio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while(temp != null)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	System.out.println(temp.getInfo().toString()); temp = temp.getProx(); 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>
            <a:extLst>
              <a:ext uri="{FF2B5EF4-FFF2-40B4-BE49-F238E27FC236}">
                <a16:creationId xmlns:a16="http://schemas.microsoft.com/office/drawing/2014/main" id="{64EFF164-103F-4820-851B-82DC670D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62474BCC-00B7-44B4-AFC0-1CD49A0C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E6879A-15FE-4635-8CBD-77E47AC669A3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PT" altLang="en-US" sz="1400"/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C06E572C-78A4-42DD-81AC-725CE7F30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576263"/>
          </a:xfrm>
        </p:spPr>
        <p:txBody>
          <a:bodyPr/>
          <a:lstStyle/>
          <a:p>
            <a:pPr eaLnBrk="1" hangingPunct="1"/>
            <a:r>
              <a:rPr lang="pt-PT" altLang="en-US" sz="2800"/>
              <a:t>Eliminação de uma Célula numa lista ordenada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FBCFD351-BC84-4008-9DD6-7C2637EFF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692150"/>
            <a:ext cx="8229600" cy="6121400"/>
          </a:xfrm>
        </p:spPr>
        <p:txBody>
          <a:bodyPr/>
          <a:lstStyle/>
          <a:p>
            <a:pPr eaLnBrk="1" hangingPunct="1"/>
            <a:r>
              <a:rPr lang="pt-PT" altLang="en-US" sz="1800" dirty="0"/>
              <a:t>Método da classe </a:t>
            </a:r>
            <a:r>
              <a:rPr lang="pt-PT" altLang="en-US" sz="1800" dirty="0" err="1">
                <a:latin typeface="Times New Roman" panose="02020603050405020304" pitchFamily="18" charset="0"/>
              </a:rPr>
              <a:t>Celula</a:t>
            </a:r>
            <a:r>
              <a:rPr lang="pt-PT" altLang="en-US" sz="1800" dirty="0"/>
              <a:t> para eliminar um elemento de uma lista  ordena. Vamos recorrer ao método </a:t>
            </a:r>
            <a:r>
              <a:rPr lang="pt-PT" altLang="en-US" sz="1800" dirty="0">
                <a:latin typeface="Times New Roman" panose="02020603050405020304" pitchFamily="18" charset="0"/>
              </a:rPr>
              <a:t>equals</a:t>
            </a:r>
            <a:r>
              <a:rPr lang="pt-PT" altLang="en-US" sz="1800" dirty="0"/>
              <a:t>() da classe </a:t>
            </a:r>
            <a:r>
              <a:rPr lang="pt-PT" altLang="en-US" sz="1800" dirty="0">
                <a:latin typeface="Times New Roman" panose="02020603050405020304" pitchFamily="18" charset="0"/>
              </a:rPr>
              <a:t>E</a:t>
            </a:r>
            <a:r>
              <a:rPr lang="pt-PT" altLang="en-US" sz="1800" dirty="0"/>
              <a:t>.</a:t>
            </a:r>
            <a:endParaRPr lang="pt-PT" altLang="en-US" sz="2400" dirty="0">
              <a:latin typeface="Times New Roman" panose="02020603050405020304" pitchFamily="18" charset="0"/>
            </a:endParaRP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public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&lt;E&gt; delete(E apagar)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{          if(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this.info.less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(apagar)</a:t>
            </a:r>
          </a:p>
          <a:p>
            <a:pPr lvl="3" eaLnBrk="1" hangingPunct="1"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{ </a:t>
            </a:r>
          </a:p>
          <a:p>
            <a:pPr lvl="3" eaLnBrk="1" hangingPunct="1"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if(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!= null)</a:t>
            </a:r>
          </a:p>
          <a:p>
            <a:pPr lvl="4" eaLnBrk="1" hangingPunct="1"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		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this.prox.delete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(apagar);</a:t>
            </a:r>
          </a:p>
          <a:p>
            <a:pPr lvl="4" eaLnBrk="1" hangingPunct="1"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return(this)</a:t>
            </a:r>
          </a:p>
          <a:p>
            <a:pPr lvl="3" eaLnBrk="1" hangingPunct="1"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}</a:t>
            </a:r>
          </a:p>
          <a:p>
            <a:pPr lvl="3" eaLnBrk="1" hangingPunct="1"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else</a:t>
            </a:r>
          </a:p>
          <a:p>
            <a:pPr lvl="3" eaLnBrk="1" hangingPunct="1"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{</a:t>
            </a:r>
          </a:p>
          <a:p>
            <a:pPr lvl="4" eaLnBrk="1" hangingPunct="1"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if(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this.info.equals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(apagar)  // encontrou?</a:t>
            </a:r>
          </a:p>
          <a:p>
            <a:pPr lvl="4" eaLnBrk="1" hangingPunct="1">
              <a:buFontTx/>
              <a:buNone/>
            </a:pPr>
            <a:r>
              <a:rPr lang="pt-PT" altLang="en-US" sz="1800" dirty="0">
                <a:solidFill>
                  <a:srgbClr val="FF0000"/>
                </a:solidFill>
              </a:rPr>
              <a:t>	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return(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());</a:t>
            </a:r>
          </a:p>
          <a:p>
            <a:pPr lvl="4" eaLnBrk="1" hangingPunct="1"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4" eaLnBrk="1" hangingPunct="1"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	return(this);</a:t>
            </a:r>
          </a:p>
          <a:p>
            <a:pPr lvl="3" eaLnBrk="1" hangingPunct="1"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}</a:t>
            </a:r>
          </a:p>
          <a:p>
            <a:pPr lvl="2" eaLnBrk="1" hangingPunct="1"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6390" name="AutoShape 4">
            <a:extLst>
              <a:ext uri="{FF2B5EF4-FFF2-40B4-BE49-F238E27FC236}">
                <a16:creationId xmlns:a16="http://schemas.microsoft.com/office/drawing/2014/main" id="{B6269434-B6E9-4FA2-8D40-36549F9CB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25988"/>
            <a:ext cx="2627313" cy="1295400"/>
          </a:xfrm>
          <a:prstGeom prst="wedgeEllipseCallout">
            <a:avLst>
              <a:gd name="adj1" fmla="val 60273"/>
              <a:gd name="adj2" fmla="val -1446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Para garantir “limpeza” da célula”, este código pode ser substituído por: </a:t>
            </a:r>
            <a:r>
              <a:rPr lang="pt-PT" altLang="en-US" sz="1200">
                <a:latin typeface="Times New Roman" panose="02020603050405020304" pitchFamily="18" charset="0"/>
              </a:rPr>
              <a:t>Celula&lt;E&gt; tt = this.prox; this.prox = null; return(tt);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PT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>
            <a:extLst>
              <a:ext uri="{FF2B5EF4-FFF2-40B4-BE49-F238E27FC236}">
                <a16:creationId xmlns:a16="http://schemas.microsoft.com/office/drawing/2014/main" id="{E381B0E2-C43D-46F7-B845-4794AFFDE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0FAD476F-2D1E-44EC-8217-A8265314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6B14A4-79B3-4FF0-BBCD-8416A3FA7818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PT" altLang="en-US" sz="1400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9F64B713-8456-4AF7-B626-6E423FB47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Pesquisa e Eliminação</a:t>
            </a:r>
          </a:p>
        </p:txBody>
      </p:sp>
      <p:pic>
        <p:nvPicPr>
          <p:cNvPr id="17413" name="Picture 8">
            <a:extLst>
              <a:ext uri="{FF2B5EF4-FFF2-40B4-BE49-F238E27FC236}">
                <a16:creationId xmlns:a16="http://schemas.microsoft.com/office/drawing/2014/main" id="{B60E4D7F-F364-4359-92AD-798FA62CF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1620838"/>
            <a:ext cx="6332537" cy="454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>
            <a:extLst>
              <a:ext uri="{FF2B5EF4-FFF2-40B4-BE49-F238E27FC236}">
                <a16:creationId xmlns:a16="http://schemas.microsoft.com/office/drawing/2014/main" id="{B736C369-83C0-4AC8-84FB-B49719FF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062CD27F-C60E-4B62-AB40-2FA83FF0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E31C5D-22E0-4888-A82A-EB03F413282E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PT" altLang="en-US" sz="1400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FE099946-F629-4285-9810-13D627532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77875"/>
          </a:xfrm>
        </p:spPr>
        <p:txBody>
          <a:bodyPr/>
          <a:lstStyle/>
          <a:p>
            <a:pPr eaLnBrk="1" hangingPunct="1"/>
            <a:r>
              <a:rPr lang="pt-PT" altLang="en-US"/>
              <a:t>Listas Duplamente Ligadas</a:t>
            </a:r>
          </a:p>
        </p:txBody>
      </p:sp>
      <p:sp>
        <p:nvSpPr>
          <p:cNvPr id="18437" name="Text Box 6">
            <a:extLst>
              <a:ext uri="{FF2B5EF4-FFF2-40B4-BE49-F238E27FC236}">
                <a16:creationId xmlns:a16="http://schemas.microsoft.com/office/drawing/2014/main" id="{715929E6-47E4-4C8F-9962-2A3B3507C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419225"/>
            <a:ext cx="8577262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2400"/>
              <a:t> Por vezes é útil atravessar a sequência (lista) nos dois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sentidos. Isto é, do início para o fim e vice versa.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400"/>
              <a:t> Temos assim uma célula que conhece (liga-se) ao seu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antecessor e sucessor.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400"/>
              <a:t> As inserções e eliminações têm agora de refazer as duas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cadeias existentes nas listas. 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400"/>
              <a:t> É agora possível, por exemplo, percorrer a lista num sentido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até uma determinada célula. Num determinado ponto, inverter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o sentido da travessia.</a:t>
            </a:r>
          </a:p>
        </p:txBody>
      </p:sp>
      <p:pic>
        <p:nvPicPr>
          <p:cNvPr id="18438" name="Picture 7">
            <a:extLst>
              <a:ext uri="{FF2B5EF4-FFF2-40B4-BE49-F238E27FC236}">
                <a16:creationId xmlns:a16="http://schemas.microsoft.com/office/drawing/2014/main" id="{0E4263C4-AC38-4E2A-BD99-7B98EA69E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4941888"/>
            <a:ext cx="7099300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>
            <a:extLst>
              <a:ext uri="{FF2B5EF4-FFF2-40B4-BE49-F238E27FC236}">
                <a16:creationId xmlns:a16="http://schemas.microsoft.com/office/drawing/2014/main" id="{B62B0A5A-C61D-4608-B6DC-CCA6EFA2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158FC2AD-95A9-416A-B3BF-CC91986EE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93B580-7C26-4905-9928-E5343ECA669D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PT" altLang="en-US" sz="14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0CC0731B-ADF9-4638-886D-87FC497D2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3200"/>
            <a:ext cx="8229600" cy="777875"/>
          </a:xfrm>
        </p:spPr>
        <p:txBody>
          <a:bodyPr/>
          <a:lstStyle/>
          <a:p>
            <a:pPr eaLnBrk="1" hangingPunct="1"/>
            <a:r>
              <a:rPr lang="pt-PT" altLang="en-US" sz="3200" dirty="0"/>
              <a:t>Classe para Listas Duplamente Ligadas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CA16C839-D976-4E77-BC51-833D9EF57E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608512"/>
          </a:xfrm>
        </p:spPr>
        <p:txBody>
          <a:bodyPr/>
          <a:lstStyle/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public class Celula2&lt;E&gt; extends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Celula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&lt;E&gt;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{  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private Celula2&lt;E&gt;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ant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pt-PT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public Celula2(E info)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{ super(info);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this.ant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= null; }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public Celula2&lt;E&gt;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getAnt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{ return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this.ant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; }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public void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setAnt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(Celula2&lt;E&gt; p)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  {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this.ant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= p; }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endParaRPr lang="pt-PT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}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>
            <a:extLst>
              <a:ext uri="{FF2B5EF4-FFF2-40B4-BE49-F238E27FC236}">
                <a16:creationId xmlns:a16="http://schemas.microsoft.com/office/drawing/2014/main" id="{0AEB7AFC-AA58-478D-83AA-39BAF0846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7F87604F-B3A2-4CD0-A0C3-9F92E8E6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56A1A8-AE08-4202-BD5C-CEDBD56B74C5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pt-PT" altLang="en-US" sz="1400"/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901B7EBE-E723-4167-B571-1C42AA9E75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504825"/>
          </a:xfrm>
        </p:spPr>
        <p:txBody>
          <a:bodyPr/>
          <a:lstStyle/>
          <a:p>
            <a:pPr eaLnBrk="1" hangingPunct="1"/>
            <a:r>
              <a:rPr lang="pt-PT" altLang="en-US" sz="3200"/>
              <a:t>Inserção Ordenada</a:t>
            </a: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28667908-4322-468D-8B31-F906252EC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620713"/>
            <a:ext cx="8229600" cy="6121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000" dirty="0">
                <a:solidFill>
                  <a:srgbClr val="FF0000"/>
                </a:solidFill>
              </a:rPr>
              <a:t>Método da classe 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Celula2</a:t>
            </a:r>
            <a:r>
              <a:rPr lang="pt-PT" altLang="en-US" sz="2000" dirty="0">
                <a:solidFill>
                  <a:srgbClr val="FF0000"/>
                </a:solidFill>
              </a:rPr>
              <a:t> para inserir ordenadamente um novo elemento da sequência. Continuamos a assumir a existência do método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less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()</a:t>
            </a:r>
            <a:r>
              <a:rPr lang="pt-PT" altLang="en-US" sz="2000" dirty="0">
                <a:solidFill>
                  <a:srgbClr val="FF0000"/>
                </a:solidFill>
              </a:rPr>
              <a:t> no </a:t>
            </a:r>
            <a:r>
              <a:rPr lang="pt-PT" altLang="en-US" sz="2000" dirty="0" err="1">
                <a:solidFill>
                  <a:srgbClr val="FF0000"/>
                </a:solidFill>
              </a:rPr>
              <a:t>objecto</a:t>
            </a:r>
            <a:r>
              <a:rPr lang="pt-PT" altLang="en-US" sz="2000" dirty="0">
                <a:solidFill>
                  <a:srgbClr val="FF0000"/>
                </a:solidFill>
              </a:rPr>
              <a:t> 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info</a:t>
            </a:r>
            <a:r>
              <a:rPr lang="pt-PT" altLang="en-US" sz="2000" dirty="0">
                <a:solidFill>
                  <a:srgbClr val="FF0000"/>
                </a:solidFill>
              </a:rPr>
              <a:t>.</a:t>
            </a:r>
            <a:endParaRPr lang="pt-PT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public Celula2&lt;E&gt; </a:t>
            </a:r>
            <a:r>
              <a:rPr lang="pt-PT" altLang="en-US" sz="2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insord</a:t>
            </a: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(Celula2&lt;E&gt; novo)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{     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if(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this.getInfo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().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less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novo.getInfo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())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{ if(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null)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	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this.setProx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().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insord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(novo));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	{ 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this.setProx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(novo); 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novo.setAnt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(this); }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return(this)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}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else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{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novo.setProx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(this);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novo.setAnt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this.ant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this.ant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= novo;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return(novo);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}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52A9748C-6CD2-44CA-A7E6-1C994C2A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1507" name="Slide Number Placeholder 5">
            <a:extLst>
              <a:ext uri="{FF2B5EF4-FFF2-40B4-BE49-F238E27FC236}">
                <a16:creationId xmlns:a16="http://schemas.microsoft.com/office/drawing/2014/main" id="{436BCAAD-1910-48DD-B759-2C0C4900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B6E902-2255-401A-A761-5D86476AC5BC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pt-PT" altLang="en-US" sz="1400"/>
          </a:p>
        </p:txBody>
      </p:sp>
      <p:grpSp>
        <p:nvGrpSpPr>
          <p:cNvPr id="21508" name="Group 23">
            <a:extLst>
              <a:ext uri="{FF2B5EF4-FFF2-40B4-BE49-F238E27FC236}">
                <a16:creationId xmlns:a16="http://schemas.microsoft.com/office/drawing/2014/main" id="{1F2FEC43-F11F-47C1-9866-7249D78360F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19250" y="1196975"/>
            <a:ext cx="5794375" cy="2554288"/>
            <a:chOff x="1020" y="754"/>
            <a:chExt cx="3650" cy="1609"/>
          </a:xfrm>
        </p:grpSpPr>
        <p:sp>
          <p:nvSpPr>
            <p:cNvPr id="21522" name="AutoShape 22">
              <a:extLst>
                <a:ext uri="{FF2B5EF4-FFF2-40B4-BE49-F238E27FC236}">
                  <a16:creationId xmlns:a16="http://schemas.microsoft.com/office/drawing/2014/main" id="{09F8E6B0-7F43-47FD-B6CF-1CD12DC2C85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020" y="754"/>
              <a:ext cx="3650" cy="1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pic>
          <p:nvPicPr>
            <p:cNvPr id="21523" name="Picture 24">
              <a:extLst>
                <a:ext uri="{FF2B5EF4-FFF2-40B4-BE49-F238E27FC236}">
                  <a16:creationId xmlns:a16="http://schemas.microsoft.com/office/drawing/2014/main" id="{83B3AE35-F87C-4560-99D9-D17A3F3D61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754"/>
              <a:ext cx="3657" cy="1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509" name="Group 20">
            <a:extLst>
              <a:ext uri="{FF2B5EF4-FFF2-40B4-BE49-F238E27FC236}">
                <a16:creationId xmlns:a16="http://schemas.microsoft.com/office/drawing/2014/main" id="{C030E86F-3C70-41B7-BDF2-09AAC87D5E9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23988" y="4292600"/>
            <a:ext cx="6604000" cy="2260600"/>
            <a:chOff x="897" y="2704"/>
            <a:chExt cx="4160" cy="1424"/>
          </a:xfrm>
        </p:grpSpPr>
        <p:sp>
          <p:nvSpPr>
            <p:cNvPr id="21520" name="AutoShape 19">
              <a:extLst>
                <a:ext uri="{FF2B5EF4-FFF2-40B4-BE49-F238E27FC236}">
                  <a16:creationId xmlns:a16="http://schemas.microsoft.com/office/drawing/2014/main" id="{70D9598F-D201-40BF-8E56-7B6279BD54B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897" y="2704"/>
              <a:ext cx="4160" cy="1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pic>
          <p:nvPicPr>
            <p:cNvPr id="21521" name="Picture 21">
              <a:extLst>
                <a:ext uri="{FF2B5EF4-FFF2-40B4-BE49-F238E27FC236}">
                  <a16:creationId xmlns:a16="http://schemas.microsoft.com/office/drawing/2014/main" id="{4153B6C3-ECF3-41DB-BCAC-92F821A6F9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" y="2704"/>
              <a:ext cx="4167" cy="1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510" name="Rectangle 4">
            <a:extLst>
              <a:ext uri="{FF2B5EF4-FFF2-40B4-BE49-F238E27FC236}">
                <a16:creationId xmlns:a16="http://schemas.microsoft.com/office/drawing/2014/main" id="{6E03E526-E445-4CAB-B359-E38622C17E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92162"/>
          </a:xfrm>
          <a:noFill/>
        </p:spPr>
        <p:txBody>
          <a:bodyPr/>
          <a:lstStyle/>
          <a:p>
            <a:pPr eaLnBrk="1" hangingPunct="1"/>
            <a:r>
              <a:rPr lang="pt-PT" altLang="en-US" sz="3600"/>
              <a:t>Inserção Ordenada e Eliminação</a:t>
            </a:r>
          </a:p>
        </p:txBody>
      </p:sp>
      <p:sp>
        <p:nvSpPr>
          <p:cNvPr id="21511" name="Text Box 9">
            <a:extLst>
              <a:ext uri="{FF2B5EF4-FFF2-40B4-BE49-F238E27FC236}">
                <a16:creationId xmlns:a16="http://schemas.microsoft.com/office/drawing/2014/main" id="{C242D64B-8C69-477A-8286-78BEB0438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225" y="4241800"/>
            <a:ext cx="1587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return(this.getProx())</a:t>
            </a:r>
          </a:p>
        </p:txBody>
      </p:sp>
      <p:sp>
        <p:nvSpPr>
          <p:cNvPr id="21512" name="Text Box 10">
            <a:extLst>
              <a:ext uri="{FF2B5EF4-FFF2-40B4-BE49-F238E27FC236}">
                <a16:creationId xmlns:a16="http://schemas.microsoft.com/office/drawing/2014/main" id="{47D5671B-3877-43F4-A046-982745DA2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4025" y="5754688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21513" name="Text Box 11">
            <a:extLst>
              <a:ext uri="{FF2B5EF4-FFF2-40B4-BE49-F238E27FC236}">
                <a16:creationId xmlns:a16="http://schemas.microsoft.com/office/drawing/2014/main" id="{24D98C0A-A696-42A6-9478-5341070F4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4238" y="5675313"/>
            <a:ext cx="21558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this.getProx().setAnt(this.ant)</a:t>
            </a:r>
          </a:p>
        </p:txBody>
      </p:sp>
      <p:sp>
        <p:nvSpPr>
          <p:cNvPr id="21514" name="Text Box 13">
            <a:extLst>
              <a:ext uri="{FF2B5EF4-FFF2-40B4-BE49-F238E27FC236}">
                <a16:creationId xmlns:a16="http://schemas.microsoft.com/office/drawing/2014/main" id="{BFC18677-7A3D-429F-A957-239BEDE49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6394450"/>
            <a:ext cx="592137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 this   </a:t>
            </a:r>
          </a:p>
        </p:txBody>
      </p:sp>
      <p:sp>
        <p:nvSpPr>
          <p:cNvPr id="21515" name="Text Box 25">
            <a:extLst>
              <a:ext uri="{FF2B5EF4-FFF2-40B4-BE49-F238E27FC236}">
                <a16:creationId xmlns:a16="http://schemas.microsoft.com/office/drawing/2014/main" id="{01AD296D-2E47-446C-82E9-36345096F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1916113"/>
            <a:ext cx="29527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200"/>
              <a:t>this.setProx(this.getProx().insord(novo));</a:t>
            </a:r>
          </a:p>
        </p:txBody>
      </p:sp>
      <p:sp>
        <p:nvSpPr>
          <p:cNvPr id="21516" name="Text Box 26">
            <a:extLst>
              <a:ext uri="{FF2B5EF4-FFF2-40B4-BE49-F238E27FC236}">
                <a16:creationId xmlns:a16="http://schemas.microsoft.com/office/drawing/2014/main" id="{812FFF7F-FF82-4437-8688-3BBEE341E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263" y="1895475"/>
            <a:ext cx="14525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200"/>
              <a:t>novo.setProx(this);</a:t>
            </a:r>
          </a:p>
        </p:txBody>
      </p:sp>
      <p:sp>
        <p:nvSpPr>
          <p:cNvPr id="21517" name="Text Box 27">
            <a:extLst>
              <a:ext uri="{FF2B5EF4-FFF2-40B4-BE49-F238E27FC236}">
                <a16:creationId xmlns:a16="http://schemas.microsoft.com/office/drawing/2014/main" id="{3CE00CBC-52B5-4136-A4BA-B8D3C4DBD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1319213"/>
            <a:ext cx="16224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pt-PT" altLang="en-US" sz="1200"/>
              <a:t>novo.setAnt(this.ant);</a:t>
            </a:r>
          </a:p>
        </p:txBody>
      </p:sp>
      <p:sp>
        <p:nvSpPr>
          <p:cNvPr id="21518" name="Text Box 28">
            <a:extLst>
              <a:ext uri="{FF2B5EF4-FFF2-40B4-BE49-F238E27FC236}">
                <a16:creationId xmlns:a16="http://schemas.microsoft.com/office/drawing/2014/main" id="{F59730AF-BBCD-47A4-848C-E11295739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650" y="3594100"/>
            <a:ext cx="420688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this</a:t>
            </a:r>
          </a:p>
        </p:txBody>
      </p:sp>
      <p:sp>
        <p:nvSpPr>
          <p:cNvPr id="21519" name="Text Box 29">
            <a:extLst>
              <a:ext uri="{FF2B5EF4-FFF2-40B4-BE49-F238E27FC236}">
                <a16:creationId xmlns:a16="http://schemas.microsoft.com/office/drawing/2014/main" id="{52A94A2B-B49F-476F-A1FB-20F798C87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5" y="1362075"/>
            <a:ext cx="12207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this.ant = novo;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>
            <a:extLst>
              <a:ext uri="{FF2B5EF4-FFF2-40B4-BE49-F238E27FC236}">
                <a16:creationId xmlns:a16="http://schemas.microsoft.com/office/drawing/2014/main" id="{7C8B3204-3CE7-4E2C-A417-C0F9BE64C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8039127C-3265-4BD6-A0A2-16BD2741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691542-AC6D-450B-BEDA-4D45E46E21A2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pt-PT" altLang="en-US" sz="1400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64696A8C-7B7F-49BD-82D0-4718CFC5B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20725"/>
          </a:xfrm>
        </p:spPr>
        <p:txBody>
          <a:bodyPr/>
          <a:lstStyle/>
          <a:p>
            <a:pPr eaLnBrk="1" hangingPunct="1"/>
            <a:r>
              <a:rPr lang="pt-PT" altLang="en-US" sz="3200"/>
              <a:t>Eliminação de uma Célula numa lista Duplamente Ligada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EFFB9A4D-C60C-44CC-A18D-9F3BAAC852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56165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000" dirty="0"/>
              <a:t>Método da classe </a:t>
            </a:r>
            <a:r>
              <a:rPr lang="pt-PT" altLang="en-US" sz="2000" dirty="0">
                <a:latin typeface="Times New Roman" panose="02020603050405020304" pitchFamily="18" charset="0"/>
              </a:rPr>
              <a:t>Celula2</a:t>
            </a:r>
            <a:r>
              <a:rPr lang="pt-PT" altLang="en-US" sz="2000" dirty="0"/>
              <a:t> para eliminar um elemento de uma lista  ordena. Vamos novamente recorrer ao método </a:t>
            </a:r>
            <a:r>
              <a:rPr lang="pt-PT" altLang="en-US" sz="2000" dirty="0">
                <a:latin typeface="Times New Roman" panose="02020603050405020304" pitchFamily="18" charset="0"/>
              </a:rPr>
              <a:t>equals</a:t>
            </a:r>
            <a:r>
              <a:rPr lang="pt-PT" altLang="en-US" sz="2000" dirty="0"/>
              <a:t>() da classe </a:t>
            </a:r>
            <a:r>
              <a:rPr lang="pt-PT" altLang="en-US" sz="2000" dirty="0">
                <a:latin typeface="Times New Roman" panose="02020603050405020304" pitchFamily="18" charset="0"/>
              </a:rPr>
              <a:t>E</a:t>
            </a:r>
            <a:r>
              <a:rPr lang="pt-PT" altLang="en-US" sz="2000" dirty="0"/>
              <a:t>.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endParaRPr lang="pt-PT" altLang="en-US" sz="2000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public Celula2&lt;E&gt; delete(E apagar)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{     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if(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this.getInfo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().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less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(apagar)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{ if(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() != null)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	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this.setProx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 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().delete(apagar) );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return(this)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}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else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if(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this.getInfo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().equals(apagar)  // encontrou?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{	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().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setAnt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this.ant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);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return(</a:t>
            </a:r>
            <a:r>
              <a:rPr lang="pt-PT" altLang="en-US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this.getProx</a:t>
            </a: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());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4" eaLnBrk="1" hangingPunct="1">
              <a:lnSpc>
                <a:spcPct val="80000"/>
              </a:lnSpc>
              <a:buFontTx/>
              <a:buNone/>
            </a:pPr>
            <a:r>
              <a:rPr lang="pt-PT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	return(this);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pt-PT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2534" name="AutoShape 4">
            <a:extLst>
              <a:ext uri="{FF2B5EF4-FFF2-40B4-BE49-F238E27FC236}">
                <a16:creationId xmlns:a16="http://schemas.microsoft.com/office/drawing/2014/main" id="{13EABD30-68F4-477A-95AC-D96424559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5300663"/>
            <a:ext cx="3240088" cy="1152525"/>
          </a:xfrm>
          <a:prstGeom prst="wedgeEllipseCallout">
            <a:avLst>
              <a:gd name="adj1" fmla="val -76162"/>
              <a:gd name="adj2" fmla="val -5854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Para garantir “limpeza” da célula, podíamos substituir por: </a:t>
            </a:r>
            <a:r>
              <a:rPr lang="pt-PT" altLang="en-US" sz="1200">
                <a:latin typeface="Times New Roman" panose="02020603050405020304" pitchFamily="18" charset="0"/>
              </a:rPr>
              <a:t>Celula2&lt;E&gt; tt=this.getProx();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>
                <a:latin typeface="Times New Roman" panose="02020603050405020304" pitchFamily="18" charset="0"/>
              </a:rPr>
              <a:t>this.setProx(null);this.ant = null;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>
                <a:latin typeface="Times New Roman" panose="02020603050405020304" pitchFamily="18" charset="0"/>
              </a:rPr>
              <a:t>return(tt);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EA059813-8FFF-4A51-A3CC-3961B922D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3555" name="Slide Number Placeholder 5">
            <a:extLst>
              <a:ext uri="{FF2B5EF4-FFF2-40B4-BE49-F238E27FC236}">
                <a16:creationId xmlns:a16="http://schemas.microsoft.com/office/drawing/2014/main" id="{FAFF5669-51BB-4C73-B1BE-28FAD7DF3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FA9AC2-586D-4F6E-9E87-808625A9C097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pt-PT" altLang="en-US" sz="1400"/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959B79E5-CE23-40EE-A1AC-1F2E5B9612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 sz="4000"/>
              <a:t>Classe LinkedList&lt;E&gt; do Java1.8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ABB87090-F247-47F6-905A-0E3BA296CC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dirty="0">
                <a:solidFill>
                  <a:srgbClr val="FF0000"/>
                </a:solidFill>
              </a:rPr>
              <a:t>public void </a:t>
            </a:r>
            <a:r>
              <a:rPr lang="pt-PT" altLang="en-US" b="1" dirty="0">
                <a:solidFill>
                  <a:srgbClr val="FF0000"/>
                </a:solidFill>
              </a:rPr>
              <a:t>addFirst</a:t>
            </a:r>
            <a:r>
              <a:rPr lang="pt-PT" altLang="en-US" dirty="0">
                <a:solidFill>
                  <a:srgbClr val="FF0000"/>
                </a:solidFill>
              </a:rPr>
              <a:t>(</a:t>
            </a:r>
            <a:r>
              <a:rPr lang="pt-PT" altLang="en-US" dirty="0">
                <a:solidFill>
                  <a:srgbClr val="FF0000"/>
                </a:solidFill>
                <a:hlinkClick r:id="rId2" tooltip="type parameter in LinkedLi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pt-PT" altLang="en-US" dirty="0">
                <a:solidFill>
                  <a:srgbClr val="FF0000"/>
                </a:solidFill>
              </a:rPr>
              <a:t> o)</a:t>
            </a:r>
          </a:p>
          <a:p>
            <a:pPr eaLnBrk="1" hangingPunct="1"/>
            <a:r>
              <a:rPr lang="pt-PT" altLang="en-US" dirty="0">
                <a:solidFill>
                  <a:srgbClr val="FF0000"/>
                </a:solidFill>
              </a:rPr>
              <a:t>public void </a:t>
            </a:r>
            <a:r>
              <a:rPr lang="pt-PT" altLang="en-US" b="1" dirty="0" err="1">
                <a:solidFill>
                  <a:srgbClr val="FF0000"/>
                </a:solidFill>
              </a:rPr>
              <a:t>addLast</a:t>
            </a:r>
            <a:r>
              <a:rPr lang="pt-PT" altLang="en-US" dirty="0">
                <a:solidFill>
                  <a:srgbClr val="FF0000"/>
                </a:solidFill>
              </a:rPr>
              <a:t>(</a:t>
            </a:r>
            <a:r>
              <a:rPr lang="pt-PT" altLang="en-US" dirty="0">
                <a:solidFill>
                  <a:srgbClr val="FF0000"/>
                </a:solidFill>
                <a:hlinkClick r:id="rId2" tooltip="type parameter in LinkedLi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pt-PT" altLang="en-US" dirty="0">
                <a:solidFill>
                  <a:srgbClr val="FF0000"/>
                </a:solidFill>
              </a:rPr>
              <a:t> o)</a:t>
            </a:r>
          </a:p>
          <a:p>
            <a:pPr eaLnBrk="1" hangingPunct="1"/>
            <a:r>
              <a:rPr lang="pt-PT" altLang="en-US" dirty="0">
                <a:solidFill>
                  <a:srgbClr val="FF0000"/>
                </a:solidFill>
              </a:rPr>
              <a:t>public </a:t>
            </a:r>
            <a:r>
              <a:rPr lang="pt-PT" altLang="en-US" dirty="0">
                <a:solidFill>
                  <a:srgbClr val="FF0000"/>
                </a:solidFill>
                <a:hlinkClick r:id="rId2" tooltip="type parameter in LinkedLi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pt-PT" altLang="en-US" dirty="0">
                <a:solidFill>
                  <a:srgbClr val="FF0000"/>
                </a:solidFill>
              </a:rPr>
              <a:t> </a:t>
            </a:r>
            <a:r>
              <a:rPr lang="pt-PT" altLang="en-US" b="1" dirty="0">
                <a:solidFill>
                  <a:srgbClr val="FF0000"/>
                </a:solidFill>
              </a:rPr>
              <a:t>remove</a:t>
            </a:r>
            <a:r>
              <a:rPr lang="pt-PT" altLang="en-US" dirty="0">
                <a:solidFill>
                  <a:srgbClr val="FF0000"/>
                </a:solidFill>
              </a:rPr>
              <a:t>(int index) </a:t>
            </a:r>
          </a:p>
          <a:p>
            <a:pPr eaLnBrk="1" hangingPunct="1"/>
            <a:r>
              <a:rPr lang="pt-PT" altLang="en-US" dirty="0">
                <a:solidFill>
                  <a:srgbClr val="FF0000"/>
                </a:solidFill>
              </a:rPr>
              <a:t>public boolean </a:t>
            </a:r>
            <a:r>
              <a:rPr lang="pt-PT" altLang="en-US" b="1" dirty="0">
                <a:solidFill>
                  <a:srgbClr val="FF0000"/>
                </a:solidFill>
              </a:rPr>
              <a:t>remove</a:t>
            </a:r>
            <a:r>
              <a:rPr lang="pt-PT" altLang="en-US" dirty="0">
                <a:solidFill>
                  <a:srgbClr val="FF0000"/>
                </a:solidFill>
              </a:rPr>
              <a:t>(</a:t>
            </a:r>
            <a:r>
              <a:rPr lang="pt-PT" altLang="en-US" dirty="0">
                <a:solidFill>
                  <a:srgbClr val="FF0000"/>
                </a:solidFill>
                <a:hlinkClick r:id="rId3" tooltip="class in java.la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Object</a:t>
            </a:r>
            <a:r>
              <a:rPr lang="pt-PT" altLang="en-US" dirty="0">
                <a:solidFill>
                  <a:srgbClr val="FF0000"/>
                </a:solidFill>
              </a:rPr>
              <a:t> o)</a:t>
            </a:r>
          </a:p>
          <a:p>
            <a:pPr eaLnBrk="1" hangingPunct="1"/>
            <a:r>
              <a:rPr lang="pt-PT" altLang="en-US" dirty="0">
                <a:solidFill>
                  <a:srgbClr val="FF0000"/>
                </a:solidFill>
              </a:rPr>
              <a:t>public </a:t>
            </a:r>
            <a:r>
              <a:rPr lang="pt-PT" altLang="en-US" dirty="0">
                <a:solidFill>
                  <a:srgbClr val="FF0000"/>
                </a:solidFill>
                <a:hlinkClick r:id="rId2" tooltip="type parameter in LinkedLi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pt-PT" altLang="en-US" dirty="0">
                <a:solidFill>
                  <a:srgbClr val="FF0000"/>
                </a:solidFill>
              </a:rPr>
              <a:t> </a:t>
            </a:r>
            <a:r>
              <a:rPr lang="pt-PT" altLang="en-US" b="1" dirty="0">
                <a:solidFill>
                  <a:srgbClr val="FF0000"/>
                </a:solidFill>
              </a:rPr>
              <a:t>peek</a:t>
            </a:r>
            <a:r>
              <a:rPr lang="pt-PT" altLang="en-US" dirty="0">
                <a:solidFill>
                  <a:srgbClr val="FF0000"/>
                </a:solidFill>
              </a:rPr>
              <a:t>() </a:t>
            </a:r>
          </a:p>
          <a:p>
            <a:pPr eaLnBrk="1" hangingPunct="1"/>
            <a:r>
              <a:rPr lang="pt-PT" altLang="en-US" dirty="0">
                <a:solidFill>
                  <a:srgbClr val="FF0000"/>
                </a:solidFill>
              </a:rPr>
              <a:t>public </a:t>
            </a:r>
            <a:r>
              <a:rPr lang="pt-PT" altLang="en-US" dirty="0">
                <a:solidFill>
                  <a:srgbClr val="FF0000"/>
                </a:solidFill>
                <a:hlinkClick r:id="rId2" tooltip="type parameter in LinkedLi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pt-PT" altLang="en-US" dirty="0">
                <a:solidFill>
                  <a:srgbClr val="FF0000"/>
                </a:solidFill>
              </a:rPr>
              <a:t> </a:t>
            </a:r>
            <a:r>
              <a:rPr lang="pt-PT" altLang="en-US" b="1" dirty="0">
                <a:solidFill>
                  <a:srgbClr val="FF0000"/>
                </a:solidFill>
              </a:rPr>
              <a:t>poll</a:t>
            </a:r>
            <a:r>
              <a:rPr lang="pt-PT" altLang="en-US" dirty="0">
                <a:solidFill>
                  <a:srgbClr val="FF0000"/>
                </a:solidFill>
              </a:rPr>
              <a:t>()   </a:t>
            </a:r>
            <a:r>
              <a:rPr lang="pt-PT" altLang="en-US" sz="2400" dirty="0">
                <a:solidFill>
                  <a:srgbClr val="FF0000"/>
                </a:solidFill>
              </a:rPr>
              <a:t>(remove e devolve 1º na lista)</a:t>
            </a:r>
          </a:p>
          <a:p>
            <a:pPr eaLnBrk="1" hangingPunct="1"/>
            <a:endParaRPr lang="pt-PT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>
            <a:extLst>
              <a:ext uri="{FF2B5EF4-FFF2-40B4-BE49-F238E27FC236}">
                <a16:creationId xmlns:a16="http://schemas.microsoft.com/office/drawing/2014/main" id="{0100DEA7-1866-4A1C-9CE0-3DB3D4DB0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F7863047-F199-4029-9269-5FB2F76F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FAD1B2-F190-48FE-B6C4-8A094F853D8D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pt-PT" altLang="en-US" sz="1400"/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2DDEFA7E-10CF-496C-93DE-A8817A04E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Listas Ligadas e Aplicações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8860E09A-1E4B-4598-97AC-6341A47265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800"/>
              <a:t>Os tipos abstractos de dados surgem da composição de estruturas de dados com o conjunto de operações definidas para actuarem nessas estruturas.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800"/>
              <a:t>No caso das sequências lineares podemos organizar os elementos em várias formas e.g. strings, listas, etc.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800"/>
              <a:t>Cada forma de organização terá as suas operações particulares.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800"/>
              <a:t>Dois tipos abstractos de dados: </a:t>
            </a:r>
            <a:r>
              <a:rPr lang="pt-PT" altLang="en-US" sz="2800" i="1"/>
              <a:t>pilhas</a:t>
            </a:r>
            <a:r>
              <a:rPr lang="pt-PT" altLang="en-US" sz="2800"/>
              <a:t> (</a:t>
            </a:r>
            <a:r>
              <a:rPr lang="pt-PT" altLang="en-US" sz="2800">
                <a:latin typeface="Times New Roman" panose="02020603050405020304" pitchFamily="18" charset="0"/>
              </a:rPr>
              <a:t>Stack</a:t>
            </a:r>
            <a:r>
              <a:rPr lang="pt-PT" altLang="en-US" sz="2800"/>
              <a:t>) e </a:t>
            </a:r>
            <a:r>
              <a:rPr lang="pt-PT" altLang="en-US" sz="2800" i="1"/>
              <a:t>filas</a:t>
            </a:r>
            <a:r>
              <a:rPr lang="pt-PT" altLang="en-US" sz="2800"/>
              <a:t> (</a:t>
            </a:r>
            <a:r>
              <a:rPr lang="pt-PT" altLang="en-US" sz="2800">
                <a:latin typeface="Times New Roman" panose="02020603050405020304" pitchFamily="18" charset="0"/>
              </a:rPr>
              <a:t>Queue</a:t>
            </a:r>
            <a:r>
              <a:rPr lang="pt-PT" altLang="en-US" sz="2800"/>
              <a:t>).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>
            <a:extLst>
              <a:ext uri="{FF2B5EF4-FFF2-40B4-BE49-F238E27FC236}">
                <a16:creationId xmlns:a16="http://schemas.microsoft.com/office/drawing/2014/main" id="{4BBE1A7B-519A-4A15-89E4-7E7C347C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5603" name="Slide Number Placeholder 5">
            <a:extLst>
              <a:ext uri="{FF2B5EF4-FFF2-40B4-BE49-F238E27FC236}">
                <a16:creationId xmlns:a16="http://schemas.microsoft.com/office/drawing/2014/main" id="{42AA6992-96F3-4D19-A377-654DCBE8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09EB9A-C644-43CE-83F1-F338ECC682A0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pt-PT" altLang="en-US" sz="1400"/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E63256AE-4545-414E-9BB8-6CB49A1D5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 dirty="0"/>
              <a:t>Listas Ligadas e Aplicações (2)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14FD04B9-F414-4117-AA2B-779E04001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5544616"/>
          </a:xfrm>
        </p:spPr>
        <p:txBody>
          <a:bodyPr/>
          <a:lstStyle/>
          <a:p>
            <a:pPr eaLnBrk="1" hangingPunct="1"/>
            <a:r>
              <a:rPr lang="pt-PT" altLang="en-US" dirty="0"/>
              <a:t>Duas tipos abstratos de dados: </a:t>
            </a:r>
            <a:r>
              <a:rPr lang="pt-PT" altLang="en-US" i="1" dirty="0"/>
              <a:t>pilhas</a:t>
            </a:r>
            <a:r>
              <a:rPr lang="pt-PT" altLang="en-US" dirty="0"/>
              <a:t> (</a:t>
            </a:r>
            <a:r>
              <a:rPr lang="pt-PT" altLang="en-US" dirty="0" err="1">
                <a:latin typeface="Times New Roman" panose="02020603050405020304" pitchFamily="18" charset="0"/>
              </a:rPr>
              <a:t>Stack</a:t>
            </a:r>
            <a:r>
              <a:rPr lang="pt-PT" altLang="en-US" dirty="0"/>
              <a:t>) e </a:t>
            </a:r>
            <a:r>
              <a:rPr lang="pt-PT" altLang="en-US" i="1" dirty="0"/>
              <a:t>filas</a:t>
            </a:r>
            <a:r>
              <a:rPr lang="pt-PT" altLang="en-US" dirty="0"/>
              <a:t> (</a:t>
            </a:r>
            <a:r>
              <a:rPr lang="pt-PT" altLang="en-US" dirty="0" err="1">
                <a:latin typeface="Times New Roman" panose="02020603050405020304" pitchFamily="18" charset="0"/>
              </a:rPr>
              <a:t>Queue</a:t>
            </a:r>
            <a:r>
              <a:rPr lang="pt-PT" altLang="en-US" dirty="0"/>
              <a:t>). </a:t>
            </a:r>
          </a:p>
          <a:p>
            <a:pPr eaLnBrk="1" hangingPunct="1"/>
            <a:endParaRPr lang="pt-PT" altLang="en-US" dirty="0"/>
          </a:p>
          <a:p>
            <a:pPr lvl="1" eaLnBrk="1" hangingPunct="1"/>
            <a:r>
              <a:rPr lang="pt-PT" altLang="en-US" sz="2000" dirty="0"/>
              <a:t>Pilhas (do tipo </a:t>
            </a:r>
            <a:r>
              <a:rPr lang="pt-PT" altLang="en-US" sz="2000" i="1" dirty="0" err="1"/>
              <a:t>Stack</a:t>
            </a:r>
            <a:r>
              <a:rPr lang="pt-PT" altLang="en-US" sz="2000" dirty="0"/>
              <a:t>):tipo de dado que organiza uma sequência implementando a política LIFO (</a:t>
            </a:r>
            <a:r>
              <a:rPr lang="pt-PT" altLang="en-US" sz="2000" dirty="0" err="1"/>
              <a:t>Last</a:t>
            </a:r>
            <a:r>
              <a:rPr lang="pt-PT" altLang="en-US" sz="2000" dirty="0"/>
              <a:t> In </a:t>
            </a:r>
            <a:r>
              <a:rPr lang="pt-PT" altLang="en-US" sz="2000" dirty="0" err="1"/>
              <a:t>First</a:t>
            </a:r>
            <a:r>
              <a:rPr lang="pt-PT" altLang="en-US" sz="2000" dirty="0"/>
              <a:t> Out). Comum a sua presença em compiladores e execuções de programas pelo sistema operativo e.g., chamar funções recursivas em linguagem C ou JAVA.</a:t>
            </a:r>
          </a:p>
          <a:p>
            <a:pPr lvl="1" eaLnBrk="1" hangingPunct="1"/>
            <a:r>
              <a:rPr lang="pt-PT" altLang="en-US" sz="2000" dirty="0"/>
              <a:t>Filas (do tipo </a:t>
            </a:r>
            <a:r>
              <a:rPr lang="pt-PT" altLang="en-US" sz="2000" i="1" dirty="0" err="1"/>
              <a:t>Queue</a:t>
            </a:r>
            <a:r>
              <a:rPr lang="pt-PT" altLang="en-US" sz="2000" dirty="0"/>
              <a:t>): Tipo de dado que implementa a política FIFO (</a:t>
            </a:r>
            <a:r>
              <a:rPr lang="pt-PT" altLang="en-US" sz="2000" dirty="0" err="1"/>
              <a:t>First</a:t>
            </a:r>
            <a:r>
              <a:rPr lang="pt-PT" altLang="en-US" sz="2000" dirty="0"/>
              <a:t> In </a:t>
            </a:r>
            <a:r>
              <a:rPr lang="pt-PT" altLang="en-US" sz="2000" dirty="0" err="1"/>
              <a:t>First</a:t>
            </a:r>
            <a:r>
              <a:rPr lang="pt-PT" altLang="en-US" sz="2000" dirty="0"/>
              <a:t> Out). Usada em sistemas operativos para escalonamento de processo, filas de espera em impressoras, etc.</a:t>
            </a:r>
          </a:p>
          <a:p>
            <a:pPr lvl="1" eaLnBrk="1" hangingPunct="1"/>
            <a:endParaRPr lang="pt-PT" altLang="en-US" sz="2000" dirty="0"/>
          </a:p>
          <a:p>
            <a:pPr eaLnBrk="1" hangingPunct="1"/>
            <a:r>
              <a:rPr lang="pt-PT" altLang="en-US" sz="2000" dirty="0"/>
              <a:t>Notar que as diferenças entre as duas estruturas encontram-se ao nível das operações definidas e não nas formas de estruturação!</a:t>
            </a:r>
          </a:p>
          <a:p>
            <a:pPr lvl="1" eaLnBrk="1" hangingPunct="1"/>
            <a:endParaRPr lang="pt-PT" altLang="en-US" sz="2000" dirty="0"/>
          </a:p>
          <a:p>
            <a:pPr lvl="1" eaLnBrk="1" hangingPunct="1"/>
            <a:endParaRPr lang="pt-PT" altLang="en-US" sz="2000" dirty="0"/>
          </a:p>
          <a:p>
            <a:pPr eaLnBrk="1" hangingPunct="1"/>
            <a:endParaRPr lang="pt-PT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>
            <a:extLst>
              <a:ext uri="{FF2B5EF4-FFF2-40B4-BE49-F238E27FC236}">
                <a16:creationId xmlns:a16="http://schemas.microsoft.com/office/drawing/2014/main" id="{1FEBEF02-E29E-45AD-BDCE-8690874ED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id="{77431AA7-F05B-4653-B777-93B97312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7928B4-468B-447A-B3F4-94F6B0E0A820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pt-PT" altLang="en-US" sz="1400"/>
          </a:p>
        </p:txBody>
      </p:sp>
      <p:pic>
        <p:nvPicPr>
          <p:cNvPr id="26628" name="Picture 7">
            <a:extLst>
              <a:ext uri="{FF2B5EF4-FFF2-40B4-BE49-F238E27FC236}">
                <a16:creationId xmlns:a16="http://schemas.microsoft.com/office/drawing/2014/main" id="{781DC9F3-47FC-444D-B318-F48727008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44450"/>
            <a:ext cx="7413625" cy="475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 Box 9">
            <a:extLst>
              <a:ext uri="{FF2B5EF4-FFF2-40B4-BE49-F238E27FC236}">
                <a16:creationId xmlns:a16="http://schemas.microsoft.com/office/drawing/2014/main" id="{D8B978C4-C552-4994-A21F-32437F1B1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5153025"/>
            <a:ext cx="657066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2000">
                <a:latin typeface="Times New Roman" panose="02020603050405020304" pitchFamily="18" charset="0"/>
              </a:rPr>
              <a:t> </a:t>
            </a:r>
            <a:r>
              <a:rPr lang="pt-PT" altLang="en-US" sz="2000" i="1">
                <a:latin typeface="Times New Roman" panose="02020603050405020304" pitchFamily="18" charset="0"/>
              </a:rPr>
              <a:t>empty</a:t>
            </a:r>
            <a:r>
              <a:rPr lang="pt-PT" altLang="en-US" sz="2000">
                <a:latin typeface="Times New Roman" panose="02020603050405020304" pitchFamily="18" charset="0"/>
              </a:rPr>
              <a:t>() </a:t>
            </a:r>
            <a:r>
              <a:rPr lang="pt-PT" altLang="en-US" sz="2000"/>
              <a:t>        verificar se a pilha está vazia,</a:t>
            </a:r>
            <a:endParaRPr lang="pt-PT" altLang="en-US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PT" altLang="en-US" sz="2000">
                <a:latin typeface="Times New Roman" panose="02020603050405020304" pitchFamily="18" charset="0"/>
              </a:rPr>
              <a:t> </a:t>
            </a:r>
            <a:r>
              <a:rPr lang="pt-PT" altLang="en-US" sz="2000" i="1">
                <a:latin typeface="Times New Roman" panose="02020603050405020304" pitchFamily="18" charset="0"/>
              </a:rPr>
              <a:t>pop</a:t>
            </a:r>
            <a:r>
              <a:rPr lang="pt-PT" altLang="en-US" sz="2000">
                <a:latin typeface="Times New Roman" panose="02020603050405020304" pitchFamily="18" charset="0"/>
              </a:rPr>
              <a:t>()              </a:t>
            </a:r>
            <a:r>
              <a:rPr lang="pt-PT" altLang="en-US" sz="2000"/>
              <a:t>retirar o elemento do topo da pilha,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000">
                <a:latin typeface="Times New Roman" panose="02020603050405020304" pitchFamily="18" charset="0"/>
              </a:rPr>
              <a:t> </a:t>
            </a:r>
            <a:r>
              <a:rPr lang="pt-PT" altLang="en-US" sz="2000" i="1">
                <a:latin typeface="Times New Roman" panose="02020603050405020304" pitchFamily="18" charset="0"/>
              </a:rPr>
              <a:t>push</a:t>
            </a:r>
            <a:r>
              <a:rPr lang="pt-PT" altLang="en-US" sz="2000">
                <a:latin typeface="Times New Roman" panose="02020603050405020304" pitchFamily="18" charset="0"/>
              </a:rPr>
              <a:t>(elem)    </a:t>
            </a:r>
            <a:r>
              <a:rPr lang="pt-PT" altLang="en-US" sz="2000"/>
              <a:t>coloca</a:t>
            </a:r>
            <a:r>
              <a:rPr lang="pt-PT" altLang="en-US" sz="2000">
                <a:latin typeface="Times New Roman" panose="02020603050405020304" pitchFamily="18" charset="0"/>
              </a:rPr>
              <a:t> elem </a:t>
            </a:r>
            <a:r>
              <a:rPr lang="pt-PT" altLang="en-US" sz="2000"/>
              <a:t>no topo da pilha,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2000">
                <a:latin typeface="Times New Roman" panose="02020603050405020304" pitchFamily="18" charset="0"/>
              </a:rPr>
              <a:t> </a:t>
            </a:r>
            <a:r>
              <a:rPr lang="pt-PT" altLang="en-US" sz="2000" i="1">
                <a:latin typeface="Times New Roman" panose="02020603050405020304" pitchFamily="18" charset="0"/>
              </a:rPr>
              <a:t>peek</a:t>
            </a:r>
            <a:r>
              <a:rPr lang="pt-PT" altLang="en-US" sz="2000">
                <a:latin typeface="Times New Roman" panose="02020603050405020304" pitchFamily="18" charset="0"/>
              </a:rPr>
              <a:t>()            </a:t>
            </a:r>
            <a:r>
              <a:rPr lang="pt-PT" altLang="en-US" sz="2000"/>
              <a:t>verifica qual é o elemento do topo da pilha.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>
            <a:extLst>
              <a:ext uri="{FF2B5EF4-FFF2-40B4-BE49-F238E27FC236}">
                <a16:creationId xmlns:a16="http://schemas.microsoft.com/office/drawing/2014/main" id="{CEBB6BB7-CD26-42D2-AAC3-4E68ED9EA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7651" name="Slide Number Placeholder 5">
            <a:extLst>
              <a:ext uri="{FF2B5EF4-FFF2-40B4-BE49-F238E27FC236}">
                <a16:creationId xmlns:a16="http://schemas.microsoft.com/office/drawing/2014/main" id="{89670996-CF98-436A-BE77-F32293BF2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8C949F-A4AA-4116-B7E0-02D9CED0A604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pt-PT" altLang="en-US" sz="1400"/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6D9BCC3A-EB84-4F8F-A747-BB1D51D34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Exemplo de uso</a:t>
            </a:r>
          </a:p>
        </p:txBody>
      </p:sp>
      <p:pic>
        <p:nvPicPr>
          <p:cNvPr id="27653" name="Picture 4">
            <a:extLst>
              <a:ext uri="{FF2B5EF4-FFF2-40B4-BE49-F238E27FC236}">
                <a16:creationId xmlns:a16="http://schemas.microsoft.com/office/drawing/2014/main" id="{BAC95E5A-1BA2-4699-826E-39916B0D43BC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2601913"/>
            <a:ext cx="7008813" cy="2520950"/>
          </a:xfr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>
            <a:extLst>
              <a:ext uri="{FF2B5EF4-FFF2-40B4-BE49-F238E27FC236}">
                <a16:creationId xmlns:a16="http://schemas.microsoft.com/office/drawing/2014/main" id="{C470D5E5-8A99-4B64-A5CF-7D3D8468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684008DF-38D1-4ADC-A552-B13471A2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83B1ED-D0F8-4967-B599-4D27F6E8025E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pt-PT" altLang="en-US" sz="1400"/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1C9236A9-98E2-4B35-8D25-9E65DADAF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Class </a:t>
            </a:r>
            <a:r>
              <a:rPr lang="pt-PT" altLang="en-US">
                <a:latin typeface="Times New Roman" panose="02020603050405020304" pitchFamily="18" charset="0"/>
              </a:rPr>
              <a:t>Stack&lt;E&gt;</a:t>
            </a:r>
            <a:r>
              <a:rPr lang="pt-PT" altLang="en-US"/>
              <a:t> do Java1.8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4C0A2695-DCCE-414F-ABEA-C6D110A9A3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public </a:t>
            </a:r>
            <a:r>
              <a:rPr lang="pt-PT" altLang="en-US" b="1"/>
              <a:t>Stack</a:t>
            </a:r>
            <a:r>
              <a:rPr lang="pt-PT" altLang="en-US"/>
              <a:t>()   (construtor)</a:t>
            </a:r>
          </a:p>
          <a:p>
            <a:pPr eaLnBrk="1" hangingPunct="1"/>
            <a:r>
              <a:rPr lang="pt-PT" altLang="en-US"/>
              <a:t>public </a:t>
            </a:r>
            <a:r>
              <a:rPr lang="pt-PT" altLang="en-US">
                <a:hlinkClick r:id="rId2" tooltip="type parameter in Stack"/>
              </a:rPr>
              <a:t>E</a:t>
            </a:r>
            <a:r>
              <a:rPr lang="pt-PT" altLang="en-US"/>
              <a:t> </a:t>
            </a:r>
            <a:r>
              <a:rPr lang="pt-PT" altLang="en-US" b="1"/>
              <a:t>push</a:t>
            </a:r>
            <a:r>
              <a:rPr lang="pt-PT" altLang="en-US"/>
              <a:t>(</a:t>
            </a:r>
            <a:r>
              <a:rPr lang="pt-PT" altLang="en-US">
                <a:hlinkClick r:id="rId2" tooltip="type parameter in Stack"/>
              </a:rPr>
              <a:t>E</a:t>
            </a:r>
            <a:r>
              <a:rPr lang="pt-PT" altLang="en-US"/>
              <a:t> item) </a:t>
            </a:r>
          </a:p>
          <a:p>
            <a:pPr eaLnBrk="1" hangingPunct="1"/>
            <a:r>
              <a:rPr lang="pt-PT" altLang="en-US"/>
              <a:t>public </a:t>
            </a:r>
            <a:r>
              <a:rPr lang="pt-PT" altLang="en-US">
                <a:hlinkClick r:id="rId2" tooltip="type parameter in Stack"/>
              </a:rPr>
              <a:t>E</a:t>
            </a:r>
            <a:r>
              <a:rPr lang="pt-PT" altLang="en-US"/>
              <a:t> </a:t>
            </a:r>
            <a:r>
              <a:rPr lang="pt-PT" altLang="en-US" b="1"/>
              <a:t>pop</a:t>
            </a:r>
            <a:r>
              <a:rPr lang="pt-PT" altLang="en-US"/>
              <a:t>() </a:t>
            </a:r>
          </a:p>
          <a:p>
            <a:pPr eaLnBrk="1" hangingPunct="1"/>
            <a:r>
              <a:rPr lang="pt-PT" altLang="en-US"/>
              <a:t>public </a:t>
            </a:r>
            <a:r>
              <a:rPr lang="pt-PT" altLang="en-US">
                <a:hlinkClick r:id="rId2" tooltip="type parameter in Stack"/>
              </a:rPr>
              <a:t>E</a:t>
            </a:r>
            <a:r>
              <a:rPr lang="pt-PT" altLang="en-US"/>
              <a:t> </a:t>
            </a:r>
            <a:r>
              <a:rPr lang="pt-PT" altLang="en-US" b="1"/>
              <a:t>peek</a:t>
            </a:r>
            <a:r>
              <a:rPr lang="pt-PT" altLang="en-US"/>
              <a:t>() </a:t>
            </a:r>
          </a:p>
          <a:p>
            <a:pPr eaLnBrk="1" hangingPunct="1"/>
            <a:r>
              <a:rPr lang="pt-PT" altLang="en-US"/>
              <a:t>public boolean </a:t>
            </a:r>
            <a:r>
              <a:rPr lang="pt-PT" altLang="en-US" b="1"/>
              <a:t>empty</a:t>
            </a:r>
            <a:r>
              <a:rPr lang="pt-PT" altLang="en-US"/>
              <a:t>()</a:t>
            </a:r>
          </a:p>
          <a:p>
            <a:pPr eaLnBrk="1" hangingPunct="1"/>
            <a:r>
              <a:rPr lang="pt-PT" altLang="en-US"/>
              <a:t>public int </a:t>
            </a:r>
            <a:r>
              <a:rPr lang="pt-PT" altLang="en-US" b="1"/>
              <a:t>search</a:t>
            </a:r>
            <a:r>
              <a:rPr lang="pt-PT" altLang="en-US"/>
              <a:t>(</a:t>
            </a:r>
            <a:r>
              <a:rPr lang="pt-PT" altLang="en-US">
                <a:hlinkClick r:id="rId3" tooltip="class in java.lang"/>
              </a:rPr>
              <a:t>Object</a:t>
            </a:r>
            <a:r>
              <a:rPr lang="pt-PT" altLang="en-US"/>
              <a:t> o) </a:t>
            </a:r>
          </a:p>
        </p:txBody>
      </p:sp>
      <p:sp>
        <p:nvSpPr>
          <p:cNvPr id="28678" name="AutoShape 4">
            <a:extLst>
              <a:ext uri="{FF2B5EF4-FFF2-40B4-BE49-F238E27FC236}">
                <a16:creationId xmlns:a16="http://schemas.microsoft.com/office/drawing/2014/main" id="{0A96047A-AFE7-4A43-9D71-EB1417C7A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7975" y="3429000"/>
            <a:ext cx="2017713" cy="720725"/>
          </a:xfrm>
          <a:prstGeom prst="wedgeRoundRectCallout">
            <a:avLst>
              <a:gd name="adj1" fmla="val -96657"/>
              <a:gd name="adj2" fmla="val 14096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Método “estranho” pois viola o princípio de utilização da Stack!!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>
            <a:extLst>
              <a:ext uri="{FF2B5EF4-FFF2-40B4-BE49-F238E27FC236}">
                <a16:creationId xmlns:a16="http://schemas.microsoft.com/office/drawing/2014/main" id="{40870D75-4B9C-4CBE-8F2C-EE38938C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29699" name="Slide Number Placeholder 5">
            <a:extLst>
              <a:ext uri="{FF2B5EF4-FFF2-40B4-BE49-F238E27FC236}">
                <a16:creationId xmlns:a16="http://schemas.microsoft.com/office/drawing/2014/main" id="{F627B154-0036-4D5C-A88D-9C18FF0D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D4C5C6-C886-4BC5-885E-95D75CDFE938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pt-PT" altLang="en-US" sz="1400"/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BA5A0279-46A7-4F73-B816-A2FFA9728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50900"/>
          </a:xfrm>
        </p:spPr>
        <p:txBody>
          <a:bodyPr/>
          <a:lstStyle/>
          <a:p>
            <a:pPr eaLnBrk="1" hangingPunct="1"/>
            <a:r>
              <a:rPr lang="pt-PT" altLang="en-US"/>
              <a:t>Aplicações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FFAB8189-DCF7-46BC-8ACE-FDB110A2D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2808287"/>
          </a:xfrm>
        </p:spPr>
        <p:txBody>
          <a:bodyPr/>
          <a:lstStyle/>
          <a:p>
            <a:pPr eaLnBrk="1" hangingPunct="1"/>
            <a:r>
              <a:rPr lang="pt-PT" altLang="en-US" sz="2800"/>
              <a:t>Verificação de parêntesis em fórmulas matemáticas:</a:t>
            </a:r>
          </a:p>
          <a:p>
            <a:pPr lvl="1" eaLnBrk="1" hangingPunct="1"/>
            <a:r>
              <a:rPr lang="pt-PT" altLang="en-US" sz="2400"/>
              <a:t>Numa fórmula matemática podemos usar vários tipos de parêntesis e.g. [, (, {.</a:t>
            </a:r>
          </a:p>
          <a:p>
            <a:pPr lvl="1" eaLnBrk="1" hangingPunct="1"/>
            <a:r>
              <a:rPr lang="pt-PT" altLang="en-US" sz="2400"/>
              <a:t>A fórmula só está “correta” se existir um equilibrado balanceamento dos parêntesis na expressão algébrica. </a:t>
            </a:r>
          </a:p>
          <a:p>
            <a:pPr lvl="1" eaLnBrk="1" hangingPunct="1"/>
            <a:r>
              <a:rPr lang="pt-PT" altLang="en-US" sz="2400"/>
              <a:t>Por exemplo:</a:t>
            </a:r>
          </a:p>
        </p:txBody>
      </p:sp>
      <p:pic>
        <p:nvPicPr>
          <p:cNvPr id="29702" name="Picture 4">
            <a:extLst>
              <a:ext uri="{FF2B5EF4-FFF2-40B4-BE49-F238E27FC236}">
                <a16:creationId xmlns:a16="http://schemas.microsoft.com/office/drawing/2014/main" id="{CB5A0B8A-1911-4D1B-A726-F5438D9AF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75" y="4373563"/>
            <a:ext cx="6738938" cy="193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>
            <a:extLst>
              <a:ext uri="{FF2B5EF4-FFF2-40B4-BE49-F238E27FC236}">
                <a16:creationId xmlns:a16="http://schemas.microsoft.com/office/drawing/2014/main" id="{FF32AB36-25AC-4FE9-8F0E-F680B3EDC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D8FF8DC0-E82B-44CD-8DD6-8D975B04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09A14F-FCE2-4FE3-BC24-40FA273BFDC5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pt-PT" altLang="en-US" sz="1400"/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DFDEE066-4C98-480A-92BA-6EED14FCE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50900"/>
          </a:xfrm>
        </p:spPr>
        <p:txBody>
          <a:bodyPr/>
          <a:lstStyle/>
          <a:p>
            <a:pPr eaLnBrk="1" hangingPunct="1"/>
            <a:r>
              <a:rPr lang="pt-PT" altLang="en-US"/>
              <a:t>Aplicações</a:t>
            </a:r>
          </a:p>
        </p:txBody>
      </p:sp>
      <p:pic>
        <p:nvPicPr>
          <p:cNvPr id="30725" name="Picture 5">
            <a:extLst>
              <a:ext uri="{FF2B5EF4-FFF2-40B4-BE49-F238E27FC236}">
                <a16:creationId xmlns:a16="http://schemas.microsoft.com/office/drawing/2014/main" id="{ED90AB63-8C21-4CE4-B0DB-AF3B5DC80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" y="1358900"/>
            <a:ext cx="7727950" cy="170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 Box 7">
            <a:extLst>
              <a:ext uri="{FF2B5EF4-FFF2-40B4-BE49-F238E27FC236}">
                <a16:creationId xmlns:a16="http://schemas.microsoft.com/office/drawing/2014/main" id="{70873268-63E4-427D-89DC-47B2B5943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897313"/>
            <a:ext cx="8305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Pretende-se verificar se uma expressão algébrica deste tipo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está correctamente balanceada e se não estiver detectar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2400"/>
              <a:t>quais são os parêntesis que provocam esse erro!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>
            <a:extLst>
              <a:ext uri="{FF2B5EF4-FFF2-40B4-BE49-F238E27FC236}">
                <a16:creationId xmlns:a16="http://schemas.microsoft.com/office/drawing/2014/main" id="{D0272C69-3665-4D83-A4F8-03A2FDB7F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F8063CE2-7D3D-4C5E-A3A7-19EFE305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1D6210-3E1B-4343-A788-EF39814FF462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pt-PT" altLang="en-US" sz="1400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BEAF32DC-B0C1-4013-9BD1-483DC68CC2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576262"/>
          </a:xfrm>
        </p:spPr>
        <p:txBody>
          <a:bodyPr/>
          <a:lstStyle/>
          <a:p>
            <a:pPr eaLnBrk="1" hangingPunct="1"/>
            <a:r>
              <a:rPr lang="pt-PT" altLang="en-US" sz="3200"/>
              <a:t>Resolução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46F645BA-1AE3-4337-9D93-DECB11EF8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692150"/>
            <a:ext cx="8229600" cy="2016125"/>
          </a:xfrm>
        </p:spPr>
        <p:txBody>
          <a:bodyPr/>
          <a:lstStyle/>
          <a:p>
            <a:pPr eaLnBrk="1" hangingPunct="1"/>
            <a:r>
              <a:rPr lang="pt-PT" altLang="en-US" sz="1800"/>
              <a:t>Usar uma Stack para a verificação. Percorrer a expressão matemática para encontrar parêntesis. Os parêntesis de abertura (e.g. o caso de “(“ ) são empilhados. Quando se encontra parêntesis de fecho desempilha-se o elemento do topo da pilha e compara-se com o da expressão matemática que estamos a analisar. Se estes dois elementos formarem um par continua-se a análise. Caso contrário parar e reportar o erro indicando o par desemparelhado.</a:t>
            </a:r>
          </a:p>
          <a:p>
            <a:pPr eaLnBrk="1" hangingPunct="1"/>
            <a:endParaRPr lang="pt-PT" altLang="en-US" sz="1800"/>
          </a:p>
        </p:txBody>
      </p:sp>
      <p:pic>
        <p:nvPicPr>
          <p:cNvPr id="31750" name="Picture 6">
            <a:extLst>
              <a:ext uri="{FF2B5EF4-FFF2-40B4-BE49-F238E27FC236}">
                <a16:creationId xmlns:a16="http://schemas.microsoft.com/office/drawing/2014/main" id="{4B0333D3-D2D8-4503-B79B-0F1A2F8D0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636838"/>
            <a:ext cx="8358188" cy="289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Text Box 7">
            <a:extLst>
              <a:ext uri="{FF2B5EF4-FFF2-40B4-BE49-F238E27FC236}">
                <a16:creationId xmlns:a16="http://schemas.microsoft.com/office/drawing/2014/main" id="{E64F0B2F-9D64-40B9-9865-DE033CCC1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516563"/>
            <a:ext cx="80613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1800"/>
              <a:t> Se quando chegarmos ao fim da expressão matemática a pilha estiver vazia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então a expressão está correctamente balanceada.</a:t>
            </a:r>
          </a:p>
          <a:p>
            <a:pPr eaLnBrk="1" hangingPunct="1">
              <a:spcBef>
                <a:spcPct val="0"/>
              </a:spcBef>
            </a:pPr>
            <a:r>
              <a:rPr lang="pt-PT" altLang="en-US" sz="1800"/>
              <a:t> outros exemplos: cálculo de expressões pós-fixas e.g. </a:t>
            </a:r>
            <a:r>
              <a:rPr lang="pt-PT" altLang="en-US" sz="2000"/>
              <a:t>6 7 * 8 9 - +</a:t>
            </a:r>
            <a:r>
              <a:rPr lang="pt-PT" altLang="en-US" sz="180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>
            <a:extLst>
              <a:ext uri="{FF2B5EF4-FFF2-40B4-BE49-F238E27FC236}">
                <a16:creationId xmlns:a16="http://schemas.microsoft.com/office/drawing/2014/main" id="{FFF21E1B-5A65-4E80-A57D-7160E3C9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66741D95-6F5D-443B-AC83-183A273E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8C6E40-8EAB-4BF7-B015-45B871CBAC84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pt-PT" altLang="en-US" sz="1400"/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5E1C9B07-EF2A-43ED-A98E-23C0781F3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4450"/>
            <a:ext cx="6153150" cy="452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Text Box 5">
            <a:extLst>
              <a:ext uri="{FF2B5EF4-FFF2-40B4-BE49-F238E27FC236}">
                <a16:creationId xmlns:a16="http://schemas.microsoft.com/office/drawing/2014/main" id="{1838E6DE-EF54-4703-9C4F-CBC0C27A7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4138" y="4843463"/>
            <a:ext cx="650875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PT" altLang="en-US" sz="1800"/>
              <a:t> Operações básicas:</a:t>
            </a:r>
          </a:p>
          <a:p>
            <a:pPr eaLnBrk="1" hangingPunct="1">
              <a:spcBef>
                <a:spcPct val="0"/>
              </a:spcBef>
            </a:pPr>
            <a:endParaRPr lang="pt-PT" altLang="en-US" sz="1800"/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pt-PT" altLang="en-US" sz="1800">
                <a:latin typeface="Times New Roman" panose="02020603050405020304" pitchFamily="18" charset="0"/>
              </a:rPr>
              <a:t> </a:t>
            </a:r>
            <a:r>
              <a:rPr lang="pt-PT" altLang="en-US" sz="1800" i="1">
                <a:latin typeface="Times New Roman" panose="02020603050405020304" pitchFamily="18" charset="0"/>
              </a:rPr>
              <a:t>empty</a:t>
            </a:r>
            <a:r>
              <a:rPr lang="pt-PT" altLang="en-US" sz="1800">
                <a:latin typeface="Times New Roman" panose="02020603050405020304" pitchFamily="18" charset="0"/>
              </a:rPr>
              <a:t>()		</a:t>
            </a:r>
            <a:r>
              <a:rPr lang="pt-PT" altLang="en-US" sz="1800"/>
              <a:t>verifica se a fila está vazia.</a:t>
            </a:r>
            <a:endParaRPr lang="pt-PT" altLang="en-US" sz="180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pt-PT" altLang="en-US" sz="1800">
                <a:latin typeface="Times New Roman" panose="02020603050405020304" pitchFamily="18" charset="0"/>
              </a:rPr>
              <a:t> </a:t>
            </a:r>
            <a:r>
              <a:rPr lang="pt-PT" altLang="en-US" sz="1800" i="1">
                <a:latin typeface="Times New Roman" panose="02020603050405020304" pitchFamily="18" charset="0"/>
              </a:rPr>
              <a:t>insert</a:t>
            </a:r>
            <a:r>
              <a:rPr lang="pt-PT" altLang="en-US" sz="1800">
                <a:latin typeface="Times New Roman" panose="02020603050405020304" pitchFamily="18" charset="0"/>
              </a:rPr>
              <a:t>(elem)		</a:t>
            </a:r>
            <a:r>
              <a:rPr lang="pt-PT" altLang="en-US" sz="1800"/>
              <a:t>insere</a:t>
            </a:r>
            <a:r>
              <a:rPr lang="pt-PT" altLang="en-US" sz="1800">
                <a:latin typeface="Times New Roman" panose="02020603050405020304" pitchFamily="18" charset="0"/>
              </a:rPr>
              <a:t> elem </a:t>
            </a:r>
            <a:r>
              <a:rPr lang="pt-PT" altLang="en-US" sz="1800"/>
              <a:t>no fim da fila.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pt-PT" altLang="en-US" sz="1800">
                <a:latin typeface="Times New Roman" panose="02020603050405020304" pitchFamily="18" charset="0"/>
              </a:rPr>
              <a:t> </a:t>
            </a:r>
            <a:r>
              <a:rPr lang="pt-PT" altLang="en-US" sz="1800" i="1">
                <a:latin typeface="Times New Roman" panose="02020603050405020304" pitchFamily="18" charset="0"/>
              </a:rPr>
              <a:t>remove</a:t>
            </a:r>
            <a:r>
              <a:rPr lang="pt-PT" altLang="en-US" sz="1800">
                <a:latin typeface="Times New Roman" panose="02020603050405020304" pitchFamily="18" charset="0"/>
              </a:rPr>
              <a:t>()		</a:t>
            </a:r>
            <a:r>
              <a:rPr lang="pt-PT" altLang="en-US" sz="1800"/>
              <a:t>remove o primeiro elemento da fila.</a:t>
            </a:r>
          </a:p>
        </p:txBody>
      </p:sp>
      <p:sp>
        <p:nvSpPr>
          <p:cNvPr id="32774" name="AutoShape 6">
            <a:extLst>
              <a:ext uri="{FF2B5EF4-FFF2-40B4-BE49-F238E27FC236}">
                <a16:creationId xmlns:a16="http://schemas.microsoft.com/office/drawing/2014/main" id="{D5772602-8F4D-45C6-9A51-C9077D6CB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0"/>
            <a:ext cx="3348037" cy="1916113"/>
          </a:xfrm>
          <a:prstGeom prst="wedgeRoundRectCallout">
            <a:avLst>
              <a:gd name="adj1" fmla="val -71718"/>
              <a:gd name="adj2" fmla="val 8786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As </a:t>
            </a:r>
            <a:r>
              <a:rPr lang="pt-PT" altLang="en-US" sz="1800" i="1"/>
              <a:t>Queues</a:t>
            </a:r>
            <a:r>
              <a:rPr lang="pt-PT" altLang="en-US" sz="1800"/>
              <a:t> comportam-se exactamente como as filas de espera do mundo real. São exaustivamente usadas em processos de simulação e.g. tráfego automóvel.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>
            <a:extLst>
              <a:ext uri="{FF2B5EF4-FFF2-40B4-BE49-F238E27FC236}">
                <a16:creationId xmlns:a16="http://schemas.microsoft.com/office/drawing/2014/main" id="{43072428-C1A6-4BD1-B63B-57E74F288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3795" name="Slide Number Placeholder 5">
            <a:extLst>
              <a:ext uri="{FF2B5EF4-FFF2-40B4-BE49-F238E27FC236}">
                <a16:creationId xmlns:a16="http://schemas.microsoft.com/office/drawing/2014/main" id="{39716164-9E1F-4C49-B120-65AD61A6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127466-52DE-4E43-9B93-70FBFE1BBAF0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pt-PT" altLang="en-US" sz="1400"/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C417F3A9-0512-40BF-BF25-237D5C96EA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pPr eaLnBrk="1" hangingPunct="1"/>
            <a:r>
              <a:rPr lang="pt-PT" altLang="en-US" sz="3200"/>
              <a:t>Classe AbstractQueue&lt;E&gt; </a:t>
            </a:r>
            <a:r>
              <a:rPr lang="pt-PT" altLang="en-US" sz="3200">
                <a:latin typeface="Times New Roman" panose="02020603050405020304" pitchFamily="18" charset="0"/>
              </a:rPr>
              <a:t>&gt;</a:t>
            </a:r>
            <a:r>
              <a:rPr lang="pt-PT" altLang="en-US" sz="3200"/>
              <a:t> em Java1.8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18D84F93-78A4-4242-BF6A-AE04CD1DC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800"/>
              <a:t>Vários construtores (vazio, colecções, sortedset)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public boolean </a:t>
            </a:r>
            <a:r>
              <a:rPr lang="pt-PT" altLang="en-US" sz="2800" b="1"/>
              <a:t>add</a:t>
            </a:r>
            <a:r>
              <a:rPr lang="pt-PT" altLang="en-US" sz="2800"/>
              <a:t>(</a:t>
            </a:r>
            <a:r>
              <a:rPr lang="pt-PT" altLang="en-US" sz="2800">
                <a:hlinkClick r:id="rId2" tooltip="type parameter in AbstractQueue"/>
              </a:rPr>
              <a:t>E</a:t>
            </a:r>
            <a:r>
              <a:rPr lang="pt-PT" altLang="en-US" sz="2800"/>
              <a:t> o) 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public </a:t>
            </a:r>
            <a:r>
              <a:rPr lang="pt-PT" altLang="en-US" sz="2800">
                <a:hlinkClick r:id="rId2" tooltip="type parameter in AbstractQueue"/>
              </a:rPr>
              <a:t>E</a:t>
            </a:r>
            <a:r>
              <a:rPr lang="pt-PT" altLang="en-US" sz="2800"/>
              <a:t> </a:t>
            </a:r>
            <a:r>
              <a:rPr lang="pt-PT" altLang="en-US" sz="2800" b="1"/>
              <a:t>remove</a:t>
            </a:r>
            <a:r>
              <a:rPr lang="pt-PT" altLang="en-US" sz="2800"/>
              <a:t>()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public </a:t>
            </a:r>
            <a:r>
              <a:rPr lang="pt-PT" altLang="en-US" sz="2800">
                <a:hlinkClick r:id="rId2" tooltip="type parameter in AbstractQueue"/>
              </a:rPr>
              <a:t>E</a:t>
            </a:r>
            <a:r>
              <a:rPr lang="pt-PT" altLang="en-US" sz="2800"/>
              <a:t> </a:t>
            </a:r>
            <a:r>
              <a:rPr lang="pt-PT" altLang="en-US" sz="2800" b="1"/>
              <a:t>element</a:t>
            </a:r>
            <a:r>
              <a:rPr lang="pt-PT" altLang="en-US" sz="2800"/>
              <a:t>() 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public void </a:t>
            </a:r>
            <a:r>
              <a:rPr lang="pt-PT" altLang="en-US" sz="2800" b="1"/>
              <a:t>clear</a:t>
            </a:r>
            <a:r>
              <a:rPr lang="pt-PT" altLang="en-US" sz="2800"/>
              <a:t>()</a:t>
            </a:r>
          </a:p>
          <a:p>
            <a:pPr eaLnBrk="1" hangingPunct="1">
              <a:lnSpc>
                <a:spcPct val="90000"/>
              </a:lnSpc>
            </a:pPr>
            <a:endParaRPr lang="pt-PT" altLang="en-US" sz="2800"/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Notar que implementa o interface </a:t>
            </a:r>
            <a:r>
              <a:rPr lang="pt-PT" altLang="en-US" sz="2800">
                <a:latin typeface="Times New Roman" panose="02020603050405020304" pitchFamily="18" charset="0"/>
              </a:rPr>
              <a:t>Queue&lt;E&gt;</a:t>
            </a:r>
          </a:p>
          <a:p>
            <a:pPr eaLnBrk="1" hangingPunct="1">
              <a:lnSpc>
                <a:spcPct val="90000"/>
              </a:lnSpc>
            </a:pPr>
            <a:endParaRPr lang="pt-PT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pt-PT" altLang="en-US" sz="2800"/>
              <a:t>Ver a sua subclasse: </a:t>
            </a:r>
            <a:r>
              <a:rPr lang="pt-PT" altLang="en-US" sz="2800">
                <a:latin typeface="Times New Roman" panose="02020603050405020304" pitchFamily="18" charset="0"/>
              </a:rPr>
              <a:t>PriorityQueue&lt;E&gt;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>
            <a:extLst>
              <a:ext uri="{FF2B5EF4-FFF2-40B4-BE49-F238E27FC236}">
                <a16:creationId xmlns:a16="http://schemas.microsoft.com/office/drawing/2014/main" id="{49A4C1A0-0A83-411B-9850-465CCC7BB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B9971FD7-31C3-4654-9478-79F9321D2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5751CF-8D91-44EB-9D3C-CEA16DF80B3E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pt-PT" altLang="en-US" sz="1400"/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979BCC83-BD90-4739-91FE-E89F5C7EDE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Exercícios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7352B06D-7CBE-4CA0-AA17-3120638DA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PT" altLang="en-US" sz="2800" dirty="0"/>
              <a:t>Implementar o algoritmo anterior para o caso de balanceamento de parêntesis;</a:t>
            </a:r>
          </a:p>
          <a:p>
            <a:pPr eaLnBrk="1" hangingPunct="1"/>
            <a:r>
              <a:rPr lang="pt-PT" altLang="en-US" sz="2800" dirty="0"/>
              <a:t>Implementar o calculador de expressões pós-fixas e.g., 4 2 5 * + 2 /  =  7;</a:t>
            </a:r>
          </a:p>
          <a:p>
            <a:pPr eaLnBrk="1" hangingPunct="1"/>
            <a:r>
              <a:rPr lang="pt-PT" altLang="en-US" sz="2800" dirty="0"/>
              <a:t>Simular uma fila de espera de processos num CPU com partilha de tempo. A fatia de tempo atribuída a cada processo é um valor fixo. Assim, há processos que têm de voltar à fila depois de parcialmente processados.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15702</TotalTime>
  <Words>2765</Words>
  <Application>Microsoft Office PowerPoint</Application>
  <PresentationFormat>Apresentação no Ecrã (4:3)</PresentationFormat>
  <Paragraphs>360</Paragraphs>
  <Slides>32</Slides>
  <Notes>0</Notes>
  <HiddenSlides>0</HiddenSlides>
  <MMClips>0</MMClips>
  <ScaleCrop>false</ScaleCrop>
  <HeadingPairs>
    <vt:vector size="8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Servidores OLE incorporados</vt:lpstr>
      </vt:variant>
      <vt:variant>
        <vt:i4>2</vt:i4>
      </vt:variant>
      <vt:variant>
        <vt:lpstr>Títulos dos diapositivos</vt:lpstr>
      </vt:variant>
      <vt:variant>
        <vt:i4>32</vt:i4>
      </vt:variant>
    </vt:vector>
  </HeadingPairs>
  <TitlesOfParts>
    <vt:vector size="37" baseType="lpstr">
      <vt:lpstr>Arial</vt:lpstr>
      <vt:lpstr>Times New Roman</vt:lpstr>
      <vt:lpstr>Default Design</vt:lpstr>
      <vt:lpstr>Chart</vt:lpstr>
      <vt:lpstr>Picture</vt:lpstr>
      <vt:lpstr>Programação Orientada aos Objetos (Licenciatura em Engenharia de Telecomunicações &amp; Informática)  2º Ano,1º Semestre</vt:lpstr>
      <vt:lpstr>Coleções</vt:lpstr>
      <vt:lpstr>Hierarquia Java de Coleções (1.8)</vt:lpstr>
      <vt:lpstr>Apresentação do PowerPoint</vt:lpstr>
      <vt:lpstr>Deep Copy de Colecções de Objectos</vt:lpstr>
      <vt:lpstr>Clone de Colecções</vt:lpstr>
      <vt:lpstr>Implementações Ligadas</vt:lpstr>
      <vt:lpstr>Listas Ligadas</vt:lpstr>
      <vt:lpstr>Representação de uma Célula em Java</vt:lpstr>
      <vt:lpstr>Inserção de um novo Nó (esquematicamente)</vt:lpstr>
      <vt:lpstr>Exemplo de uso de Célula</vt:lpstr>
      <vt:lpstr>Inserção Ordenada</vt:lpstr>
      <vt:lpstr>Exemplo de inserção ordenada</vt:lpstr>
      <vt:lpstr>Eliminação de uma Célula numa lista ordenada</vt:lpstr>
      <vt:lpstr>Pesquisa e Eliminação</vt:lpstr>
      <vt:lpstr>Listas Duplamente Ligadas</vt:lpstr>
      <vt:lpstr>Classe para Listas Duplamente Ligadas</vt:lpstr>
      <vt:lpstr>Inserção Ordenada</vt:lpstr>
      <vt:lpstr>Inserção Ordenada e Eliminação</vt:lpstr>
      <vt:lpstr>Eliminação de uma Célula numa lista Duplamente Ligada</vt:lpstr>
      <vt:lpstr>Classe LinkedList&lt;E&gt; do Java1.8</vt:lpstr>
      <vt:lpstr>Listas Ligadas e Aplicações</vt:lpstr>
      <vt:lpstr>Listas Ligadas e Aplicações (2)</vt:lpstr>
      <vt:lpstr>Apresentação do PowerPoint</vt:lpstr>
      <vt:lpstr>Exemplo de uso</vt:lpstr>
      <vt:lpstr>Class Stack&lt;E&gt; do Java1.8</vt:lpstr>
      <vt:lpstr>Aplicações</vt:lpstr>
      <vt:lpstr>Aplicações</vt:lpstr>
      <vt:lpstr>Resolução</vt:lpstr>
      <vt:lpstr>Apresentação do PowerPoint</vt:lpstr>
      <vt:lpstr>Classe AbstractQueue&lt;E&gt; &gt; em Java1.8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Programação II (Mestrado Integrado em Engenharia de Comunicações)</dc:title>
  <dc:creator>pja</dc:creator>
  <cp:lastModifiedBy>Luís Pedro Cerqueira Baptista</cp:lastModifiedBy>
  <cp:revision>1049</cp:revision>
  <dcterms:created xsi:type="dcterms:W3CDTF">2008-02-28T16:13:14Z</dcterms:created>
  <dcterms:modified xsi:type="dcterms:W3CDTF">2025-07-19T21:22:46Z</dcterms:modified>
</cp:coreProperties>
</file>