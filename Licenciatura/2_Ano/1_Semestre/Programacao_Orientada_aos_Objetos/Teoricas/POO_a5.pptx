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74" r:id="rId4"/>
    <p:sldId id="275" r:id="rId5"/>
    <p:sldId id="276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6" r:id="rId31"/>
    <p:sldId id="288" r:id="rId32"/>
    <p:sldId id="285" r:id="rId33"/>
    <p:sldId id="287" r:id="rId34"/>
    <p:sldId id="307" r:id="rId35"/>
    <p:sldId id="308" r:id="rId36"/>
    <p:sldId id="284" r:id="rId37"/>
    <p:sldId id="289" r:id="rId38"/>
  </p:sldIdLst>
  <p:sldSz cx="9144000" cy="6858000" type="screen4x3"/>
  <p:notesSz cx="6858000" cy="9144000"/>
  <p:defaultTextStyle>
    <a:defPPr>
      <a:defRPr lang="pt-P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72" autoAdjust="0"/>
    <p:restoredTop sz="94627" autoAdjust="0"/>
  </p:normalViewPr>
  <p:slideViewPr>
    <p:cSldViewPr>
      <p:cViewPr varScale="1">
        <p:scale>
          <a:sx n="84" d="100"/>
          <a:sy n="84" d="100"/>
        </p:scale>
        <p:origin x="1560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92BEB72-83AC-4033-8244-02AEFB19B6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6BB9FA1-22BE-4061-ABCD-8501419C6F8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7ABF4DD-BFCC-4A12-B071-B58DD47F75A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7DA46334-5AAB-4E59-A11A-AB11128D4FF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noProof="0"/>
              <a:t>Click to edit Master text styles</a:t>
            </a:r>
          </a:p>
          <a:p>
            <a:pPr lvl="1"/>
            <a:r>
              <a:rPr lang="pt-PT" noProof="0"/>
              <a:t>Second level</a:t>
            </a:r>
          </a:p>
          <a:p>
            <a:pPr lvl="2"/>
            <a:r>
              <a:rPr lang="pt-PT" noProof="0"/>
              <a:t>Third level</a:t>
            </a:r>
          </a:p>
          <a:p>
            <a:pPr lvl="3"/>
            <a:r>
              <a:rPr lang="pt-PT" noProof="0"/>
              <a:t>Fourth level</a:t>
            </a:r>
          </a:p>
          <a:p>
            <a:pPr lvl="4"/>
            <a:r>
              <a:rPr lang="pt-PT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3012B063-6D32-4024-A473-75CE65636F3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A0202924-97A3-40AC-BD00-5D6AB4F433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1738FD6-EEB0-41E5-B351-DFDD546814C6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PT"/>
              <a:t>Faça clique para editar o estilo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9F54B6-CE51-4BB3-8A6D-4BCCFF1B8F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02E744-2721-4831-94A4-A30511457C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D109E7-7398-4B09-A54C-F1091F084E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9C160E-1EC9-459A-AE0B-90F04FA150EA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819307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4BB312F-F4B7-4B68-A860-7CE6BF67B4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569DDDF-B3F2-4C8F-BBB5-53636A2A05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FC6424-4D11-403D-9DAC-08B1F4A988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AFAD1-5347-4FCD-86A3-214031BB4105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421200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A5B425-39B1-4FD8-A002-13115DE681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F41856F-996D-4EED-BFED-91717FB7DC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02BA422-122E-4C78-82EA-DB669F3C5D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0F40E8-EBA8-4AD5-A08A-358D63C0A21C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72386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4BCEE2-75E1-43F2-9EDC-7B164D5816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2F8922-325F-4101-9BC6-354FDD4812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9DBB51-36B2-496D-93F3-9A3376D936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84532C-EE69-4438-8F5F-9296A11869BE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750586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21DC400-9CFB-47C7-8541-4F6447551F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91596A8-8BAE-40D7-863F-D3A6F2F771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6E4E26-A418-4417-BBC9-CB915B7812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473AE9-FF2E-482F-93B4-897469408E4E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568506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C8EA795-1BF5-4D4D-92AE-98B6E8F6EA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593B748-481A-402F-A00F-EF24945CFC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A12595C-4115-47DE-B522-ECCAA42035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AA71E8-87D0-4D7D-BD02-3464C6959D7F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564733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66F65E0-2086-49A0-83EA-282D66E236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ECD79B4-1FAC-444C-A6E1-B2EF54775E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886047E-6276-47AD-9111-7B044360D9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3A537-0013-44F5-B7BB-94DAF2090D6F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474002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54F017-02FE-463E-8E0B-5BE6138FD3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A8CE5C-2E35-4E27-A9FC-2DA931893E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3052FF-69B1-4B42-ACD8-7CCD374116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A64C8-C1F2-4F12-B494-B17E2253D64F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252903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7007D5-C929-414D-84B5-BD5EFF5ECE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8511BE-B9A3-4C7A-8D41-0850D94A84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9454DE-E9B5-4EB2-9E80-B18A7A4B8F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93CBC1-F5D0-44A6-8B63-74CB134AD985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018710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247F5E-8A8D-434D-97F3-052E3BAAF4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DD34CF-9AF0-40AE-8A4E-245A126180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C11838-7303-44DA-895A-A63C75C470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AFC700-C0B4-44B5-BE3D-C5C5B2A1E8F6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58836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766C5E9-02FE-49CF-BC31-ED50FC3D63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D9EAC5-0B52-4D64-985E-C8CE0ED279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B31BE36-5375-4997-BB08-7A8252619C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2D1E06-187C-4D28-9109-519A96B5DB39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167300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BE62A3A-26BD-4DB4-A627-886AE7DFF3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47DEA12-41DE-42CA-983F-42AC79157A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Click to edit Master text styles</a:t>
            </a:r>
          </a:p>
          <a:p>
            <a:pPr lvl="1"/>
            <a:r>
              <a:rPr lang="pt-PT" altLang="en-US"/>
              <a:t>Second level</a:t>
            </a:r>
          </a:p>
          <a:p>
            <a:pPr lvl="2"/>
            <a:r>
              <a:rPr lang="pt-PT" altLang="en-US"/>
              <a:t>Third level</a:t>
            </a:r>
          </a:p>
          <a:p>
            <a:pPr lvl="3"/>
            <a:r>
              <a:rPr lang="pt-PT" altLang="en-US"/>
              <a:t>Fourth level</a:t>
            </a:r>
          </a:p>
          <a:p>
            <a:pPr lvl="4"/>
            <a:r>
              <a:rPr lang="pt-PT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8341903-3592-4904-AA01-BC0509D26D8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E103A18-20DC-466E-81ED-D259F96467A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68538" y="6578600"/>
            <a:ext cx="4248150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E201D5C-6F38-49EB-83F5-0F96A6F256D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59563" y="6597650"/>
            <a:ext cx="2133600" cy="18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2FF9397-A66F-4A04-B0E4-4718C0D01BA8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Marcador de Posição do Rodapé 4">
            <a:extLst>
              <a:ext uri="{FF2B5EF4-FFF2-40B4-BE49-F238E27FC236}">
                <a16:creationId xmlns:a16="http://schemas.microsoft.com/office/drawing/2014/main" id="{52AE7964-0058-4F97-8B2C-134F81378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075" name="Marcador de Posição do Número do Diapositivo 5">
            <a:extLst>
              <a:ext uri="{FF2B5EF4-FFF2-40B4-BE49-F238E27FC236}">
                <a16:creationId xmlns:a16="http://schemas.microsoft.com/office/drawing/2014/main" id="{643E8BC5-AB86-4C4E-96ED-4CAEABAA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C5AB69-67A9-4541-A416-95EDE7E251DF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pt-PT" altLang="en-US" sz="1400"/>
          </a:p>
        </p:txBody>
      </p:sp>
      <p:sp>
        <p:nvSpPr>
          <p:cNvPr id="3076" name="Rectangle 2">
            <a:extLst>
              <a:ext uri="{FF2B5EF4-FFF2-40B4-BE49-F238E27FC236}">
                <a16:creationId xmlns:a16="http://schemas.microsoft.com/office/drawing/2014/main" id="{A0DE649D-43CA-42EA-A18F-432A5367ADB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650" y="1341438"/>
            <a:ext cx="7772400" cy="1470025"/>
          </a:xfrm>
        </p:spPr>
        <p:txBody>
          <a:bodyPr/>
          <a:lstStyle/>
          <a:p>
            <a:pPr eaLnBrk="1" hangingPunct="1"/>
            <a:r>
              <a:rPr lang="pt-PT" altLang="en-US" sz="3600"/>
              <a:t>Programação Orientada aos Objetos</a:t>
            </a:r>
            <a:br>
              <a:rPr lang="pt-PT" altLang="en-US" sz="6600"/>
            </a:br>
            <a:r>
              <a:rPr lang="pt-PT" altLang="en-US" sz="2000"/>
              <a:t>(Licenciatura em Engenharia de Telecomunicações &amp; Informática) &amp; MIETI</a:t>
            </a:r>
            <a:br>
              <a:rPr lang="pt-PT" altLang="en-US" sz="4000"/>
            </a:br>
            <a:r>
              <a:rPr lang="pt-PT" altLang="en-US" sz="2000"/>
              <a:t>2º Ano, 1º Semestre</a:t>
            </a: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CCD161F5-2EC8-46B2-86C9-AA4144EC07B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584950" cy="1271588"/>
          </a:xfrm>
        </p:spPr>
        <p:txBody>
          <a:bodyPr/>
          <a:lstStyle/>
          <a:p>
            <a:pPr eaLnBrk="1" hangingPunct="1"/>
            <a:r>
              <a:rPr lang="pt-PT" altLang="en-US" sz="2400"/>
              <a:t>Tipos Genéricos, a classe ArrayList, Iteradores, Construções funcionais, Hierarquias de classes e Herança em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Posição do Rodapé 4">
            <a:extLst>
              <a:ext uri="{FF2B5EF4-FFF2-40B4-BE49-F238E27FC236}">
                <a16:creationId xmlns:a16="http://schemas.microsoft.com/office/drawing/2014/main" id="{75331AB4-0F51-4A2D-A9EF-D9D8F8061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4099" name="Marcador de Posição do Número do Diapositivo 5">
            <a:extLst>
              <a:ext uri="{FF2B5EF4-FFF2-40B4-BE49-F238E27FC236}">
                <a16:creationId xmlns:a16="http://schemas.microsoft.com/office/drawing/2014/main" id="{8A04186B-0872-4291-899E-97C678FB7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8D4AEB-6B66-4F59-ACC1-D58D9BFF876E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pt-PT" altLang="en-US" sz="1400"/>
          </a:p>
        </p:txBody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5946F8B7-91CA-4DAE-8481-D9CD21595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865187"/>
          </a:xfrm>
        </p:spPr>
        <p:txBody>
          <a:bodyPr/>
          <a:lstStyle/>
          <a:p>
            <a:pPr eaLnBrk="1" hangingPunct="1"/>
            <a:r>
              <a:rPr lang="pt-PT" altLang="en-US" sz="4000"/>
              <a:t>Tipos genéricos em Java1.8</a:t>
            </a:r>
          </a:p>
        </p:txBody>
      </p:sp>
      <p:sp>
        <p:nvSpPr>
          <p:cNvPr id="4101" name="Rectangle 3">
            <a:extLst>
              <a:ext uri="{FF2B5EF4-FFF2-40B4-BE49-F238E27FC236}">
                <a16:creationId xmlns:a16="http://schemas.microsoft.com/office/drawing/2014/main" id="{1E7D6118-F06C-4FD2-94E3-06EA01AD8D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908050"/>
            <a:ext cx="9036050" cy="5689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PT" altLang="en-US" sz="2400"/>
              <a:t>Uma classe pode ser definida à custa de um tipo genérico. Este é definido usando parâmetros de “tipo”                         (i.e. não primitivos). 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400"/>
              <a:t>Usando este conceito, podemos ter uma infinidade de variantes de uma classe. Exemplo: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public class Ponto&lt;T&gt; 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{ // tipo genérico Ponto&lt;T&gt;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private T x;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private T y;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// Métodos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public Ponto(T cx, T cy) { this.x = cx; this.y = cy; }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public T getX() { return this.x; }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public T getY() { return this.y; }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public void setX(T cx) { this.x = cx }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. . .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000"/>
              <a:t>Podemos declarar:</a:t>
            </a:r>
            <a:r>
              <a:rPr lang="pt-PT" altLang="en-US" sz="2400"/>
              <a:t>  </a:t>
            </a:r>
            <a:r>
              <a:rPr lang="pt-PT" altLang="en-US" sz="1800">
                <a:latin typeface="Times New Roman" panose="02020603050405020304" pitchFamily="18" charset="0"/>
              </a:rPr>
              <a:t>Ponto&lt;Integer&gt; c = new Ponto&lt;Integer&gt;();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000"/>
              <a:t>Ou então:   </a:t>
            </a:r>
            <a:r>
              <a:rPr lang="pt-PT" altLang="en-US" sz="1800">
                <a:latin typeface="Times New Roman" panose="02020603050405020304" pitchFamily="18" charset="0"/>
              </a:rPr>
              <a:t>Ponto&lt;Double&gt; d = new Ponto&lt;Double&gt;();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000"/>
              <a:t>Usando assim tipos parametrizados…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Marcador de Posição do Rodapé 4">
            <a:extLst>
              <a:ext uri="{FF2B5EF4-FFF2-40B4-BE49-F238E27FC236}">
                <a16:creationId xmlns:a16="http://schemas.microsoft.com/office/drawing/2014/main" id="{9671A5AB-3FE8-4EFE-B1D3-5F6F79AF5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5123" name="Marcador de Posição do Número do Diapositivo 5">
            <a:extLst>
              <a:ext uri="{FF2B5EF4-FFF2-40B4-BE49-F238E27FC236}">
                <a16:creationId xmlns:a16="http://schemas.microsoft.com/office/drawing/2014/main" id="{612C468D-761A-4225-A200-B4DC5F68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958B0E-0B9B-46FE-9A70-2437256C035E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pt-PT" altLang="en-US" sz="1400"/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84E21F3E-82AF-4C5B-9745-9AFE7B4E02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 sz="4000"/>
              <a:t>Primeiras Colecções – a classe ArrayList&lt;E&gt;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520FC5B5-61C8-4259-96E3-7064E1FA96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81550"/>
          </a:xfrm>
        </p:spPr>
        <p:txBody>
          <a:bodyPr/>
          <a:lstStyle/>
          <a:p>
            <a:pPr eaLnBrk="1" hangingPunct="1"/>
            <a:r>
              <a:rPr lang="pt-PT" altLang="en-US" sz="2400"/>
              <a:t>O Java1.8 oferece um conjunto de classes (que implementam estruturas de dados tradicionais) para armazenamento de objectos.</a:t>
            </a:r>
          </a:p>
          <a:p>
            <a:pPr eaLnBrk="1" hangingPunct="1"/>
            <a:r>
              <a:rPr lang="pt-PT" altLang="en-US" sz="2400"/>
              <a:t>Estas agrupam os objectos em unidades compactas e estruturadas, implementando também as necessárias operações para a correcta manipulação e organização dos dados.</a:t>
            </a:r>
          </a:p>
          <a:p>
            <a:pPr eaLnBrk="1" hangingPunct="1"/>
            <a:r>
              <a:rPr lang="pt-PT" altLang="en-US" sz="2400"/>
              <a:t>Um exemplo é a classe </a:t>
            </a:r>
            <a:r>
              <a:rPr lang="pt-PT" altLang="en-US" sz="2400">
                <a:latin typeface="Times New Roman" panose="02020603050405020304" pitchFamily="18" charset="0"/>
              </a:rPr>
              <a:t>ArrayList</a:t>
            </a:r>
            <a:r>
              <a:rPr lang="pt-PT" altLang="en-US" sz="2400"/>
              <a:t> que implementa a estrutura de dados vector de dados (</a:t>
            </a:r>
            <a:r>
              <a:rPr lang="pt-PT" altLang="en-US" sz="2400">
                <a:latin typeface="Times New Roman" panose="02020603050405020304" pitchFamily="18" charset="0"/>
              </a:rPr>
              <a:t>array </a:t>
            </a:r>
            <a:r>
              <a:rPr lang="pt-PT" altLang="en-US" sz="2400"/>
              <a:t>dinâmico) mas sem restrições de crescimento.</a:t>
            </a:r>
          </a:p>
          <a:p>
            <a:pPr eaLnBrk="1" hangingPunct="1"/>
            <a:r>
              <a:rPr lang="pt-PT" altLang="en-US" sz="2400"/>
              <a:t>Um </a:t>
            </a:r>
            <a:r>
              <a:rPr lang="pt-PT" altLang="en-US" sz="2400">
                <a:latin typeface="Times New Roman" panose="02020603050405020304" pitchFamily="18" charset="0"/>
              </a:rPr>
              <a:t>ArrayList</a:t>
            </a:r>
            <a:r>
              <a:rPr lang="pt-PT" altLang="en-US" sz="2400"/>
              <a:t> é uma sequência de elementos (tem uma ordem definida pela adição de novos elementos)</a:t>
            </a:r>
          </a:p>
          <a:p>
            <a:pPr eaLnBrk="1" hangingPunct="1"/>
            <a:endParaRPr lang="pt-PT" altLang="en-US" sz="2400"/>
          </a:p>
          <a:p>
            <a:pPr eaLnBrk="1" hangingPunct="1"/>
            <a:endParaRPr lang="pt-PT" altLang="en-US" sz="2400"/>
          </a:p>
        </p:txBody>
      </p:sp>
      <p:sp>
        <p:nvSpPr>
          <p:cNvPr id="5126" name="AutoShape 4">
            <a:extLst>
              <a:ext uri="{FF2B5EF4-FFF2-40B4-BE49-F238E27FC236}">
                <a16:creationId xmlns:a16="http://schemas.microsoft.com/office/drawing/2014/main" id="{A804CD72-50F5-4194-B8E4-298859ED9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1412875"/>
            <a:ext cx="1223963" cy="576263"/>
          </a:xfrm>
          <a:prstGeom prst="wedgeRoundRectCallout">
            <a:avLst>
              <a:gd name="adj1" fmla="val -210440"/>
              <a:gd name="adj2" fmla="val -70935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Tipo referenciado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Marcador de Posição do Rodapé 4">
            <a:extLst>
              <a:ext uri="{FF2B5EF4-FFF2-40B4-BE49-F238E27FC236}">
                <a16:creationId xmlns:a16="http://schemas.microsoft.com/office/drawing/2014/main" id="{5752D43F-C69E-499A-A978-78DD88C87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6147" name="Marcador de Posição do Número do Diapositivo 5">
            <a:extLst>
              <a:ext uri="{FF2B5EF4-FFF2-40B4-BE49-F238E27FC236}">
                <a16:creationId xmlns:a16="http://schemas.microsoft.com/office/drawing/2014/main" id="{6F467E6A-38D2-48A9-8B64-BD594FB09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28E3EC-CF31-4D28-9EF8-9DE86C83E6FD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pt-PT" altLang="en-US" sz="14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EBB522D9-BA0C-44F7-9438-E32956FB40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 sz="4000"/>
              <a:t>Construtores &amp; métodos de ArrayList&lt;E&gt;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770F7961-C41D-4C31-BE28-AB3B1B318A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Construção: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ArrayList&lt;Ponto&gt; lista = new ArrayList&lt;Ponto&gt;();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Operações e seus métodos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Adição de uma novo elemento ao fim da lista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: 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					</a:t>
            </a:r>
            <a:r>
              <a:rPr lang="pt-PT" altLang="en-US" sz="1800" dirty="0" err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lista.add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(new Ponto(1,2));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Adição numa posição definida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: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					</a:t>
            </a:r>
            <a:r>
              <a:rPr lang="pt-PT" altLang="en-US" sz="1800" dirty="0" err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lista.add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(3, new Ponto(1,2));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Eliminar um elemento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:	</a:t>
            </a:r>
            <a:r>
              <a:rPr lang="pt-PT" altLang="en-US" sz="1800" dirty="0" err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lista.remove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(p);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Eliminar uma posição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:	</a:t>
            </a:r>
            <a:r>
              <a:rPr lang="pt-PT" altLang="en-US" sz="1800" dirty="0" err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lista.remove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(1);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Obter um obj numa posição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:	Ponto p2 = </a:t>
            </a:r>
            <a:r>
              <a:rPr lang="pt-PT" altLang="en-US" sz="1800" dirty="0" err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lista.get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(2);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Saber a posição de um obj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:	int index = </a:t>
            </a:r>
            <a:r>
              <a:rPr lang="pt-PT" altLang="en-US" sz="1800" dirty="0" err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lista.indexOf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(p2);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Saber tamanho da lista: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	int len = </a:t>
            </a:r>
            <a:r>
              <a:rPr lang="pt-PT" altLang="en-US" sz="1800" dirty="0" err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lista.size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();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Substituir uma posição: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	</a:t>
            </a:r>
            <a:r>
              <a:rPr lang="pt-PT" altLang="en-US" sz="1800" dirty="0" err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lista.set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(2, new Ponto(3,4));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Criar um array cópia do ArrayList: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	Object a[] = </a:t>
            </a:r>
            <a:r>
              <a:rPr lang="pt-PT" altLang="en-US" sz="1800" dirty="0" err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lista.toArray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();</a:t>
            </a:r>
          </a:p>
          <a:p>
            <a:pPr lvl="1" eaLnBrk="1" hangingPunct="1">
              <a:lnSpc>
                <a:spcPct val="90000"/>
              </a:lnSpc>
            </a:pPr>
            <a:endParaRPr lang="el-GR" altLang="en-US" sz="1800" dirty="0">
              <a:cs typeface="Arial" panose="020B0604020202020204" pitchFamily="34" charset="0"/>
            </a:endParaRPr>
          </a:p>
        </p:txBody>
      </p:sp>
      <p:sp>
        <p:nvSpPr>
          <p:cNvPr id="6150" name="AutoShape 4">
            <a:extLst>
              <a:ext uri="{FF2B5EF4-FFF2-40B4-BE49-F238E27FC236}">
                <a16:creationId xmlns:a16="http://schemas.microsoft.com/office/drawing/2014/main" id="{6CFFDFB4-9994-46AC-B9B2-9FBFD7865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3775" y="3573463"/>
            <a:ext cx="1800225" cy="647700"/>
          </a:xfrm>
          <a:prstGeom prst="wedgeRoundRectCallout">
            <a:avLst>
              <a:gd name="adj1" fmla="val -96912"/>
              <a:gd name="adj2" fmla="val 12867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Implica que equals() esteja implementado em Ponto</a:t>
            </a:r>
          </a:p>
        </p:txBody>
      </p:sp>
      <p:sp>
        <p:nvSpPr>
          <p:cNvPr id="6151" name="AutoShape 6">
            <a:extLst>
              <a:ext uri="{FF2B5EF4-FFF2-40B4-BE49-F238E27FC236}">
                <a16:creationId xmlns:a16="http://schemas.microsoft.com/office/drawing/2014/main" id="{933DA4A8-9D71-4137-8A85-631D8C595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2938" y="3933825"/>
            <a:ext cx="1657350" cy="144463"/>
          </a:xfrm>
          <a:prstGeom prst="rightArrow">
            <a:avLst>
              <a:gd name="adj1" fmla="val 50000"/>
              <a:gd name="adj2" fmla="val 2868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Posição do Rodapé 4">
            <a:extLst>
              <a:ext uri="{FF2B5EF4-FFF2-40B4-BE49-F238E27FC236}">
                <a16:creationId xmlns:a16="http://schemas.microsoft.com/office/drawing/2014/main" id="{255C37AA-A0FF-449F-9C78-529D2C222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7171" name="Marcador de Posição do Número do Diapositivo 5">
            <a:extLst>
              <a:ext uri="{FF2B5EF4-FFF2-40B4-BE49-F238E27FC236}">
                <a16:creationId xmlns:a16="http://schemas.microsoft.com/office/drawing/2014/main" id="{741715A3-914A-4C40-A83D-C4D26890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EC2C0F-AACA-46D6-81E6-6281B4FF8B83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pt-PT" altLang="en-US" sz="1400"/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F18A2930-5D66-4E81-9A3C-D96662C641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 sz="3600" dirty="0">
                <a:solidFill>
                  <a:srgbClr val="FF0000"/>
                </a:solidFill>
              </a:rPr>
              <a:t>Exercício</a:t>
            </a:r>
            <a:r>
              <a:rPr lang="pt-PT" altLang="en-US" sz="3600" dirty="0"/>
              <a:t>:</a:t>
            </a:r>
            <a:br>
              <a:rPr lang="pt-PT" altLang="en-US" sz="3600" dirty="0"/>
            </a:br>
            <a:r>
              <a:rPr lang="pt-PT" altLang="en-US" sz="3600" dirty="0"/>
              <a:t> class Banco </a:t>
            </a:r>
            <a:r>
              <a:rPr lang="pt-PT" altLang="en-US" sz="3600" dirty="0">
                <a:solidFill>
                  <a:srgbClr val="FF0000"/>
                </a:solidFill>
              </a:rPr>
              <a:t>usando ArrayList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7B73C2ED-DD9D-4CEB-A80B-C812837550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9113" y="1125538"/>
            <a:ext cx="8229600" cy="54721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	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class Banco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	{	private ArrayList&lt;Conta&gt; lista;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		private String nome;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		private double saldo;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pt-PT" altLang="en-US" sz="1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		Banco(String n)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		{ this.nome = n; </a:t>
            </a:r>
            <a:r>
              <a:rPr lang="pt-PT" altLang="en-US" sz="1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this.lista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 = new ArrayList&lt;Conta&gt;(); this.saldo = 0.0;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	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		public void taxas(double valor)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		{       for(Conta c:this.lista)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			</a:t>
            </a:r>
            <a:r>
              <a:rPr lang="pt-PT" altLang="en-US" sz="1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c.debito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(valor);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	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		public double </a:t>
            </a:r>
            <a:r>
              <a:rPr lang="pt-PT" altLang="en-US" sz="1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saldo_banco</a:t>
            </a: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		{   double temp = 0.0;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			for(Conta c:this.lista)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				temp += c.getSaldo();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			return(temp);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	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	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387BF920-0495-4685-8BC8-BA153BD54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r>
              <a:rPr lang="pt-PT" altLang="en-US"/>
              <a:t>Iteradores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992C8ADB-E08E-4DBE-873C-D5D7D0B900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97450"/>
          </a:xfrm>
        </p:spPr>
        <p:txBody>
          <a:bodyPr/>
          <a:lstStyle/>
          <a:p>
            <a:r>
              <a:rPr lang="pt-PT" altLang="en-US"/>
              <a:t>O JAVA fornece vários mecanismos para percorrermos uma coleção de dados.</a:t>
            </a:r>
          </a:p>
          <a:p>
            <a:r>
              <a:rPr lang="pt-PT" altLang="en-US"/>
              <a:t>Um destes mecanismos são os iteradores.</a:t>
            </a:r>
          </a:p>
          <a:p>
            <a:r>
              <a:rPr lang="pt-PT" altLang="en-US"/>
              <a:t>Em JAVA, </a:t>
            </a:r>
            <a:r>
              <a:rPr lang="pt-PT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Iterator</a:t>
            </a:r>
            <a:r>
              <a:rPr lang="pt-PT" altLang="en-US"/>
              <a:t> é um tipo de dado que permite travessias e operações sobre  uma coleção de dados. Todas as coleções  do Java implementam este método!</a:t>
            </a:r>
          </a:p>
          <a:p>
            <a:r>
              <a:rPr lang="pt-PT" altLang="en-US"/>
              <a:t>Obtemos um iterador usando o método:</a:t>
            </a:r>
          </a:p>
          <a:p>
            <a:pPr lvl="1"/>
            <a:r>
              <a:rPr lang="pt-PT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Iterator&lt;E&gt; iterator();</a:t>
            </a:r>
          </a:p>
        </p:txBody>
      </p:sp>
      <p:sp>
        <p:nvSpPr>
          <p:cNvPr id="8196" name="Footer Placeholder 3">
            <a:extLst>
              <a:ext uri="{FF2B5EF4-FFF2-40B4-BE49-F238E27FC236}">
                <a16:creationId xmlns:a16="http://schemas.microsoft.com/office/drawing/2014/main" id="{898AE130-241B-4B43-A897-8374E8B7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8197" name="Slide Number Placeholder 4">
            <a:extLst>
              <a:ext uri="{FF2B5EF4-FFF2-40B4-BE49-F238E27FC236}">
                <a16:creationId xmlns:a16="http://schemas.microsoft.com/office/drawing/2014/main" id="{4F32ECBC-3B75-4268-B34B-A48AC2485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1D7ED5-3B65-4CAF-9B55-D7A550BF5201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pt-PT" alt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DFF038B6-8BFB-4584-A95E-57E38F04AD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r>
              <a:rPr lang="pt-PT" altLang="en-US" dirty="0" err="1">
                <a:solidFill>
                  <a:srgbClr val="FF0000"/>
                </a:solidFill>
              </a:rPr>
              <a:t>Iteradores</a:t>
            </a:r>
            <a:r>
              <a:rPr lang="pt-PT" altLang="en-US" dirty="0"/>
              <a:t>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9317D-1597-4837-AABC-E6268E50E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867400"/>
          </a:xfrm>
        </p:spPr>
        <p:txBody>
          <a:bodyPr/>
          <a:lstStyle/>
          <a:p>
            <a:pPr>
              <a:defRPr/>
            </a:pPr>
            <a:r>
              <a:rPr lang="pt-PT" sz="2800" dirty="0"/>
              <a:t>Três métodos para operar sobre as coleções que percorrem:</a:t>
            </a:r>
          </a:p>
          <a:p>
            <a:pPr lvl="1">
              <a:defRPr/>
            </a:pP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hasNext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1">
              <a:defRPr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1">
              <a:defRPr/>
            </a:pP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remove(). </a:t>
            </a:r>
          </a:p>
          <a:p>
            <a:pPr lvl="1">
              <a:defRPr/>
            </a:pP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Iterator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&lt;E&gt; </a:t>
            </a: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iterator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defRPr/>
            </a:pPr>
            <a:r>
              <a:rPr lang="pt-PT" sz="2800" dirty="0">
                <a:cs typeface="Times New Roman" panose="02020603050405020304" pitchFamily="18" charset="0"/>
              </a:rPr>
              <a:t>Exemplo: </a:t>
            </a:r>
            <a:r>
              <a:rPr lang="pt-PT" sz="2400" dirty="0">
                <a:cs typeface="Times New Roman" panose="02020603050405020304" pitchFamily="18" charset="0"/>
              </a:rPr>
              <a:t>(chamamos a estes </a:t>
            </a:r>
            <a:r>
              <a:rPr lang="pt-PT" sz="2400" b="1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Iteradores</a:t>
            </a:r>
            <a:r>
              <a:rPr lang="pt-PT" sz="24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 Externos</a:t>
            </a:r>
            <a:r>
              <a:rPr lang="pt-PT" sz="2400" dirty="0">
                <a:cs typeface="Times New Roman" panose="02020603050405020304" pitchFamily="18" charset="0"/>
              </a:rPr>
              <a:t>)</a:t>
            </a:r>
          </a:p>
          <a:p>
            <a:pPr marL="800100" lvl="2" indent="0">
              <a:buFontTx/>
              <a:buNone/>
              <a:defRPr/>
            </a:pPr>
            <a:r>
              <a:rPr lang="pt-PT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PT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PT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contaAprovados</a:t>
            </a:r>
            <a:r>
              <a:rPr lang="pt-PT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800100" lvl="2" indent="0">
              <a:buFontTx/>
              <a:buNone/>
              <a:defRPr/>
            </a:pPr>
            <a:r>
              <a:rPr lang="pt-PT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   </a:t>
            </a:r>
            <a:r>
              <a:rPr lang="pt-PT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Iterator</a:t>
            </a:r>
            <a:r>
              <a:rPr lang="pt-PT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&lt;Aluno&gt; i = </a:t>
            </a:r>
            <a:r>
              <a:rPr lang="pt-PT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listaAlunos.iterator</a:t>
            </a:r>
            <a:r>
              <a:rPr lang="pt-PT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800100" lvl="2" indent="0">
              <a:buFontTx/>
              <a:buNone/>
              <a:defRPr/>
            </a:pPr>
            <a:r>
              <a:rPr lang="pt-PT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pt-PT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PT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conta = 0;</a:t>
            </a:r>
          </a:p>
          <a:p>
            <a:pPr marL="800100" lvl="2" indent="0">
              <a:buFontTx/>
              <a:buNone/>
              <a:defRPr/>
            </a:pPr>
            <a:r>
              <a:rPr lang="pt-PT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pt-PT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pt-PT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i.hasNext</a:t>
            </a:r>
            <a:r>
              <a:rPr lang="pt-PT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)</a:t>
            </a:r>
          </a:p>
          <a:p>
            <a:pPr marL="800100" lvl="2" indent="0">
              <a:buFontTx/>
              <a:buNone/>
              <a:defRPr/>
            </a:pPr>
            <a:r>
              <a:rPr lang="pt-PT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{   Aluno a = </a:t>
            </a:r>
            <a:r>
              <a:rPr lang="pt-PT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i.next</a:t>
            </a:r>
            <a:r>
              <a:rPr lang="pt-PT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1314450" lvl="3" indent="0">
              <a:buFontTx/>
              <a:buNone/>
              <a:defRPr/>
            </a:pPr>
            <a:r>
              <a:rPr lang="pt-PT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PT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PT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a.nota</a:t>
            </a:r>
            <a:r>
              <a:rPr lang="pt-PT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&gt;= 10.0) conta++;</a:t>
            </a:r>
          </a:p>
          <a:p>
            <a:pPr marL="857250" lvl="2" indent="0">
              <a:buFontTx/>
              <a:buNone/>
              <a:defRPr/>
            </a:pPr>
            <a:r>
              <a:rPr lang="pt-PT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</a:p>
          <a:p>
            <a:pPr marL="857250" lvl="2" indent="0">
              <a:buFontTx/>
              <a:buNone/>
              <a:defRPr/>
            </a:pPr>
            <a:r>
              <a:rPr lang="pt-PT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pt-PT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PT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conta;</a:t>
            </a:r>
          </a:p>
          <a:p>
            <a:pPr marL="857250" lvl="2" indent="0">
              <a:buFontTx/>
              <a:buNone/>
              <a:defRPr/>
            </a:pPr>
            <a:r>
              <a:rPr lang="pt-PT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9220" name="Footer Placeholder 3">
            <a:extLst>
              <a:ext uri="{FF2B5EF4-FFF2-40B4-BE49-F238E27FC236}">
                <a16:creationId xmlns:a16="http://schemas.microsoft.com/office/drawing/2014/main" id="{EBA6C053-27D0-4480-BA4D-4F11670C1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85B226F3-D773-4188-B75C-E304FF71A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A5415F-6AE1-4DAB-9A30-064EA48EF121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pt-PT" alt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45F05C02-AB7D-4028-99F7-CA8F27E959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r>
              <a:rPr lang="pt-PT" altLang="en-US"/>
              <a:t>Padrões de Utilização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75082305-D101-465E-84D2-2B73BE677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25" y="1052513"/>
            <a:ext cx="4691063" cy="2260600"/>
          </a:xfrm>
          <a:solidFill>
            <a:schemeClr val="accent1"/>
          </a:solidFill>
          <a:ln>
            <a:solidFill>
              <a:schemeClr val="tx2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Iterator&lt;E&gt; i = 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coleção.iterator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elemento;</a:t>
            </a:r>
          </a:p>
          <a:p>
            <a:pPr marL="0" indent="0"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while(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i.hasNext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 marL="0" indent="0"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	elemento = 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i.next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pPr marL="0" indent="0"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// fazer algo aqui com elemento</a:t>
            </a:r>
          </a:p>
          <a:p>
            <a:pPr marL="0" indent="0"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}</a:t>
            </a:r>
          </a:p>
          <a:p>
            <a:pPr marL="0" indent="0">
              <a:buFontTx/>
              <a:buNone/>
            </a:pPr>
            <a:endParaRPr lang="pt-PT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4" name="Footer Placeholder 3">
            <a:extLst>
              <a:ext uri="{FF2B5EF4-FFF2-40B4-BE49-F238E27FC236}">
                <a16:creationId xmlns:a16="http://schemas.microsoft.com/office/drawing/2014/main" id="{355948C1-443F-4A6D-903B-50F4150F2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0245" name="Slide Number Placeholder 4">
            <a:extLst>
              <a:ext uri="{FF2B5EF4-FFF2-40B4-BE49-F238E27FC236}">
                <a16:creationId xmlns:a16="http://schemas.microsoft.com/office/drawing/2014/main" id="{CD20290B-F0AB-4C9B-A092-4E24A7196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48891E-A0C1-43DE-82F4-FC4CAB4E3FA5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pt-PT" altLang="en-US" sz="1400"/>
          </a:p>
        </p:txBody>
      </p:sp>
      <p:sp>
        <p:nvSpPr>
          <p:cNvPr id="10246" name="TextBox 6">
            <a:extLst>
              <a:ext uri="{FF2B5EF4-FFF2-40B4-BE49-F238E27FC236}">
                <a16:creationId xmlns:a16="http://schemas.microsoft.com/office/drawing/2014/main" id="{E28A8A2B-4A54-4BF9-B972-64D19EA81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940175"/>
            <a:ext cx="4464050" cy="28019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//procurar algo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 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false;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Iterator&lt;E&gt; i = 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coleção.iterator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elemento;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while(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i.hasNext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&amp;&amp; ! 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	elemento = 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i.next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if(critério de procurar sobre elemento)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true;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fazer alguma coisa com elemento encontrado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</a:p>
        </p:txBody>
      </p:sp>
      <p:sp>
        <p:nvSpPr>
          <p:cNvPr id="10247" name="TextBox 8">
            <a:extLst>
              <a:ext uri="{FF2B5EF4-FFF2-40B4-BE49-F238E27FC236}">
                <a16:creationId xmlns:a16="http://schemas.microsoft.com/office/drawing/2014/main" id="{B4AD7469-E44B-43B6-B187-434E110E2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2489200"/>
            <a:ext cx="4321175" cy="2308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//eliminar algo da coleção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Iterator&lt;E&gt; i = 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coleção.iterator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elemento;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while(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i.hasNext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	elemento = 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i.next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if(critério de procurar sobre elemento)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PT" alt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i.remove</a:t>
            </a: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F25FF94C-023A-4CED-921F-8CDFF35E13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PT" altLang="en-US" dirty="0" err="1">
                <a:solidFill>
                  <a:srgbClr val="FF0000"/>
                </a:solidFill>
              </a:rPr>
              <a:t>Iteradores</a:t>
            </a:r>
            <a:r>
              <a:rPr lang="pt-PT" altLang="en-US" dirty="0">
                <a:solidFill>
                  <a:srgbClr val="FF0000"/>
                </a:solidFill>
              </a:rPr>
              <a:t> Internos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D4934817-90B9-4677-9CC7-EE8AA2E34C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PT" altLang="en-US" dirty="0"/>
              <a:t>O JAVA8 trás novas capacidades à linguagem nomeadamente em termos de processamento de coleções.</a:t>
            </a:r>
          </a:p>
          <a:p>
            <a:r>
              <a:rPr lang="pt-PT" altLang="en-US" dirty="0"/>
              <a:t>Ex: método </a:t>
            </a:r>
            <a:r>
              <a:rPr lang="pt-PT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forEach()</a:t>
            </a:r>
            <a:r>
              <a:rPr lang="pt-PT" altLang="en-US" dirty="0"/>
              <a:t> que todas as coleções implementam em JAVA8.</a:t>
            </a:r>
          </a:p>
          <a:p>
            <a:r>
              <a:rPr lang="pt-PT" altLang="en-US" dirty="0">
                <a:solidFill>
                  <a:srgbClr val="FF0000"/>
                </a:solidFill>
              </a:rPr>
              <a:t>Ideia: aceitar uma </a:t>
            </a:r>
            <a:r>
              <a:rPr lang="pt-PT" altLang="en-US" i="1" dirty="0">
                <a:solidFill>
                  <a:srgbClr val="FF0000"/>
                </a:solidFill>
              </a:rPr>
              <a:t>função</a:t>
            </a:r>
            <a:r>
              <a:rPr lang="pt-PT" altLang="en-US" dirty="0">
                <a:solidFill>
                  <a:srgbClr val="FF0000"/>
                </a:solidFill>
              </a:rPr>
              <a:t> para atuar em todos os elementos da coleção!</a:t>
            </a:r>
          </a:p>
          <a:p>
            <a:pPr lvl="1"/>
            <a:r>
              <a:rPr lang="pt-PT" altLang="en-US" dirty="0">
                <a:solidFill>
                  <a:srgbClr val="FF0000"/>
                </a:solidFill>
              </a:rPr>
              <a:t>Funções lambda (expressões lambda)</a:t>
            </a:r>
          </a:p>
        </p:txBody>
      </p:sp>
      <p:sp>
        <p:nvSpPr>
          <p:cNvPr id="11268" name="Footer Placeholder 3">
            <a:extLst>
              <a:ext uri="{FF2B5EF4-FFF2-40B4-BE49-F238E27FC236}">
                <a16:creationId xmlns:a16="http://schemas.microsoft.com/office/drawing/2014/main" id="{DDA41161-0012-4C70-8C0A-E09B26401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1269" name="Slide Number Placeholder 4">
            <a:extLst>
              <a:ext uri="{FF2B5EF4-FFF2-40B4-BE49-F238E27FC236}">
                <a16:creationId xmlns:a16="http://schemas.microsoft.com/office/drawing/2014/main" id="{6B57BE64-23C0-42E2-AEA2-9AF75A5E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B1E2B9-A49E-45F5-A486-CCC3176C2B99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pt-PT" alt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2E12A137-7A60-4173-9446-0F98A9B30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PT" altLang="en-US"/>
              <a:t>Exemplo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D882D38D-67EC-496E-BC4E-0AA6688D8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6707188" cy="1828800"/>
          </a:xfrm>
          <a:solidFill>
            <a:schemeClr val="accent1"/>
          </a:solidFill>
          <a:ln>
            <a:solidFill>
              <a:schemeClr val="tx2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buFontTx/>
              <a:buNone/>
            </a:pPr>
            <a:r>
              <a:rPr lang="pt-PT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//JAVA7</a:t>
            </a:r>
          </a:p>
          <a:p>
            <a:pPr marL="0" indent="0">
              <a:buFontTx/>
              <a:buNone/>
            </a:pPr>
            <a:r>
              <a:rPr lang="pt-PT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public void addTaxa(double tx)</a:t>
            </a:r>
          </a:p>
          <a:p>
            <a:pPr marL="0" indent="0">
              <a:buFontTx/>
              <a:buNone/>
            </a:pPr>
            <a:r>
              <a:rPr lang="pt-PT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0" indent="0">
              <a:buFontTx/>
              <a:buNone/>
            </a:pPr>
            <a:r>
              <a:rPr lang="pt-PT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	for(Cliente c:listaClientes)</a:t>
            </a:r>
          </a:p>
          <a:p>
            <a:pPr marL="0" indent="0">
              <a:buFontTx/>
              <a:buNone/>
            </a:pPr>
            <a:r>
              <a:rPr lang="pt-PT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		c.setTotal(c.getTotal() * (1.0 + tx));</a:t>
            </a:r>
          </a:p>
          <a:p>
            <a:pPr marL="0" indent="0">
              <a:buFontTx/>
              <a:buNone/>
            </a:pPr>
            <a:r>
              <a:rPr lang="pt-PT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2292" name="Footer Placeholder 3">
            <a:extLst>
              <a:ext uri="{FF2B5EF4-FFF2-40B4-BE49-F238E27FC236}">
                <a16:creationId xmlns:a16="http://schemas.microsoft.com/office/drawing/2014/main" id="{672D6D44-1C7C-4666-B393-0AD1732DE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2293" name="Slide Number Placeholder 4">
            <a:extLst>
              <a:ext uri="{FF2B5EF4-FFF2-40B4-BE49-F238E27FC236}">
                <a16:creationId xmlns:a16="http://schemas.microsoft.com/office/drawing/2014/main" id="{BB068EBE-1BC5-4D2C-818F-5FAB13A85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F0B6E2-D50F-4801-BB8E-86BB60C8A2FE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pt-PT" altLang="en-US" sz="1400"/>
          </a:p>
        </p:txBody>
      </p:sp>
      <p:sp>
        <p:nvSpPr>
          <p:cNvPr id="12294" name="TextBox 6">
            <a:extLst>
              <a:ext uri="{FF2B5EF4-FFF2-40B4-BE49-F238E27FC236}">
                <a16:creationId xmlns:a16="http://schemas.microsoft.com/office/drawing/2014/main" id="{D5F1C283-D76D-4F72-BF0C-7637BCB4B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077072"/>
            <a:ext cx="8339137" cy="147796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pt-PT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//JAVA8</a:t>
            </a:r>
          </a:p>
          <a:p>
            <a:pPr>
              <a:defRPr/>
            </a:pP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addTaxa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tx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defRPr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>
              <a:defRPr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listaClientes.forEach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(Cliente c) -&gt; { 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c.setTotal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c.getTotal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* (1.0 + 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tx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); });</a:t>
            </a:r>
          </a:p>
          <a:p>
            <a:pPr>
              <a:defRPr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pt-PT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69A2EE37-752B-499C-92E0-7E1C9EBA2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PT" altLang="en-US"/>
              <a:t>Expressões 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CFD4B-FECA-4B9E-90DA-5208A8C37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(Tipo1 p1, Tipo2 p2,…) -&gt; { corpo do método}</a:t>
            </a:r>
          </a:p>
          <a:p>
            <a:pPr>
              <a:defRPr/>
            </a:pPr>
            <a:endParaRPr lang="pt-P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São métodos anónimos, que podem ser passados com parâmetros</a:t>
            </a:r>
          </a:p>
          <a:p>
            <a:pPr>
              <a:defRPr/>
            </a:pP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expressão anterior pode ser simplificada:</a:t>
            </a:r>
          </a:p>
          <a:p>
            <a:pPr>
              <a:defRPr/>
            </a:pPr>
            <a:endParaRPr lang="pt-P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addTaxa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FontTx/>
              <a:buNone/>
              <a:defRPr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0" indent="0">
              <a:buFontTx/>
              <a:buNone/>
              <a:defRPr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listaClientes.forEach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c -&gt; {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c.setTotal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c.getTotal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* (1.0 +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); });</a:t>
            </a:r>
          </a:p>
          <a:p>
            <a:pPr marL="0" indent="0">
              <a:buFontTx/>
              <a:buNone/>
              <a:defRPr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pt-PT" sz="2000" dirty="0"/>
          </a:p>
          <a:p>
            <a:pPr>
              <a:defRPr/>
            </a:pPr>
            <a:endParaRPr lang="pt-P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6" name="Footer Placeholder 3">
            <a:extLst>
              <a:ext uri="{FF2B5EF4-FFF2-40B4-BE49-F238E27FC236}">
                <a16:creationId xmlns:a16="http://schemas.microsoft.com/office/drawing/2014/main" id="{F5B07C01-86CA-4F86-840A-82C2558AE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3317" name="Slide Number Placeholder 4">
            <a:extLst>
              <a:ext uri="{FF2B5EF4-FFF2-40B4-BE49-F238E27FC236}">
                <a16:creationId xmlns:a16="http://schemas.microsoft.com/office/drawing/2014/main" id="{50B6CF5C-2EC1-4864-8291-5EFF96319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518D30-2D2B-4966-9AD7-332AF7871C3A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pt-PT" altLang="en-US" sz="1400"/>
          </a:p>
        </p:txBody>
      </p:sp>
      <p:sp>
        <p:nvSpPr>
          <p:cNvPr id="6" name="Oval Callout 5">
            <a:extLst>
              <a:ext uri="{FF2B5EF4-FFF2-40B4-BE49-F238E27FC236}">
                <a16:creationId xmlns:a16="http://schemas.microsoft.com/office/drawing/2014/main" id="{9D8CBF19-5739-459F-B597-CEA07E354972}"/>
              </a:ext>
            </a:extLst>
          </p:cNvPr>
          <p:cNvSpPr/>
          <p:nvPr/>
        </p:nvSpPr>
        <p:spPr>
          <a:xfrm>
            <a:off x="107950" y="5805488"/>
            <a:ext cx="3600450" cy="1008062"/>
          </a:xfrm>
          <a:prstGeom prst="wedgeEllipseCallout">
            <a:avLst>
              <a:gd name="adj1" fmla="val 51883"/>
              <a:gd name="adj2" fmla="val -692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PT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PT" dirty="0">
                <a:solidFill>
                  <a:schemeClr val="tx2"/>
                </a:solidFill>
              </a:rPr>
              <a:t> é do tipo </a:t>
            </a:r>
            <a:r>
              <a:rPr lang="pt-PT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Cliente</a:t>
            </a:r>
            <a:r>
              <a:rPr lang="pt-PT" dirty="0">
                <a:solidFill>
                  <a:schemeClr val="tx2"/>
                </a:solidFill>
              </a:rPr>
              <a:t> pois </a:t>
            </a:r>
            <a:r>
              <a:rPr lang="pt-PT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listaClientes</a:t>
            </a:r>
            <a:r>
              <a:rPr lang="pt-PT" dirty="0">
                <a:solidFill>
                  <a:schemeClr val="tx2"/>
                </a:solidFill>
              </a:rPr>
              <a:t> é do tipo </a:t>
            </a:r>
            <a:r>
              <a:rPr lang="pt-PT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pt-PT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&lt;Cliente&gt;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B3F3CDBF-FFC1-49E1-AE51-6EC9D6D9F0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r>
              <a:rPr lang="pt-PT" altLang="en-US" dirty="0">
                <a:solidFill>
                  <a:srgbClr val="FF0000"/>
                </a:solidFill>
              </a:rPr>
              <a:t>Streams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0FBBE3B1-337C-4F69-BFFF-9E9088336C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1438"/>
            <a:ext cx="8229600" cy="3052762"/>
          </a:xfrm>
        </p:spPr>
        <p:txBody>
          <a:bodyPr/>
          <a:lstStyle/>
          <a:p>
            <a:r>
              <a:rPr lang="pt-PT" altLang="en-US"/>
              <a:t>Fonte de valores. A ideia é ter um pipeline de operações i.e sequência de operadores sobre o </a:t>
            </a:r>
            <a:r>
              <a:rPr lang="pt-PT" altLang="en-US" i="1"/>
              <a:t>stream</a:t>
            </a:r>
            <a:r>
              <a:rPr lang="pt-PT" altLang="en-US"/>
              <a:t>.</a:t>
            </a:r>
          </a:p>
          <a:p>
            <a:r>
              <a:rPr lang="pt-PT" altLang="en-US"/>
              <a:t>Estas operações alteram os valores produzindo um novo </a:t>
            </a:r>
            <a:r>
              <a:rPr lang="pt-PT" altLang="en-US" i="1"/>
              <a:t>stream</a:t>
            </a:r>
            <a:r>
              <a:rPr lang="pt-PT" altLang="en-US"/>
              <a:t> ou um único valor!</a:t>
            </a:r>
          </a:p>
        </p:txBody>
      </p:sp>
      <p:sp>
        <p:nvSpPr>
          <p:cNvPr id="14340" name="Footer Placeholder 3">
            <a:extLst>
              <a:ext uri="{FF2B5EF4-FFF2-40B4-BE49-F238E27FC236}">
                <a16:creationId xmlns:a16="http://schemas.microsoft.com/office/drawing/2014/main" id="{50C880E9-D3BC-4685-A3E4-861ABC9E1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4341" name="Slide Number Placeholder 4">
            <a:extLst>
              <a:ext uri="{FF2B5EF4-FFF2-40B4-BE49-F238E27FC236}">
                <a16:creationId xmlns:a16="http://schemas.microsoft.com/office/drawing/2014/main" id="{6E9C30D9-ED86-4164-B610-303DD2383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403EAC-7357-4D7C-B630-FD049001CB9C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pt-PT" altLang="en-US" sz="1400"/>
          </a:p>
        </p:txBody>
      </p:sp>
      <p:sp>
        <p:nvSpPr>
          <p:cNvPr id="14342" name="TextBox 1">
            <a:extLst>
              <a:ext uri="{FF2B5EF4-FFF2-40B4-BE49-F238E27FC236}">
                <a16:creationId xmlns:a16="http://schemas.microsoft.com/office/drawing/2014/main" id="{9849AD84-A071-4E92-ABD8-D15F57804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4581525"/>
            <a:ext cx="2855913" cy="20304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public int aprovados()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{  int conta = 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for(Aluno a: lstAlunos)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if(a.nota() &gt;=10.0)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conta++;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conta;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3718A-21DF-4123-BAEF-D12BDF0FCD86}"/>
              </a:ext>
            </a:extLst>
          </p:cNvPr>
          <p:cNvSpPr txBox="1"/>
          <p:nvPr/>
        </p:nvSpPr>
        <p:spPr>
          <a:xfrm>
            <a:off x="2944813" y="4292600"/>
            <a:ext cx="6156325" cy="120015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aprovados()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lstAlunos.stream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a -&gt;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a.nota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&gt;= 10.0 ).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D356D30D-5F4D-45F7-9B7D-F72A0AE07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26988"/>
            <a:ext cx="8229600" cy="1143001"/>
          </a:xfrm>
        </p:spPr>
        <p:txBody>
          <a:bodyPr/>
          <a:lstStyle/>
          <a:p>
            <a:r>
              <a:rPr lang="pt-PT" altLang="en-US"/>
              <a:t>Métodos de </a:t>
            </a:r>
            <a:r>
              <a:rPr lang="pt-PT" altLang="en-US" i="1"/>
              <a:t>Stream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A3D67849-6565-48D4-A4BF-A12EA37606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19163"/>
            <a:ext cx="8229600" cy="5867400"/>
          </a:xfrm>
        </p:spPr>
        <p:txBody>
          <a:bodyPr/>
          <a:lstStyle/>
          <a:p>
            <a:r>
              <a:rPr lang="pt-PT" altLang="en-US" dirty="0"/>
              <a:t>Coleções implementam método </a:t>
            </a:r>
            <a:r>
              <a:rPr lang="pt-PT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stream()</a:t>
            </a:r>
            <a:r>
              <a:rPr lang="pt-PT" altLang="en-US" dirty="0"/>
              <a:t> que produz uma stream.</a:t>
            </a:r>
          </a:p>
          <a:p>
            <a:r>
              <a:rPr lang="pt-PT" altLang="en-US" dirty="0">
                <a:solidFill>
                  <a:srgbClr val="FF0000"/>
                </a:solidFill>
              </a:rPr>
              <a:t>Métodos (alguns) da API de 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</a:t>
            </a:r>
            <a:r>
              <a:rPr lang="pt-PT" altLang="en-US" dirty="0">
                <a:solidFill>
                  <a:srgbClr val="FF0000"/>
                </a:solidFill>
              </a:rPr>
              <a:t>:</a:t>
            </a:r>
          </a:p>
          <a:p>
            <a:pPr lvl="1"/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AllMatch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 </a:t>
            </a:r>
            <a:r>
              <a:rPr lang="pt-PT" altLang="en-US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determina se todos os casos fazem match com o predicado fornecido</a:t>
            </a:r>
            <a:endParaRPr lang="pt-PT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anyMatch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  </a:t>
            </a:r>
            <a:r>
              <a:rPr lang="pt-PT" altLang="en-US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algum caso faz match</a:t>
            </a:r>
            <a:endParaRPr lang="pt-PT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noneMatch()  </a:t>
            </a:r>
            <a:r>
              <a:rPr lang="pt-PT" altLang="en-US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nenhum caso faz match</a:t>
            </a:r>
          </a:p>
          <a:p>
            <a:pPr lvl="1"/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  </a:t>
            </a:r>
            <a:r>
              <a:rPr lang="pt-PT" altLang="en-US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conta os casos da stream</a:t>
            </a:r>
            <a:endParaRPr lang="pt-PT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   </a:t>
            </a:r>
            <a:r>
              <a:rPr lang="pt-PT" altLang="en-US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filtra os casos da stream usando um predicado</a:t>
            </a:r>
            <a:endParaRPr lang="pt-PT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map()   </a:t>
            </a:r>
            <a:r>
              <a:rPr lang="pt-PT" altLang="en-US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transforma os elementos da stream usando uma função</a:t>
            </a:r>
          </a:p>
          <a:p>
            <a:pPr lvl="1"/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collect()  </a:t>
            </a:r>
            <a:r>
              <a:rPr lang="pt-PT" altLang="en-US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junta elementos da stream num lista ou String</a:t>
            </a:r>
          </a:p>
          <a:p>
            <a:pPr lvl="1"/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 </a:t>
            </a:r>
            <a:r>
              <a:rPr lang="pt-PT" altLang="en-US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faz uma redução (</a:t>
            </a:r>
            <a:r>
              <a:rPr lang="pt-PT" altLang="en-US" sz="2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folding</a:t>
            </a:r>
            <a:r>
              <a:rPr lang="pt-PT" altLang="en-US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Sorted()  </a:t>
            </a:r>
            <a:r>
              <a:rPr lang="pt-PT" altLang="en-US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ordena elementos da stream</a:t>
            </a:r>
          </a:p>
          <a:p>
            <a:pPr lvl="1"/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toArray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pt-PT" altLang="en-US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retorna um array com os elementos da stream</a:t>
            </a:r>
          </a:p>
        </p:txBody>
      </p:sp>
      <p:sp>
        <p:nvSpPr>
          <p:cNvPr id="15364" name="Footer Placeholder 3">
            <a:extLst>
              <a:ext uri="{FF2B5EF4-FFF2-40B4-BE49-F238E27FC236}">
                <a16:creationId xmlns:a16="http://schemas.microsoft.com/office/drawing/2014/main" id="{368C39D1-3DBC-44D6-B9B2-CA61EFBD7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5365" name="Slide Number Placeholder 4">
            <a:extLst>
              <a:ext uri="{FF2B5EF4-FFF2-40B4-BE49-F238E27FC236}">
                <a16:creationId xmlns:a16="http://schemas.microsoft.com/office/drawing/2014/main" id="{E5CD2DC3-8189-412B-BB3A-DE8178861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DA347C-9476-4C4D-BEC8-F58E659FF752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pt-PT" alt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DBD91673-0B76-4349-8AF8-20980A3EB8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PT" altLang="en-US"/>
              <a:t>Exemplos</a:t>
            </a:r>
          </a:p>
        </p:txBody>
      </p:sp>
      <p:sp>
        <p:nvSpPr>
          <p:cNvPr id="16387" name="Footer Placeholder 3">
            <a:extLst>
              <a:ext uri="{FF2B5EF4-FFF2-40B4-BE49-F238E27FC236}">
                <a16:creationId xmlns:a16="http://schemas.microsoft.com/office/drawing/2014/main" id="{828A58EA-2F71-4702-AD10-5649A691A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6388" name="Slide Number Placeholder 4">
            <a:extLst>
              <a:ext uri="{FF2B5EF4-FFF2-40B4-BE49-F238E27FC236}">
                <a16:creationId xmlns:a16="http://schemas.microsoft.com/office/drawing/2014/main" id="{48834D3B-497F-42EC-9BA2-40408E17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8A8A29-94F9-4B8F-9106-3172D06220EA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pt-PT" altLang="en-US" sz="1400"/>
          </a:p>
        </p:txBody>
      </p:sp>
      <p:sp>
        <p:nvSpPr>
          <p:cNvPr id="16389" name="TextBox 5">
            <a:extLst>
              <a:ext uri="{FF2B5EF4-FFF2-40B4-BE49-F238E27FC236}">
                <a16:creationId xmlns:a16="http://schemas.microsoft.com/office/drawing/2014/main" id="{94D156CE-9F42-4417-9F8D-E4267B462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1700213"/>
            <a:ext cx="4151313" cy="28622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public boolean haExcelente()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{  boolean ha = false;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Iterator&lt;Aluno&gt; i = lstAlunos.iterator();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while(i.hasNext() &amp;&amp; !ha)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{	Aluno a = i.next();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if(a.nota() &gt;=19.0)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ha = true;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ha;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FE6E31-4E70-459E-BC5C-108316119AE8}"/>
              </a:ext>
            </a:extLst>
          </p:cNvPr>
          <p:cNvSpPr txBox="1"/>
          <p:nvPr/>
        </p:nvSpPr>
        <p:spPr>
          <a:xfrm>
            <a:off x="2987675" y="4748213"/>
            <a:ext cx="6156325" cy="120173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haExcelente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lstAlunos.stream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anyMatch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a -&gt;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a.nota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&gt;= 19.0 );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9D7453F7-D0B9-4B7B-A9ED-73FAC88F64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PT" altLang="en-US"/>
              <a:t>Referência a métodos</a:t>
            </a:r>
            <a:br>
              <a:rPr lang="pt-PT" altLang="en-US"/>
            </a:br>
            <a:r>
              <a:rPr lang="pt-PT" altLang="en-US"/>
              <a:t>(nova forma)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922AFD9D-3449-4361-AAB5-394C0B65C0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2981325"/>
          </a:xfrm>
        </p:spPr>
        <p:txBody>
          <a:bodyPr/>
          <a:lstStyle/>
          <a:p>
            <a:r>
              <a:rPr lang="pt-PT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Classe :: método</a:t>
            </a:r>
          </a:p>
          <a:p>
            <a:r>
              <a:rPr lang="pt-PT" altLang="en-US"/>
              <a:t>Referencia do método pelo seu nome</a:t>
            </a:r>
          </a:p>
          <a:p>
            <a:r>
              <a:rPr lang="pt-PT" altLang="en-US"/>
              <a:t>Útil nas expressões lambda</a:t>
            </a:r>
          </a:p>
          <a:p>
            <a:r>
              <a:rPr lang="pt-PT" altLang="en-US"/>
              <a:t>Objeto que recebe mensagem está implícito na expressão (contexto)</a:t>
            </a:r>
          </a:p>
        </p:txBody>
      </p:sp>
      <p:sp>
        <p:nvSpPr>
          <p:cNvPr id="17412" name="Footer Placeholder 3">
            <a:extLst>
              <a:ext uri="{FF2B5EF4-FFF2-40B4-BE49-F238E27FC236}">
                <a16:creationId xmlns:a16="http://schemas.microsoft.com/office/drawing/2014/main" id="{92A5B9F1-74B4-4C71-9490-EDDE04A66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7413" name="Slide Number Placeholder 4">
            <a:extLst>
              <a:ext uri="{FF2B5EF4-FFF2-40B4-BE49-F238E27FC236}">
                <a16:creationId xmlns:a16="http://schemas.microsoft.com/office/drawing/2014/main" id="{FC1D75FF-60CF-49CC-82CC-BBD1CB69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7BDEDE-B82B-4F3E-9199-725F9BEBC095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pt-PT" alt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B4A150-C64E-4CE4-9C7A-4F57B83D8A3D}"/>
              </a:ext>
            </a:extLst>
          </p:cNvPr>
          <p:cNvSpPr txBox="1"/>
          <p:nvPr/>
        </p:nvSpPr>
        <p:spPr>
          <a:xfrm>
            <a:off x="1908175" y="4748213"/>
            <a:ext cx="6156325" cy="120173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haAdulto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lstAlunos.stream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anyMatch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Aluno ::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maiorIdade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);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Oval Callout 6">
            <a:extLst>
              <a:ext uri="{FF2B5EF4-FFF2-40B4-BE49-F238E27FC236}">
                <a16:creationId xmlns:a16="http://schemas.microsoft.com/office/drawing/2014/main" id="{DB3250F9-4044-4DE8-8423-AC451864CB7F}"/>
              </a:ext>
            </a:extLst>
          </p:cNvPr>
          <p:cNvSpPr/>
          <p:nvPr/>
        </p:nvSpPr>
        <p:spPr>
          <a:xfrm>
            <a:off x="7164388" y="3357563"/>
            <a:ext cx="1944687" cy="1584325"/>
          </a:xfrm>
          <a:prstGeom prst="wedgeEllipseCallout">
            <a:avLst>
              <a:gd name="adj1" fmla="val -53285"/>
              <a:gd name="adj2" fmla="val 740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PT" sz="1200" dirty="0">
                <a:solidFill>
                  <a:schemeClr val="tx1"/>
                </a:solidFill>
              </a:rPr>
              <a:t>Assumimos que há o método </a:t>
            </a:r>
            <a:r>
              <a:rPr lang="pt-PT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pt-PT" sz="1200" dirty="0">
                <a:solidFill>
                  <a:schemeClr val="tx1"/>
                </a:solidFill>
              </a:rPr>
              <a:t> </a:t>
            </a:r>
            <a:r>
              <a:rPr lang="pt-PT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maiorIdade</a:t>
            </a:r>
            <a:r>
              <a:rPr lang="pt-P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pt-PT" sz="1200" dirty="0">
                <a:solidFill>
                  <a:schemeClr val="tx1"/>
                </a:solidFill>
              </a:rPr>
              <a:t> na classe </a:t>
            </a:r>
            <a:r>
              <a:rPr lang="pt-P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Aluno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D0F300EE-04BC-4B62-9CAE-589E34398F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PT" altLang="en-US" dirty="0">
                <a:solidFill>
                  <a:srgbClr val="FF0000"/>
                </a:solidFill>
              </a:rPr>
              <a:t>Copiar uma coleção </a:t>
            </a:r>
            <a:br>
              <a:rPr lang="pt-PT" altLang="en-US" dirty="0">
                <a:solidFill>
                  <a:srgbClr val="FF0000"/>
                </a:solidFill>
              </a:rPr>
            </a:br>
            <a:r>
              <a:rPr lang="pt-PT" altLang="en-US" dirty="0"/>
              <a:t>(deep-copy)</a:t>
            </a:r>
          </a:p>
        </p:txBody>
      </p:sp>
      <p:sp>
        <p:nvSpPr>
          <p:cNvPr id="18435" name="Footer Placeholder 3">
            <a:extLst>
              <a:ext uri="{FF2B5EF4-FFF2-40B4-BE49-F238E27FC236}">
                <a16:creationId xmlns:a16="http://schemas.microsoft.com/office/drawing/2014/main" id="{90D3332A-F3F2-49C9-A7BE-6434C16D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8436" name="Slide Number Placeholder 4">
            <a:extLst>
              <a:ext uri="{FF2B5EF4-FFF2-40B4-BE49-F238E27FC236}">
                <a16:creationId xmlns:a16="http://schemas.microsoft.com/office/drawing/2014/main" id="{2F0EC4F6-7714-4897-916D-DB521CEB7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24A84E-25E1-4762-9B5D-E1F9F208916E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pt-PT" altLang="en-US" sz="1400"/>
          </a:p>
        </p:txBody>
      </p:sp>
      <p:sp>
        <p:nvSpPr>
          <p:cNvPr id="18437" name="TextBox 5">
            <a:extLst>
              <a:ext uri="{FF2B5EF4-FFF2-40B4-BE49-F238E27FC236}">
                <a16:creationId xmlns:a16="http://schemas.microsoft.com/office/drawing/2014/main" id="{498B633F-2894-4F0A-9325-584FDE5F07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1989138"/>
            <a:ext cx="5265738" cy="1754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public List&lt;Aluno&gt; getlstAlunos()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{  ArrayList&lt;Aluno&gt; nova = new ArrayList&lt;Aluno&gt;();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for(Aluno a: lstAlunos)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nova.add(a.clone());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nova;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AB7B4E-1543-441B-BFA9-7B0133EBEA6F}"/>
              </a:ext>
            </a:extLst>
          </p:cNvPr>
          <p:cNvSpPr txBox="1"/>
          <p:nvPr/>
        </p:nvSpPr>
        <p:spPr>
          <a:xfrm>
            <a:off x="1835150" y="4605338"/>
            <a:ext cx="7200900" cy="120015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&lt;Aluno&gt;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getLstAlunos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lstAlunos.stream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Aluno :: clone ).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Collectors.toList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8" name="Oval Callout 7">
            <a:extLst>
              <a:ext uri="{FF2B5EF4-FFF2-40B4-BE49-F238E27FC236}">
                <a16:creationId xmlns:a16="http://schemas.microsoft.com/office/drawing/2014/main" id="{ABFA9EF2-9B95-4D31-9BEB-89C1F979A36B}"/>
              </a:ext>
            </a:extLst>
          </p:cNvPr>
          <p:cNvSpPr/>
          <p:nvPr/>
        </p:nvSpPr>
        <p:spPr>
          <a:xfrm>
            <a:off x="6659563" y="2924175"/>
            <a:ext cx="2449512" cy="1225550"/>
          </a:xfrm>
          <a:prstGeom prst="wedgeEllipseCallout">
            <a:avLst>
              <a:gd name="adj1" fmla="val -11564"/>
              <a:gd name="adj2" fmla="val 1396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PT" sz="1100" dirty="0">
                <a:solidFill>
                  <a:schemeClr val="tx2"/>
                </a:solidFill>
              </a:rPr>
              <a:t>Classe que implementa métodos de classe para colecionar de diferentes formas os elementos da </a:t>
            </a:r>
            <a:r>
              <a:rPr lang="pt-PT" sz="1100" i="1" dirty="0" err="1">
                <a:solidFill>
                  <a:schemeClr val="tx2"/>
                </a:solidFill>
              </a:rPr>
              <a:t>stream</a:t>
            </a:r>
            <a:endParaRPr lang="pt-PT" sz="1100" i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8A9E155C-BF03-4B95-AD3D-EF8BAB988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3975"/>
            <a:ext cx="8229600" cy="1143000"/>
          </a:xfrm>
        </p:spPr>
        <p:txBody>
          <a:bodyPr/>
          <a:lstStyle/>
          <a:p>
            <a:r>
              <a:rPr lang="pt-PT" altLang="en-US"/>
              <a:t>Eliminação numa </a:t>
            </a:r>
            <a:r>
              <a:rPr lang="pt-PT" altLang="en-US" i="1"/>
              <a:t>Stream</a:t>
            </a:r>
          </a:p>
        </p:txBody>
      </p:sp>
      <p:sp>
        <p:nvSpPr>
          <p:cNvPr id="19459" name="Footer Placeholder 3">
            <a:extLst>
              <a:ext uri="{FF2B5EF4-FFF2-40B4-BE49-F238E27FC236}">
                <a16:creationId xmlns:a16="http://schemas.microsoft.com/office/drawing/2014/main" id="{24194AE9-2871-459F-824E-D996F5731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9460" name="Slide Number Placeholder 4">
            <a:extLst>
              <a:ext uri="{FF2B5EF4-FFF2-40B4-BE49-F238E27FC236}">
                <a16:creationId xmlns:a16="http://schemas.microsoft.com/office/drawing/2014/main" id="{2B9D62DA-825C-4BE8-ABCE-377C4912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9535A9C-9BD8-4E7C-9E09-CDBD6729A800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pt-PT" altLang="en-US" sz="1400"/>
          </a:p>
        </p:txBody>
      </p:sp>
      <p:sp>
        <p:nvSpPr>
          <p:cNvPr id="19461" name="TextBox 5">
            <a:extLst>
              <a:ext uri="{FF2B5EF4-FFF2-40B4-BE49-F238E27FC236}">
                <a16:creationId xmlns:a16="http://schemas.microsoft.com/office/drawing/2014/main" id="{C8E33667-73B6-4C41-829E-B000FF645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981075"/>
            <a:ext cx="4151312" cy="2584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public void  deletePorNota(int nota)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Iterator&lt;Aluno&gt; i = lstAlunos.iterator();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while(i.hasNext())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{	Aluno a = i.next();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if(a.nota() &lt; nota)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i.remove();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4E9AC6-040B-4DF1-A32D-7359B5445036}"/>
              </a:ext>
            </a:extLst>
          </p:cNvPr>
          <p:cNvSpPr txBox="1"/>
          <p:nvPr/>
        </p:nvSpPr>
        <p:spPr>
          <a:xfrm>
            <a:off x="34925" y="3789363"/>
            <a:ext cx="8281988" cy="120015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deletePorNota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nota)</a:t>
            </a:r>
          </a:p>
          <a:p>
            <a:pPr>
              <a:defRPr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defRPr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lstAlunos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lstAlunos.stream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 -&gt;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a.nota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&gt;= nota).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Collectors.toList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pPr>
              <a:defRPr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56F78B-850C-4411-8F7E-73ABDFDA903C}"/>
              </a:ext>
            </a:extLst>
          </p:cNvPr>
          <p:cNvSpPr txBox="1"/>
          <p:nvPr/>
        </p:nvSpPr>
        <p:spPr>
          <a:xfrm>
            <a:off x="971550" y="5468938"/>
            <a:ext cx="8137525" cy="120015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deletePorNota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nota)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lstAlunos.removeIf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a -&gt;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a.nota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&lt; nota);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9464" name="TextBox 8">
            <a:extLst>
              <a:ext uri="{FF2B5EF4-FFF2-40B4-BE49-F238E27FC236}">
                <a16:creationId xmlns:a16="http://schemas.microsoft.com/office/drawing/2014/main" id="{93B38B8D-CEB5-42EF-8C7C-AA6D5B284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5084763"/>
            <a:ext cx="28130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800"/>
              <a:t>Mas podemos escrever…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F2F423E8-90ED-43F4-BE7B-8F9D9D9C0C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r>
              <a:rPr lang="pt-PT" altLang="en-US" i="1"/>
              <a:t>Streams</a:t>
            </a:r>
            <a:r>
              <a:rPr lang="pt-PT" altLang="en-US"/>
              <a:t> especificas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CE335645-29E2-4BFC-A00C-AC1F4431F3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08050"/>
            <a:ext cx="8229600" cy="5878513"/>
          </a:xfrm>
        </p:spPr>
        <p:txBody>
          <a:bodyPr/>
          <a:lstStyle/>
          <a:p>
            <a:r>
              <a:rPr lang="pt-PT" altLang="en-US"/>
              <a:t>Java oferece forma de definir </a:t>
            </a:r>
            <a:r>
              <a:rPr lang="pt-PT" altLang="en-US" i="1"/>
              <a:t>streams</a:t>
            </a:r>
            <a:r>
              <a:rPr lang="pt-PT" altLang="en-US"/>
              <a:t> de tipos primitivos</a:t>
            </a:r>
          </a:p>
          <a:p>
            <a:pPr lvl="1"/>
            <a:r>
              <a:rPr lang="pt-PT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mapToInt()</a:t>
            </a:r>
          </a:p>
          <a:p>
            <a:pPr lvl="1"/>
            <a:r>
              <a:rPr lang="pt-PT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mapToDouble()</a:t>
            </a:r>
          </a:p>
          <a:p>
            <a:pPr lvl="1"/>
            <a:r>
              <a:rPr lang="pt-PT" altLang="en-US"/>
              <a:t>etc…</a:t>
            </a:r>
          </a:p>
          <a:p>
            <a:r>
              <a:rPr lang="pt-PT" altLang="en-US"/>
              <a:t>Métodos específicos para atuar nestas streams</a:t>
            </a:r>
          </a:p>
          <a:p>
            <a:pPr lvl="1"/>
            <a:r>
              <a:rPr lang="pt-PT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average()</a:t>
            </a:r>
          </a:p>
          <a:p>
            <a:pPr lvl="1"/>
            <a:r>
              <a:rPr lang="pt-PT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max() </a:t>
            </a:r>
            <a:r>
              <a:rPr lang="pt-PT" altLang="en-US" sz="2400">
                <a:cs typeface="Times New Roman" panose="02020603050405020304" pitchFamily="18" charset="0"/>
              </a:rPr>
              <a:t>exige um </a:t>
            </a:r>
            <a:r>
              <a:rPr lang="pt-PT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Comparator</a:t>
            </a:r>
            <a:r>
              <a:rPr lang="pt-PT" altLang="en-US" sz="2400">
                <a:cs typeface="Times New Roman" panose="02020603050405020304" pitchFamily="18" charset="0"/>
              </a:rPr>
              <a:t>!</a:t>
            </a:r>
            <a:endParaRPr lang="pt-PT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pt-PT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min() </a:t>
            </a:r>
            <a:r>
              <a:rPr lang="pt-PT" altLang="en-US" sz="2400">
                <a:cs typeface="Times New Roman" panose="02020603050405020304" pitchFamily="18" charset="0"/>
              </a:rPr>
              <a:t>exige um </a:t>
            </a:r>
            <a:r>
              <a:rPr lang="pt-PT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Comparator</a:t>
            </a:r>
            <a:r>
              <a:rPr lang="pt-PT" altLang="en-US" sz="2400">
                <a:cs typeface="Times New Roman" panose="02020603050405020304" pitchFamily="18" charset="0"/>
              </a:rPr>
              <a:t>!</a:t>
            </a:r>
            <a:endParaRPr lang="pt-PT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pt-PT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sum()</a:t>
            </a:r>
          </a:p>
          <a:p>
            <a:pPr lvl="1"/>
            <a:r>
              <a:rPr lang="pt-PT" altLang="en-US" sz="2400"/>
              <a:t>etc…</a:t>
            </a:r>
          </a:p>
        </p:txBody>
      </p:sp>
      <p:sp>
        <p:nvSpPr>
          <p:cNvPr id="20484" name="Footer Placeholder 3">
            <a:extLst>
              <a:ext uri="{FF2B5EF4-FFF2-40B4-BE49-F238E27FC236}">
                <a16:creationId xmlns:a16="http://schemas.microsoft.com/office/drawing/2014/main" id="{FE287DD5-A8BD-4BB9-BCD5-8BA657121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0485" name="Slide Number Placeholder 4">
            <a:extLst>
              <a:ext uri="{FF2B5EF4-FFF2-40B4-BE49-F238E27FC236}">
                <a16:creationId xmlns:a16="http://schemas.microsoft.com/office/drawing/2014/main" id="{3896936C-6CE2-4CCE-B33A-0970614B0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2448DE-1E02-4DAE-BDE2-6EC3E1D148AD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pt-PT" altLang="en-US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519356CD-15D7-430F-B4BF-B7F1757EE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PT" altLang="en-US"/>
              <a:t>Exemplos</a:t>
            </a:r>
            <a:br>
              <a:rPr lang="pt-PT" altLang="en-US"/>
            </a:br>
            <a:r>
              <a:rPr lang="pt-PT" altLang="en-US"/>
              <a:t>(média)</a:t>
            </a:r>
          </a:p>
        </p:txBody>
      </p:sp>
      <p:sp>
        <p:nvSpPr>
          <p:cNvPr id="21507" name="Footer Placeholder 3">
            <a:extLst>
              <a:ext uri="{FF2B5EF4-FFF2-40B4-BE49-F238E27FC236}">
                <a16:creationId xmlns:a16="http://schemas.microsoft.com/office/drawing/2014/main" id="{02B64FD4-9F2E-4916-A568-86709C57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1508" name="Slide Number Placeholder 4">
            <a:extLst>
              <a:ext uri="{FF2B5EF4-FFF2-40B4-BE49-F238E27FC236}">
                <a16:creationId xmlns:a16="http://schemas.microsoft.com/office/drawing/2014/main" id="{8E514AFA-D96B-456E-B93D-F22B23927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7B3CA9-267C-4875-A863-BB4483BD3903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pt-PT" altLang="en-US" sz="1400"/>
          </a:p>
        </p:txBody>
      </p:sp>
      <p:sp>
        <p:nvSpPr>
          <p:cNvPr id="21509" name="TextBox 6">
            <a:extLst>
              <a:ext uri="{FF2B5EF4-FFF2-40B4-BE49-F238E27FC236}">
                <a16:creationId xmlns:a16="http://schemas.microsoft.com/office/drawing/2014/main" id="{C15EEBA4-299E-496A-A735-43BE3F0BC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563688"/>
            <a:ext cx="4151312" cy="1754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public double media()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{   double med = 0.0;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for(Aluno a:lstAlunos)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	med += a.nota();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med / lstAlunos.size();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B7A355-7603-475B-80FD-6E2CF1038F82}"/>
              </a:ext>
            </a:extLst>
          </p:cNvPr>
          <p:cNvSpPr txBox="1"/>
          <p:nvPr/>
        </p:nvSpPr>
        <p:spPr>
          <a:xfrm>
            <a:off x="900113" y="4327525"/>
            <a:ext cx="8135937" cy="147796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media()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lstAlunos.stream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mapToDouble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(Aluno :: nota).sum();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lstAlunos.size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defRPr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9" name="Oval Callout 8">
            <a:extLst>
              <a:ext uri="{FF2B5EF4-FFF2-40B4-BE49-F238E27FC236}">
                <a16:creationId xmlns:a16="http://schemas.microsoft.com/office/drawing/2014/main" id="{A1531AC9-09D1-45DF-AF44-CB21B7E96643}"/>
              </a:ext>
            </a:extLst>
          </p:cNvPr>
          <p:cNvSpPr/>
          <p:nvPr/>
        </p:nvSpPr>
        <p:spPr>
          <a:xfrm>
            <a:off x="6804025" y="3395663"/>
            <a:ext cx="1584325" cy="538162"/>
          </a:xfrm>
          <a:prstGeom prst="wedgeEllipseCallout">
            <a:avLst>
              <a:gd name="adj1" fmla="val -58503"/>
              <a:gd name="adj2" fmla="val 2398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PT" sz="1200" dirty="0">
                <a:solidFill>
                  <a:schemeClr val="tx2"/>
                </a:solidFill>
              </a:rPr>
              <a:t>método </a:t>
            </a:r>
            <a:r>
              <a:rPr lang="pt-PT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nota()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774B524E-F010-4FCC-8FFB-31B1A7F37B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PT" altLang="en-US"/>
              <a:t>Mais exemplos</a:t>
            </a:r>
          </a:p>
        </p:txBody>
      </p:sp>
      <p:sp>
        <p:nvSpPr>
          <p:cNvPr id="22531" name="Footer Placeholder 3">
            <a:extLst>
              <a:ext uri="{FF2B5EF4-FFF2-40B4-BE49-F238E27FC236}">
                <a16:creationId xmlns:a16="http://schemas.microsoft.com/office/drawing/2014/main" id="{EB9C5734-CB10-4C41-B26C-AD48A16C2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2532" name="Slide Number Placeholder 4">
            <a:extLst>
              <a:ext uri="{FF2B5EF4-FFF2-40B4-BE49-F238E27FC236}">
                <a16:creationId xmlns:a16="http://schemas.microsoft.com/office/drawing/2014/main" id="{A30AAC99-49A8-45C9-ABD6-8FB696E1E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3A1EDD-B860-4832-9199-6A5955C88F7C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pt-PT" alt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7BE3CA-0F07-494B-ACC3-4DA79E460E1F}"/>
              </a:ext>
            </a:extLst>
          </p:cNvPr>
          <p:cNvSpPr txBox="1"/>
          <p:nvPr/>
        </p:nvSpPr>
        <p:spPr>
          <a:xfrm>
            <a:off x="684213" y="1773238"/>
            <a:ext cx="8135937" cy="120015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media()</a:t>
            </a:r>
          </a:p>
          <a:p>
            <a:pPr>
              <a:defRPr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defRPr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lstAlunos.stream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Collectors.averagingInt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(Aluno :: nota));</a:t>
            </a:r>
          </a:p>
          <a:p>
            <a:pPr>
              <a:defRPr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401586-B611-4BE8-BFCF-07B47A8AD3A9}"/>
              </a:ext>
            </a:extLst>
          </p:cNvPr>
          <p:cNvSpPr txBox="1"/>
          <p:nvPr/>
        </p:nvSpPr>
        <p:spPr>
          <a:xfrm>
            <a:off x="657226" y="3328988"/>
            <a:ext cx="8135937" cy="147637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total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kms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dos carros num stand</a:t>
            </a:r>
          </a:p>
          <a:p>
            <a:pPr>
              <a:defRPr/>
            </a:pP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totalkms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this.lista.stream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mapToInt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(Veiculo ::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getKms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).sum();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6EA52E-46D3-409B-805A-19B80E74498B}"/>
              </a:ext>
            </a:extLst>
          </p:cNvPr>
          <p:cNvSpPr txBox="1"/>
          <p:nvPr/>
        </p:nvSpPr>
        <p:spPr>
          <a:xfrm>
            <a:off x="684213" y="5192713"/>
            <a:ext cx="8135937" cy="147637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conta #carros com quilometragem superior a um valor top</a:t>
            </a:r>
          </a:p>
          <a:p>
            <a:pPr>
              <a:defRPr/>
            </a:pP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contalimite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top)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this.lista.stream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 -&gt;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v.getKms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&gt; top).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8D23093B-F6EB-4D6E-8A96-5227B67E8C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r>
              <a:rPr lang="pt-PT" altLang="en-US"/>
              <a:t>Outros exemplos</a:t>
            </a:r>
          </a:p>
        </p:txBody>
      </p:sp>
      <p:sp>
        <p:nvSpPr>
          <p:cNvPr id="23555" name="Footer Placeholder 3">
            <a:extLst>
              <a:ext uri="{FF2B5EF4-FFF2-40B4-BE49-F238E27FC236}">
                <a16:creationId xmlns:a16="http://schemas.microsoft.com/office/drawing/2014/main" id="{67872B2D-BF3F-4B76-B687-DCC56C4E1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3556" name="Slide Number Placeholder 4">
            <a:extLst>
              <a:ext uri="{FF2B5EF4-FFF2-40B4-BE49-F238E27FC236}">
                <a16:creationId xmlns:a16="http://schemas.microsoft.com/office/drawing/2014/main" id="{8C25F9C0-14A9-4CA2-AE48-7CDE6772B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319F69-1F47-407C-9C49-12505A9F9045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pt-PT" alt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DD2AAE-AF04-4457-9298-15992B155B5A}"/>
              </a:ext>
            </a:extLst>
          </p:cNvPr>
          <p:cNvSpPr txBox="1"/>
          <p:nvPr/>
        </p:nvSpPr>
        <p:spPr>
          <a:xfrm>
            <a:off x="684213" y="981075"/>
            <a:ext cx="8135937" cy="147637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classe Veiculo: total de gasolina no Stand!</a:t>
            </a:r>
          </a:p>
          <a:p>
            <a:pPr>
              <a:defRPr/>
            </a:pP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totalgas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defRPr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>
              <a:defRPr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this.lista.stream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mapToInt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(Veiculo ::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getLitros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).sum();</a:t>
            </a:r>
          </a:p>
          <a:p>
            <a:pPr>
              <a:defRPr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FB673E-CBCA-4DF2-ABA4-82B9A2AC15D9}"/>
              </a:ext>
            </a:extLst>
          </p:cNvPr>
          <p:cNvSpPr txBox="1"/>
          <p:nvPr/>
        </p:nvSpPr>
        <p:spPr>
          <a:xfrm>
            <a:off x="684213" y="2636838"/>
            <a:ext cx="8135937" cy="9239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media de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Kms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double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mediakms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defRPr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return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this.lista.stream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().collect(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Collectors.averagingInt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Veiculo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::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getKms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 }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71F3FB-335A-4F01-8DD3-C62BA3A1A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076700"/>
            <a:ext cx="5832475" cy="25860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// veículos capazes de uma viagem de ida-volta!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public List&lt;Veiculo&gt; veiculosViagem(int k)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{ ArrayList&lt;Veiculo&gt; temp = new ArrayList&lt;Veiculo&gt;();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for(Veiculo v: this.lista)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if(v.autonomia() &gt;= k * 2)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temp.add(v.clone());        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temp;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BBDA9D-9228-4224-9569-1AA1F22AEFBF}"/>
              </a:ext>
            </a:extLst>
          </p:cNvPr>
          <p:cNvSpPr txBox="1"/>
          <p:nvPr/>
        </p:nvSpPr>
        <p:spPr>
          <a:xfrm>
            <a:off x="71438" y="4652963"/>
            <a:ext cx="9037637" cy="9239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&lt;Veiculo&gt;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veiculosViagem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k)</a:t>
            </a:r>
          </a:p>
          <a:p>
            <a:pPr>
              <a:defRPr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this.lista.stream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 -&gt;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v.autonomia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&gt;= k * 2). </a:t>
            </a:r>
          </a:p>
          <a:p>
            <a:pPr>
              <a:defRPr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(Veiculo :: clone).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Collectors.toList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7DCD291E-A763-4B26-928A-40906B0671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r>
              <a:rPr lang="pt-PT" altLang="en-US"/>
              <a:t>E ainda…</a:t>
            </a:r>
          </a:p>
        </p:txBody>
      </p:sp>
      <p:sp>
        <p:nvSpPr>
          <p:cNvPr id="24579" name="Footer Placeholder 3">
            <a:extLst>
              <a:ext uri="{FF2B5EF4-FFF2-40B4-BE49-F238E27FC236}">
                <a16:creationId xmlns:a16="http://schemas.microsoft.com/office/drawing/2014/main" id="{881B6524-F1DB-4DA6-B953-BA80E195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4580" name="Slide Number Placeholder 4">
            <a:extLst>
              <a:ext uri="{FF2B5EF4-FFF2-40B4-BE49-F238E27FC236}">
                <a16:creationId xmlns:a16="http://schemas.microsoft.com/office/drawing/2014/main" id="{3DD67F92-C240-4F2F-82DC-91254E273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DA6E7F-12C5-41BF-A44E-54C8F7540F5C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pt-PT" alt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7B7EC9-E2A0-42A9-A159-62C4E5166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1276350"/>
            <a:ext cx="5832475" cy="2584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// Matrícula do veiculo com mais uso!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public String maisuso()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{      Veiculo temp = this.lista.get(0);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for(Veiculo v:this.lista)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if(v.getKms() &gt; temp.getKms())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 temp = v;}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temp.getMatricula();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73FA87-9CB9-43EC-8EF5-4CAD744E1489}"/>
              </a:ext>
            </a:extLst>
          </p:cNvPr>
          <p:cNvSpPr txBox="1"/>
          <p:nvPr/>
        </p:nvSpPr>
        <p:spPr>
          <a:xfrm>
            <a:off x="215900" y="4221163"/>
            <a:ext cx="8820150" cy="2032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maisuso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Veiculo v =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this.lista.stream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Collectors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toCollection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(() -&gt;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TreeSet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&lt;Veiculo&gt;((v1,v2) -&gt; 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v2.getKms() – v1.getKms()))).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v.getMatricula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defRPr/>
            </a:pP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2F4FE07A-F3CF-43B2-A897-8C378E3B53C0}"/>
              </a:ext>
            </a:extLst>
          </p:cNvPr>
          <p:cNvSpPr/>
          <p:nvPr/>
        </p:nvSpPr>
        <p:spPr>
          <a:xfrm>
            <a:off x="3708400" y="5949950"/>
            <a:ext cx="1593850" cy="719138"/>
          </a:xfrm>
          <a:prstGeom prst="wedgeRoundRectCallout">
            <a:avLst>
              <a:gd name="adj1" fmla="val -1516"/>
              <a:gd name="adj2" fmla="val -13132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PT" sz="1050" dirty="0">
                <a:solidFill>
                  <a:schemeClr val="tx2"/>
                </a:solidFill>
              </a:rPr>
              <a:t>Mas ainda não sabemos o que é um </a:t>
            </a:r>
            <a:r>
              <a:rPr lang="pt-PT" sz="105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TreeSet</a:t>
            </a:r>
            <a:r>
              <a:rPr lang="pt-PT" sz="1050" dirty="0">
                <a:solidFill>
                  <a:schemeClr val="tx2"/>
                </a:solidFill>
              </a:rPr>
              <a:t>, </a:t>
            </a:r>
            <a:r>
              <a:rPr lang="pt-PT" sz="1050" dirty="0" err="1">
                <a:solidFill>
                  <a:schemeClr val="tx2"/>
                </a:solidFill>
              </a:rPr>
              <a:t>etc</a:t>
            </a:r>
            <a:r>
              <a:rPr lang="pt-PT" sz="1050" dirty="0">
                <a:solidFill>
                  <a:schemeClr val="tx2"/>
                </a:solidFill>
              </a:rPr>
              <a:t>!</a:t>
            </a:r>
          </a:p>
        </p:txBody>
      </p: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764810A1-A906-4E89-A829-18DD2B30E177}"/>
              </a:ext>
            </a:extLst>
          </p:cNvPr>
          <p:cNvSpPr/>
          <p:nvPr/>
        </p:nvSpPr>
        <p:spPr>
          <a:xfrm>
            <a:off x="6156325" y="5949950"/>
            <a:ext cx="1439863" cy="663575"/>
          </a:xfrm>
          <a:prstGeom prst="wedgeRoundRectCallout">
            <a:avLst>
              <a:gd name="adj1" fmla="val -68954"/>
              <a:gd name="adj2" fmla="val -9995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PT" sz="1000" dirty="0">
                <a:solidFill>
                  <a:schemeClr val="tx1"/>
                </a:solidFill>
              </a:rPr>
              <a:t>Nem como se define um </a:t>
            </a:r>
            <a:r>
              <a:rPr lang="pt-PT" sz="1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Comparator</a:t>
            </a:r>
            <a:r>
              <a:rPr lang="pt-PT" sz="1000" dirty="0">
                <a:solidFill>
                  <a:schemeClr val="tx1"/>
                </a:solidFill>
              </a:rPr>
              <a:t> para definir ordem!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Posição do Rodapé 4">
            <a:extLst>
              <a:ext uri="{FF2B5EF4-FFF2-40B4-BE49-F238E27FC236}">
                <a16:creationId xmlns:a16="http://schemas.microsoft.com/office/drawing/2014/main" id="{3F4697BE-FAA0-4A43-AE70-4BDBD9676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5603" name="Marcador de Posição do Número do Diapositivo 5">
            <a:extLst>
              <a:ext uri="{FF2B5EF4-FFF2-40B4-BE49-F238E27FC236}">
                <a16:creationId xmlns:a16="http://schemas.microsoft.com/office/drawing/2014/main" id="{D9E8BC30-05E0-42BC-8264-E6DCE3D6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3C5536-775C-49FB-B81C-EBD9623E3253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pt-PT" altLang="en-US" sz="1400"/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8654288D-47E5-4A79-A25A-B84D8F7BBE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77875"/>
          </a:xfrm>
        </p:spPr>
        <p:txBody>
          <a:bodyPr/>
          <a:lstStyle/>
          <a:p>
            <a:pPr eaLnBrk="1" hangingPunct="1"/>
            <a:r>
              <a:rPr lang="pt-PT" altLang="en-US"/>
              <a:t>Herança</a:t>
            </a: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E147A212-4FCB-45F3-BC23-9D06779C8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229600" cy="30241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400"/>
              <a:t>Uma grande vantagem da programação orientada aos objectos é a sua capacidade de reutilização de código.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Reutilização por duas vias: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/>
              <a:t>Composição de classes: Definir uma nova classe usando objectos de classes já pré definidas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/>
              <a:t>Hierarquia de classes: Definir uma nova classe que é uma especialização da uma classe pré definida: Assim, todo o código da classe geral é </a:t>
            </a:r>
            <a:r>
              <a:rPr lang="pt-PT" altLang="en-US" sz="2000" i="1"/>
              <a:t>herdade</a:t>
            </a:r>
            <a:r>
              <a:rPr lang="pt-PT" altLang="en-US" sz="2000"/>
              <a:t> pela nova classe.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/>
              <a:t>Temos assim, não um plano de classes mas uma hierarquia</a:t>
            </a:r>
          </a:p>
        </p:txBody>
      </p:sp>
      <p:pic>
        <p:nvPicPr>
          <p:cNvPr id="25606" name="Picture 4">
            <a:extLst>
              <a:ext uri="{FF2B5EF4-FFF2-40B4-BE49-F238E27FC236}">
                <a16:creationId xmlns:a16="http://schemas.microsoft.com/office/drawing/2014/main" id="{8C60FCFE-F062-4FE9-AB84-7ED1F675D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700" y="4149725"/>
            <a:ext cx="2232025" cy="204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Marcador de Posição do Rodapé 4">
            <a:extLst>
              <a:ext uri="{FF2B5EF4-FFF2-40B4-BE49-F238E27FC236}">
                <a16:creationId xmlns:a16="http://schemas.microsoft.com/office/drawing/2014/main" id="{B9A8B51C-9737-439B-AE68-F8607667C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6627" name="Marcador de Posição do Número do Diapositivo 5">
            <a:extLst>
              <a:ext uri="{FF2B5EF4-FFF2-40B4-BE49-F238E27FC236}">
                <a16:creationId xmlns:a16="http://schemas.microsoft.com/office/drawing/2014/main" id="{514B65C1-868C-413D-968D-999BFC4B3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290D59-D945-4631-B585-E8F9DA66481F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pt-PT" altLang="en-US" sz="1400"/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64465CC7-CF4E-4413-B3A7-C385502011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850900"/>
          </a:xfrm>
        </p:spPr>
        <p:txBody>
          <a:bodyPr/>
          <a:lstStyle/>
          <a:p>
            <a:pPr eaLnBrk="1" hangingPunct="1"/>
            <a:r>
              <a:rPr lang="pt-PT" altLang="en-US"/>
              <a:t>Herança: Exemplo</a:t>
            </a: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9FB9471A-8BCD-4FE5-ADC7-5920F2E4C5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229600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000"/>
              <a:t>Temos a classe Ponto (2 dimensões) que passamos a chamar Ponto2D.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Queremos agora definir uma nova classe para trabalhar no espaço tridimensional (Ponto3D)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Esta nova classe de reutilizar todo o código de Ponto2D adicionando nova informação (neste caso uma terceira dimensão). Em Java define-se:</a:t>
            </a:r>
          </a:p>
          <a:p>
            <a:pPr eaLnBrk="1" hangingPunct="1">
              <a:lnSpc>
                <a:spcPct val="90000"/>
              </a:lnSpc>
            </a:pPr>
            <a:endParaRPr lang="pt-PT" altLang="en-US" sz="2000"/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class Ponto3D extends Ponto2D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{	private double z;</a:t>
            </a: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pt-PT" altLang="en-US">
                <a:latin typeface="Times New Roman" panose="02020603050405020304" pitchFamily="18" charset="0"/>
              </a:rPr>
              <a:t>Ponto3D(double x, double y, double z)</a:t>
            </a: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pt-PT" altLang="en-US">
                <a:latin typeface="Times New Roman" panose="02020603050405020304" pitchFamily="18" charset="0"/>
              </a:rPr>
              <a:t>{ super(x,y); this.z = z;}</a:t>
            </a:r>
          </a:p>
          <a:p>
            <a:pPr lvl="3" eaLnBrk="1" hangingPunct="1">
              <a:lnSpc>
                <a:spcPct val="90000"/>
              </a:lnSpc>
              <a:buFontTx/>
              <a:buNone/>
            </a:pPr>
            <a:endParaRPr lang="pt-PT" altLang="en-US">
              <a:latin typeface="Times New Roman" panose="02020603050405020304" pitchFamily="18" charset="0"/>
            </a:endParaRP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pt-PT" altLang="en-US">
                <a:latin typeface="Times New Roman" panose="02020603050405020304" pitchFamily="18" charset="0"/>
              </a:rPr>
              <a:t>public double getZ()   // método local a Ponto3D</a:t>
            </a: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pt-PT" altLang="en-US">
                <a:latin typeface="Times New Roman" panose="02020603050405020304" pitchFamily="18" charset="0"/>
              </a:rPr>
              <a:t>{ return this.z; }  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26630" name="AutoShape 4">
            <a:extLst>
              <a:ext uri="{FF2B5EF4-FFF2-40B4-BE49-F238E27FC236}">
                <a16:creationId xmlns:a16="http://schemas.microsoft.com/office/drawing/2014/main" id="{7D2F37B0-459E-44C7-B4AC-139B53216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2852738"/>
            <a:ext cx="1800225" cy="503237"/>
          </a:xfrm>
          <a:prstGeom prst="wedgeRoundRectCallout">
            <a:avLst>
              <a:gd name="adj1" fmla="val -116667"/>
              <a:gd name="adj2" fmla="val 83125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Keyword para definir subclasse</a:t>
            </a:r>
          </a:p>
        </p:txBody>
      </p:sp>
      <p:sp>
        <p:nvSpPr>
          <p:cNvPr id="26631" name="AutoShape 5">
            <a:extLst>
              <a:ext uri="{FF2B5EF4-FFF2-40B4-BE49-F238E27FC236}">
                <a16:creationId xmlns:a16="http://schemas.microsoft.com/office/drawing/2014/main" id="{A306B94A-B43A-4572-9EC8-EC67821FB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797425"/>
            <a:ext cx="2232025" cy="287338"/>
          </a:xfrm>
          <a:prstGeom prst="wedgeRoundRectCallout">
            <a:avLst>
              <a:gd name="adj1" fmla="val -143671"/>
              <a:gd name="adj2" fmla="val -8480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Referência à super classe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Marcador de Posição do Rodapé 4">
            <a:extLst>
              <a:ext uri="{FF2B5EF4-FFF2-40B4-BE49-F238E27FC236}">
                <a16:creationId xmlns:a16="http://schemas.microsoft.com/office/drawing/2014/main" id="{311A8B9E-F0FA-4B8A-8394-17882DB16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7651" name="Marcador de Posição do Número do Diapositivo 5">
            <a:extLst>
              <a:ext uri="{FF2B5EF4-FFF2-40B4-BE49-F238E27FC236}">
                <a16:creationId xmlns:a16="http://schemas.microsoft.com/office/drawing/2014/main" id="{ACF4D318-E0B7-4EA6-BDB9-0B18045F2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A864AD-3BF2-42D7-BF99-22BFBF4C48B3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pt-PT" altLang="en-US" sz="1400"/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298E8738-82CA-452E-BFDF-8868008EFE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Herança em Java</a:t>
            </a: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45C2BC5D-7289-4A99-923C-48FD972C61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974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400"/>
              <a:t>Definição de uma subclasse implica a definição de um subtipo!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Herança simples (uma classe tem um só “progenitor”)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Herdar e ter “acesso” não é necessariamente a mesma coisa (pelas questões de visibilidade)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Três pontos a resolver: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1800"/>
              <a:t>Redefinição (reescrita) de métodos e variáveis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1800"/>
              <a:t>Procura de métodos (lookup de métodos dinâmico)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1800"/>
              <a:t>Criação das instâncias das subclasses.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pt-PT" altLang="en-US" sz="1800"/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Há sempre forma de parar a hierarquia, pela keyword </a:t>
            </a:r>
            <a:r>
              <a:rPr lang="pt-PT" altLang="en-US" sz="2400" i="1">
                <a:latin typeface="Times New Roman" panose="02020603050405020304" pitchFamily="18" charset="0"/>
              </a:rPr>
              <a:t>final</a:t>
            </a:r>
            <a:r>
              <a:rPr lang="pt-PT" altLang="en-US" sz="2400"/>
              <a:t>. Uma classe definida usando “final class” não pode ter subclasses. Uma variável ou método </a:t>
            </a:r>
            <a:r>
              <a:rPr lang="pt-PT" altLang="en-US" sz="2400" i="1">
                <a:latin typeface="Times New Roman" panose="02020603050405020304" pitchFamily="18" charset="0"/>
              </a:rPr>
              <a:t>final </a:t>
            </a:r>
            <a:r>
              <a:rPr lang="pt-PT" altLang="en-US" sz="2400"/>
              <a:t>não pode ser reescrito.</a:t>
            </a:r>
            <a:endParaRPr lang="pt-PT" altLang="en-US" sz="2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Marcador de Posição do Rodapé 4">
            <a:extLst>
              <a:ext uri="{FF2B5EF4-FFF2-40B4-BE49-F238E27FC236}">
                <a16:creationId xmlns:a16="http://schemas.microsoft.com/office/drawing/2014/main" id="{53736C95-8E7D-4D73-91C8-1B15AD2F6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8675" name="Marcador de Posição do Número do Diapositivo 5">
            <a:extLst>
              <a:ext uri="{FF2B5EF4-FFF2-40B4-BE49-F238E27FC236}">
                <a16:creationId xmlns:a16="http://schemas.microsoft.com/office/drawing/2014/main" id="{FC2EBDFB-73E9-4104-AAE9-1FD052945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BE10EB-68C3-4DC5-A2D7-329952AF288F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pt-PT" altLang="en-US" sz="1400"/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DF01BC30-4DD0-4AF2-BFEB-55B56662C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Redefinição de métodos</a:t>
            </a:r>
          </a:p>
        </p:txBody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5996B03B-18F4-4811-B471-4889029BC0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68888"/>
          </a:xfrm>
        </p:spPr>
        <p:txBody>
          <a:bodyPr/>
          <a:lstStyle/>
          <a:p>
            <a:pPr eaLnBrk="1" hangingPunct="1"/>
            <a:r>
              <a:rPr lang="pt-PT" altLang="en-US" sz="2400"/>
              <a:t>Um método na subclasse reescreve o método herdado se tiver a mesma assinatura.</a:t>
            </a:r>
          </a:p>
          <a:p>
            <a:pPr eaLnBrk="1" hangingPunct="1"/>
            <a:r>
              <a:rPr lang="pt-PT" altLang="en-US" sz="2400"/>
              <a:t>Exemplo do método </a:t>
            </a:r>
            <a:r>
              <a:rPr lang="pt-PT" altLang="en-US" sz="2400">
                <a:latin typeface="Times New Roman" panose="02020603050405020304" pitchFamily="18" charset="0"/>
              </a:rPr>
              <a:t>toString()</a:t>
            </a:r>
            <a:r>
              <a:rPr lang="pt-PT" altLang="en-US" sz="2400"/>
              <a:t> em </a:t>
            </a:r>
            <a:r>
              <a:rPr lang="pt-PT" altLang="en-US" sz="2400">
                <a:latin typeface="Times New Roman" panose="02020603050405020304" pitchFamily="18" charset="0"/>
              </a:rPr>
              <a:t>Ponto3D.</a:t>
            </a:r>
          </a:p>
          <a:p>
            <a:pPr lvl="2" eaLnBrk="1" hangingPunct="1"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class Ponto3D extends Ponto2D</a:t>
            </a:r>
          </a:p>
          <a:p>
            <a:pPr lvl="2" eaLnBrk="1" hangingPunct="1"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{   ….</a:t>
            </a:r>
          </a:p>
          <a:p>
            <a:pPr lvl="3" eaLnBrk="1" hangingPunct="1">
              <a:buFontTx/>
              <a:buNone/>
            </a:pPr>
            <a:r>
              <a:rPr lang="pt-PT" altLang="en-US">
                <a:latin typeface="Times New Roman" panose="02020603050405020304" pitchFamily="18" charset="0"/>
              </a:rPr>
              <a:t>public String toString()</a:t>
            </a:r>
          </a:p>
          <a:p>
            <a:pPr lvl="3" eaLnBrk="1" hangingPunct="1">
              <a:buFontTx/>
              <a:buNone/>
            </a:pPr>
            <a:r>
              <a:rPr lang="pt-PT" altLang="en-US">
                <a:latin typeface="Times New Roman" panose="02020603050405020304" pitchFamily="18" charset="0"/>
              </a:rPr>
              <a:t>{ return super.toString() + “,” + this.z; }</a:t>
            </a:r>
          </a:p>
          <a:p>
            <a:pPr lvl="2" eaLnBrk="1" hangingPunct="1"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}</a:t>
            </a:r>
          </a:p>
          <a:p>
            <a:pPr eaLnBrk="1" hangingPunct="1"/>
            <a:r>
              <a:rPr lang="pt-PT" altLang="en-US" sz="2400"/>
              <a:t>Criação de instâncias:</a:t>
            </a:r>
          </a:p>
          <a:p>
            <a:pPr lvl="1" eaLnBrk="1" hangingPunct="1"/>
            <a:r>
              <a:rPr lang="pt-PT" altLang="en-US" sz="2000">
                <a:latin typeface="Times New Roman" panose="02020603050405020304" pitchFamily="18" charset="0"/>
              </a:rPr>
              <a:t>Ponto2D p1 = new Ponto2D(1,2);</a:t>
            </a:r>
          </a:p>
          <a:p>
            <a:pPr lvl="1" eaLnBrk="1" hangingPunct="1"/>
            <a:r>
              <a:rPr lang="pt-PT" altLang="en-US" sz="2000">
                <a:latin typeface="Times New Roman" panose="02020603050405020304" pitchFamily="18" charset="0"/>
              </a:rPr>
              <a:t>Ponto2D p2 = new Ponto3D(1,2,3);</a:t>
            </a:r>
          </a:p>
          <a:p>
            <a:pPr lvl="1" eaLnBrk="1" hangingPunct="1"/>
            <a:r>
              <a:rPr lang="pt-PT" altLang="en-US" sz="2000">
                <a:latin typeface="Times New Roman" panose="02020603050405020304" pitchFamily="18" charset="0"/>
              </a:rPr>
              <a:t>Ponto3D p3 = new Ponto3D(3,2,1);</a:t>
            </a:r>
          </a:p>
          <a:p>
            <a:pPr lvl="1" eaLnBrk="1" hangingPunct="1"/>
            <a:r>
              <a:rPr lang="pt-PT" altLang="en-US" sz="2000">
                <a:latin typeface="Times New Roman" panose="02020603050405020304" pitchFamily="18" charset="0"/>
              </a:rPr>
              <a:t>String t = p2.toString();</a:t>
            </a:r>
          </a:p>
        </p:txBody>
      </p:sp>
      <p:sp>
        <p:nvSpPr>
          <p:cNvPr id="28678" name="AutoShape 4">
            <a:extLst>
              <a:ext uri="{FF2B5EF4-FFF2-40B4-BE49-F238E27FC236}">
                <a16:creationId xmlns:a16="http://schemas.microsoft.com/office/drawing/2014/main" id="{E2E6D4E2-7A03-456F-8CC5-9BBAC0CF3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5372100"/>
            <a:ext cx="2663825" cy="1017588"/>
          </a:xfrm>
          <a:prstGeom prst="wedgeRoundRectCallout">
            <a:avLst>
              <a:gd name="adj1" fmla="val -139750"/>
              <a:gd name="adj2" fmla="val 69083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Dynamic Binding: compilador atribui o tipo à variável; o interpretador (em execução) pode ter de decidir o tipo de uma variável.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Marcador de Posição do Rodapé 4">
            <a:extLst>
              <a:ext uri="{FF2B5EF4-FFF2-40B4-BE49-F238E27FC236}">
                <a16:creationId xmlns:a16="http://schemas.microsoft.com/office/drawing/2014/main" id="{6E196E13-B52E-40C9-85A8-C2AF5BB80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9699" name="Marcador de Posição do Número do Diapositivo 5">
            <a:extLst>
              <a:ext uri="{FF2B5EF4-FFF2-40B4-BE49-F238E27FC236}">
                <a16:creationId xmlns:a16="http://schemas.microsoft.com/office/drawing/2014/main" id="{164B0EA4-2013-43E8-A4C2-679573E2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C0F76B-B749-47BA-88E5-1323E5BFDBE1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pt-PT" altLang="en-US" sz="1400"/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82BB1D2D-7825-4F18-BA9B-ECEE9D3CC8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Redefinição de variáveis</a:t>
            </a: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FA0179D5-A2A0-47E4-B7E9-86B5D3F3EE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341438"/>
            <a:ext cx="4752975" cy="452596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public class A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	int i =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	int m() { return this.i;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public class B extends A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  int i = 1; // i de A é “shadowed”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  int m() { return this.i; } // m é “overriden”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….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A a = new A(); A b = new B();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b.m() // dá como resultado 1 e não 0 !!</a:t>
            </a:r>
          </a:p>
        </p:txBody>
      </p:sp>
      <p:sp>
        <p:nvSpPr>
          <p:cNvPr id="29702" name="Text Box 4">
            <a:extLst>
              <a:ext uri="{FF2B5EF4-FFF2-40B4-BE49-F238E27FC236}">
                <a16:creationId xmlns:a16="http://schemas.microsoft.com/office/drawing/2014/main" id="{375B43F0-8785-40B7-9C8F-AB5864A9F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1725" y="1216025"/>
            <a:ext cx="4232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03" name="Text Box 5">
            <a:extLst>
              <a:ext uri="{FF2B5EF4-FFF2-40B4-BE49-F238E27FC236}">
                <a16:creationId xmlns:a16="http://schemas.microsoft.com/office/drawing/2014/main" id="{F4DDC6ED-DDB3-4504-914C-217C45AA1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1268413"/>
            <a:ext cx="4205287" cy="48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Por exemplo, um método de B poderia ter o seguinte código: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en-US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public int mb()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   this.i = super.i + 10;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   return this.i + this.m() + super.m();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en-US" sz="20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i -&gt; local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super.i -&gt; i da superclasse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this.m() -&gt; local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super.m() -&gt; m() da superclasse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en-US"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Marcador de Posição do Rodapé 4">
            <a:extLst>
              <a:ext uri="{FF2B5EF4-FFF2-40B4-BE49-F238E27FC236}">
                <a16:creationId xmlns:a16="http://schemas.microsoft.com/office/drawing/2014/main" id="{E15CB825-BF78-4FA4-B53F-8125D355C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0723" name="Marcador de Posição do Número do Diapositivo 5">
            <a:extLst>
              <a:ext uri="{FF2B5EF4-FFF2-40B4-BE49-F238E27FC236}">
                <a16:creationId xmlns:a16="http://schemas.microsoft.com/office/drawing/2014/main" id="{F1782B70-CEE1-434E-8171-D11DB3470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C4C026-BE24-4B4B-98D0-6DBC173DDD9D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pt-PT" altLang="en-US" sz="1400"/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23823123-E581-4E0D-A86C-A03348113D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850900"/>
          </a:xfrm>
        </p:spPr>
        <p:txBody>
          <a:bodyPr/>
          <a:lstStyle/>
          <a:p>
            <a:pPr eaLnBrk="1" hangingPunct="1"/>
            <a:r>
              <a:rPr lang="pt-PT" altLang="en-US"/>
              <a:t>Redefinição: Exemplo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631DC176-3209-4193-A198-0412956478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3898900" cy="420528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class</a:t>
            </a:r>
            <a:r>
              <a:rPr lang="pt-PT" altLang="en-US" sz="1800" dirty="0">
                <a:latin typeface="Times New Roman" panose="02020603050405020304" pitchFamily="18" charset="0"/>
              </a:rPr>
              <a:t> A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{ </a:t>
            </a:r>
            <a:r>
              <a:rPr lang="pt-PT" altLang="en-US" sz="1800" dirty="0" err="1"/>
              <a:t>private</a:t>
            </a:r>
            <a:r>
              <a:rPr lang="pt-PT" altLang="en-US" sz="1800" dirty="0"/>
              <a:t> </a:t>
            </a:r>
            <a:r>
              <a:rPr lang="pt-PT" altLang="en-US" sz="1800" dirty="0" err="1"/>
              <a:t>int</a:t>
            </a:r>
            <a:r>
              <a:rPr lang="pt-PT" altLang="en-US" sz="1800" dirty="0"/>
              <a:t> a;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  </a:t>
            </a: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A() { </a:t>
            </a:r>
            <a:r>
              <a:rPr lang="pt-PT" altLang="en-US" sz="1800" dirty="0" err="1">
                <a:latin typeface="Times New Roman" panose="02020603050405020304" pitchFamily="18" charset="0"/>
              </a:rPr>
              <a:t>this.a</a:t>
            </a:r>
            <a:r>
              <a:rPr lang="pt-PT" altLang="en-US" sz="1800" dirty="0">
                <a:latin typeface="Times New Roman" panose="02020603050405020304" pitchFamily="18" charset="0"/>
              </a:rPr>
              <a:t> = 1;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  </a:t>
            </a: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int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daVal</a:t>
            </a:r>
            <a:r>
              <a:rPr lang="pt-PT" altLang="en-US" sz="1800" dirty="0">
                <a:latin typeface="Times New Roman" panose="02020603050405020304" pitchFamily="18" charset="0"/>
              </a:rPr>
              <a:t>() { </a:t>
            </a:r>
            <a:r>
              <a:rPr lang="pt-PT" altLang="en-US" sz="1800" dirty="0" err="1">
                <a:latin typeface="Times New Roman" panose="02020603050405020304" pitchFamily="18" charset="0"/>
              </a:rPr>
              <a:t>return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this.a</a:t>
            </a:r>
            <a:r>
              <a:rPr lang="pt-PT" altLang="en-US" sz="1800" dirty="0">
                <a:latin typeface="Times New Roman" panose="02020603050405020304" pitchFamily="18" charset="0"/>
              </a:rPr>
              <a:t>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  </a:t>
            </a: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void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metd</a:t>
            </a:r>
            <a:r>
              <a:rPr lang="pt-PT" altLang="en-US" sz="1800" dirty="0">
                <a:latin typeface="Times New Roman" panose="02020603050405020304" pitchFamily="18" charset="0"/>
              </a:rPr>
              <a:t>() { </a:t>
            </a:r>
            <a:r>
              <a:rPr lang="pt-PT" altLang="en-US" sz="1800" dirty="0" err="1">
                <a:latin typeface="Times New Roman" panose="02020603050405020304" pitchFamily="18" charset="0"/>
              </a:rPr>
              <a:t>this.a</a:t>
            </a:r>
            <a:r>
              <a:rPr lang="pt-PT" altLang="en-US" sz="1800" dirty="0">
                <a:latin typeface="Times New Roman" panose="02020603050405020304" pitchFamily="18" charset="0"/>
              </a:rPr>
              <a:t> += 10;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class</a:t>
            </a:r>
            <a:r>
              <a:rPr lang="pt-PT" altLang="en-US" sz="1800" dirty="0">
                <a:latin typeface="Times New Roman" panose="02020603050405020304" pitchFamily="18" charset="0"/>
              </a:rPr>
              <a:t> B </a:t>
            </a:r>
            <a:r>
              <a:rPr lang="pt-PT" altLang="en-US" sz="1800" dirty="0" err="1">
                <a:latin typeface="Times New Roman" panose="02020603050405020304" pitchFamily="18" charset="0"/>
              </a:rPr>
              <a:t>extends</a:t>
            </a:r>
            <a:r>
              <a:rPr lang="pt-PT" altLang="en-US" sz="1800" dirty="0">
                <a:latin typeface="Times New Roman" panose="02020603050405020304" pitchFamily="18" charset="0"/>
              </a:rPr>
              <a:t> A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  </a:t>
            </a:r>
            <a:r>
              <a:rPr lang="pt-PT" altLang="en-US" sz="1800" dirty="0" err="1"/>
              <a:t>private</a:t>
            </a:r>
            <a:r>
              <a:rPr lang="pt-PT" altLang="en-US" sz="1800" dirty="0"/>
              <a:t> </a:t>
            </a:r>
            <a:r>
              <a:rPr lang="pt-PT" altLang="en-US" sz="1800" dirty="0" err="1"/>
              <a:t>int</a:t>
            </a:r>
            <a:r>
              <a:rPr lang="pt-PT" altLang="en-US" sz="1800" dirty="0"/>
              <a:t> b;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  </a:t>
            </a: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B() { </a:t>
            </a:r>
            <a:r>
              <a:rPr lang="pt-PT" altLang="en-US" sz="1800" dirty="0" err="1">
                <a:latin typeface="Times New Roman" panose="02020603050405020304" pitchFamily="18" charset="0"/>
              </a:rPr>
              <a:t>this.b</a:t>
            </a:r>
            <a:r>
              <a:rPr lang="pt-PT" altLang="en-US" sz="1800" dirty="0">
                <a:latin typeface="Times New Roman" panose="02020603050405020304" pitchFamily="18" charset="0"/>
              </a:rPr>
              <a:t> = 2;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  </a:t>
            </a: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int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daVal</a:t>
            </a:r>
            <a:r>
              <a:rPr lang="pt-PT" altLang="en-US" sz="1800" dirty="0">
                <a:latin typeface="Times New Roman" panose="02020603050405020304" pitchFamily="18" charset="0"/>
              </a:rPr>
              <a:t>() { </a:t>
            </a:r>
            <a:r>
              <a:rPr lang="pt-PT" altLang="en-US" sz="1800" dirty="0" err="1">
                <a:latin typeface="Times New Roman" panose="02020603050405020304" pitchFamily="18" charset="0"/>
              </a:rPr>
              <a:t>return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this.b</a:t>
            </a:r>
            <a:r>
              <a:rPr lang="pt-PT" altLang="en-US" sz="1800" dirty="0">
                <a:latin typeface="Times New Roman" panose="02020603050405020304" pitchFamily="18" charset="0"/>
              </a:rPr>
              <a:t>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  </a:t>
            </a: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void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metd</a:t>
            </a:r>
            <a:r>
              <a:rPr lang="pt-PT" altLang="en-US" sz="1800" dirty="0">
                <a:latin typeface="Times New Roman" panose="02020603050405020304" pitchFamily="18" charset="0"/>
              </a:rPr>
              <a:t>() { </a:t>
            </a:r>
            <a:r>
              <a:rPr lang="pt-PT" altLang="en-US" sz="1800" dirty="0" err="1">
                <a:latin typeface="Times New Roman" panose="02020603050405020304" pitchFamily="18" charset="0"/>
              </a:rPr>
              <a:t>this.b</a:t>
            </a:r>
            <a:r>
              <a:rPr lang="pt-PT" altLang="en-US" sz="1800" dirty="0">
                <a:latin typeface="Times New Roman" panose="02020603050405020304" pitchFamily="18" charset="0"/>
              </a:rPr>
              <a:t> += 20 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59396" name="Text Box 4">
            <a:extLst>
              <a:ext uri="{FF2B5EF4-FFF2-40B4-BE49-F238E27FC236}">
                <a16:creationId xmlns:a16="http://schemas.microsoft.com/office/drawing/2014/main" id="{E62B6E84-ABCC-4DCA-9D30-2384612AB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1506538"/>
            <a:ext cx="4629150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class</a:t>
            </a:r>
            <a:r>
              <a:rPr lang="pt-PT" altLang="en-US" sz="1800" dirty="0">
                <a:latin typeface="Times New Roman" panose="02020603050405020304" pitchFamily="18" charset="0"/>
              </a:rPr>
              <a:t> C </a:t>
            </a:r>
            <a:r>
              <a:rPr lang="pt-PT" altLang="en-US" sz="1800" dirty="0" err="1">
                <a:latin typeface="Times New Roman" panose="02020603050405020304" pitchFamily="18" charset="0"/>
              </a:rPr>
              <a:t>extends</a:t>
            </a:r>
            <a:r>
              <a:rPr lang="pt-PT" altLang="en-US" sz="1800" dirty="0">
                <a:latin typeface="Times New Roman" panose="02020603050405020304" pitchFamily="18" charset="0"/>
              </a:rPr>
              <a:t> A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  </a:t>
            </a:r>
            <a:r>
              <a:rPr lang="pt-PT" altLang="en-US" sz="1800" dirty="0" err="1"/>
              <a:t>private</a:t>
            </a:r>
            <a:r>
              <a:rPr lang="pt-PT" altLang="en-US" sz="1800" dirty="0"/>
              <a:t> </a:t>
            </a:r>
            <a:r>
              <a:rPr lang="pt-PT" altLang="en-US" sz="1800" dirty="0" err="1"/>
              <a:t>int</a:t>
            </a:r>
            <a:r>
              <a:rPr lang="pt-PT" altLang="en-US" sz="1800" dirty="0"/>
              <a:t> c;</a:t>
            </a:r>
            <a:endParaRPr lang="pt-PT" altLang="en-US" sz="18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  </a:t>
            </a: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C() { </a:t>
            </a:r>
            <a:r>
              <a:rPr lang="pt-PT" altLang="en-US" sz="1800" dirty="0" err="1">
                <a:latin typeface="Times New Roman" panose="02020603050405020304" pitchFamily="18" charset="0"/>
              </a:rPr>
              <a:t>this.c</a:t>
            </a:r>
            <a:r>
              <a:rPr lang="pt-PT" altLang="en-US" sz="1800" dirty="0">
                <a:latin typeface="Times New Roman" panose="02020603050405020304" pitchFamily="18" charset="0"/>
              </a:rPr>
              <a:t> = 3;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  </a:t>
            </a: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int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daVal</a:t>
            </a:r>
            <a:r>
              <a:rPr lang="pt-PT" altLang="en-US" sz="1800" dirty="0">
                <a:latin typeface="Times New Roman" panose="02020603050405020304" pitchFamily="18" charset="0"/>
              </a:rPr>
              <a:t>() { </a:t>
            </a:r>
            <a:r>
              <a:rPr lang="pt-PT" altLang="en-US" sz="1800" dirty="0" err="1">
                <a:latin typeface="Times New Roman" panose="02020603050405020304" pitchFamily="18" charset="0"/>
              </a:rPr>
              <a:t>return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this.c</a:t>
            </a:r>
            <a:r>
              <a:rPr lang="pt-PT" altLang="en-US" sz="1800" dirty="0">
                <a:latin typeface="Times New Roman" panose="02020603050405020304" pitchFamily="18" charset="0"/>
              </a:rPr>
              <a:t>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  </a:t>
            </a: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void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metd</a:t>
            </a:r>
            <a:r>
              <a:rPr lang="pt-PT" altLang="en-US" sz="1800" dirty="0">
                <a:latin typeface="Times New Roman" panose="02020603050405020304" pitchFamily="18" charset="0"/>
              </a:rPr>
              <a:t>() { </a:t>
            </a:r>
            <a:r>
              <a:rPr lang="pt-PT" altLang="en-US" sz="1800" dirty="0" err="1">
                <a:latin typeface="Times New Roman" panose="02020603050405020304" pitchFamily="18" charset="0"/>
              </a:rPr>
              <a:t>this.c</a:t>
            </a:r>
            <a:r>
              <a:rPr lang="pt-PT" altLang="en-US" sz="1800" dirty="0">
                <a:latin typeface="Times New Roman" panose="02020603050405020304" pitchFamily="18" charset="0"/>
              </a:rPr>
              <a:t> += 30 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class</a:t>
            </a:r>
            <a:r>
              <a:rPr lang="pt-PT" altLang="en-US" sz="1800" dirty="0">
                <a:latin typeface="Times New Roman" panose="02020603050405020304" pitchFamily="18" charset="0"/>
              </a:rPr>
              <a:t> D </a:t>
            </a:r>
            <a:r>
              <a:rPr lang="pt-PT" altLang="en-US" sz="1800" dirty="0" err="1">
                <a:latin typeface="Times New Roman" panose="02020603050405020304" pitchFamily="18" charset="0"/>
              </a:rPr>
              <a:t>extends</a:t>
            </a:r>
            <a:r>
              <a:rPr lang="pt-PT" altLang="en-US" sz="1800" dirty="0">
                <a:latin typeface="Times New Roman" panose="02020603050405020304" pitchFamily="18" charset="0"/>
              </a:rPr>
              <a:t> C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  </a:t>
            </a:r>
            <a:r>
              <a:rPr lang="pt-PT" altLang="en-US" sz="1800" dirty="0" err="1"/>
              <a:t>private</a:t>
            </a:r>
            <a:r>
              <a:rPr lang="pt-PT" altLang="en-US" sz="1800" dirty="0"/>
              <a:t> </a:t>
            </a:r>
            <a:r>
              <a:rPr lang="pt-PT" altLang="en-US" sz="1800" dirty="0" err="1"/>
              <a:t>int</a:t>
            </a:r>
            <a:r>
              <a:rPr lang="pt-PT" altLang="en-US" sz="1800" dirty="0"/>
              <a:t> d;</a:t>
            </a:r>
            <a:endParaRPr lang="pt-PT" altLang="en-US" sz="18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  </a:t>
            </a: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D() { </a:t>
            </a:r>
            <a:r>
              <a:rPr lang="pt-PT" altLang="en-US" sz="1800" dirty="0" err="1">
                <a:latin typeface="Times New Roman" panose="02020603050405020304" pitchFamily="18" charset="0"/>
              </a:rPr>
              <a:t>this.d</a:t>
            </a:r>
            <a:r>
              <a:rPr lang="pt-PT" altLang="en-US" sz="1800" dirty="0">
                <a:latin typeface="Times New Roman" panose="02020603050405020304" pitchFamily="18" charset="0"/>
              </a:rPr>
              <a:t> = 33;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  </a:t>
            </a: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int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daVal</a:t>
            </a:r>
            <a:r>
              <a:rPr lang="pt-PT" altLang="en-US" sz="1800" dirty="0">
                <a:latin typeface="Times New Roman" panose="02020603050405020304" pitchFamily="18" charset="0"/>
              </a:rPr>
              <a:t>() { </a:t>
            </a:r>
            <a:r>
              <a:rPr lang="pt-PT" altLang="en-US" sz="1800" dirty="0" err="1">
                <a:latin typeface="Times New Roman" panose="02020603050405020304" pitchFamily="18" charset="0"/>
              </a:rPr>
              <a:t>return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this.d</a:t>
            </a:r>
            <a:r>
              <a:rPr lang="pt-PT" altLang="en-US" sz="1800" dirty="0">
                <a:latin typeface="Times New Roman" panose="02020603050405020304" pitchFamily="18" charset="0"/>
              </a:rPr>
              <a:t>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  </a:t>
            </a: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void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metd</a:t>
            </a:r>
            <a:r>
              <a:rPr lang="pt-PT" altLang="en-US" sz="1800" dirty="0">
                <a:latin typeface="Times New Roman" panose="02020603050405020304" pitchFamily="18" charset="0"/>
              </a:rPr>
              <a:t>() { </a:t>
            </a:r>
            <a:r>
              <a:rPr lang="pt-PT" altLang="en-US" sz="1800" dirty="0" err="1">
                <a:latin typeface="Times New Roman" panose="02020603050405020304" pitchFamily="18" charset="0"/>
              </a:rPr>
              <a:t>this.d</a:t>
            </a:r>
            <a:r>
              <a:rPr lang="pt-PT" altLang="en-US" sz="1800" dirty="0">
                <a:latin typeface="Times New Roman" panose="02020603050405020304" pitchFamily="18" charset="0"/>
              </a:rPr>
              <a:t> = </a:t>
            </a:r>
            <a:r>
              <a:rPr lang="pt-PT" altLang="en-US" sz="1800" dirty="0" err="1">
                <a:latin typeface="Times New Roman" panose="02020603050405020304" pitchFamily="18" charset="0"/>
              </a:rPr>
              <a:t>this.d</a:t>
            </a:r>
            <a:r>
              <a:rPr lang="pt-PT" altLang="en-US" sz="1800" dirty="0">
                <a:latin typeface="Times New Roman" panose="02020603050405020304" pitchFamily="18" charset="0"/>
              </a:rPr>
              <a:t> * 10 + 3 ; }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59397" name="Text Box 5">
            <a:extLst>
              <a:ext uri="{FF2B5EF4-FFF2-40B4-BE49-F238E27FC236}">
                <a16:creationId xmlns:a16="http://schemas.microsoft.com/office/drawing/2014/main" id="{ACACBB1A-A555-4D8E-ABAB-29EDB1EF8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1988840"/>
            <a:ext cx="6121400" cy="28384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 err="1"/>
              <a:t>public</a:t>
            </a:r>
            <a:r>
              <a:rPr lang="pt-PT" altLang="en-US" sz="1800" dirty="0"/>
              <a:t> </a:t>
            </a:r>
            <a:r>
              <a:rPr lang="pt-PT" altLang="en-US" sz="1800" dirty="0" err="1"/>
              <a:t>static</a:t>
            </a:r>
            <a:r>
              <a:rPr lang="pt-PT" altLang="en-US" sz="1800" dirty="0"/>
              <a:t> </a:t>
            </a:r>
            <a:r>
              <a:rPr lang="pt-PT" altLang="en-US" sz="1800" dirty="0" err="1"/>
              <a:t>void</a:t>
            </a:r>
            <a:r>
              <a:rPr lang="pt-PT" altLang="en-US" sz="1800" dirty="0"/>
              <a:t> </a:t>
            </a:r>
            <a:r>
              <a:rPr lang="pt-PT" altLang="en-US" sz="1800" dirty="0" err="1"/>
              <a:t>main</a:t>
            </a:r>
            <a:r>
              <a:rPr lang="pt-PT" altLang="en-US" sz="1800" dirty="0"/>
              <a:t>(</a:t>
            </a:r>
            <a:r>
              <a:rPr lang="pt-PT" altLang="en-US" sz="1800" dirty="0" err="1"/>
              <a:t>String</a:t>
            </a:r>
            <a:r>
              <a:rPr lang="pt-PT" altLang="en-US" sz="1800" dirty="0"/>
              <a:t> </a:t>
            </a:r>
            <a:r>
              <a:rPr lang="pt-PT" altLang="en-US" sz="1800" dirty="0" err="1"/>
              <a:t>args</a:t>
            </a:r>
            <a:r>
              <a:rPr lang="pt-PT" altLang="en-US" sz="1800" dirty="0"/>
              <a:t>[])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/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/>
              <a:t> A a1, a2, a3, a4;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/>
              <a:t> a1 = </a:t>
            </a:r>
            <a:r>
              <a:rPr lang="pt-PT" altLang="en-US" sz="1800" dirty="0" err="1"/>
              <a:t>new</a:t>
            </a:r>
            <a:r>
              <a:rPr lang="pt-PT" altLang="en-US" sz="1800" dirty="0"/>
              <a:t> A(); a2 = </a:t>
            </a:r>
            <a:r>
              <a:rPr lang="pt-PT" altLang="en-US" sz="1800" dirty="0" err="1"/>
              <a:t>new</a:t>
            </a:r>
            <a:r>
              <a:rPr lang="pt-PT" altLang="en-US" sz="1800" dirty="0"/>
              <a:t> B(); a3 = </a:t>
            </a:r>
            <a:r>
              <a:rPr lang="pt-PT" altLang="en-US" sz="1800" dirty="0" err="1"/>
              <a:t>new</a:t>
            </a:r>
            <a:r>
              <a:rPr lang="pt-PT" altLang="en-US" sz="1800" dirty="0"/>
              <a:t> C(); a4 = </a:t>
            </a:r>
            <a:r>
              <a:rPr lang="pt-PT" altLang="en-US" sz="1800" dirty="0" err="1"/>
              <a:t>new</a:t>
            </a:r>
            <a:r>
              <a:rPr lang="pt-PT" altLang="en-US" sz="1800" dirty="0"/>
              <a:t> D();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/>
              <a:t> a1.metd(); a2.metd(); a3.metd(); a4.metd();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/>
              <a:t> </a:t>
            </a:r>
            <a:r>
              <a:rPr lang="pt-PT" altLang="en-US" sz="1800" dirty="0" err="1"/>
              <a:t>out.println</a:t>
            </a:r>
            <a:r>
              <a:rPr lang="pt-PT" altLang="en-US" sz="1800" dirty="0"/>
              <a:t>("a1.metd() = " + a1.daVal());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/>
              <a:t> </a:t>
            </a:r>
            <a:r>
              <a:rPr lang="pt-PT" altLang="en-US" sz="1800" dirty="0" err="1"/>
              <a:t>out.println</a:t>
            </a:r>
            <a:r>
              <a:rPr lang="pt-PT" altLang="en-US" sz="1800" dirty="0"/>
              <a:t>("a2.metd() = " + a2.daVal());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/>
              <a:t> </a:t>
            </a:r>
            <a:r>
              <a:rPr lang="pt-PT" altLang="en-US" sz="1800" dirty="0" err="1"/>
              <a:t>out.println</a:t>
            </a:r>
            <a:r>
              <a:rPr lang="pt-PT" altLang="en-US" sz="1800" dirty="0"/>
              <a:t>("a3.metd() = " + a3.daVal());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/>
              <a:t> </a:t>
            </a:r>
            <a:r>
              <a:rPr lang="pt-PT" altLang="en-US" sz="1800" dirty="0" err="1"/>
              <a:t>out.println</a:t>
            </a:r>
            <a:r>
              <a:rPr lang="pt-PT" altLang="en-US" sz="1800" dirty="0"/>
              <a:t>("a4.metd() = " + a4.daVal());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9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9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9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9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93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93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/>
      <p:bldP spid="5939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Marcador de Posição do Rodapé 4">
            <a:extLst>
              <a:ext uri="{FF2B5EF4-FFF2-40B4-BE49-F238E27FC236}">
                <a16:creationId xmlns:a16="http://schemas.microsoft.com/office/drawing/2014/main" id="{4E9ABC0C-0B61-4D93-8DF0-F26EF6E0E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1747" name="Marcador de Posição do Número do Diapositivo 5">
            <a:extLst>
              <a:ext uri="{FF2B5EF4-FFF2-40B4-BE49-F238E27FC236}">
                <a16:creationId xmlns:a16="http://schemas.microsoft.com/office/drawing/2014/main" id="{6FB526D4-65EE-4B2A-B320-44D20406D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1B7C2A-EFDC-4C7C-B8D2-768473B04A19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pt-PT" altLang="en-US" sz="1400"/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53EE05D8-14BE-49FC-8B19-E75D859436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" y="131763"/>
            <a:ext cx="2376488" cy="633412"/>
          </a:xfrm>
        </p:spPr>
        <p:txBody>
          <a:bodyPr/>
          <a:lstStyle/>
          <a:p>
            <a:pPr algn="l" eaLnBrk="1" hangingPunct="1"/>
            <a:r>
              <a:rPr lang="pt-PT" altLang="en-US" sz="3200"/>
              <a:t>Exemplo</a:t>
            </a:r>
          </a:p>
        </p:txBody>
      </p:sp>
      <p:sp>
        <p:nvSpPr>
          <p:cNvPr id="31749" name="Line 14">
            <a:extLst>
              <a:ext uri="{FF2B5EF4-FFF2-40B4-BE49-F238E27FC236}">
                <a16:creationId xmlns:a16="http://schemas.microsoft.com/office/drawing/2014/main" id="{B87DB49D-0343-4E78-8742-2CB3788F30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4663" y="3429000"/>
            <a:ext cx="0" cy="71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60431" name="Line 15">
            <a:extLst>
              <a:ext uri="{FF2B5EF4-FFF2-40B4-BE49-F238E27FC236}">
                <a16:creationId xmlns:a16="http://schemas.microsoft.com/office/drawing/2014/main" id="{B2510624-1693-490E-B975-1973A88E3E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87675" y="3644900"/>
            <a:ext cx="1296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60432" name="Line 16">
            <a:extLst>
              <a:ext uri="{FF2B5EF4-FFF2-40B4-BE49-F238E27FC236}">
                <a16:creationId xmlns:a16="http://schemas.microsoft.com/office/drawing/2014/main" id="{DF09A9C7-68E8-4ECF-8CA0-7A450E7092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364490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60433" name="Line 17">
            <a:extLst>
              <a:ext uri="{FF2B5EF4-FFF2-40B4-BE49-F238E27FC236}">
                <a16:creationId xmlns:a16="http://schemas.microsoft.com/office/drawing/2014/main" id="{35A52A4D-E8E9-45E8-A61A-3BC619DDF1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4663" y="3500438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60434" name="Line 18">
            <a:extLst>
              <a:ext uri="{FF2B5EF4-FFF2-40B4-BE49-F238E27FC236}">
                <a16:creationId xmlns:a16="http://schemas.microsoft.com/office/drawing/2014/main" id="{CC3C12B2-33E1-4FDB-969E-7626B3CB3C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2725" y="3500438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31754" name="Line 19">
            <a:extLst>
              <a:ext uri="{FF2B5EF4-FFF2-40B4-BE49-F238E27FC236}">
                <a16:creationId xmlns:a16="http://schemas.microsoft.com/office/drawing/2014/main" id="{4AB3842B-85A2-4907-9360-112FAA539C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84663" y="3429000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60436" name="Rectangle 20">
            <a:extLst>
              <a:ext uri="{FF2B5EF4-FFF2-40B4-BE49-F238E27FC236}">
                <a16:creationId xmlns:a16="http://schemas.microsoft.com/office/drawing/2014/main" id="{17E7A235-5847-41D2-9147-E7A9511CF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188913"/>
            <a:ext cx="4032250" cy="32400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4400"/>
              <a:t>EMPREGADO</a:t>
            </a:r>
          </a:p>
        </p:txBody>
      </p:sp>
      <p:sp>
        <p:nvSpPr>
          <p:cNvPr id="60438" name="Rectangle 22">
            <a:extLst>
              <a:ext uri="{FF2B5EF4-FFF2-40B4-BE49-F238E27FC236}">
                <a16:creationId xmlns:a16="http://schemas.microsoft.com/office/drawing/2014/main" id="{D0E90DCD-272B-4EF6-96DC-21DDF7051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221163"/>
            <a:ext cx="3960812" cy="2447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4400"/>
              <a:t>GESTOR</a:t>
            </a:r>
          </a:p>
        </p:txBody>
      </p:sp>
      <p:sp>
        <p:nvSpPr>
          <p:cNvPr id="60440" name="Rectangle 24">
            <a:extLst>
              <a:ext uri="{FF2B5EF4-FFF2-40B4-BE49-F238E27FC236}">
                <a16:creationId xmlns:a16="http://schemas.microsoft.com/office/drawing/2014/main" id="{BFEE66C6-43C0-487D-B044-8DA45AA1C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644900"/>
            <a:ext cx="4500562" cy="32131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4400"/>
              <a:t>MOTORISTA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0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0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36" grpId="0" animBg="1"/>
      <p:bldP spid="60438" grpId="0" animBg="1"/>
      <p:bldP spid="6044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Marcador de Posição do Rodapé 4">
            <a:extLst>
              <a:ext uri="{FF2B5EF4-FFF2-40B4-BE49-F238E27FC236}">
                <a16:creationId xmlns:a16="http://schemas.microsoft.com/office/drawing/2014/main" id="{5CAC08A6-4756-4E83-910C-40A170767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2771" name="Marcador de Posição do Número do Diapositivo 5">
            <a:extLst>
              <a:ext uri="{FF2B5EF4-FFF2-40B4-BE49-F238E27FC236}">
                <a16:creationId xmlns:a16="http://schemas.microsoft.com/office/drawing/2014/main" id="{CCB3E5BF-1AEC-4199-A1F7-423F312C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28733A-CD0B-4F79-B5BA-829EF5469FFA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pt-PT" altLang="en-US" sz="1400"/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BC481350-1770-462C-ACBC-30D2FF6D9D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2376488" cy="633413"/>
          </a:xfrm>
        </p:spPr>
        <p:txBody>
          <a:bodyPr/>
          <a:lstStyle/>
          <a:p>
            <a:pPr algn="l" eaLnBrk="1" hangingPunct="1"/>
            <a:r>
              <a:rPr lang="pt-PT" altLang="en-US" sz="3200"/>
              <a:t>Exemplo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52DCD1DE-6114-4B8D-8ACF-F37710DF54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55776" y="188913"/>
            <a:ext cx="4402805" cy="32400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4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class</a:t>
            </a:r>
            <a:r>
              <a:rPr lang="pt-PT" altLang="en-US" sz="1400" dirty="0">
                <a:latin typeface="Times New Roman" panose="02020603050405020304" pitchFamily="18" charset="0"/>
              </a:rPr>
              <a:t> Empregado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400" dirty="0">
                <a:latin typeface="Times New Roman" panose="02020603050405020304" pitchFamily="18" charset="0"/>
              </a:rPr>
              <a:t>{ // Variáveis de Classe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static</a:t>
            </a: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double</a:t>
            </a: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salDia</a:t>
            </a:r>
            <a:r>
              <a:rPr lang="pt-PT" altLang="en-US" sz="1400" dirty="0">
                <a:latin typeface="Times New Roman" panose="02020603050405020304" pitchFamily="18" charset="0"/>
              </a:rPr>
              <a:t> = 50.00;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static</a:t>
            </a: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double</a:t>
            </a: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getSalDia</a:t>
            </a:r>
            <a:r>
              <a:rPr lang="pt-PT" altLang="en-US" sz="1400" dirty="0">
                <a:latin typeface="Times New Roman" panose="02020603050405020304" pitchFamily="18" charset="0"/>
              </a:rPr>
              <a:t>() { </a:t>
            </a:r>
            <a:r>
              <a:rPr lang="pt-PT" altLang="en-US" sz="1400" dirty="0" err="1">
                <a:latin typeface="Times New Roman" panose="02020603050405020304" pitchFamily="18" charset="0"/>
              </a:rPr>
              <a:t>return</a:t>
            </a: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salDia</a:t>
            </a:r>
            <a:r>
              <a:rPr lang="pt-PT" altLang="en-US" sz="1400" dirty="0">
                <a:latin typeface="Times New Roman" panose="02020603050405020304" pitchFamily="18" charset="0"/>
              </a:rPr>
              <a:t>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400" dirty="0">
                <a:latin typeface="Times New Roman" panose="02020603050405020304" pitchFamily="18" charset="0"/>
              </a:rPr>
              <a:t> // Variáveis de Instância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private</a:t>
            </a: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String</a:t>
            </a:r>
            <a:r>
              <a:rPr lang="pt-PT" altLang="en-US" sz="1400" dirty="0">
                <a:latin typeface="Times New Roman" panose="02020603050405020304" pitchFamily="18" charset="0"/>
              </a:rPr>
              <a:t> nome;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private</a:t>
            </a: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int</a:t>
            </a:r>
            <a:r>
              <a:rPr lang="pt-PT" altLang="en-US" sz="1400" dirty="0">
                <a:latin typeface="Times New Roman" panose="02020603050405020304" pitchFamily="18" charset="0"/>
              </a:rPr>
              <a:t> dias; // dias de trabalho no mês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400" dirty="0">
                <a:latin typeface="Times New Roman" panose="02020603050405020304" pitchFamily="18" charset="0"/>
              </a:rPr>
              <a:t> // Construtores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400" dirty="0">
                <a:latin typeface="Times New Roman" panose="02020603050405020304" pitchFamily="18" charset="0"/>
              </a:rPr>
              <a:t> Empregado(</a:t>
            </a:r>
            <a:r>
              <a:rPr lang="pt-PT" altLang="en-US" sz="1400" dirty="0" err="1">
                <a:latin typeface="Times New Roman" panose="02020603050405020304" pitchFamily="18" charset="0"/>
              </a:rPr>
              <a:t>String</a:t>
            </a:r>
            <a:r>
              <a:rPr lang="pt-PT" altLang="en-US" sz="1400" dirty="0">
                <a:latin typeface="Times New Roman" panose="02020603050405020304" pitchFamily="18" charset="0"/>
              </a:rPr>
              <a:t> nome, </a:t>
            </a:r>
            <a:r>
              <a:rPr lang="pt-PT" altLang="en-US" sz="1400" dirty="0" err="1">
                <a:latin typeface="Times New Roman" panose="02020603050405020304" pitchFamily="18" charset="0"/>
              </a:rPr>
              <a:t>int</a:t>
            </a:r>
            <a:r>
              <a:rPr lang="pt-PT" altLang="en-US" sz="1400" dirty="0">
                <a:latin typeface="Times New Roman" panose="02020603050405020304" pitchFamily="18" charset="0"/>
              </a:rPr>
              <a:t> dias)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400" dirty="0">
                <a:latin typeface="Times New Roman" panose="02020603050405020304" pitchFamily="18" charset="0"/>
              </a:rPr>
              <a:t> { </a:t>
            </a:r>
            <a:r>
              <a:rPr lang="pt-PT" altLang="en-US" sz="1400" dirty="0" err="1">
                <a:latin typeface="Times New Roman" panose="02020603050405020304" pitchFamily="18" charset="0"/>
              </a:rPr>
              <a:t>this.dias</a:t>
            </a:r>
            <a:r>
              <a:rPr lang="pt-PT" altLang="en-US" sz="1400" dirty="0">
                <a:latin typeface="Times New Roman" panose="02020603050405020304" pitchFamily="18" charset="0"/>
              </a:rPr>
              <a:t> = dias; </a:t>
            </a:r>
            <a:r>
              <a:rPr lang="pt-PT" altLang="en-US" sz="1400" dirty="0" err="1">
                <a:latin typeface="Times New Roman" panose="02020603050405020304" pitchFamily="18" charset="0"/>
              </a:rPr>
              <a:t>this.nome</a:t>
            </a:r>
            <a:r>
              <a:rPr lang="pt-PT" altLang="en-US" sz="1400" dirty="0">
                <a:latin typeface="Times New Roman" panose="02020603050405020304" pitchFamily="18" charset="0"/>
              </a:rPr>
              <a:t> = nome;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400" dirty="0">
                <a:latin typeface="Times New Roman" panose="02020603050405020304" pitchFamily="18" charset="0"/>
              </a:rPr>
              <a:t> // Métodos de Instância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int</a:t>
            </a: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getDias</a:t>
            </a:r>
            <a:r>
              <a:rPr lang="pt-PT" altLang="en-US" sz="1400" dirty="0">
                <a:latin typeface="Times New Roman" panose="02020603050405020304" pitchFamily="18" charset="0"/>
              </a:rPr>
              <a:t>() { </a:t>
            </a:r>
            <a:r>
              <a:rPr lang="pt-PT" altLang="en-US" sz="1400" dirty="0" err="1">
                <a:latin typeface="Times New Roman" panose="02020603050405020304" pitchFamily="18" charset="0"/>
              </a:rPr>
              <a:t>return</a:t>
            </a:r>
            <a:r>
              <a:rPr lang="pt-PT" altLang="en-US" sz="1400" dirty="0">
                <a:latin typeface="Times New Roman" panose="02020603050405020304" pitchFamily="18" charset="0"/>
              </a:rPr>
              <a:t> dias;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double</a:t>
            </a:r>
            <a:r>
              <a:rPr lang="pt-PT" altLang="en-US" sz="1400" dirty="0">
                <a:latin typeface="Times New Roman" panose="02020603050405020304" pitchFamily="18" charset="0"/>
              </a:rPr>
              <a:t> salario() { </a:t>
            </a:r>
            <a:r>
              <a:rPr lang="pt-PT" altLang="en-US" sz="1400" dirty="0" err="1">
                <a:latin typeface="Times New Roman" panose="02020603050405020304" pitchFamily="18" charset="0"/>
              </a:rPr>
              <a:t>return</a:t>
            </a: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this.dias</a:t>
            </a:r>
            <a:r>
              <a:rPr lang="pt-PT" altLang="en-US" sz="1400" dirty="0">
                <a:latin typeface="Times New Roman" panose="02020603050405020304" pitchFamily="18" charset="0"/>
              </a:rPr>
              <a:t> * </a:t>
            </a:r>
            <a:r>
              <a:rPr lang="pt-PT" altLang="en-US" sz="1400" dirty="0" err="1">
                <a:latin typeface="Times New Roman" panose="02020603050405020304" pitchFamily="18" charset="0"/>
              </a:rPr>
              <a:t>getSalDia</a:t>
            </a:r>
            <a:r>
              <a:rPr lang="pt-PT" altLang="en-US" sz="1400" dirty="0">
                <a:latin typeface="Times New Roman" panose="02020603050405020304" pitchFamily="18" charset="0"/>
              </a:rPr>
              <a:t>();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String</a:t>
            </a:r>
            <a:r>
              <a:rPr lang="pt-PT" altLang="en-US" sz="1400" dirty="0">
                <a:latin typeface="Times New Roman" panose="02020603050405020304" pitchFamily="18" charset="0"/>
              </a:rPr>
              <a:t> </a:t>
            </a:r>
            <a:r>
              <a:rPr lang="pt-PT" altLang="en-US" sz="1400" dirty="0" err="1">
                <a:latin typeface="Times New Roman" panose="02020603050405020304" pitchFamily="18" charset="0"/>
              </a:rPr>
              <a:t>getNome</a:t>
            </a:r>
            <a:r>
              <a:rPr lang="pt-PT" altLang="en-US" sz="1400" dirty="0">
                <a:latin typeface="Times New Roman" panose="02020603050405020304" pitchFamily="18" charset="0"/>
              </a:rPr>
              <a:t>() { </a:t>
            </a:r>
            <a:r>
              <a:rPr lang="pt-PT" altLang="en-US" sz="1400" dirty="0" err="1">
                <a:latin typeface="Times New Roman" panose="02020603050405020304" pitchFamily="18" charset="0"/>
              </a:rPr>
              <a:t>return</a:t>
            </a:r>
            <a:r>
              <a:rPr lang="pt-PT" altLang="en-US" sz="1400" dirty="0">
                <a:latin typeface="Times New Roman" panose="02020603050405020304" pitchFamily="18" charset="0"/>
              </a:rPr>
              <a:t> nome;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400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63492" name="Text Box 4">
            <a:extLst>
              <a:ext uri="{FF2B5EF4-FFF2-40B4-BE49-F238E27FC236}">
                <a16:creationId xmlns:a16="http://schemas.microsoft.com/office/drawing/2014/main" id="{843C8EAF-B422-459A-8B56-B5A5F3464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4205288"/>
            <a:ext cx="4244975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>
                <a:latin typeface="Times New Roman" panose="02020603050405020304" pitchFamily="18" charset="0"/>
              </a:rPr>
              <a:t>public class Gestor extends Empregado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>
                <a:latin typeface="Times New Roman" panose="02020603050405020304" pitchFamily="18" charset="0"/>
              </a:rPr>
              <a:t>{ // Variáveis de Instância e Construtores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>
                <a:latin typeface="Times New Roman" panose="02020603050405020304" pitchFamily="18" charset="0"/>
              </a:rPr>
              <a:t> private double bonus;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>
                <a:latin typeface="Times New Roman" panose="02020603050405020304" pitchFamily="18" charset="0"/>
              </a:rPr>
              <a:t> public Gestor(String nm, int dias, double bon)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>
                <a:latin typeface="Times New Roman" panose="02020603050405020304" pitchFamily="18" charset="0"/>
              </a:rPr>
              <a:t>{ super(nm, dias); this.bonus = bon;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>
                <a:latin typeface="Times New Roman" panose="02020603050405020304" pitchFamily="18" charset="0"/>
              </a:rPr>
              <a:t> // Métodos de Instância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>
                <a:latin typeface="Times New Roman" panose="02020603050405020304" pitchFamily="18" charset="0"/>
              </a:rPr>
              <a:t> public double getBonus() { return this.bonus;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>
                <a:latin typeface="Times New Roman" panose="02020603050405020304" pitchFamily="18" charset="0"/>
              </a:rPr>
              <a:t> public double salario()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>
                <a:latin typeface="Times New Roman" panose="02020603050405020304" pitchFamily="18" charset="0"/>
              </a:rPr>
              <a:t> { return getSalDia()*this.getDias()*this.bonus;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63493" name="Text Box 5">
            <a:extLst>
              <a:ext uri="{FF2B5EF4-FFF2-40B4-BE49-F238E27FC236}">
                <a16:creationId xmlns:a16="http://schemas.microsoft.com/office/drawing/2014/main" id="{3FA0D839-C1B2-42E5-93C7-9EB6DFBC4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4388" y="3644900"/>
            <a:ext cx="4514850" cy="332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400">
                <a:latin typeface="Times New Roman" panose="02020603050405020304" pitchFamily="18" charset="0"/>
              </a:rPr>
              <a:t>public class Motorista extends Empregado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400">
                <a:latin typeface="Times New Roman" panose="02020603050405020304" pitchFamily="18" charset="0"/>
              </a:rPr>
              <a:t>{ // Variáveis de Classe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400">
                <a:latin typeface="Times New Roman" panose="02020603050405020304" pitchFamily="18" charset="0"/>
              </a:rPr>
              <a:t> public static double valorKm = 0.98;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400">
                <a:latin typeface="Times New Roman" panose="02020603050405020304" pitchFamily="18" charset="0"/>
              </a:rPr>
              <a:t> public static double mudaValKm(double nvKm)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400">
                <a:latin typeface="Times New Roman" panose="02020603050405020304" pitchFamily="18" charset="0"/>
              </a:rPr>
              <a:t>{ valorKm = nvKm;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400">
                <a:latin typeface="Times New Roman" panose="02020603050405020304" pitchFamily="18" charset="0"/>
              </a:rPr>
              <a:t>// Variáveis de Instância e Construtores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400">
                <a:latin typeface="Times New Roman" panose="02020603050405020304" pitchFamily="18" charset="0"/>
              </a:rPr>
              <a:t>private double bonus;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400">
                <a:latin typeface="Times New Roman" panose="02020603050405020304" pitchFamily="18" charset="0"/>
              </a:rPr>
              <a:t>private int km;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400">
                <a:latin typeface="Times New Roman" panose="02020603050405020304" pitchFamily="18" charset="0"/>
              </a:rPr>
              <a:t>public Motorista(String nm, int dias, double bon, int km)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400">
                <a:latin typeface="Times New Roman" panose="02020603050405020304" pitchFamily="18" charset="0"/>
              </a:rPr>
              <a:t>{super(nm, dias); this.bonus = bon; this.km = km;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400">
                <a:latin typeface="Times New Roman" panose="02020603050405020304" pitchFamily="18" charset="0"/>
              </a:rPr>
              <a:t>// Métodos de Instância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400">
                <a:latin typeface="Times New Roman" panose="02020603050405020304" pitchFamily="18" charset="0"/>
              </a:rPr>
              <a:t>public double getBonus() { return bonus;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400">
                <a:latin typeface="Times New Roman" panose="02020603050405020304" pitchFamily="18" charset="0"/>
              </a:rPr>
              <a:t>public double salario()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400">
                <a:latin typeface="Times New Roman" panose="02020603050405020304" pitchFamily="18" charset="0"/>
              </a:rPr>
              <a:t>return getSalDia()*this.getDias()*bonus + (valorKm*km);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4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32776" name="Rectangle 6">
            <a:extLst>
              <a:ext uri="{FF2B5EF4-FFF2-40B4-BE49-F238E27FC236}">
                <a16:creationId xmlns:a16="http://schemas.microsoft.com/office/drawing/2014/main" id="{7A91C05D-55C7-4FFA-B03B-C1770F504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188913"/>
            <a:ext cx="4032250" cy="32400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777" name="Rectangle 7">
            <a:extLst>
              <a:ext uri="{FF2B5EF4-FFF2-40B4-BE49-F238E27FC236}">
                <a16:creationId xmlns:a16="http://schemas.microsoft.com/office/drawing/2014/main" id="{80BD5348-ECD7-40A1-A83B-4699AF5BD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4202113"/>
            <a:ext cx="3960812" cy="2447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778" name="Rectangle 8">
            <a:extLst>
              <a:ext uri="{FF2B5EF4-FFF2-40B4-BE49-F238E27FC236}">
                <a16:creationId xmlns:a16="http://schemas.microsoft.com/office/drawing/2014/main" id="{707210BA-4910-4300-B71D-6E5019354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573463"/>
            <a:ext cx="4500563" cy="3213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779" name="Line 9">
            <a:extLst>
              <a:ext uri="{FF2B5EF4-FFF2-40B4-BE49-F238E27FC236}">
                <a16:creationId xmlns:a16="http://schemas.microsoft.com/office/drawing/2014/main" id="{20129043-E9DA-4874-A582-5FFF3547E1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4663" y="3429000"/>
            <a:ext cx="0" cy="71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32780" name="Line 10">
            <a:extLst>
              <a:ext uri="{FF2B5EF4-FFF2-40B4-BE49-F238E27FC236}">
                <a16:creationId xmlns:a16="http://schemas.microsoft.com/office/drawing/2014/main" id="{E8D1FADB-8442-4AD9-85F9-A342B4B304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87675" y="3644900"/>
            <a:ext cx="1296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32781" name="Line 11">
            <a:extLst>
              <a:ext uri="{FF2B5EF4-FFF2-40B4-BE49-F238E27FC236}">
                <a16:creationId xmlns:a16="http://schemas.microsoft.com/office/drawing/2014/main" id="{35856BF7-69B4-4F2E-84DE-723365BBED7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364490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32782" name="Line 14">
            <a:extLst>
              <a:ext uri="{FF2B5EF4-FFF2-40B4-BE49-F238E27FC236}">
                <a16:creationId xmlns:a16="http://schemas.microsoft.com/office/drawing/2014/main" id="{CF62AC67-8DAB-40BF-BD9A-8C2C1CEF54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84663" y="3429000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32783" name="Line 18">
            <a:extLst>
              <a:ext uri="{FF2B5EF4-FFF2-40B4-BE49-F238E27FC236}">
                <a16:creationId xmlns:a16="http://schemas.microsoft.com/office/drawing/2014/main" id="{A47E52AB-17E2-4FCC-A6EB-560F34C1C5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4663" y="3644900"/>
            <a:ext cx="287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3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3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  <p:bldP spid="63492" grpId="0"/>
      <p:bldP spid="6349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Marcador de Posição do Rodapé 4">
            <a:extLst>
              <a:ext uri="{FF2B5EF4-FFF2-40B4-BE49-F238E27FC236}">
                <a16:creationId xmlns:a16="http://schemas.microsoft.com/office/drawing/2014/main" id="{D637FEA8-446C-4F17-AF0D-E9CBEFBCC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3795" name="Marcador de Posição do Número do Diapositivo 5">
            <a:extLst>
              <a:ext uri="{FF2B5EF4-FFF2-40B4-BE49-F238E27FC236}">
                <a16:creationId xmlns:a16="http://schemas.microsoft.com/office/drawing/2014/main" id="{617F4FB1-4C47-4315-B41B-9DA7D6DCF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1B2099-827C-4D80-8F30-E09220103CA8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pt-PT" altLang="en-US" sz="1400"/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91FF6C30-EC4E-4D0F-93EC-86E7EBA112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93775"/>
          </a:xfrm>
        </p:spPr>
        <p:txBody>
          <a:bodyPr/>
          <a:lstStyle/>
          <a:p>
            <a:pPr eaLnBrk="1" hangingPunct="1"/>
            <a:r>
              <a:rPr lang="pt-PT" altLang="en-US" sz="3200"/>
              <a:t>Interpretação de </a:t>
            </a:r>
            <a:r>
              <a:rPr lang="pt-PT" altLang="en-US" sz="3200" i="1"/>
              <a:t>this</a:t>
            </a:r>
            <a:r>
              <a:rPr lang="pt-PT" altLang="en-US" sz="3200"/>
              <a:t> em hierarquias de classes</a:t>
            </a:r>
          </a:p>
        </p:txBody>
      </p:sp>
      <p:sp>
        <p:nvSpPr>
          <p:cNvPr id="33797" name="Text Box 4">
            <a:extLst>
              <a:ext uri="{FF2B5EF4-FFF2-40B4-BE49-F238E27FC236}">
                <a16:creationId xmlns:a16="http://schemas.microsoft.com/office/drawing/2014/main" id="{C67A28B7-ADD0-4314-A32E-0E491937A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" y="1196975"/>
            <a:ext cx="5784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Invocar </a:t>
            </a:r>
            <a:r>
              <a:rPr lang="pt-PT" altLang="en-US" sz="2000">
                <a:latin typeface="Times New Roman" panose="02020603050405020304" pitchFamily="18" charset="0"/>
              </a:rPr>
              <a:t>a.teste()</a:t>
            </a:r>
            <a:r>
              <a:rPr lang="pt-PT" altLang="en-US" sz="2000"/>
              <a:t> (sendo </a:t>
            </a:r>
            <a:r>
              <a:rPr lang="pt-PT" altLang="en-US" sz="2000">
                <a:latin typeface="Times New Roman" panose="02020603050405020304" pitchFamily="18" charset="0"/>
              </a:rPr>
              <a:t>a</a:t>
            </a:r>
            <a:r>
              <a:rPr lang="pt-PT" altLang="en-US" sz="2000"/>
              <a:t> uma instância de </a:t>
            </a:r>
            <a:r>
              <a:rPr lang="pt-PT" altLang="en-US" sz="2000">
                <a:latin typeface="Times New Roman" panose="02020603050405020304" pitchFamily="18" charset="0"/>
              </a:rPr>
              <a:t>SubA</a:t>
            </a:r>
            <a:r>
              <a:rPr lang="pt-PT" altLang="en-US" sz="2000"/>
              <a:t>) :</a:t>
            </a:r>
          </a:p>
        </p:txBody>
      </p:sp>
      <p:pic>
        <p:nvPicPr>
          <p:cNvPr id="33798" name="Picture 5">
            <a:extLst>
              <a:ext uri="{FF2B5EF4-FFF2-40B4-BE49-F238E27FC236}">
                <a16:creationId xmlns:a16="http://schemas.microsoft.com/office/drawing/2014/main" id="{7CF77E1F-8DA7-4ECE-B802-EB9D8685C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1557338"/>
            <a:ext cx="4713288" cy="394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9" name="Text Box 6">
            <a:extLst>
              <a:ext uri="{FF2B5EF4-FFF2-40B4-BE49-F238E27FC236}">
                <a16:creationId xmlns:a16="http://schemas.microsoft.com/office/drawing/2014/main" id="{B5CD328D-958A-4CE3-B108-38DB9D3DD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2081213"/>
            <a:ext cx="5148262" cy="256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A interpretação de </a:t>
            </a:r>
            <a:r>
              <a:rPr lang="pt-PT" altLang="en-US" sz="1800" i="1"/>
              <a:t>this</a:t>
            </a:r>
            <a:r>
              <a:rPr lang="pt-PT" altLang="en-US" sz="1800"/>
              <a:t> refere-se sempre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ao objecto para onde a mensagem é enviada.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Neste caso, como </a:t>
            </a:r>
            <a:r>
              <a:rPr lang="pt-PT" altLang="en-US" sz="1800">
                <a:latin typeface="Times New Roman" panose="02020603050405020304" pitchFamily="18" charset="0"/>
              </a:rPr>
              <a:t>teste()</a:t>
            </a:r>
            <a:r>
              <a:rPr lang="pt-PT" altLang="en-US" sz="1800"/>
              <a:t> é um método herdado,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ele é invocado em </a:t>
            </a:r>
            <a:r>
              <a:rPr lang="pt-PT" altLang="en-US" sz="1800" b="1"/>
              <a:t>Super</a:t>
            </a:r>
            <a:r>
              <a:rPr lang="pt-PT" altLang="en-US" sz="1800"/>
              <a:t>. No entanto como </a:t>
            </a:r>
            <a:r>
              <a:rPr lang="pt-PT" altLang="en-US" sz="1800">
                <a:latin typeface="Times New Roman" panose="02020603050405020304" pitchFamily="18" charset="0"/>
              </a:rPr>
              <a:t>teste() </a:t>
            </a:r>
            <a:r>
              <a:rPr lang="pt-PT" altLang="en-US" sz="1800"/>
              <a:t>refere a </a:t>
            </a:r>
            <a:r>
              <a:rPr lang="pt-PT" altLang="en-US" sz="1800">
                <a:latin typeface="Times New Roman" panose="02020603050405020304" pitchFamily="18" charset="0"/>
              </a:rPr>
              <a:t>this.getX()</a:t>
            </a:r>
            <a:r>
              <a:rPr lang="pt-PT" altLang="en-US" sz="1800"/>
              <a:t>, a procura do método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faz-se na subclass </a:t>
            </a:r>
            <a:r>
              <a:rPr lang="pt-PT" altLang="en-US" sz="1800" b="1"/>
              <a:t>SubA</a:t>
            </a:r>
            <a:r>
              <a:rPr lang="pt-PT" altLang="en-US" sz="1800"/>
              <a:t>. Aqui acontece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simplesmente o return x, sendo </a:t>
            </a:r>
            <a:r>
              <a:rPr lang="pt-PT" altLang="en-US" sz="1800" i="1"/>
              <a:t>x</a:t>
            </a:r>
            <a:r>
              <a:rPr lang="pt-PT" altLang="en-US" sz="1800"/>
              <a:t> a variável 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b="1"/>
              <a:t>SubA</a:t>
            </a:r>
            <a:r>
              <a:rPr lang="pt-PT" altLang="en-US" sz="1800"/>
              <a:t>. Assim o resultado desta mensagem é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		 </a:t>
            </a:r>
            <a:r>
              <a:rPr lang="pt-PT" altLang="en-US" sz="1800" i="1"/>
              <a:t>x = 20</a:t>
            </a:r>
            <a:r>
              <a:rPr lang="pt-PT" altLang="en-US" sz="1800"/>
              <a:t>.</a:t>
            </a:r>
            <a:endParaRPr lang="pt-PT" altLang="en-US" sz="1800" b="1"/>
          </a:p>
        </p:txBody>
      </p:sp>
      <p:sp>
        <p:nvSpPr>
          <p:cNvPr id="33800" name="Text Box 7">
            <a:extLst>
              <a:ext uri="{FF2B5EF4-FFF2-40B4-BE49-F238E27FC236}">
                <a16:creationId xmlns:a16="http://schemas.microsoft.com/office/drawing/2014/main" id="{D47ECD85-9B83-4F6E-8D5D-594E8FB5A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516563"/>
            <a:ext cx="7381875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/>
              <a:t>Em geral, a expressão </a:t>
            </a:r>
            <a:r>
              <a:rPr lang="pt-PT" altLang="en-US" sz="1600">
                <a:latin typeface="Times New Roman" panose="02020603050405020304" pitchFamily="18" charset="0"/>
              </a:rPr>
              <a:t>this.m()</a:t>
            </a:r>
            <a:r>
              <a:rPr lang="pt-PT" altLang="en-US" sz="1600"/>
              <a:t> onde quer que seja encontrada no código de um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/>
              <a:t>método de instância de uma dada classe da hierarquia, corresponderá sempre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/>
              <a:t>à execução do método </a:t>
            </a:r>
            <a:r>
              <a:rPr lang="pt-PT" altLang="en-US" sz="1600">
                <a:latin typeface="Times New Roman" panose="02020603050405020304" pitchFamily="18" charset="0"/>
              </a:rPr>
              <a:t>m()</a:t>
            </a:r>
            <a:r>
              <a:rPr lang="pt-PT" altLang="en-US" sz="1600"/>
              <a:t> da classe do receptor da mensagem que iniciou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/>
              <a:t>o algoritmo de procura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Marcador de Posição do Rodapé 4">
            <a:extLst>
              <a:ext uri="{FF2B5EF4-FFF2-40B4-BE49-F238E27FC236}">
                <a16:creationId xmlns:a16="http://schemas.microsoft.com/office/drawing/2014/main" id="{11AB2FF0-AF12-4061-A462-53ADB1D3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4819" name="Marcador de Posição do Número do Diapositivo 5">
            <a:extLst>
              <a:ext uri="{FF2B5EF4-FFF2-40B4-BE49-F238E27FC236}">
                <a16:creationId xmlns:a16="http://schemas.microsoft.com/office/drawing/2014/main" id="{B28020B3-6A24-4230-B969-236241824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9ED29E-8ED4-4FC8-A2CB-C1E75EA94AE2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pt-PT" altLang="en-US" sz="1400"/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087FA4E7-6205-4152-A024-6D1DD19934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850900"/>
          </a:xfrm>
        </p:spPr>
        <p:txBody>
          <a:bodyPr/>
          <a:lstStyle/>
          <a:p>
            <a:pPr eaLnBrk="1" hangingPunct="1"/>
            <a:r>
              <a:rPr lang="pt-PT" altLang="en-US" sz="4000"/>
              <a:t>Hierarquia em Java: classe </a:t>
            </a:r>
            <a:r>
              <a:rPr lang="pt-PT" altLang="en-US" sz="4000">
                <a:latin typeface="Times New Roman" panose="02020603050405020304" pitchFamily="18" charset="0"/>
              </a:rPr>
              <a:t>Object</a:t>
            </a:r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98570974-8A1D-469C-9166-9594C7376D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29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800"/>
              <a:t>A classe Object representa o topo da hierarquia de classes em Java.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800"/>
              <a:t>Uma variável do tipo Object pode fazer referência para qualquer tipo referenciado.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800"/>
              <a:t>Nesta classe estão especificados os métodos </a:t>
            </a:r>
            <a:r>
              <a:rPr lang="pt-PT" altLang="en-US" sz="2800">
                <a:latin typeface="Times New Roman" panose="02020603050405020304" pitchFamily="18" charset="0"/>
              </a:rPr>
              <a:t>clone()</a:t>
            </a:r>
            <a:r>
              <a:rPr lang="pt-PT" altLang="en-US" sz="2800"/>
              <a:t>, </a:t>
            </a:r>
            <a:r>
              <a:rPr lang="pt-PT" altLang="en-US" sz="2800">
                <a:latin typeface="Times New Roman" panose="02020603050405020304" pitchFamily="18" charset="0"/>
              </a:rPr>
              <a:t>equals()</a:t>
            </a:r>
            <a:r>
              <a:rPr lang="pt-PT" altLang="en-US" sz="2800"/>
              <a:t> e </a:t>
            </a:r>
            <a:r>
              <a:rPr lang="pt-PT" altLang="en-US" sz="2800">
                <a:latin typeface="Times New Roman" panose="02020603050405020304" pitchFamily="18" charset="0"/>
              </a:rPr>
              <a:t>toString()</a:t>
            </a:r>
            <a:r>
              <a:rPr lang="pt-PT" altLang="en-US" sz="2800"/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800"/>
              <a:t>Contém o método </a:t>
            </a:r>
            <a:r>
              <a:rPr lang="pt-PT" altLang="en-US" sz="2800">
                <a:latin typeface="Times New Roman" panose="02020603050405020304" pitchFamily="18" charset="0"/>
              </a:rPr>
              <a:t>getClass()</a:t>
            </a:r>
            <a:r>
              <a:rPr lang="pt-PT" altLang="en-US" sz="2800"/>
              <a:t> que retorna a classe a que um objecto pertence.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800"/>
              <a:t>Com </a:t>
            </a:r>
            <a:r>
              <a:rPr lang="pt-PT" altLang="en-US" sz="2800">
                <a:latin typeface="Times New Roman" panose="02020603050405020304" pitchFamily="18" charset="0"/>
              </a:rPr>
              <a:t>getClass().getName()</a:t>
            </a:r>
            <a:r>
              <a:rPr lang="pt-PT" altLang="en-US" sz="2800"/>
              <a:t> obtemos o nome da classe.</a:t>
            </a:r>
          </a:p>
          <a:p>
            <a:pPr eaLnBrk="1" hangingPunct="1">
              <a:lnSpc>
                <a:spcPct val="90000"/>
              </a:lnSpc>
            </a:pPr>
            <a:endParaRPr lang="pt-PT" altLang="en-US" sz="2800"/>
          </a:p>
        </p:txBody>
      </p:sp>
      <p:pic>
        <p:nvPicPr>
          <p:cNvPr id="34822" name="Picture 4">
            <a:extLst>
              <a:ext uri="{FF2B5EF4-FFF2-40B4-BE49-F238E27FC236}">
                <a16:creationId xmlns:a16="http://schemas.microsoft.com/office/drawing/2014/main" id="{80300AEB-591E-417F-8B4E-7CB05C46C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200" y="5070475"/>
            <a:ext cx="3138488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Marcador de Posição do Rodapé 4">
            <a:extLst>
              <a:ext uri="{FF2B5EF4-FFF2-40B4-BE49-F238E27FC236}">
                <a16:creationId xmlns:a16="http://schemas.microsoft.com/office/drawing/2014/main" id="{EF47A2B6-305E-4033-85C9-A4F071214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5843" name="Marcador de Posição do Número do Diapositivo 5">
            <a:extLst>
              <a:ext uri="{FF2B5EF4-FFF2-40B4-BE49-F238E27FC236}">
                <a16:creationId xmlns:a16="http://schemas.microsoft.com/office/drawing/2014/main" id="{714B5BCE-9E85-4479-BE5F-F7E5E7925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DB2FEE-4E69-4493-9305-0EEAC8F80CD8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pt-PT" altLang="en-US" sz="1400"/>
          </a:p>
        </p:txBody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id="{B556F814-4D5A-46AC-B2CC-C60AFFBAEB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Notas finais sobre Herança</a:t>
            </a:r>
          </a:p>
        </p:txBody>
      </p:sp>
      <p:sp>
        <p:nvSpPr>
          <p:cNvPr id="35845" name="Rectangle 3">
            <a:extLst>
              <a:ext uri="{FF2B5EF4-FFF2-40B4-BE49-F238E27FC236}">
                <a16:creationId xmlns:a16="http://schemas.microsoft.com/office/drawing/2014/main" id="{21CEB118-459D-410E-8CC0-9876EBFB36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5327650"/>
          </a:xfrm>
        </p:spPr>
        <p:txBody>
          <a:bodyPr/>
          <a:lstStyle/>
          <a:p>
            <a:pPr eaLnBrk="1" hangingPunct="1"/>
            <a:r>
              <a:rPr lang="pt-PT" altLang="en-US" sz="2000"/>
              <a:t>Só podemos </a:t>
            </a:r>
            <a:r>
              <a:rPr lang="pt-PT" altLang="en-US" sz="2000">
                <a:latin typeface="Times New Roman" panose="02020603050405020304" pitchFamily="18" charset="0"/>
              </a:rPr>
              <a:t>user</a:t>
            </a:r>
            <a:r>
              <a:rPr lang="pt-PT" altLang="en-US" sz="2000"/>
              <a:t> a keyword </a:t>
            </a:r>
            <a:r>
              <a:rPr lang="pt-PT" altLang="en-US" sz="2000" b="1"/>
              <a:t>super</a:t>
            </a:r>
            <a:r>
              <a:rPr lang="pt-PT" altLang="en-US" sz="2000"/>
              <a:t> uma vez numa expressão e.g. a expressão </a:t>
            </a:r>
            <a:r>
              <a:rPr lang="pt-PT" altLang="en-US" sz="2000">
                <a:latin typeface="Times New Roman" panose="02020603050405020304" pitchFamily="18" charset="0"/>
              </a:rPr>
              <a:t>super.super.m()</a:t>
            </a:r>
            <a:r>
              <a:rPr lang="pt-PT" altLang="en-US" sz="2000"/>
              <a:t> é inválida.</a:t>
            </a:r>
          </a:p>
          <a:p>
            <a:pPr eaLnBrk="1" hangingPunct="1"/>
            <a:r>
              <a:rPr lang="pt-PT" altLang="en-US" sz="2000"/>
              <a:t>Variáveis e métodos de classe não são herdadas mas as variáveis podem ser redefinidas. Aos métodos </a:t>
            </a:r>
            <a:r>
              <a:rPr lang="pt-PT" altLang="en-US" sz="2000" b="1">
                <a:latin typeface="Times New Roman" panose="02020603050405020304" pitchFamily="18" charset="0"/>
              </a:rPr>
              <a:t>static</a:t>
            </a:r>
            <a:r>
              <a:rPr lang="pt-PT" altLang="en-US" sz="2000"/>
              <a:t> acontece o  </a:t>
            </a:r>
            <a:r>
              <a:rPr lang="pt-PT" altLang="en-US" sz="2000" i="1"/>
              <a:t>inlining        </a:t>
            </a:r>
            <a:r>
              <a:rPr lang="pt-PT" altLang="en-US" sz="2000"/>
              <a:t>(o compilador substitui invocação por código efectivo) em cada subclasse.</a:t>
            </a:r>
          </a:p>
          <a:p>
            <a:pPr eaLnBrk="1" hangingPunct="1"/>
            <a:endParaRPr lang="pt-PT" altLang="en-US" sz="2000" i="1"/>
          </a:p>
          <a:p>
            <a:pPr eaLnBrk="1" hangingPunct="1"/>
            <a:r>
              <a:rPr lang="pt-PT" altLang="en-US" sz="2000"/>
              <a:t>Pelo facto de uma variável de um dado tipo estático poder possuir diferentes tipos dinâmicos (ou formas) em tempo de execução, ela diz-se </a:t>
            </a:r>
            <a:r>
              <a:rPr lang="pt-PT" altLang="en-US" sz="2000" i="1"/>
              <a:t>polimórfica. </a:t>
            </a:r>
          </a:p>
          <a:p>
            <a:pPr eaLnBrk="1" hangingPunct="1"/>
            <a:endParaRPr lang="pt-PT" altLang="en-US" sz="2000" i="1"/>
          </a:p>
          <a:p>
            <a:pPr eaLnBrk="1" hangingPunct="1"/>
            <a:r>
              <a:rPr lang="pt-PT" altLang="en-US" sz="2000"/>
              <a:t>Polimorfismos das variáveis = princípio da substituição.</a:t>
            </a:r>
          </a:p>
          <a:p>
            <a:pPr eaLnBrk="1" hangingPunct="1"/>
            <a:r>
              <a:rPr lang="pt-PT" altLang="en-US" sz="2000"/>
              <a:t>Algoritmo de procura dinâmica de métodos e associação dinâmica! Permite ao interpretador decidir (em situações de herança) qual o método a executar.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FECEC782-2881-4259-BE45-9D156970B1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3975"/>
            <a:ext cx="8229600" cy="917575"/>
          </a:xfrm>
        </p:spPr>
        <p:txBody>
          <a:bodyPr/>
          <a:lstStyle/>
          <a:p>
            <a:r>
              <a:rPr lang="pt-PT" altLang="en-US" dirty="0" err="1">
                <a:solidFill>
                  <a:srgbClr val="FF0000"/>
                </a:solidFill>
              </a:rPr>
              <a:t>Exercicio</a:t>
            </a:r>
            <a:endParaRPr lang="pt-PT" alt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76CB9-B2DD-4614-9008-E5BFD7720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08050"/>
            <a:ext cx="5472113" cy="5888038"/>
          </a:xfrm>
        </p:spPr>
        <p:txBody>
          <a:bodyPr/>
          <a:lstStyle/>
          <a:p>
            <a:pPr>
              <a:defRPr/>
            </a:pPr>
            <a:r>
              <a:rPr lang="pt-PT" sz="1600" dirty="0">
                <a:solidFill>
                  <a:srgbClr val="FF0000"/>
                </a:solidFill>
              </a:rPr>
              <a:t>Considere a seguinte classe:</a:t>
            </a:r>
          </a:p>
          <a:p>
            <a:pPr indent="0">
              <a:buFontTx/>
              <a:buNone/>
              <a:defRPr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public class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Carro</a:t>
            </a:r>
            <a:endParaRPr lang="en-GB" sz="1400" dirty="0">
              <a:solidFill>
                <a:srgbClr val="FF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indent="0">
              <a:buFontTx/>
              <a:buNone/>
              <a:defRPr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  private int kms;</a:t>
            </a:r>
          </a:p>
          <a:p>
            <a:pPr indent="0">
              <a:buFontTx/>
              <a:buNone/>
              <a:defRPr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private int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idade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indent="0">
              <a:buFontTx/>
              <a:buNone/>
              <a:defRPr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private double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valor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marL="0" indent="0">
              <a:buFontTx/>
              <a:buNone/>
              <a:defRPr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private String matricula;</a:t>
            </a:r>
          </a:p>
          <a:p>
            <a:pPr marL="0" indent="0">
              <a:buFontTx/>
              <a:buNone/>
              <a:defRPr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Carro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(int k, int a, double v, String m)</a:t>
            </a:r>
          </a:p>
          <a:p>
            <a:pPr marL="0" indent="0">
              <a:buFontTx/>
              <a:buNone/>
              <a:defRPr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{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this.kms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= k;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this.idade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= a;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this.valor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= v;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this.matricula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= m; }</a:t>
            </a:r>
          </a:p>
          <a:p>
            <a:pPr marL="0" indent="0">
              <a:buFontTx/>
              <a:buNone/>
              <a:defRPr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indent="0">
              <a:buFontTx/>
              <a:buNone/>
              <a:defRPr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public int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getKms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()</a:t>
            </a:r>
          </a:p>
          <a:p>
            <a:pPr indent="0">
              <a:buFontTx/>
              <a:buNone/>
              <a:defRPr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{ return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this.kms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;}</a:t>
            </a:r>
          </a:p>
          <a:p>
            <a:pPr indent="0">
              <a:buFontTx/>
              <a:buNone/>
              <a:defRPr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public int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getIdade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()</a:t>
            </a:r>
          </a:p>
          <a:p>
            <a:pPr indent="0">
              <a:buFontTx/>
              <a:buNone/>
              <a:defRPr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{ return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this.idade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;}</a:t>
            </a:r>
          </a:p>
          <a:p>
            <a:pPr indent="0">
              <a:buFontTx/>
              <a:buNone/>
              <a:defRPr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public double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getValor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()</a:t>
            </a:r>
          </a:p>
          <a:p>
            <a:pPr indent="0">
              <a:buFontTx/>
              <a:buNone/>
              <a:defRPr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{ return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this.valor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;}</a:t>
            </a:r>
          </a:p>
          <a:p>
            <a:pPr indent="0">
              <a:buFontTx/>
              <a:buNone/>
              <a:defRPr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public String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getMat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()</a:t>
            </a:r>
          </a:p>
          <a:p>
            <a:pPr indent="0">
              <a:buFontTx/>
              <a:buNone/>
              <a:defRPr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{ return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this.matricula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;}</a:t>
            </a:r>
          </a:p>
          <a:p>
            <a:pPr indent="0">
              <a:buFontTx/>
              <a:buNone/>
              <a:defRPr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public void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setIdade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()</a:t>
            </a:r>
          </a:p>
          <a:p>
            <a:pPr indent="0">
              <a:buFontTx/>
              <a:buNone/>
              <a:defRPr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{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this.idade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++;}</a:t>
            </a:r>
          </a:p>
          <a:p>
            <a:pPr indent="0">
              <a:buFontTx/>
              <a:buNone/>
              <a:defRPr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public void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setKms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(int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inc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indent="0">
              <a:buFontTx/>
              <a:buNone/>
              <a:defRPr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{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this.kms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+= </a:t>
            </a:r>
            <a:r>
              <a:rPr lang="en-GB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inc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;}</a:t>
            </a:r>
          </a:p>
          <a:p>
            <a:pPr indent="0">
              <a:buFontTx/>
              <a:buNone/>
              <a:defRPr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 marL="0" indent="0">
              <a:buFontTx/>
              <a:buNone/>
              <a:defRPr/>
            </a:pPr>
            <a:endParaRPr lang="pt-PT" sz="1200" dirty="0"/>
          </a:p>
        </p:txBody>
      </p:sp>
      <p:sp>
        <p:nvSpPr>
          <p:cNvPr id="36868" name="Footer Placeholder 3">
            <a:extLst>
              <a:ext uri="{FF2B5EF4-FFF2-40B4-BE49-F238E27FC236}">
                <a16:creationId xmlns:a16="http://schemas.microsoft.com/office/drawing/2014/main" id="{9FC7E11E-EF33-42C9-984E-A22E09CFFF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PT" altLang="en-US"/>
              <a:t>Programação Orientada aos Objetos</a:t>
            </a:r>
          </a:p>
        </p:txBody>
      </p:sp>
      <p:sp>
        <p:nvSpPr>
          <p:cNvPr id="36869" name="Slide Number Placeholder 4">
            <a:extLst>
              <a:ext uri="{FF2B5EF4-FFF2-40B4-BE49-F238E27FC236}">
                <a16:creationId xmlns:a16="http://schemas.microsoft.com/office/drawing/2014/main" id="{826CA692-D4A8-466E-B589-86F924B4EF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15BE22-3F9D-4EEB-B488-367FEAB40353}" type="slidenum">
              <a:rPr lang="pt-PT" altLang="en-US" smtClean="0"/>
              <a:pPr/>
              <a:t>34</a:t>
            </a:fld>
            <a:endParaRPr lang="pt-PT" altLang="en-US"/>
          </a:p>
        </p:txBody>
      </p:sp>
      <p:sp>
        <p:nvSpPr>
          <p:cNvPr id="36870" name="TextBox 5">
            <a:extLst>
              <a:ext uri="{FF2B5EF4-FFF2-40B4-BE49-F238E27FC236}">
                <a16:creationId xmlns:a16="http://schemas.microsoft.com/office/drawing/2014/main" id="{8FCA4BE0-59E1-4DF8-96E3-311533E4B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875" y="3411538"/>
            <a:ext cx="6680200" cy="13843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public double </a:t>
            </a:r>
            <a:r>
              <a:rPr lang="en-GB" altLang="en-US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valor_actual</a:t>
            </a:r>
            <a:r>
              <a:rPr lang="en-GB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()</a:t>
            </a:r>
          </a:p>
          <a:p>
            <a:r>
              <a:rPr lang="en-GB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 return( (</a:t>
            </a:r>
            <a:r>
              <a:rPr lang="en-GB" altLang="en-US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this.valor</a:t>
            </a:r>
            <a:r>
              <a:rPr lang="en-GB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 -  (</a:t>
            </a:r>
            <a:r>
              <a:rPr lang="en-GB" altLang="en-US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this.valor</a:t>
            </a:r>
            <a:r>
              <a:rPr lang="en-GB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*(</a:t>
            </a:r>
            <a:r>
              <a:rPr lang="en-GB" altLang="en-US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this.idade</a:t>
            </a:r>
            <a:r>
              <a:rPr lang="en-GB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/ 10)) – (</a:t>
            </a:r>
            <a:r>
              <a:rPr lang="en-GB" altLang="en-US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this.valor</a:t>
            </a:r>
            <a:r>
              <a:rPr lang="en-GB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*(</a:t>
            </a:r>
            <a:r>
              <a:rPr lang="en-GB" altLang="en-US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this.kms</a:t>
            </a:r>
            <a:r>
              <a:rPr lang="en-GB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/1 000 000) );  }</a:t>
            </a:r>
          </a:p>
          <a:p>
            <a:r>
              <a:rPr lang="en-GB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r>
              <a:rPr lang="en-GB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public </a:t>
            </a:r>
            <a:r>
              <a:rPr lang="en-GB" altLang="en-US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Carro</a:t>
            </a:r>
            <a:r>
              <a:rPr lang="en-GB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clone()</a:t>
            </a:r>
          </a:p>
          <a:p>
            <a:r>
              <a:rPr lang="en-GB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 return new </a:t>
            </a:r>
            <a:r>
              <a:rPr lang="en-GB" altLang="en-US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Carro</a:t>
            </a:r>
            <a:r>
              <a:rPr lang="en-GB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GB" altLang="en-US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this.kms</a:t>
            </a:r>
            <a:r>
              <a:rPr lang="en-GB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GB" altLang="en-US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this.idade</a:t>
            </a:r>
            <a:r>
              <a:rPr lang="en-GB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GB" altLang="en-US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this.valor</a:t>
            </a:r>
            <a:r>
              <a:rPr lang="en-GB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GB" altLang="en-US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this.matricula</a:t>
            </a:r>
            <a:r>
              <a:rPr lang="en-GB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);}</a:t>
            </a:r>
            <a:endParaRPr lang="pt-PT" altLang="en-US" sz="1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775D381A-1A89-432D-937B-09C178AF51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pt-PT" altLang="en-US"/>
              <a:t>(cont)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66691-733E-4C50-8572-C2B48A6EC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975"/>
            <a:ext cx="8229600" cy="5381625"/>
          </a:xfrm>
        </p:spPr>
        <p:txBody>
          <a:bodyPr/>
          <a:lstStyle/>
          <a:p>
            <a:pPr marL="0" indent="0" algn="just">
              <a:buFontTx/>
              <a:buNone/>
              <a:defRPr/>
            </a:pPr>
            <a:r>
              <a:rPr lang="pt-PT" sz="18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1.1 </a:t>
            </a:r>
            <a:r>
              <a:rPr lang="pt-PT" sz="1800" dirty="0">
                <a:solidFill>
                  <a:srgbClr val="FF0000"/>
                </a:solidFill>
                <a:ea typeface="SimSun" panose="02010600030101010101" pitchFamily="2" charset="-122"/>
              </a:rPr>
              <a:t>Apresente o método </a:t>
            </a:r>
            <a:r>
              <a:rPr lang="pt-PT" sz="18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equals</a:t>
            </a:r>
            <a:r>
              <a:rPr lang="pt-PT" sz="18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pt-PT" sz="1800" dirty="0">
                <a:solidFill>
                  <a:srgbClr val="FF0000"/>
                </a:solidFill>
                <a:ea typeface="SimSun" panose="02010600030101010101" pitchFamily="2" charset="-122"/>
              </a:rPr>
              <a:t> para a classe </a:t>
            </a:r>
            <a:r>
              <a:rPr lang="pt-PT" sz="18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Carro</a:t>
            </a:r>
            <a:r>
              <a:rPr lang="pt-PT" sz="1800" dirty="0">
                <a:solidFill>
                  <a:srgbClr val="FF0000"/>
                </a:solidFill>
                <a:ea typeface="SimSun" panose="02010600030101010101" pitchFamily="2" charset="-122"/>
              </a:rPr>
              <a:t>. </a:t>
            </a:r>
            <a:endParaRPr lang="en-GB" sz="1800" dirty="0">
              <a:solidFill>
                <a:srgbClr val="FF0000"/>
              </a:solidFill>
              <a:ea typeface="SimSun" panose="02010600030101010101" pitchFamily="2" charset="-122"/>
            </a:endParaRPr>
          </a:p>
          <a:p>
            <a:pPr marL="0" indent="0" algn="just">
              <a:buFontTx/>
              <a:buNone/>
              <a:defRPr/>
            </a:pPr>
            <a:r>
              <a:rPr lang="pt-PT" sz="18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1.2 </a:t>
            </a:r>
            <a:r>
              <a:rPr lang="pt-PT" sz="1800" dirty="0">
                <a:solidFill>
                  <a:srgbClr val="FF0000"/>
                </a:solidFill>
                <a:ea typeface="SimSun" panose="02010600030101010101" pitchFamily="2" charset="-122"/>
              </a:rPr>
              <a:t>Escreva uma classe </a:t>
            </a:r>
            <a:r>
              <a:rPr lang="pt-PT" sz="18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Desportivo</a:t>
            </a:r>
            <a:r>
              <a:rPr lang="pt-PT" sz="1800" dirty="0">
                <a:solidFill>
                  <a:srgbClr val="FF0000"/>
                </a:solidFill>
                <a:ea typeface="SimSun" panose="02010600030101010101" pitchFamily="2" charset="-122"/>
              </a:rPr>
              <a:t> que é subclasse de </a:t>
            </a:r>
            <a:r>
              <a:rPr lang="pt-PT" sz="18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Carro</a:t>
            </a:r>
            <a:r>
              <a:rPr lang="pt-PT" sz="1800" dirty="0">
                <a:solidFill>
                  <a:srgbClr val="FF0000"/>
                </a:solidFill>
                <a:ea typeface="SimSun" panose="02010600030101010101" pitchFamily="2" charset="-122"/>
              </a:rPr>
              <a:t>. Neste tipo de carro regista-se também a potência do motor (em HP). Considere que o valor do Desportivo desvaloriza 10% por ano durante os primeiros 5 anos e 5% por ano do valor inicial durante os 20 anos seguintes (não tendo assim em conta o número de </a:t>
            </a:r>
            <a:r>
              <a:rPr lang="pt-PT" sz="1800" dirty="0" err="1">
                <a:solidFill>
                  <a:srgbClr val="FF0000"/>
                </a:solidFill>
                <a:ea typeface="SimSun" panose="02010600030101010101" pitchFamily="2" charset="-122"/>
              </a:rPr>
              <a:t>kilometros</a:t>
            </a:r>
            <a:r>
              <a:rPr lang="pt-PT" sz="1800" dirty="0">
                <a:solidFill>
                  <a:srgbClr val="FF0000"/>
                </a:solidFill>
                <a:ea typeface="SimSun" panose="02010600030101010101" pitchFamily="2" charset="-122"/>
              </a:rPr>
              <a:t>). Apresente o construtor com os parâmetros para inicializar as variáveis de instância, o construtor de cópia (que recebe como parâmetro um </a:t>
            </a:r>
            <a:r>
              <a:rPr lang="pt-PT" sz="1800" dirty="0" err="1">
                <a:solidFill>
                  <a:srgbClr val="FF0000"/>
                </a:solidFill>
                <a:ea typeface="SimSun" panose="02010600030101010101" pitchFamily="2" charset="-122"/>
              </a:rPr>
              <a:t>objecto</a:t>
            </a:r>
            <a:r>
              <a:rPr lang="pt-PT" sz="1800" dirty="0">
                <a:solidFill>
                  <a:srgbClr val="FF0000"/>
                </a:solidFill>
                <a:ea typeface="SimSun" panose="02010600030101010101" pitchFamily="2" charset="-122"/>
              </a:rPr>
              <a:t> do tipo Desportivo), o método </a:t>
            </a:r>
            <a:r>
              <a:rPr lang="pt-PT" sz="18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clone()</a:t>
            </a:r>
            <a:r>
              <a:rPr lang="pt-PT" sz="1800" dirty="0">
                <a:solidFill>
                  <a:srgbClr val="FF0000"/>
                </a:solidFill>
                <a:ea typeface="SimSun" panose="02010600030101010101" pitchFamily="2" charset="-122"/>
              </a:rPr>
              <a:t> e a nova implementação de </a:t>
            </a:r>
            <a:r>
              <a:rPr lang="pt-PT" sz="1800" dirty="0" err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valor_actual</a:t>
            </a:r>
            <a:r>
              <a:rPr lang="pt-PT" sz="18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pt-PT" sz="1800" dirty="0">
                <a:solidFill>
                  <a:srgbClr val="FF0000"/>
                </a:solidFill>
                <a:ea typeface="SimSun" panose="02010600030101010101" pitchFamily="2" charset="-122"/>
              </a:rPr>
              <a:t> para este  tipo de carro.</a:t>
            </a:r>
          </a:p>
          <a:p>
            <a:pPr marL="0" indent="0" algn="just">
              <a:buFontTx/>
              <a:buNone/>
              <a:defRPr/>
            </a:pPr>
            <a:r>
              <a:rPr lang="pt-PT" sz="18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1.3 </a:t>
            </a:r>
            <a:r>
              <a:rPr lang="pt-PT" sz="1800" dirty="0">
                <a:solidFill>
                  <a:srgbClr val="FF0000"/>
                </a:solidFill>
                <a:ea typeface="SimSun" panose="02010600030101010101" pitchFamily="2" charset="-122"/>
              </a:rPr>
              <a:t>Escreva uma classe </a:t>
            </a:r>
            <a:r>
              <a:rPr lang="pt-PT" sz="18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Garagem</a:t>
            </a:r>
            <a:r>
              <a:rPr lang="pt-PT" sz="1800" dirty="0">
                <a:solidFill>
                  <a:srgbClr val="FF0000"/>
                </a:solidFill>
                <a:ea typeface="SimSun" panose="02010600030101010101" pitchFamily="2" charset="-122"/>
              </a:rPr>
              <a:t> que guarda uma coleção de carros de diferentes tipos. Nela deve constar os seguintes elementos:</a:t>
            </a:r>
            <a:endParaRPr lang="en-GB" sz="1800" dirty="0">
              <a:solidFill>
                <a:srgbClr val="FF0000"/>
              </a:solidFill>
              <a:ea typeface="SimSun" panose="02010600030101010101" pitchFamily="2" charset="-122"/>
            </a:endParaRPr>
          </a:p>
          <a:p>
            <a:pPr lvl="1" algn="just"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pt-PT" sz="1800" dirty="0">
                <a:solidFill>
                  <a:srgbClr val="FF0000"/>
                </a:solidFill>
                <a:ea typeface="SimSun" panose="02010600030101010101" pitchFamily="2" charset="-122"/>
              </a:rPr>
              <a:t>as variáveis de instância necessárias para armazenar carros,</a:t>
            </a:r>
            <a:endParaRPr lang="en-GB" sz="1800" dirty="0">
              <a:solidFill>
                <a:srgbClr val="FF0000"/>
              </a:solidFill>
              <a:ea typeface="SimSun" panose="02010600030101010101" pitchFamily="2" charset="-122"/>
            </a:endParaRPr>
          </a:p>
          <a:p>
            <a:pPr lvl="1" algn="just"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pt-PT" sz="1800" dirty="0">
                <a:solidFill>
                  <a:srgbClr val="FF0000"/>
                </a:solidFill>
                <a:ea typeface="SimSun" panose="02010600030101010101" pitchFamily="2" charset="-122"/>
              </a:rPr>
              <a:t>o construtor para criar uma nova garagem,</a:t>
            </a:r>
            <a:endParaRPr lang="en-GB" sz="1800" dirty="0">
              <a:solidFill>
                <a:srgbClr val="FF0000"/>
              </a:solidFill>
              <a:ea typeface="SimSun" panose="02010600030101010101" pitchFamily="2" charset="-122"/>
            </a:endParaRPr>
          </a:p>
          <a:p>
            <a:pPr lvl="1" algn="just"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pt-PT" sz="1800" dirty="0">
                <a:solidFill>
                  <a:srgbClr val="FF0000"/>
                </a:solidFill>
                <a:ea typeface="SimSun" panose="02010600030101010101" pitchFamily="2" charset="-122"/>
              </a:rPr>
              <a:t>um método para adicionar um novo carro à garagem, </a:t>
            </a:r>
            <a:endParaRPr lang="en-GB" sz="1800" dirty="0">
              <a:solidFill>
                <a:srgbClr val="FF0000"/>
              </a:solidFill>
              <a:ea typeface="SimSun" panose="02010600030101010101" pitchFamily="2" charset="-122"/>
            </a:endParaRPr>
          </a:p>
          <a:p>
            <a:pPr lvl="1" algn="just"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pt-PT" sz="1800" dirty="0">
                <a:solidFill>
                  <a:srgbClr val="FF0000"/>
                </a:solidFill>
                <a:ea typeface="SimSun" panose="02010600030101010101" pitchFamily="2" charset="-122"/>
              </a:rPr>
              <a:t>um método para identificar a matrícula da viatura mais antiga,</a:t>
            </a:r>
            <a:endParaRPr lang="en-GB" sz="1800" dirty="0">
              <a:solidFill>
                <a:srgbClr val="FF0000"/>
              </a:solidFill>
              <a:ea typeface="SimSun" panose="02010600030101010101" pitchFamily="2" charset="-122"/>
            </a:endParaRPr>
          </a:p>
          <a:p>
            <a:pPr lvl="1" algn="just"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pt-PT" sz="1800" dirty="0">
                <a:solidFill>
                  <a:srgbClr val="FF0000"/>
                </a:solidFill>
                <a:ea typeface="SimSun" panose="02010600030101010101" pitchFamily="2" charset="-122"/>
              </a:rPr>
              <a:t>e finalmente, um método para retornar a avaliação, em euros, da garagem em veículos armazenados.</a:t>
            </a:r>
            <a:endParaRPr lang="en-GB" sz="1800" dirty="0">
              <a:solidFill>
                <a:srgbClr val="FF0000"/>
              </a:solidFill>
              <a:ea typeface="SimSun" panose="02010600030101010101" pitchFamily="2" charset="-122"/>
            </a:endParaRPr>
          </a:p>
          <a:p>
            <a:pPr>
              <a:defRPr/>
            </a:pPr>
            <a:endParaRPr lang="pt-PT" sz="1400" dirty="0"/>
          </a:p>
        </p:txBody>
      </p:sp>
      <p:sp>
        <p:nvSpPr>
          <p:cNvPr id="37892" name="Footer Placeholder 3">
            <a:extLst>
              <a:ext uri="{FF2B5EF4-FFF2-40B4-BE49-F238E27FC236}">
                <a16:creationId xmlns:a16="http://schemas.microsoft.com/office/drawing/2014/main" id="{44C6F63B-16B0-42A3-8A31-9722E4DA1B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PT" altLang="en-US"/>
              <a:t>Programação Orientada aos Objetos</a:t>
            </a:r>
          </a:p>
        </p:txBody>
      </p:sp>
      <p:sp>
        <p:nvSpPr>
          <p:cNvPr id="37893" name="Slide Number Placeholder 4">
            <a:extLst>
              <a:ext uri="{FF2B5EF4-FFF2-40B4-BE49-F238E27FC236}">
                <a16:creationId xmlns:a16="http://schemas.microsoft.com/office/drawing/2014/main" id="{6A8B5DF6-A84A-4A24-956F-D2442FBA1B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69F673-726A-443F-B654-41D06FFFBD00}" type="slidenum">
              <a:rPr lang="pt-PT" altLang="en-US" smtClean="0"/>
              <a:pPr/>
              <a:t>35</a:t>
            </a:fld>
            <a:endParaRPr lang="pt-PT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Marcador de Posição do Rodapé 4">
            <a:extLst>
              <a:ext uri="{FF2B5EF4-FFF2-40B4-BE49-F238E27FC236}">
                <a16:creationId xmlns:a16="http://schemas.microsoft.com/office/drawing/2014/main" id="{3F3E833A-9681-4C26-B6C7-FD5052D5E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8915" name="Marcador de Posição do Número do Diapositivo 5">
            <a:extLst>
              <a:ext uri="{FF2B5EF4-FFF2-40B4-BE49-F238E27FC236}">
                <a16:creationId xmlns:a16="http://schemas.microsoft.com/office/drawing/2014/main" id="{B1BD46F9-D609-4EB8-9EC0-F92B6973D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0A3164-1DA3-4ECA-BE7C-8B9CA302F0EC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pt-PT" altLang="en-US" sz="1400"/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51FE4D17-98E3-4420-9DED-AC6AE6AAFC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/>
              <a:t>Exercícios</a:t>
            </a: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C15F944D-8359-43B8-A388-1113FA0733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229600" cy="56165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000"/>
              <a:t>Definir uma classe </a:t>
            </a:r>
            <a:r>
              <a:rPr lang="pt-PT" altLang="en-US" sz="2000">
                <a:latin typeface="Times New Roman" panose="02020603050405020304" pitchFamily="18" charset="0"/>
              </a:rPr>
              <a:t>Forma</a:t>
            </a:r>
            <a:r>
              <a:rPr lang="pt-PT" altLang="en-US" sz="200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Definir a seguinte hierarquia de classes:</a:t>
            </a:r>
          </a:p>
          <a:p>
            <a:pPr eaLnBrk="1" hangingPunct="1">
              <a:lnSpc>
                <a:spcPct val="90000"/>
              </a:lnSpc>
            </a:pPr>
            <a:endParaRPr lang="pt-PT" altLang="en-US" sz="2000"/>
          </a:p>
          <a:p>
            <a:pPr eaLnBrk="1" hangingPunct="1">
              <a:lnSpc>
                <a:spcPct val="90000"/>
              </a:lnSpc>
            </a:pPr>
            <a:endParaRPr lang="pt-PT" altLang="en-US" sz="2000"/>
          </a:p>
          <a:p>
            <a:pPr eaLnBrk="1" hangingPunct="1">
              <a:lnSpc>
                <a:spcPct val="90000"/>
              </a:lnSpc>
            </a:pPr>
            <a:endParaRPr lang="pt-PT" altLang="en-US" sz="2000"/>
          </a:p>
          <a:p>
            <a:pPr eaLnBrk="1" hangingPunct="1">
              <a:lnSpc>
                <a:spcPct val="90000"/>
              </a:lnSpc>
            </a:pPr>
            <a:endParaRPr lang="pt-PT" altLang="en-US" sz="2000"/>
          </a:p>
          <a:p>
            <a:pPr eaLnBrk="1" hangingPunct="1">
              <a:lnSpc>
                <a:spcPct val="90000"/>
              </a:lnSpc>
            </a:pPr>
            <a:endParaRPr lang="pt-PT" altLang="en-US" sz="2000"/>
          </a:p>
          <a:p>
            <a:pPr eaLnBrk="1" hangingPunct="1">
              <a:lnSpc>
                <a:spcPct val="90000"/>
              </a:lnSpc>
            </a:pPr>
            <a:endParaRPr lang="pt-PT" altLang="en-US" sz="2000"/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Implementar os métodos apresentados.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Definir a classe </a:t>
            </a:r>
            <a:r>
              <a:rPr lang="pt-PT" altLang="en-US" sz="2000">
                <a:latin typeface="Times New Roman" panose="02020603050405020304" pitchFamily="18" charset="0"/>
              </a:rPr>
              <a:t>FigGeo </a:t>
            </a:r>
            <a:r>
              <a:rPr lang="pt-PT" altLang="en-US" sz="2000"/>
              <a:t>que guarda um conjunto de figuras geométricas.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Adicionar a classe </a:t>
            </a:r>
            <a:r>
              <a:rPr lang="pt-PT" altLang="en-US" sz="2000">
                <a:latin typeface="Times New Roman" panose="02020603050405020304" pitchFamily="18" charset="0"/>
              </a:rPr>
              <a:t>Quadrado</a:t>
            </a:r>
            <a:r>
              <a:rPr lang="pt-PT" altLang="en-US" sz="2000"/>
              <a:t> e </a:t>
            </a:r>
            <a:r>
              <a:rPr lang="pt-PT" altLang="en-US" sz="2000">
                <a:latin typeface="Times New Roman" panose="02020603050405020304" pitchFamily="18" charset="0"/>
              </a:rPr>
              <a:t>Elipse</a:t>
            </a:r>
            <a:r>
              <a:rPr lang="pt-PT" altLang="en-US" sz="2000"/>
              <a:t> (subclasse de </a:t>
            </a:r>
            <a:r>
              <a:rPr lang="pt-PT" altLang="en-US" sz="2000">
                <a:latin typeface="Times New Roman" panose="02020603050405020304" pitchFamily="18" charset="0"/>
              </a:rPr>
              <a:t>Círculo</a:t>
            </a:r>
            <a:r>
              <a:rPr lang="pt-PT" altLang="en-US" sz="200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Implementar um método que determina a figura com a maior área e qual o seu tipo e outro método para o maior perímetro. 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Um método para contabilizar o número de figuras por tipo. </a:t>
            </a:r>
          </a:p>
        </p:txBody>
      </p:sp>
      <p:pic>
        <p:nvPicPr>
          <p:cNvPr id="38918" name="Picture 4">
            <a:extLst>
              <a:ext uri="{FF2B5EF4-FFF2-40B4-BE49-F238E27FC236}">
                <a16:creationId xmlns:a16="http://schemas.microsoft.com/office/drawing/2014/main" id="{DEB7A178-8CBB-4054-8041-4F873D324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1835150"/>
            <a:ext cx="3363912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Marcador de Posição do Rodapé 4">
            <a:extLst>
              <a:ext uri="{FF2B5EF4-FFF2-40B4-BE49-F238E27FC236}">
                <a16:creationId xmlns:a16="http://schemas.microsoft.com/office/drawing/2014/main" id="{19FB1DD8-38BD-4C61-B271-2C445EA3D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9939" name="Marcador de Posição do Número do Diapositivo 5">
            <a:extLst>
              <a:ext uri="{FF2B5EF4-FFF2-40B4-BE49-F238E27FC236}">
                <a16:creationId xmlns:a16="http://schemas.microsoft.com/office/drawing/2014/main" id="{ADF484E8-41CB-4721-9344-C947F26E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227AF7-C394-4903-83DB-080C97522D28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pt-PT" altLang="en-US" sz="1400"/>
          </a:p>
        </p:txBody>
      </p:sp>
      <p:sp>
        <p:nvSpPr>
          <p:cNvPr id="39940" name="Rectangle 2">
            <a:extLst>
              <a:ext uri="{FF2B5EF4-FFF2-40B4-BE49-F238E27FC236}">
                <a16:creationId xmlns:a16="http://schemas.microsoft.com/office/drawing/2014/main" id="{73910C45-E6CB-4572-8922-DE6FE001DB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Exercícios</a:t>
            </a:r>
          </a:p>
        </p:txBody>
      </p:sp>
      <p:sp>
        <p:nvSpPr>
          <p:cNvPr id="39941" name="Rectangle 3">
            <a:extLst>
              <a:ext uri="{FF2B5EF4-FFF2-40B4-BE49-F238E27FC236}">
                <a16:creationId xmlns:a16="http://schemas.microsoft.com/office/drawing/2014/main" id="{EEDD0642-8F05-4279-8113-CEB3A0666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51831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400"/>
              <a:t>Criar um banco que guarda as contas num ArrayList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Definir vários novos tipos de conta: conta a prazo, conta jovem, conta ordenado e conta Capital.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/>
              <a:t>Prazo, tem uma taxa e um número de dias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/>
              <a:t>Jovem, tem taxa fixa de 1% ao ano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/>
              <a:t>Ordenado, dá um </a:t>
            </a:r>
            <a:r>
              <a:rPr lang="pt-PT" altLang="en-US" sz="2000" i="1"/>
              <a:t>plafond</a:t>
            </a:r>
            <a:r>
              <a:rPr lang="pt-PT" altLang="en-US" sz="2000"/>
              <a:t> de um valor pré definido. Isto é, permite estar com saldo devedor até ao montante estabelecido.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/>
              <a:t>Conta Capital, que contém uma taxa de juro variável, indexada por períodos. A rentabilidade é calculada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2000"/>
              <a:t>   sobre estes períodos. 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Calcular os juros que o banco tem de pagar aos seus clientes.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Calcular o nº de contas por tipo bem como o saldo total depositado no banco referente a contas Capital.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13944</TotalTime>
  <Words>4615</Words>
  <Application>Microsoft Office PowerPoint</Application>
  <PresentationFormat>Apresentação no Ecrã (4:3)</PresentationFormat>
  <Paragraphs>618</Paragraphs>
  <Slides>37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37</vt:i4>
      </vt:variant>
    </vt:vector>
  </HeadingPairs>
  <TitlesOfParts>
    <vt:vector size="42" baseType="lpstr">
      <vt:lpstr>SimSun</vt:lpstr>
      <vt:lpstr>Arial</vt:lpstr>
      <vt:lpstr>Symbol</vt:lpstr>
      <vt:lpstr>Times New Roman</vt:lpstr>
      <vt:lpstr>Default Design</vt:lpstr>
      <vt:lpstr>Programação Orientada aos Objetos (Licenciatura em Engenharia de Telecomunicações &amp; Informática) &amp; MIETI 2º Ano, 1º Semestre</vt:lpstr>
      <vt:lpstr>Tipos genéricos em Java1.8</vt:lpstr>
      <vt:lpstr>Primeiras Colecções – a classe ArrayList&lt;E&gt;</vt:lpstr>
      <vt:lpstr>Construtores &amp; métodos de ArrayList&lt;E&gt;</vt:lpstr>
      <vt:lpstr>Exercício:  class Banco usando ArrayList</vt:lpstr>
      <vt:lpstr>Iteradores</vt:lpstr>
      <vt:lpstr>Iteradores (2)</vt:lpstr>
      <vt:lpstr>Padrões de Utilização</vt:lpstr>
      <vt:lpstr>Iteradores Internos</vt:lpstr>
      <vt:lpstr>Exemplo</vt:lpstr>
      <vt:lpstr>Expressões Lambda</vt:lpstr>
      <vt:lpstr>Streams</vt:lpstr>
      <vt:lpstr>Métodos de Stream</vt:lpstr>
      <vt:lpstr>Exemplos</vt:lpstr>
      <vt:lpstr>Referência a métodos (nova forma)</vt:lpstr>
      <vt:lpstr>Copiar uma coleção  (deep-copy)</vt:lpstr>
      <vt:lpstr>Eliminação numa Stream</vt:lpstr>
      <vt:lpstr>Streams especificas</vt:lpstr>
      <vt:lpstr>Exemplos (média)</vt:lpstr>
      <vt:lpstr>Mais exemplos</vt:lpstr>
      <vt:lpstr>Outros exemplos</vt:lpstr>
      <vt:lpstr>E ainda…</vt:lpstr>
      <vt:lpstr>Herança</vt:lpstr>
      <vt:lpstr>Herança: Exemplo</vt:lpstr>
      <vt:lpstr>Herança em Java</vt:lpstr>
      <vt:lpstr>Redefinição de métodos</vt:lpstr>
      <vt:lpstr>Redefinição de variáveis</vt:lpstr>
      <vt:lpstr>Redefinição: Exemplo</vt:lpstr>
      <vt:lpstr>Exemplo</vt:lpstr>
      <vt:lpstr>Exemplo</vt:lpstr>
      <vt:lpstr>Interpretação de this em hierarquias de classes</vt:lpstr>
      <vt:lpstr>Hierarquia em Java: classe Object</vt:lpstr>
      <vt:lpstr>Notas finais sobre Herança</vt:lpstr>
      <vt:lpstr>Exercicio</vt:lpstr>
      <vt:lpstr>(cont)</vt:lpstr>
      <vt:lpstr>Exercícios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de Programação II (Mestrado Integrado em Engenharia de Comunicações)</dc:title>
  <dc:creator>pja</dc:creator>
  <cp:lastModifiedBy>Luís Pedro Cerqueira Baptista</cp:lastModifiedBy>
  <cp:revision>624</cp:revision>
  <dcterms:created xsi:type="dcterms:W3CDTF">2008-02-28T16:13:14Z</dcterms:created>
  <dcterms:modified xsi:type="dcterms:W3CDTF">2025-07-19T21:24:16Z</dcterms:modified>
</cp:coreProperties>
</file>