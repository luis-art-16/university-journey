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94" r:id="rId4"/>
    <p:sldId id="295" r:id="rId5"/>
    <p:sldId id="297" r:id="rId6"/>
    <p:sldId id="298" r:id="rId7"/>
    <p:sldId id="299" r:id="rId8"/>
    <p:sldId id="300" r:id="rId9"/>
    <p:sldId id="301" r:id="rId10"/>
    <p:sldId id="302" r:id="rId11"/>
    <p:sldId id="303" r:id="rId12"/>
    <p:sldId id="304" r:id="rId13"/>
    <p:sldId id="311" r:id="rId14"/>
    <p:sldId id="310" r:id="rId15"/>
    <p:sldId id="312" r:id="rId16"/>
    <p:sldId id="305" r:id="rId17"/>
    <p:sldId id="296" r:id="rId18"/>
    <p:sldId id="306" r:id="rId19"/>
    <p:sldId id="313" r:id="rId20"/>
    <p:sldId id="314" r:id="rId21"/>
    <p:sldId id="284" r:id="rId22"/>
    <p:sldId id="307" r:id="rId23"/>
    <p:sldId id="308" r:id="rId24"/>
    <p:sldId id="309" r:id="rId25"/>
  </p:sldIdLst>
  <p:sldSz cx="9144000" cy="6858000" type="screen4x3"/>
  <p:notesSz cx="6858000" cy="9144000"/>
  <p:defaultTextStyle>
    <a:defPPr>
      <a:defRPr lang="pt-PT"/>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62" autoAdjust="0"/>
    <p:restoredTop sz="94627" autoAdjust="0"/>
  </p:normalViewPr>
  <p:slideViewPr>
    <p:cSldViewPr>
      <p:cViewPr varScale="1">
        <p:scale>
          <a:sx n="78" d="100"/>
          <a:sy n="78" d="100"/>
        </p:scale>
        <p:origin x="1056"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00E4E79-00CD-435D-AFCD-4C77A31101E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PT"/>
          </a:p>
        </p:txBody>
      </p:sp>
      <p:sp>
        <p:nvSpPr>
          <p:cNvPr id="4099" name="Rectangle 3">
            <a:extLst>
              <a:ext uri="{FF2B5EF4-FFF2-40B4-BE49-F238E27FC236}">
                <a16:creationId xmlns:a16="http://schemas.microsoft.com/office/drawing/2014/main" id="{D53349E1-5923-4915-A2BB-5A269110CC6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PT"/>
          </a:p>
        </p:txBody>
      </p:sp>
      <p:sp>
        <p:nvSpPr>
          <p:cNvPr id="2052" name="Rectangle 4">
            <a:extLst>
              <a:ext uri="{FF2B5EF4-FFF2-40B4-BE49-F238E27FC236}">
                <a16:creationId xmlns:a16="http://schemas.microsoft.com/office/drawing/2014/main" id="{7C12815C-F4F6-4B76-A84A-57A69B775DC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2DA6AF84-FFAA-45EE-B703-7FF38D74C38C}"/>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t-PT" noProof="0"/>
              <a:t>Click to edit Master text styles</a:t>
            </a:r>
          </a:p>
          <a:p>
            <a:pPr lvl="1"/>
            <a:r>
              <a:rPr lang="pt-PT" noProof="0"/>
              <a:t>Second level</a:t>
            </a:r>
          </a:p>
          <a:p>
            <a:pPr lvl="2"/>
            <a:r>
              <a:rPr lang="pt-PT" noProof="0"/>
              <a:t>Third level</a:t>
            </a:r>
          </a:p>
          <a:p>
            <a:pPr lvl="3"/>
            <a:r>
              <a:rPr lang="pt-PT" noProof="0"/>
              <a:t>Fourth level</a:t>
            </a:r>
          </a:p>
          <a:p>
            <a:pPr lvl="4"/>
            <a:r>
              <a:rPr lang="pt-PT" noProof="0"/>
              <a:t>Fifth level</a:t>
            </a:r>
          </a:p>
        </p:txBody>
      </p:sp>
      <p:sp>
        <p:nvSpPr>
          <p:cNvPr id="4102" name="Rectangle 6">
            <a:extLst>
              <a:ext uri="{FF2B5EF4-FFF2-40B4-BE49-F238E27FC236}">
                <a16:creationId xmlns:a16="http://schemas.microsoft.com/office/drawing/2014/main" id="{82F24DF5-093E-43F5-B88E-222095260F1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PT"/>
          </a:p>
        </p:txBody>
      </p:sp>
      <p:sp>
        <p:nvSpPr>
          <p:cNvPr id="4103" name="Rectangle 7">
            <a:extLst>
              <a:ext uri="{FF2B5EF4-FFF2-40B4-BE49-F238E27FC236}">
                <a16:creationId xmlns:a16="http://schemas.microsoft.com/office/drawing/2014/main" id="{14B3D9D4-E59A-4DD3-8D41-A67053E985FE}"/>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06359BA-0317-44FC-9203-CC510E96148D}" type="slidenum">
              <a:rPr lang="pt-PT" altLang="en-US"/>
              <a:pPr>
                <a:defRPr/>
              </a:pPr>
              <a:t>‹#›</a:t>
            </a:fld>
            <a:endParaRPr lang="pt-P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pt-PT"/>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pt-PT"/>
          </a:p>
        </p:txBody>
      </p:sp>
      <p:sp>
        <p:nvSpPr>
          <p:cNvPr id="4" name="Rectangle 4">
            <a:extLst>
              <a:ext uri="{FF2B5EF4-FFF2-40B4-BE49-F238E27FC236}">
                <a16:creationId xmlns:a16="http://schemas.microsoft.com/office/drawing/2014/main" id="{17974AE3-4591-451C-9ABA-A6F7A0E49DA8}"/>
              </a:ext>
            </a:extLst>
          </p:cNvPr>
          <p:cNvSpPr>
            <a:spLocks noGrp="1" noChangeArrowheads="1"/>
          </p:cNvSpPr>
          <p:nvPr>
            <p:ph type="dt" sz="half" idx="10"/>
          </p:nvPr>
        </p:nvSpPr>
        <p:spPr>
          <a:ln/>
        </p:spPr>
        <p:txBody>
          <a:bodyPr/>
          <a:lstStyle>
            <a:lvl1pPr>
              <a:defRPr/>
            </a:lvl1pPr>
          </a:lstStyle>
          <a:p>
            <a:pPr>
              <a:defRPr/>
            </a:pPr>
            <a:endParaRPr lang="pt-PT"/>
          </a:p>
        </p:txBody>
      </p:sp>
      <p:sp>
        <p:nvSpPr>
          <p:cNvPr id="5" name="Rectangle 5">
            <a:extLst>
              <a:ext uri="{FF2B5EF4-FFF2-40B4-BE49-F238E27FC236}">
                <a16:creationId xmlns:a16="http://schemas.microsoft.com/office/drawing/2014/main" id="{0D2AF216-4E64-4C33-B04C-B51E74BCBD34}"/>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6" name="Rectangle 6">
            <a:extLst>
              <a:ext uri="{FF2B5EF4-FFF2-40B4-BE49-F238E27FC236}">
                <a16:creationId xmlns:a16="http://schemas.microsoft.com/office/drawing/2014/main" id="{FE2E8478-B58D-45F4-90E7-AC3C63F1AB84}"/>
              </a:ext>
            </a:extLst>
          </p:cNvPr>
          <p:cNvSpPr>
            <a:spLocks noGrp="1" noChangeArrowheads="1"/>
          </p:cNvSpPr>
          <p:nvPr>
            <p:ph type="sldNum" sz="quarter" idx="12"/>
          </p:nvPr>
        </p:nvSpPr>
        <p:spPr>
          <a:ln/>
        </p:spPr>
        <p:txBody>
          <a:bodyPr/>
          <a:lstStyle>
            <a:lvl1pPr>
              <a:defRPr/>
            </a:lvl1pPr>
          </a:lstStyle>
          <a:p>
            <a:pPr>
              <a:defRPr/>
            </a:pPr>
            <a:fld id="{4B4C496A-4DBC-494B-9BA9-AA697B31D421}" type="slidenum">
              <a:rPr lang="pt-PT" altLang="en-US"/>
              <a:pPr>
                <a:defRPr/>
              </a:pPr>
              <a:t>‹#›</a:t>
            </a:fld>
            <a:endParaRPr lang="pt-PT" altLang="en-US"/>
          </a:p>
        </p:txBody>
      </p:sp>
    </p:spTree>
    <p:extLst>
      <p:ext uri="{BB962C8B-B14F-4D97-AF65-F5344CB8AC3E}">
        <p14:creationId xmlns:p14="http://schemas.microsoft.com/office/powerpoint/2010/main" val="3238453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Rectangle 4">
            <a:extLst>
              <a:ext uri="{FF2B5EF4-FFF2-40B4-BE49-F238E27FC236}">
                <a16:creationId xmlns:a16="http://schemas.microsoft.com/office/drawing/2014/main" id="{BE2A9628-6777-4C71-AEED-7F62603B0868}"/>
              </a:ext>
            </a:extLst>
          </p:cNvPr>
          <p:cNvSpPr>
            <a:spLocks noGrp="1" noChangeArrowheads="1"/>
          </p:cNvSpPr>
          <p:nvPr>
            <p:ph type="dt" sz="half" idx="10"/>
          </p:nvPr>
        </p:nvSpPr>
        <p:spPr>
          <a:ln/>
        </p:spPr>
        <p:txBody>
          <a:bodyPr/>
          <a:lstStyle>
            <a:lvl1pPr>
              <a:defRPr/>
            </a:lvl1pPr>
          </a:lstStyle>
          <a:p>
            <a:pPr>
              <a:defRPr/>
            </a:pPr>
            <a:endParaRPr lang="pt-PT"/>
          </a:p>
        </p:txBody>
      </p:sp>
      <p:sp>
        <p:nvSpPr>
          <p:cNvPr id="5" name="Rectangle 5">
            <a:extLst>
              <a:ext uri="{FF2B5EF4-FFF2-40B4-BE49-F238E27FC236}">
                <a16:creationId xmlns:a16="http://schemas.microsoft.com/office/drawing/2014/main" id="{FD4E5E3E-73C1-4F2C-9578-87728C748DF5}"/>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6" name="Rectangle 6">
            <a:extLst>
              <a:ext uri="{FF2B5EF4-FFF2-40B4-BE49-F238E27FC236}">
                <a16:creationId xmlns:a16="http://schemas.microsoft.com/office/drawing/2014/main" id="{5A3D3404-C6FA-433A-AE8F-1C95D5FBFCFE}"/>
              </a:ext>
            </a:extLst>
          </p:cNvPr>
          <p:cNvSpPr>
            <a:spLocks noGrp="1" noChangeArrowheads="1"/>
          </p:cNvSpPr>
          <p:nvPr>
            <p:ph type="sldNum" sz="quarter" idx="12"/>
          </p:nvPr>
        </p:nvSpPr>
        <p:spPr>
          <a:ln/>
        </p:spPr>
        <p:txBody>
          <a:bodyPr/>
          <a:lstStyle>
            <a:lvl1pPr>
              <a:defRPr/>
            </a:lvl1pPr>
          </a:lstStyle>
          <a:p>
            <a:pPr>
              <a:defRPr/>
            </a:pPr>
            <a:fld id="{D7E87FE3-1741-4FA7-BDA6-01B7D32BBB23}" type="slidenum">
              <a:rPr lang="pt-PT" altLang="en-US"/>
              <a:pPr>
                <a:defRPr/>
              </a:pPr>
              <a:t>‹#›</a:t>
            </a:fld>
            <a:endParaRPr lang="pt-PT" altLang="en-US"/>
          </a:p>
        </p:txBody>
      </p:sp>
    </p:spTree>
    <p:extLst>
      <p:ext uri="{BB962C8B-B14F-4D97-AF65-F5344CB8AC3E}">
        <p14:creationId xmlns:p14="http://schemas.microsoft.com/office/powerpoint/2010/main" val="1174805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pt-PT"/>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D064FA7-6F1A-4CD7-9781-16C998FD1147}"/>
              </a:ext>
            </a:extLst>
          </p:cNvPr>
          <p:cNvSpPr>
            <a:spLocks noGrp="1" noChangeArrowheads="1"/>
          </p:cNvSpPr>
          <p:nvPr>
            <p:ph type="dt" sz="half" idx="10"/>
          </p:nvPr>
        </p:nvSpPr>
        <p:spPr>
          <a:ln/>
        </p:spPr>
        <p:txBody>
          <a:bodyPr/>
          <a:lstStyle>
            <a:lvl1pPr>
              <a:defRPr/>
            </a:lvl1pPr>
          </a:lstStyle>
          <a:p>
            <a:pPr>
              <a:defRPr/>
            </a:pPr>
            <a:endParaRPr lang="pt-PT"/>
          </a:p>
        </p:txBody>
      </p:sp>
      <p:sp>
        <p:nvSpPr>
          <p:cNvPr id="5" name="Rectangle 5">
            <a:extLst>
              <a:ext uri="{FF2B5EF4-FFF2-40B4-BE49-F238E27FC236}">
                <a16:creationId xmlns:a16="http://schemas.microsoft.com/office/drawing/2014/main" id="{353A59D2-4BBD-4D79-AEED-4113786795C8}"/>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6" name="Rectangle 6">
            <a:extLst>
              <a:ext uri="{FF2B5EF4-FFF2-40B4-BE49-F238E27FC236}">
                <a16:creationId xmlns:a16="http://schemas.microsoft.com/office/drawing/2014/main" id="{070C1E63-80BE-48E4-87FB-317BE378F5E4}"/>
              </a:ext>
            </a:extLst>
          </p:cNvPr>
          <p:cNvSpPr>
            <a:spLocks noGrp="1" noChangeArrowheads="1"/>
          </p:cNvSpPr>
          <p:nvPr>
            <p:ph type="sldNum" sz="quarter" idx="12"/>
          </p:nvPr>
        </p:nvSpPr>
        <p:spPr>
          <a:ln/>
        </p:spPr>
        <p:txBody>
          <a:bodyPr/>
          <a:lstStyle>
            <a:lvl1pPr>
              <a:defRPr/>
            </a:lvl1pPr>
          </a:lstStyle>
          <a:p>
            <a:pPr>
              <a:defRPr/>
            </a:pPr>
            <a:fld id="{356AE321-3024-4253-960A-EAD3B86B8F47}" type="slidenum">
              <a:rPr lang="pt-PT" altLang="en-US"/>
              <a:pPr>
                <a:defRPr/>
              </a:pPr>
              <a:t>‹#›</a:t>
            </a:fld>
            <a:endParaRPr lang="pt-PT" altLang="en-US"/>
          </a:p>
        </p:txBody>
      </p:sp>
    </p:spTree>
    <p:extLst>
      <p:ext uri="{BB962C8B-B14F-4D97-AF65-F5344CB8AC3E}">
        <p14:creationId xmlns:p14="http://schemas.microsoft.com/office/powerpoint/2010/main" val="379871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5" name="Rectangle 4">
            <a:extLst>
              <a:ext uri="{FF2B5EF4-FFF2-40B4-BE49-F238E27FC236}">
                <a16:creationId xmlns:a16="http://schemas.microsoft.com/office/drawing/2014/main" id="{CAF5CC82-B8F6-4CCC-A605-013C14CF0EDE}"/>
              </a:ext>
            </a:extLst>
          </p:cNvPr>
          <p:cNvSpPr>
            <a:spLocks noGrp="1" noChangeArrowheads="1"/>
          </p:cNvSpPr>
          <p:nvPr>
            <p:ph type="dt" sz="half" idx="10"/>
          </p:nvPr>
        </p:nvSpPr>
        <p:spPr>
          <a:ln/>
        </p:spPr>
        <p:txBody>
          <a:bodyPr/>
          <a:lstStyle>
            <a:lvl1pPr>
              <a:defRPr/>
            </a:lvl1pPr>
          </a:lstStyle>
          <a:p>
            <a:pPr>
              <a:defRPr/>
            </a:pPr>
            <a:endParaRPr lang="pt-PT"/>
          </a:p>
        </p:txBody>
      </p:sp>
      <p:sp>
        <p:nvSpPr>
          <p:cNvPr id="6" name="Rectangle 5">
            <a:extLst>
              <a:ext uri="{FF2B5EF4-FFF2-40B4-BE49-F238E27FC236}">
                <a16:creationId xmlns:a16="http://schemas.microsoft.com/office/drawing/2014/main" id="{CACBC1C7-2A29-41EF-86AD-4E6895028A16}"/>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7" name="Rectangle 6">
            <a:extLst>
              <a:ext uri="{FF2B5EF4-FFF2-40B4-BE49-F238E27FC236}">
                <a16:creationId xmlns:a16="http://schemas.microsoft.com/office/drawing/2014/main" id="{029D3937-DAC2-4003-A3F5-2E543A8EE9A3}"/>
              </a:ext>
            </a:extLst>
          </p:cNvPr>
          <p:cNvSpPr>
            <a:spLocks noGrp="1" noChangeArrowheads="1"/>
          </p:cNvSpPr>
          <p:nvPr>
            <p:ph type="sldNum" sz="quarter" idx="12"/>
          </p:nvPr>
        </p:nvSpPr>
        <p:spPr>
          <a:ln/>
        </p:spPr>
        <p:txBody>
          <a:bodyPr/>
          <a:lstStyle>
            <a:lvl1pPr>
              <a:defRPr/>
            </a:lvl1pPr>
          </a:lstStyle>
          <a:p>
            <a:pPr>
              <a:defRPr/>
            </a:pPr>
            <a:fld id="{1BC1F483-6AAB-406B-97B5-42FD5B094E9A}" type="slidenum">
              <a:rPr lang="pt-PT" altLang="en-US"/>
              <a:pPr>
                <a:defRPr/>
              </a:pPr>
              <a:t>‹#›</a:t>
            </a:fld>
            <a:endParaRPr lang="pt-PT" altLang="en-US"/>
          </a:p>
        </p:txBody>
      </p:sp>
    </p:spTree>
    <p:extLst>
      <p:ext uri="{BB962C8B-B14F-4D97-AF65-F5344CB8AC3E}">
        <p14:creationId xmlns:p14="http://schemas.microsoft.com/office/powerpoint/2010/main" val="316361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pt-PT"/>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7" name="Rectangle 4">
            <a:extLst>
              <a:ext uri="{FF2B5EF4-FFF2-40B4-BE49-F238E27FC236}">
                <a16:creationId xmlns:a16="http://schemas.microsoft.com/office/drawing/2014/main" id="{BD6B04DD-4E79-46AA-B3F9-F7A2EAF8F969}"/>
              </a:ext>
            </a:extLst>
          </p:cNvPr>
          <p:cNvSpPr>
            <a:spLocks noGrp="1" noChangeArrowheads="1"/>
          </p:cNvSpPr>
          <p:nvPr>
            <p:ph type="dt" sz="half" idx="10"/>
          </p:nvPr>
        </p:nvSpPr>
        <p:spPr>
          <a:ln/>
        </p:spPr>
        <p:txBody>
          <a:bodyPr/>
          <a:lstStyle>
            <a:lvl1pPr>
              <a:defRPr/>
            </a:lvl1pPr>
          </a:lstStyle>
          <a:p>
            <a:pPr>
              <a:defRPr/>
            </a:pPr>
            <a:endParaRPr lang="pt-PT"/>
          </a:p>
        </p:txBody>
      </p:sp>
      <p:sp>
        <p:nvSpPr>
          <p:cNvPr id="8" name="Rectangle 5">
            <a:extLst>
              <a:ext uri="{FF2B5EF4-FFF2-40B4-BE49-F238E27FC236}">
                <a16:creationId xmlns:a16="http://schemas.microsoft.com/office/drawing/2014/main" id="{60AB10C2-F48A-4FC0-87F9-D6AB0CAE57E1}"/>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9" name="Rectangle 6">
            <a:extLst>
              <a:ext uri="{FF2B5EF4-FFF2-40B4-BE49-F238E27FC236}">
                <a16:creationId xmlns:a16="http://schemas.microsoft.com/office/drawing/2014/main" id="{59E86423-1E91-4CC0-902A-40194D08F98F}"/>
              </a:ext>
            </a:extLst>
          </p:cNvPr>
          <p:cNvSpPr>
            <a:spLocks noGrp="1" noChangeArrowheads="1"/>
          </p:cNvSpPr>
          <p:nvPr>
            <p:ph type="sldNum" sz="quarter" idx="12"/>
          </p:nvPr>
        </p:nvSpPr>
        <p:spPr>
          <a:ln/>
        </p:spPr>
        <p:txBody>
          <a:bodyPr/>
          <a:lstStyle>
            <a:lvl1pPr>
              <a:defRPr/>
            </a:lvl1pPr>
          </a:lstStyle>
          <a:p>
            <a:pPr>
              <a:defRPr/>
            </a:pPr>
            <a:fld id="{82B1E1B5-C218-48A7-85D2-8AAF1C70DF1A}" type="slidenum">
              <a:rPr lang="pt-PT" altLang="en-US"/>
              <a:pPr>
                <a:defRPr/>
              </a:pPr>
              <a:t>‹#›</a:t>
            </a:fld>
            <a:endParaRPr lang="pt-PT" altLang="en-US"/>
          </a:p>
        </p:txBody>
      </p:sp>
    </p:spTree>
    <p:extLst>
      <p:ext uri="{BB962C8B-B14F-4D97-AF65-F5344CB8AC3E}">
        <p14:creationId xmlns:p14="http://schemas.microsoft.com/office/powerpoint/2010/main" val="905932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Rectangle 4">
            <a:extLst>
              <a:ext uri="{FF2B5EF4-FFF2-40B4-BE49-F238E27FC236}">
                <a16:creationId xmlns:a16="http://schemas.microsoft.com/office/drawing/2014/main" id="{4810C85C-CD16-42A2-BDF6-92731E373D77}"/>
              </a:ext>
            </a:extLst>
          </p:cNvPr>
          <p:cNvSpPr>
            <a:spLocks noGrp="1" noChangeArrowheads="1"/>
          </p:cNvSpPr>
          <p:nvPr>
            <p:ph type="dt" sz="half" idx="10"/>
          </p:nvPr>
        </p:nvSpPr>
        <p:spPr>
          <a:ln/>
        </p:spPr>
        <p:txBody>
          <a:bodyPr/>
          <a:lstStyle>
            <a:lvl1pPr>
              <a:defRPr/>
            </a:lvl1pPr>
          </a:lstStyle>
          <a:p>
            <a:pPr>
              <a:defRPr/>
            </a:pPr>
            <a:endParaRPr lang="pt-PT"/>
          </a:p>
        </p:txBody>
      </p:sp>
      <p:sp>
        <p:nvSpPr>
          <p:cNvPr id="4" name="Rectangle 5">
            <a:extLst>
              <a:ext uri="{FF2B5EF4-FFF2-40B4-BE49-F238E27FC236}">
                <a16:creationId xmlns:a16="http://schemas.microsoft.com/office/drawing/2014/main" id="{7DE0B051-0F2E-4C9A-957A-AF7A9D61AC4C}"/>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5" name="Rectangle 6">
            <a:extLst>
              <a:ext uri="{FF2B5EF4-FFF2-40B4-BE49-F238E27FC236}">
                <a16:creationId xmlns:a16="http://schemas.microsoft.com/office/drawing/2014/main" id="{4D73C1A7-3072-46BC-BBEB-EC17084E1743}"/>
              </a:ext>
            </a:extLst>
          </p:cNvPr>
          <p:cNvSpPr>
            <a:spLocks noGrp="1" noChangeArrowheads="1"/>
          </p:cNvSpPr>
          <p:nvPr>
            <p:ph type="sldNum" sz="quarter" idx="12"/>
          </p:nvPr>
        </p:nvSpPr>
        <p:spPr>
          <a:ln/>
        </p:spPr>
        <p:txBody>
          <a:bodyPr/>
          <a:lstStyle>
            <a:lvl1pPr>
              <a:defRPr/>
            </a:lvl1pPr>
          </a:lstStyle>
          <a:p>
            <a:pPr>
              <a:defRPr/>
            </a:pPr>
            <a:fld id="{623BEF25-B6DF-4719-9E61-F5209AD016FE}" type="slidenum">
              <a:rPr lang="pt-PT" altLang="en-US"/>
              <a:pPr>
                <a:defRPr/>
              </a:pPr>
              <a:t>‹#›</a:t>
            </a:fld>
            <a:endParaRPr lang="pt-PT" altLang="en-US"/>
          </a:p>
        </p:txBody>
      </p:sp>
    </p:spTree>
    <p:extLst>
      <p:ext uri="{BB962C8B-B14F-4D97-AF65-F5344CB8AC3E}">
        <p14:creationId xmlns:p14="http://schemas.microsoft.com/office/powerpoint/2010/main" val="3390062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17A660A-96E1-4B35-A7F9-99722C7C25B8}"/>
              </a:ext>
            </a:extLst>
          </p:cNvPr>
          <p:cNvSpPr>
            <a:spLocks noGrp="1" noChangeArrowheads="1"/>
          </p:cNvSpPr>
          <p:nvPr>
            <p:ph type="dt" sz="half" idx="10"/>
          </p:nvPr>
        </p:nvSpPr>
        <p:spPr>
          <a:ln/>
        </p:spPr>
        <p:txBody>
          <a:bodyPr/>
          <a:lstStyle>
            <a:lvl1pPr>
              <a:defRPr/>
            </a:lvl1pPr>
          </a:lstStyle>
          <a:p>
            <a:pPr>
              <a:defRPr/>
            </a:pPr>
            <a:endParaRPr lang="pt-PT"/>
          </a:p>
        </p:txBody>
      </p:sp>
      <p:sp>
        <p:nvSpPr>
          <p:cNvPr id="3" name="Rectangle 5">
            <a:extLst>
              <a:ext uri="{FF2B5EF4-FFF2-40B4-BE49-F238E27FC236}">
                <a16:creationId xmlns:a16="http://schemas.microsoft.com/office/drawing/2014/main" id="{1C3B162C-5C57-4DA1-9266-E3274F57748C}"/>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4" name="Rectangle 6">
            <a:extLst>
              <a:ext uri="{FF2B5EF4-FFF2-40B4-BE49-F238E27FC236}">
                <a16:creationId xmlns:a16="http://schemas.microsoft.com/office/drawing/2014/main" id="{FF6E1ADF-39A3-43AE-AD24-693F118D11E8}"/>
              </a:ext>
            </a:extLst>
          </p:cNvPr>
          <p:cNvSpPr>
            <a:spLocks noGrp="1" noChangeArrowheads="1"/>
          </p:cNvSpPr>
          <p:nvPr>
            <p:ph type="sldNum" sz="quarter" idx="12"/>
          </p:nvPr>
        </p:nvSpPr>
        <p:spPr>
          <a:ln/>
        </p:spPr>
        <p:txBody>
          <a:bodyPr/>
          <a:lstStyle>
            <a:lvl1pPr>
              <a:defRPr/>
            </a:lvl1pPr>
          </a:lstStyle>
          <a:p>
            <a:pPr>
              <a:defRPr/>
            </a:pPr>
            <a:fld id="{94148D6B-7807-4028-860E-DCBC71B50CE4}" type="slidenum">
              <a:rPr lang="pt-PT" altLang="en-US"/>
              <a:pPr>
                <a:defRPr/>
              </a:pPr>
              <a:t>‹#›</a:t>
            </a:fld>
            <a:endParaRPr lang="pt-PT" altLang="en-US"/>
          </a:p>
        </p:txBody>
      </p:sp>
    </p:spTree>
    <p:extLst>
      <p:ext uri="{BB962C8B-B14F-4D97-AF65-F5344CB8AC3E}">
        <p14:creationId xmlns:p14="http://schemas.microsoft.com/office/powerpoint/2010/main" val="3249429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pt-PT"/>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D7D44BA-C99D-466F-8450-6F6EB90EC0F6}"/>
              </a:ext>
            </a:extLst>
          </p:cNvPr>
          <p:cNvSpPr>
            <a:spLocks noGrp="1" noChangeArrowheads="1"/>
          </p:cNvSpPr>
          <p:nvPr>
            <p:ph type="dt" sz="half" idx="10"/>
          </p:nvPr>
        </p:nvSpPr>
        <p:spPr>
          <a:ln/>
        </p:spPr>
        <p:txBody>
          <a:bodyPr/>
          <a:lstStyle>
            <a:lvl1pPr>
              <a:defRPr/>
            </a:lvl1pPr>
          </a:lstStyle>
          <a:p>
            <a:pPr>
              <a:defRPr/>
            </a:pPr>
            <a:endParaRPr lang="pt-PT"/>
          </a:p>
        </p:txBody>
      </p:sp>
      <p:sp>
        <p:nvSpPr>
          <p:cNvPr id="6" name="Rectangle 5">
            <a:extLst>
              <a:ext uri="{FF2B5EF4-FFF2-40B4-BE49-F238E27FC236}">
                <a16:creationId xmlns:a16="http://schemas.microsoft.com/office/drawing/2014/main" id="{A7632E4B-0E65-476B-983B-46C8B2272623}"/>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7" name="Rectangle 6">
            <a:extLst>
              <a:ext uri="{FF2B5EF4-FFF2-40B4-BE49-F238E27FC236}">
                <a16:creationId xmlns:a16="http://schemas.microsoft.com/office/drawing/2014/main" id="{5EAB2718-3F5B-4F67-855C-FDECE9BA66D1}"/>
              </a:ext>
            </a:extLst>
          </p:cNvPr>
          <p:cNvSpPr>
            <a:spLocks noGrp="1" noChangeArrowheads="1"/>
          </p:cNvSpPr>
          <p:nvPr>
            <p:ph type="sldNum" sz="quarter" idx="12"/>
          </p:nvPr>
        </p:nvSpPr>
        <p:spPr>
          <a:ln/>
        </p:spPr>
        <p:txBody>
          <a:bodyPr/>
          <a:lstStyle>
            <a:lvl1pPr>
              <a:defRPr/>
            </a:lvl1pPr>
          </a:lstStyle>
          <a:p>
            <a:pPr>
              <a:defRPr/>
            </a:pPr>
            <a:fld id="{0498D21C-F3B0-4F25-9317-D974D234E917}" type="slidenum">
              <a:rPr lang="pt-PT" altLang="en-US"/>
              <a:pPr>
                <a:defRPr/>
              </a:pPr>
              <a:t>‹#›</a:t>
            </a:fld>
            <a:endParaRPr lang="pt-PT" altLang="en-US"/>
          </a:p>
        </p:txBody>
      </p:sp>
    </p:spTree>
    <p:extLst>
      <p:ext uri="{BB962C8B-B14F-4D97-AF65-F5344CB8AC3E}">
        <p14:creationId xmlns:p14="http://schemas.microsoft.com/office/powerpoint/2010/main" val="4049236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pt-PT"/>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PT"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348D8D3-EF48-483B-B953-AB2E74AE0D37}"/>
              </a:ext>
            </a:extLst>
          </p:cNvPr>
          <p:cNvSpPr>
            <a:spLocks noGrp="1" noChangeArrowheads="1"/>
          </p:cNvSpPr>
          <p:nvPr>
            <p:ph type="dt" sz="half" idx="10"/>
          </p:nvPr>
        </p:nvSpPr>
        <p:spPr>
          <a:ln/>
        </p:spPr>
        <p:txBody>
          <a:bodyPr/>
          <a:lstStyle>
            <a:lvl1pPr>
              <a:defRPr/>
            </a:lvl1pPr>
          </a:lstStyle>
          <a:p>
            <a:pPr>
              <a:defRPr/>
            </a:pPr>
            <a:endParaRPr lang="pt-PT"/>
          </a:p>
        </p:txBody>
      </p:sp>
      <p:sp>
        <p:nvSpPr>
          <p:cNvPr id="6" name="Rectangle 5">
            <a:extLst>
              <a:ext uri="{FF2B5EF4-FFF2-40B4-BE49-F238E27FC236}">
                <a16:creationId xmlns:a16="http://schemas.microsoft.com/office/drawing/2014/main" id="{1C73C935-6E68-4698-AADA-B6506068848C}"/>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7" name="Rectangle 6">
            <a:extLst>
              <a:ext uri="{FF2B5EF4-FFF2-40B4-BE49-F238E27FC236}">
                <a16:creationId xmlns:a16="http://schemas.microsoft.com/office/drawing/2014/main" id="{60F9C89C-14F5-47DD-8710-0A5D969AE930}"/>
              </a:ext>
            </a:extLst>
          </p:cNvPr>
          <p:cNvSpPr>
            <a:spLocks noGrp="1" noChangeArrowheads="1"/>
          </p:cNvSpPr>
          <p:nvPr>
            <p:ph type="sldNum" sz="quarter" idx="12"/>
          </p:nvPr>
        </p:nvSpPr>
        <p:spPr>
          <a:ln/>
        </p:spPr>
        <p:txBody>
          <a:bodyPr/>
          <a:lstStyle>
            <a:lvl1pPr>
              <a:defRPr/>
            </a:lvl1pPr>
          </a:lstStyle>
          <a:p>
            <a:pPr>
              <a:defRPr/>
            </a:pPr>
            <a:fld id="{3D50E0C0-8D94-4884-A91B-EACF0BA29EF7}" type="slidenum">
              <a:rPr lang="pt-PT" altLang="en-US"/>
              <a:pPr>
                <a:defRPr/>
              </a:pPr>
              <a:t>‹#›</a:t>
            </a:fld>
            <a:endParaRPr lang="pt-PT" altLang="en-US"/>
          </a:p>
        </p:txBody>
      </p:sp>
    </p:spTree>
    <p:extLst>
      <p:ext uri="{BB962C8B-B14F-4D97-AF65-F5344CB8AC3E}">
        <p14:creationId xmlns:p14="http://schemas.microsoft.com/office/powerpoint/2010/main" val="73749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Rectangle 4">
            <a:extLst>
              <a:ext uri="{FF2B5EF4-FFF2-40B4-BE49-F238E27FC236}">
                <a16:creationId xmlns:a16="http://schemas.microsoft.com/office/drawing/2014/main" id="{807FBAFE-7D65-4C66-889B-9AF3060108B6}"/>
              </a:ext>
            </a:extLst>
          </p:cNvPr>
          <p:cNvSpPr>
            <a:spLocks noGrp="1" noChangeArrowheads="1"/>
          </p:cNvSpPr>
          <p:nvPr>
            <p:ph type="dt" sz="half" idx="10"/>
          </p:nvPr>
        </p:nvSpPr>
        <p:spPr>
          <a:ln/>
        </p:spPr>
        <p:txBody>
          <a:bodyPr/>
          <a:lstStyle>
            <a:lvl1pPr>
              <a:defRPr/>
            </a:lvl1pPr>
          </a:lstStyle>
          <a:p>
            <a:pPr>
              <a:defRPr/>
            </a:pPr>
            <a:endParaRPr lang="pt-PT"/>
          </a:p>
        </p:txBody>
      </p:sp>
      <p:sp>
        <p:nvSpPr>
          <p:cNvPr id="5" name="Rectangle 5">
            <a:extLst>
              <a:ext uri="{FF2B5EF4-FFF2-40B4-BE49-F238E27FC236}">
                <a16:creationId xmlns:a16="http://schemas.microsoft.com/office/drawing/2014/main" id="{A7725D67-7363-4398-8C8D-E3A1E83B55BB}"/>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6" name="Rectangle 6">
            <a:extLst>
              <a:ext uri="{FF2B5EF4-FFF2-40B4-BE49-F238E27FC236}">
                <a16:creationId xmlns:a16="http://schemas.microsoft.com/office/drawing/2014/main" id="{54BD749F-3BE7-4BA4-B854-9A886EE5F666}"/>
              </a:ext>
            </a:extLst>
          </p:cNvPr>
          <p:cNvSpPr>
            <a:spLocks noGrp="1" noChangeArrowheads="1"/>
          </p:cNvSpPr>
          <p:nvPr>
            <p:ph type="sldNum" sz="quarter" idx="12"/>
          </p:nvPr>
        </p:nvSpPr>
        <p:spPr>
          <a:ln/>
        </p:spPr>
        <p:txBody>
          <a:bodyPr/>
          <a:lstStyle>
            <a:lvl1pPr>
              <a:defRPr/>
            </a:lvl1pPr>
          </a:lstStyle>
          <a:p>
            <a:pPr>
              <a:defRPr/>
            </a:pPr>
            <a:fld id="{00B229E4-AC83-4BE9-814E-26157FADBFE1}" type="slidenum">
              <a:rPr lang="pt-PT" altLang="en-US"/>
              <a:pPr>
                <a:defRPr/>
              </a:pPr>
              <a:t>‹#›</a:t>
            </a:fld>
            <a:endParaRPr lang="pt-PT" altLang="en-US"/>
          </a:p>
        </p:txBody>
      </p:sp>
    </p:spTree>
    <p:extLst>
      <p:ext uri="{BB962C8B-B14F-4D97-AF65-F5344CB8AC3E}">
        <p14:creationId xmlns:p14="http://schemas.microsoft.com/office/powerpoint/2010/main" val="3808616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pt-PT"/>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Rectangle 4">
            <a:extLst>
              <a:ext uri="{FF2B5EF4-FFF2-40B4-BE49-F238E27FC236}">
                <a16:creationId xmlns:a16="http://schemas.microsoft.com/office/drawing/2014/main" id="{BF1E2AFA-4A07-4FEF-B894-665CC76ABD21}"/>
              </a:ext>
            </a:extLst>
          </p:cNvPr>
          <p:cNvSpPr>
            <a:spLocks noGrp="1" noChangeArrowheads="1"/>
          </p:cNvSpPr>
          <p:nvPr>
            <p:ph type="dt" sz="half" idx="10"/>
          </p:nvPr>
        </p:nvSpPr>
        <p:spPr>
          <a:ln/>
        </p:spPr>
        <p:txBody>
          <a:bodyPr/>
          <a:lstStyle>
            <a:lvl1pPr>
              <a:defRPr/>
            </a:lvl1pPr>
          </a:lstStyle>
          <a:p>
            <a:pPr>
              <a:defRPr/>
            </a:pPr>
            <a:endParaRPr lang="pt-PT"/>
          </a:p>
        </p:txBody>
      </p:sp>
      <p:sp>
        <p:nvSpPr>
          <p:cNvPr id="5" name="Rectangle 5">
            <a:extLst>
              <a:ext uri="{FF2B5EF4-FFF2-40B4-BE49-F238E27FC236}">
                <a16:creationId xmlns:a16="http://schemas.microsoft.com/office/drawing/2014/main" id="{5DA0F7C8-546A-489C-B5F5-8A4C8050DB44}"/>
              </a:ext>
            </a:extLst>
          </p:cNvPr>
          <p:cNvSpPr>
            <a:spLocks noGrp="1" noChangeArrowheads="1"/>
          </p:cNvSpPr>
          <p:nvPr>
            <p:ph type="ftr" sz="quarter" idx="11"/>
          </p:nvPr>
        </p:nvSpPr>
        <p:spPr>
          <a:ln/>
        </p:spPr>
        <p:txBody>
          <a:bodyPr/>
          <a:lstStyle>
            <a:lvl1pPr>
              <a:defRPr/>
            </a:lvl1pPr>
          </a:lstStyle>
          <a:p>
            <a:pPr>
              <a:defRPr/>
            </a:pPr>
            <a:r>
              <a:rPr lang="pt-PT"/>
              <a:t>Programação Orientada aos Objetos</a:t>
            </a:r>
          </a:p>
        </p:txBody>
      </p:sp>
      <p:sp>
        <p:nvSpPr>
          <p:cNvPr id="6" name="Rectangle 6">
            <a:extLst>
              <a:ext uri="{FF2B5EF4-FFF2-40B4-BE49-F238E27FC236}">
                <a16:creationId xmlns:a16="http://schemas.microsoft.com/office/drawing/2014/main" id="{7C219606-8F1B-49E2-A39C-041140B6F459}"/>
              </a:ext>
            </a:extLst>
          </p:cNvPr>
          <p:cNvSpPr>
            <a:spLocks noGrp="1" noChangeArrowheads="1"/>
          </p:cNvSpPr>
          <p:nvPr>
            <p:ph type="sldNum" sz="quarter" idx="12"/>
          </p:nvPr>
        </p:nvSpPr>
        <p:spPr>
          <a:ln/>
        </p:spPr>
        <p:txBody>
          <a:bodyPr/>
          <a:lstStyle>
            <a:lvl1pPr>
              <a:defRPr/>
            </a:lvl1pPr>
          </a:lstStyle>
          <a:p>
            <a:pPr>
              <a:defRPr/>
            </a:pPr>
            <a:fld id="{BE343802-A6D9-4E83-ABDE-E91B8C9B34B4}" type="slidenum">
              <a:rPr lang="pt-PT" altLang="en-US"/>
              <a:pPr>
                <a:defRPr/>
              </a:pPr>
              <a:t>‹#›</a:t>
            </a:fld>
            <a:endParaRPr lang="pt-PT" altLang="en-US"/>
          </a:p>
        </p:txBody>
      </p:sp>
    </p:spTree>
    <p:extLst>
      <p:ext uri="{BB962C8B-B14F-4D97-AF65-F5344CB8AC3E}">
        <p14:creationId xmlns:p14="http://schemas.microsoft.com/office/powerpoint/2010/main" val="183523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C93882F-972C-4AE0-8F08-DC299DB14A4A}"/>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PT" altLang="en-US"/>
              <a:t>Click to edit Master title style</a:t>
            </a:r>
          </a:p>
        </p:txBody>
      </p:sp>
      <p:sp>
        <p:nvSpPr>
          <p:cNvPr id="1027" name="Rectangle 3">
            <a:extLst>
              <a:ext uri="{FF2B5EF4-FFF2-40B4-BE49-F238E27FC236}">
                <a16:creationId xmlns:a16="http://schemas.microsoft.com/office/drawing/2014/main" id="{657CE42E-6B99-430E-B2FB-8459893C6F89}"/>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PT" altLang="en-US"/>
              <a:t>Click to edit Master text styles</a:t>
            </a:r>
          </a:p>
          <a:p>
            <a:pPr lvl="1"/>
            <a:r>
              <a:rPr lang="pt-PT" altLang="en-US"/>
              <a:t>Second level</a:t>
            </a:r>
          </a:p>
          <a:p>
            <a:pPr lvl="2"/>
            <a:r>
              <a:rPr lang="pt-PT" altLang="en-US"/>
              <a:t>Third level</a:t>
            </a:r>
          </a:p>
          <a:p>
            <a:pPr lvl="3"/>
            <a:r>
              <a:rPr lang="pt-PT" altLang="en-US"/>
              <a:t>Fourth level</a:t>
            </a:r>
          </a:p>
          <a:p>
            <a:pPr lvl="4"/>
            <a:r>
              <a:rPr lang="pt-PT" altLang="en-US"/>
              <a:t>Fifth level</a:t>
            </a:r>
          </a:p>
        </p:txBody>
      </p:sp>
      <p:sp>
        <p:nvSpPr>
          <p:cNvPr id="1028" name="Rectangle 4">
            <a:extLst>
              <a:ext uri="{FF2B5EF4-FFF2-40B4-BE49-F238E27FC236}">
                <a16:creationId xmlns:a16="http://schemas.microsoft.com/office/drawing/2014/main" id="{D43B7511-67D1-4881-85EE-28675E34FB3A}"/>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pt-PT"/>
          </a:p>
        </p:txBody>
      </p:sp>
      <p:sp>
        <p:nvSpPr>
          <p:cNvPr id="1029" name="Rectangle 5">
            <a:extLst>
              <a:ext uri="{FF2B5EF4-FFF2-40B4-BE49-F238E27FC236}">
                <a16:creationId xmlns:a16="http://schemas.microsoft.com/office/drawing/2014/main" id="{2555AF8C-6047-42AD-A9BD-D354DE89BA3D}"/>
              </a:ext>
            </a:extLst>
          </p:cNvPr>
          <p:cNvSpPr>
            <a:spLocks noGrp="1" noChangeArrowheads="1"/>
          </p:cNvSpPr>
          <p:nvPr>
            <p:ph type="ftr" sz="quarter" idx="3"/>
          </p:nvPr>
        </p:nvSpPr>
        <p:spPr bwMode="auto">
          <a:xfrm>
            <a:off x="2268538" y="6578600"/>
            <a:ext cx="4248150" cy="279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r>
              <a:rPr lang="pt-PT"/>
              <a:t>Programação Orientada aos Objetos</a:t>
            </a:r>
          </a:p>
        </p:txBody>
      </p:sp>
      <p:sp>
        <p:nvSpPr>
          <p:cNvPr id="1030" name="Rectangle 6">
            <a:extLst>
              <a:ext uri="{FF2B5EF4-FFF2-40B4-BE49-F238E27FC236}">
                <a16:creationId xmlns:a16="http://schemas.microsoft.com/office/drawing/2014/main" id="{96B315CE-BCA2-47FD-AA77-F7676288F006}"/>
              </a:ext>
            </a:extLst>
          </p:cNvPr>
          <p:cNvSpPr>
            <a:spLocks noGrp="1" noChangeArrowheads="1"/>
          </p:cNvSpPr>
          <p:nvPr>
            <p:ph type="sldNum" sz="quarter" idx="4"/>
          </p:nvPr>
        </p:nvSpPr>
        <p:spPr bwMode="auto">
          <a:xfrm>
            <a:off x="6659563" y="6597650"/>
            <a:ext cx="2133600" cy="1889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32702CAA-B9A5-4DCA-B526-1A85D06F0490}" type="slidenum">
              <a:rPr lang="pt-PT" altLang="en-US"/>
              <a:pPr>
                <a:defRPr/>
              </a:pPr>
              <a:t>‹#›</a:t>
            </a:fld>
            <a:endParaRPr lang="pt-PT"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4">
            <a:extLst>
              <a:ext uri="{FF2B5EF4-FFF2-40B4-BE49-F238E27FC236}">
                <a16:creationId xmlns:a16="http://schemas.microsoft.com/office/drawing/2014/main" id="{EE954A8F-61B3-4642-9406-D0E01A07DF3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3075" name="Slide Number Placeholder 5">
            <a:extLst>
              <a:ext uri="{FF2B5EF4-FFF2-40B4-BE49-F238E27FC236}">
                <a16:creationId xmlns:a16="http://schemas.microsoft.com/office/drawing/2014/main" id="{F6FA695E-61C5-463A-90B1-F70A86455C5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A6EF968-8614-4601-B1F6-26333A2BB789}" type="slidenum">
              <a:rPr lang="pt-PT" altLang="en-US" sz="1400" smtClean="0"/>
              <a:pPr>
                <a:spcBef>
                  <a:spcPct val="0"/>
                </a:spcBef>
                <a:buFontTx/>
                <a:buNone/>
              </a:pPr>
              <a:t>1</a:t>
            </a:fld>
            <a:endParaRPr lang="pt-PT" altLang="en-US" sz="1400"/>
          </a:p>
        </p:txBody>
      </p:sp>
      <p:sp>
        <p:nvSpPr>
          <p:cNvPr id="3077" name="Rectangle 3">
            <a:extLst>
              <a:ext uri="{FF2B5EF4-FFF2-40B4-BE49-F238E27FC236}">
                <a16:creationId xmlns:a16="http://schemas.microsoft.com/office/drawing/2014/main" id="{EA8DD095-1835-4E5D-A688-58E89BB64E50}"/>
              </a:ext>
            </a:extLst>
          </p:cNvPr>
          <p:cNvSpPr>
            <a:spLocks noGrp="1" noChangeArrowheads="1"/>
          </p:cNvSpPr>
          <p:nvPr>
            <p:ph type="subTitle" idx="1"/>
          </p:nvPr>
        </p:nvSpPr>
        <p:spPr>
          <a:xfrm>
            <a:off x="1371600" y="3886200"/>
            <a:ext cx="6400800" cy="982663"/>
          </a:xfrm>
        </p:spPr>
        <p:txBody>
          <a:bodyPr/>
          <a:lstStyle/>
          <a:p>
            <a:pPr eaLnBrk="1" hangingPunct="1"/>
            <a:r>
              <a:rPr lang="pt-PT" altLang="en-US" dirty="0"/>
              <a:t>Interfaces</a:t>
            </a:r>
          </a:p>
        </p:txBody>
      </p:sp>
      <p:sp>
        <p:nvSpPr>
          <p:cNvPr id="6" name="Rectangle 2">
            <a:extLst>
              <a:ext uri="{FF2B5EF4-FFF2-40B4-BE49-F238E27FC236}">
                <a16:creationId xmlns:a16="http://schemas.microsoft.com/office/drawing/2014/main" id="{FBF91C99-DDEE-41F3-9C2E-5ABE4494A0CF}"/>
              </a:ext>
            </a:extLst>
          </p:cNvPr>
          <p:cNvSpPr txBox="1">
            <a:spLocks noChangeArrowheads="1"/>
          </p:cNvSpPr>
          <p:nvPr/>
        </p:nvSpPr>
        <p:spPr bwMode="auto">
          <a:xfrm>
            <a:off x="908050" y="764704"/>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pt-PT" altLang="en-US" sz="3600" kern="0" dirty="0"/>
              <a:t>Programação Orientada aos Objetos </a:t>
            </a:r>
            <a:br>
              <a:rPr lang="pt-PT" altLang="en-US" sz="4000" kern="0" dirty="0"/>
            </a:br>
            <a:r>
              <a:rPr lang="pt-PT" altLang="en-US" sz="2000" kern="0" dirty="0"/>
              <a:t>(Licenciatura em Engenharia de Telecomunicações &amp; Informática) </a:t>
            </a:r>
            <a:br>
              <a:rPr lang="pt-PT" altLang="en-US" sz="2000" kern="0" dirty="0"/>
            </a:br>
            <a:r>
              <a:rPr lang="pt-PT" altLang="en-US" sz="2000" kern="0" dirty="0"/>
              <a:t>2º Ano, 1º Semestre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4">
            <a:extLst>
              <a:ext uri="{FF2B5EF4-FFF2-40B4-BE49-F238E27FC236}">
                <a16:creationId xmlns:a16="http://schemas.microsoft.com/office/drawing/2014/main" id="{0132C658-9403-464E-81E5-88566D0D765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4099" name="Slide Number Placeholder 5">
            <a:extLst>
              <a:ext uri="{FF2B5EF4-FFF2-40B4-BE49-F238E27FC236}">
                <a16:creationId xmlns:a16="http://schemas.microsoft.com/office/drawing/2014/main" id="{7115BD80-1708-4DCC-B94C-E5E63621EA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53ADC11-2DE4-4B33-9BEE-127FF3DEA55D}" type="slidenum">
              <a:rPr lang="pt-PT" altLang="en-US" sz="1400" smtClean="0"/>
              <a:pPr>
                <a:spcBef>
                  <a:spcPct val="0"/>
                </a:spcBef>
                <a:buFontTx/>
                <a:buNone/>
              </a:pPr>
              <a:t>2</a:t>
            </a:fld>
            <a:endParaRPr lang="pt-PT" altLang="en-US" sz="1400"/>
          </a:p>
        </p:txBody>
      </p:sp>
      <p:sp>
        <p:nvSpPr>
          <p:cNvPr id="4100" name="Rectangle 2">
            <a:extLst>
              <a:ext uri="{FF2B5EF4-FFF2-40B4-BE49-F238E27FC236}">
                <a16:creationId xmlns:a16="http://schemas.microsoft.com/office/drawing/2014/main" id="{5A00465D-3DC3-4EFE-96EF-36B7A157EF72}"/>
              </a:ext>
            </a:extLst>
          </p:cNvPr>
          <p:cNvSpPr>
            <a:spLocks noGrp="1" noChangeArrowheads="1"/>
          </p:cNvSpPr>
          <p:nvPr>
            <p:ph type="title"/>
          </p:nvPr>
        </p:nvSpPr>
        <p:spPr>
          <a:xfrm>
            <a:off x="457200" y="115888"/>
            <a:ext cx="8229600" cy="865187"/>
          </a:xfrm>
        </p:spPr>
        <p:txBody>
          <a:bodyPr/>
          <a:lstStyle/>
          <a:p>
            <a:pPr eaLnBrk="1" hangingPunct="1"/>
            <a:r>
              <a:rPr lang="pt-PT" altLang="en-US" sz="4000"/>
              <a:t>Classes e Tipos</a:t>
            </a:r>
          </a:p>
        </p:txBody>
      </p:sp>
      <p:sp>
        <p:nvSpPr>
          <p:cNvPr id="4101" name="Rectangle 3">
            <a:extLst>
              <a:ext uri="{FF2B5EF4-FFF2-40B4-BE49-F238E27FC236}">
                <a16:creationId xmlns:a16="http://schemas.microsoft.com/office/drawing/2014/main" id="{E5241FA8-6390-4A27-A3A9-10C22CF7702A}"/>
              </a:ext>
            </a:extLst>
          </p:cNvPr>
          <p:cNvSpPr>
            <a:spLocks noGrp="1" noChangeArrowheads="1"/>
          </p:cNvSpPr>
          <p:nvPr>
            <p:ph type="body" idx="1"/>
          </p:nvPr>
        </p:nvSpPr>
        <p:spPr>
          <a:xfrm>
            <a:off x="34925" y="908050"/>
            <a:ext cx="9036050" cy="5689600"/>
          </a:xfrm>
        </p:spPr>
        <p:txBody>
          <a:bodyPr/>
          <a:lstStyle/>
          <a:p>
            <a:pPr eaLnBrk="1" hangingPunct="1"/>
            <a:r>
              <a:rPr lang="pt-PT" altLang="en-US" sz="2400"/>
              <a:t>A noção de classe e tipo, subclasse e subtipo, podem ser vistas como coincidentes.</a:t>
            </a:r>
          </a:p>
          <a:p>
            <a:pPr eaLnBrk="1" hangingPunct="1"/>
            <a:r>
              <a:rPr lang="pt-PT" altLang="en-US" sz="2400"/>
              <a:t>No entanto a noção de subtipo tem uma conotação mais abstracta do que a de subclasse: um subtipo vê apenas comportamento e não estrutura (princípio da substituição)</a:t>
            </a:r>
          </a:p>
          <a:p>
            <a:pPr eaLnBrk="1" hangingPunct="1"/>
            <a:r>
              <a:rPr lang="pt-PT" altLang="en-US" sz="2400"/>
              <a:t>As linguagem de PPO </a:t>
            </a:r>
            <a:r>
              <a:rPr lang="pt-PT" altLang="en-US" sz="2400" i="1"/>
              <a:t>strongly typed </a:t>
            </a:r>
            <a:r>
              <a:rPr lang="pt-PT" altLang="en-US" sz="2400"/>
              <a:t>(como por exemplo o JAVA), tendem a diminuir a distinção entre subclasses e subtipos:</a:t>
            </a:r>
          </a:p>
          <a:p>
            <a:pPr lvl="1" eaLnBrk="1" hangingPunct="1"/>
            <a:r>
              <a:rPr lang="pt-PT" altLang="en-US" sz="2000"/>
              <a:t>Permitem que variáveis possam ser associadas a instâncias de uma classe diferente da classe da sua declaração, desde que a instância a associar à variável seja de uma subclasse da classe de declaração;</a:t>
            </a:r>
          </a:p>
          <a:p>
            <a:pPr lvl="1" eaLnBrk="1" hangingPunct="1"/>
            <a:r>
              <a:rPr lang="pt-PT" altLang="en-US" sz="2000"/>
              <a:t> Assumem que subclasses são subtipos, o que formalmente pode não ser verdade já que as subclasses podem não só redefinir como acrescentar métodos.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7615B796-6018-48A6-AEB2-7C31061AF2C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5123" name="Slide Number Placeholder 5">
            <a:extLst>
              <a:ext uri="{FF2B5EF4-FFF2-40B4-BE49-F238E27FC236}">
                <a16:creationId xmlns:a16="http://schemas.microsoft.com/office/drawing/2014/main" id="{DB55D60E-437F-49E4-B431-FB75D5E7371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825CC8E-5ACF-443A-A500-DCA0B0CA90AF}" type="slidenum">
              <a:rPr lang="pt-PT" altLang="en-US" sz="1400" smtClean="0"/>
              <a:pPr>
                <a:spcBef>
                  <a:spcPct val="0"/>
                </a:spcBef>
                <a:buFontTx/>
                <a:buNone/>
              </a:pPr>
              <a:t>3</a:t>
            </a:fld>
            <a:endParaRPr lang="pt-PT" altLang="en-US" sz="1400"/>
          </a:p>
        </p:txBody>
      </p:sp>
      <p:sp>
        <p:nvSpPr>
          <p:cNvPr id="5124" name="Rectangle 2">
            <a:extLst>
              <a:ext uri="{FF2B5EF4-FFF2-40B4-BE49-F238E27FC236}">
                <a16:creationId xmlns:a16="http://schemas.microsoft.com/office/drawing/2014/main" id="{5022A539-6AF7-4AC2-AA97-E024AEF4549C}"/>
              </a:ext>
            </a:extLst>
          </p:cNvPr>
          <p:cNvSpPr>
            <a:spLocks noGrp="1" noChangeArrowheads="1"/>
          </p:cNvSpPr>
          <p:nvPr>
            <p:ph type="title"/>
          </p:nvPr>
        </p:nvSpPr>
        <p:spPr>
          <a:xfrm>
            <a:off x="457200" y="115888"/>
            <a:ext cx="8229600" cy="1143000"/>
          </a:xfrm>
        </p:spPr>
        <p:txBody>
          <a:bodyPr/>
          <a:lstStyle/>
          <a:p>
            <a:pPr eaLnBrk="1" hangingPunct="1"/>
            <a:r>
              <a:rPr lang="pt-PT" altLang="en-US"/>
              <a:t>Interfaces</a:t>
            </a:r>
          </a:p>
        </p:txBody>
      </p:sp>
      <p:sp>
        <p:nvSpPr>
          <p:cNvPr id="5125" name="Rectangle 3">
            <a:extLst>
              <a:ext uri="{FF2B5EF4-FFF2-40B4-BE49-F238E27FC236}">
                <a16:creationId xmlns:a16="http://schemas.microsoft.com/office/drawing/2014/main" id="{72D40FB1-EAAB-442B-909B-62A57280621B}"/>
              </a:ext>
            </a:extLst>
          </p:cNvPr>
          <p:cNvSpPr>
            <a:spLocks noGrp="1" noChangeArrowheads="1"/>
          </p:cNvSpPr>
          <p:nvPr>
            <p:ph type="body" idx="1"/>
          </p:nvPr>
        </p:nvSpPr>
        <p:spPr>
          <a:xfrm>
            <a:off x="457200" y="1125538"/>
            <a:ext cx="8229600" cy="3197225"/>
          </a:xfrm>
        </p:spPr>
        <p:txBody>
          <a:bodyPr/>
          <a:lstStyle/>
          <a:p>
            <a:pPr eaLnBrk="1" hangingPunct="1">
              <a:lnSpc>
                <a:spcPct val="90000"/>
              </a:lnSpc>
            </a:pPr>
            <a:r>
              <a:rPr lang="pt-PT" altLang="en-US" sz="2000"/>
              <a:t>No caso especifico da linguagem JAVA é introduzido um mecanismo adicional visando a especificação sintáctica de tipos abstractos de dados (TAD), ou seja, permitindo a especificação de tipos através das </a:t>
            </a:r>
            <a:r>
              <a:rPr lang="pt-PT" altLang="en-US" sz="2000" i="1" u="sng"/>
              <a:t>interfaces</a:t>
            </a:r>
            <a:r>
              <a:rPr lang="pt-PT" altLang="en-US" sz="2000"/>
              <a:t>.</a:t>
            </a:r>
          </a:p>
          <a:p>
            <a:pPr eaLnBrk="1" hangingPunct="1">
              <a:lnSpc>
                <a:spcPct val="90000"/>
              </a:lnSpc>
            </a:pPr>
            <a:r>
              <a:rPr lang="pt-PT" altLang="en-US" sz="2000"/>
              <a:t>Para além de especificações de tipos, as interfaces de JAVA apresentar-se-ão como um mecanismo extremamente útil sempre que pretendermos especificar e garantir que duas classes posicionadas em quaisquer zonas da hierarquia de classes, logo não tendo qualquer relação hierárquica entre si, possuem comportamento comum.</a:t>
            </a:r>
          </a:p>
        </p:txBody>
      </p:sp>
      <p:pic>
        <p:nvPicPr>
          <p:cNvPr id="5126" name="Picture 4">
            <a:extLst>
              <a:ext uri="{FF2B5EF4-FFF2-40B4-BE49-F238E27FC236}">
                <a16:creationId xmlns:a16="http://schemas.microsoft.com/office/drawing/2014/main" id="{EC98FD0F-7707-4CC9-8F16-430847B1F1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4292600"/>
            <a:ext cx="4173537"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AutoShape 5">
            <a:extLst>
              <a:ext uri="{FF2B5EF4-FFF2-40B4-BE49-F238E27FC236}">
                <a16:creationId xmlns:a16="http://schemas.microsoft.com/office/drawing/2014/main" id="{C8360B51-65CF-4424-9455-78CAF84FA494}"/>
              </a:ext>
            </a:extLst>
          </p:cNvPr>
          <p:cNvSpPr>
            <a:spLocks noChangeArrowheads="1"/>
          </p:cNvSpPr>
          <p:nvPr/>
        </p:nvSpPr>
        <p:spPr bwMode="auto">
          <a:xfrm>
            <a:off x="6227763" y="4581525"/>
            <a:ext cx="2916237" cy="1008063"/>
          </a:xfrm>
          <a:prstGeom prst="wedgeRoundRectCallout">
            <a:avLst>
              <a:gd name="adj1" fmla="val -67366"/>
              <a:gd name="adj2" fmla="val 57088"/>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400">
                <a:latin typeface="Times New Roman" panose="02020603050405020304" pitchFamily="18" charset="0"/>
              </a:rPr>
              <a:t>B</a:t>
            </a:r>
            <a:r>
              <a:rPr lang="pt-PT" altLang="en-US" sz="1400"/>
              <a:t> e </a:t>
            </a:r>
            <a:r>
              <a:rPr lang="pt-PT" altLang="en-US" sz="1400">
                <a:latin typeface="Times New Roman" panose="02020603050405020304" pitchFamily="18" charset="0"/>
              </a:rPr>
              <a:t>E</a:t>
            </a:r>
            <a:r>
              <a:rPr lang="pt-PT" altLang="en-US" sz="1400"/>
              <a:t> tem linguagem comum, mas diferente da de </a:t>
            </a:r>
            <a:r>
              <a:rPr lang="pt-PT" altLang="en-US" sz="1400">
                <a:latin typeface="Times New Roman" panose="02020603050405020304" pitchFamily="18" charset="0"/>
              </a:rPr>
              <a:t>C</a:t>
            </a:r>
            <a:r>
              <a:rPr lang="pt-PT" altLang="en-US" sz="1400"/>
              <a:t> e </a:t>
            </a:r>
            <a:r>
              <a:rPr lang="pt-PT" altLang="en-US" sz="1400">
                <a:latin typeface="Times New Roman" panose="02020603050405020304" pitchFamily="18" charset="0"/>
              </a:rPr>
              <a:t>D</a:t>
            </a:r>
            <a:r>
              <a:rPr lang="pt-PT" altLang="en-US" sz="1400"/>
              <a:t>. O único ponto comum é a herança de </a:t>
            </a:r>
            <a:r>
              <a:rPr lang="pt-PT" altLang="en-US" sz="1400">
                <a:latin typeface="Times New Roman" panose="02020603050405020304" pitchFamily="18" charset="0"/>
              </a:rPr>
              <a:t>Object</a:t>
            </a:r>
            <a:r>
              <a:rPr lang="pt-PT" altLang="en-US" sz="1400"/>
              <a:t>.</a:t>
            </a:r>
          </a:p>
        </p:txBody>
      </p:sp>
      <p:sp>
        <p:nvSpPr>
          <p:cNvPr id="5128" name="Oval 6">
            <a:extLst>
              <a:ext uri="{FF2B5EF4-FFF2-40B4-BE49-F238E27FC236}">
                <a16:creationId xmlns:a16="http://schemas.microsoft.com/office/drawing/2014/main" id="{9B4244DA-BFDC-41C4-8F94-9850740A8AF7}"/>
              </a:ext>
            </a:extLst>
          </p:cNvPr>
          <p:cNvSpPr>
            <a:spLocks noChangeArrowheads="1"/>
          </p:cNvSpPr>
          <p:nvPr/>
        </p:nvSpPr>
        <p:spPr bwMode="auto">
          <a:xfrm>
            <a:off x="107950" y="4222750"/>
            <a:ext cx="2305050" cy="15113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400"/>
              <a:t>Pretendemos ter </a:t>
            </a:r>
            <a:r>
              <a:rPr lang="pt-PT" altLang="en-US" sz="1400">
                <a:latin typeface="Times New Roman" panose="02020603050405020304" pitchFamily="18" charset="0"/>
              </a:rPr>
              <a:t>C</a:t>
            </a:r>
            <a:r>
              <a:rPr lang="pt-PT" altLang="en-US" sz="1400"/>
              <a:t> e </a:t>
            </a:r>
            <a:r>
              <a:rPr lang="pt-PT" altLang="en-US" sz="1400">
                <a:latin typeface="Times New Roman" panose="02020603050405020304" pitchFamily="18" charset="0"/>
              </a:rPr>
              <a:t>E</a:t>
            </a:r>
            <a:r>
              <a:rPr lang="pt-PT" altLang="en-US" sz="1400"/>
              <a:t>,</a:t>
            </a:r>
          </a:p>
          <a:p>
            <a:pPr algn="ctr" eaLnBrk="1" hangingPunct="1">
              <a:spcBef>
                <a:spcPct val="0"/>
              </a:spcBef>
              <a:buFontTx/>
              <a:buNone/>
            </a:pPr>
            <a:r>
              <a:rPr lang="pt-PT" altLang="en-US" sz="1400"/>
              <a:t>e somente estas classes,</a:t>
            </a:r>
          </a:p>
          <a:p>
            <a:pPr algn="ctr" eaLnBrk="1" hangingPunct="1">
              <a:spcBef>
                <a:spcPct val="0"/>
              </a:spcBef>
              <a:buFontTx/>
              <a:buNone/>
            </a:pPr>
            <a:r>
              <a:rPr lang="pt-PT" altLang="en-US" sz="1400"/>
              <a:t>a responder aos métodos</a:t>
            </a:r>
          </a:p>
          <a:p>
            <a:pPr algn="ctr" eaLnBrk="1" hangingPunct="1">
              <a:spcBef>
                <a:spcPct val="0"/>
              </a:spcBef>
              <a:buFontTx/>
              <a:buNone/>
            </a:pPr>
            <a:r>
              <a:rPr lang="pt-PT" altLang="en-US" sz="1400"/>
              <a:t> </a:t>
            </a:r>
            <a:r>
              <a:rPr lang="pt-PT" altLang="en-US" sz="1400">
                <a:latin typeface="Times New Roman" panose="02020603050405020304" pitchFamily="18" charset="0"/>
              </a:rPr>
              <a:t>m1()</a:t>
            </a:r>
            <a:r>
              <a:rPr lang="pt-PT" altLang="en-US" sz="1400"/>
              <a:t> e </a:t>
            </a:r>
            <a:r>
              <a:rPr lang="pt-PT" altLang="en-US" sz="1400">
                <a:latin typeface="Times New Roman" panose="02020603050405020304" pitchFamily="18" charset="0"/>
              </a:rPr>
              <a:t>m2().</a:t>
            </a:r>
          </a:p>
        </p:txBody>
      </p:sp>
      <p:sp>
        <p:nvSpPr>
          <p:cNvPr id="5129" name="Line 8">
            <a:extLst>
              <a:ext uri="{FF2B5EF4-FFF2-40B4-BE49-F238E27FC236}">
                <a16:creationId xmlns:a16="http://schemas.microsoft.com/office/drawing/2014/main" id="{6D98D0FF-FFB6-483D-A261-64A76B75FAF5}"/>
              </a:ext>
            </a:extLst>
          </p:cNvPr>
          <p:cNvSpPr>
            <a:spLocks noChangeShapeType="1"/>
          </p:cNvSpPr>
          <p:nvPr/>
        </p:nvSpPr>
        <p:spPr bwMode="auto">
          <a:xfrm>
            <a:off x="2051050" y="5516563"/>
            <a:ext cx="576263" cy="288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PT"/>
          </a:p>
        </p:txBody>
      </p:sp>
      <p:sp>
        <p:nvSpPr>
          <p:cNvPr id="5130" name="Line 9">
            <a:extLst>
              <a:ext uri="{FF2B5EF4-FFF2-40B4-BE49-F238E27FC236}">
                <a16:creationId xmlns:a16="http://schemas.microsoft.com/office/drawing/2014/main" id="{046AAD7D-86C7-43FE-A755-F3912D928C3B}"/>
              </a:ext>
            </a:extLst>
          </p:cNvPr>
          <p:cNvSpPr>
            <a:spLocks noChangeShapeType="1"/>
          </p:cNvSpPr>
          <p:nvPr/>
        </p:nvSpPr>
        <p:spPr bwMode="auto">
          <a:xfrm>
            <a:off x="1403350" y="5734050"/>
            <a:ext cx="1223963" cy="790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PT"/>
          </a:p>
        </p:txBody>
      </p:sp>
      <p:sp>
        <p:nvSpPr>
          <p:cNvPr id="5131" name="Line 10">
            <a:extLst>
              <a:ext uri="{FF2B5EF4-FFF2-40B4-BE49-F238E27FC236}">
                <a16:creationId xmlns:a16="http://schemas.microsoft.com/office/drawing/2014/main" id="{2E506F19-B34D-44E6-AA27-165810B0BEDC}"/>
              </a:ext>
            </a:extLst>
          </p:cNvPr>
          <p:cNvSpPr>
            <a:spLocks noChangeShapeType="1"/>
          </p:cNvSpPr>
          <p:nvPr/>
        </p:nvSpPr>
        <p:spPr bwMode="auto">
          <a:xfrm>
            <a:off x="2627313" y="6524625"/>
            <a:ext cx="24495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PT"/>
          </a:p>
        </p:txBody>
      </p:sp>
      <p:sp>
        <p:nvSpPr>
          <p:cNvPr id="5132" name="Line 11">
            <a:extLst>
              <a:ext uri="{FF2B5EF4-FFF2-40B4-BE49-F238E27FC236}">
                <a16:creationId xmlns:a16="http://schemas.microsoft.com/office/drawing/2014/main" id="{D6CB7C1E-26D5-48B2-A368-38FE03464783}"/>
              </a:ext>
            </a:extLst>
          </p:cNvPr>
          <p:cNvSpPr>
            <a:spLocks noChangeShapeType="1"/>
          </p:cNvSpPr>
          <p:nvPr/>
        </p:nvSpPr>
        <p:spPr bwMode="auto">
          <a:xfrm flipV="1">
            <a:off x="5076825" y="6165850"/>
            <a:ext cx="863600" cy="358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P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4">
            <a:extLst>
              <a:ext uri="{FF2B5EF4-FFF2-40B4-BE49-F238E27FC236}">
                <a16:creationId xmlns:a16="http://schemas.microsoft.com/office/drawing/2014/main" id="{7DE4CF40-3E95-4925-83DE-0F6560995E6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6147" name="Slide Number Placeholder 5">
            <a:extLst>
              <a:ext uri="{FF2B5EF4-FFF2-40B4-BE49-F238E27FC236}">
                <a16:creationId xmlns:a16="http://schemas.microsoft.com/office/drawing/2014/main" id="{E29635DE-7E58-4C59-A35B-1A1C5B4BBC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DB682A8-0D17-488A-ABE6-7882A7DEEF34}" type="slidenum">
              <a:rPr lang="pt-PT" altLang="en-US" sz="1400" smtClean="0"/>
              <a:pPr>
                <a:spcBef>
                  <a:spcPct val="0"/>
                </a:spcBef>
                <a:buFontTx/>
                <a:buNone/>
              </a:pPr>
              <a:t>4</a:t>
            </a:fld>
            <a:endParaRPr lang="pt-PT" altLang="en-US" sz="1400"/>
          </a:p>
        </p:txBody>
      </p:sp>
      <p:sp>
        <p:nvSpPr>
          <p:cNvPr id="6148" name="Rectangle 2">
            <a:extLst>
              <a:ext uri="{FF2B5EF4-FFF2-40B4-BE49-F238E27FC236}">
                <a16:creationId xmlns:a16="http://schemas.microsoft.com/office/drawing/2014/main" id="{5B9B4CC2-3A76-4A67-9613-AF05620A7DDA}"/>
              </a:ext>
            </a:extLst>
          </p:cNvPr>
          <p:cNvSpPr>
            <a:spLocks noGrp="1" noChangeArrowheads="1"/>
          </p:cNvSpPr>
          <p:nvPr>
            <p:ph type="title"/>
          </p:nvPr>
        </p:nvSpPr>
        <p:spPr/>
        <p:txBody>
          <a:bodyPr/>
          <a:lstStyle/>
          <a:p>
            <a:pPr eaLnBrk="1" hangingPunct="1"/>
            <a:r>
              <a:rPr lang="pt-PT" altLang="en-US"/>
              <a:t>Interfaces (2)</a:t>
            </a:r>
          </a:p>
        </p:txBody>
      </p:sp>
      <p:pic>
        <p:nvPicPr>
          <p:cNvPr id="6149" name="Picture 4">
            <a:extLst>
              <a:ext uri="{FF2B5EF4-FFF2-40B4-BE49-F238E27FC236}">
                <a16:creationId xmlns:a16="http://schemas.microsoft.com/office/drawing/2014/main" id="{E2ACA67D-AAB5-4201-8A14-5FE4DF12CC82}"/>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305050" y="1341438"/>
            <a:ext cx="4533900" cy="1879600"/>
          </a:xfrm>
          <a:noFill/>
        </p:spPr>
      </p:pic>
      <p:sp>
        <p:nvSpPr>
          <p:cNvPr id="6150" name="Text Box 5">
            <a:extLst>
              <a:ext uri="{FF2B5EF4-FFF2-40B4-BE49-F238E27FC236}">
                <a16:creationId xmlns:a16="http://schemas.microsoft.com/office/drawing/2014/main" id="{9A2704AE-61D1-42D9-A1AD-E43C3706DB9F}"/>
              </a:ext>
            </a:extLst>
          </p:cNvPr>
          <p:cNvSpPr txBox="1">
            <a:spLocks noChangeArrowheads="1"/>
          </p:cNvSpPr>
          <p:nvPr/>
        </p:nvSpPr>
        <p:spPr bwMode="auto">
          <a:xfrm>
            <a:off x="323850" y="3495675"/>
            <a:ext cx="8647113"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pt-PT" altLang="en-US" sz="2000"/>
              <a:t> Como obter este comportamento (nesta hierarquia) sem</a:t>
            </a:r>
          </a:p>
          <a:p>
            <a:pPr eaLnBrk="1" hangingPunct="1">
              <a:spcBef>
                <a:spcPct val="0"/>
              </a:spcBef>
              <a:buFontTx/>
              <a:buNone/>
            </a:pPr>
            <a:r>
              <a:rPr lang="pt-PT" altLang="en-US" sz="2000"/>
              <a:t>alterar a própria hierarquia i.e. sem adicionar por exemplos os métodos </a:t>
            </a:r>
          </a:p>
          <a:p>
            <a:pPr eaLnBrk="1" hangingPunct="1">
              <a:spcBef>
                <a:spcPct val="0"/>
              </a:spcBef>
              <a:buFontTx/>
              <a:buNone/>
            </a:pPr>
            <a:r>
              <a:rPr lang="pt-PT" altLang="en-US" sz="2000"/>
              <a:t>em questão à superclasse (Object)?</a:t>
            </a:r>
          </a:p>
          <a:p>
            <a:pPr eaLnBrk="1" hangingPunct="1">
              <a:spcBef>
                <a:spcPct val="0"/>
              </a:spcBef>
            </a:pPr>
            <a:endParaRPr lang="pt-PT" altLang="en-US" sz="2000"/>
          </a:p>
          <a:p>
            <a:pPr eaLnBrk="1" hangingPunct="1">
              <a:spcBef>
                <a:spcPct val="0"/>
              </a:spcBef>
            </a:pPr>
            <a:r>
              <a:rPr lang="pt-PT" altLang="en-US" sz="2000"/>
              <a:t> Seguir este caminho implicava que todas as classes respondiam a estes</a:t>
            </a:r>
          </a:p>
          <a:p>
            <a:pPr eaLnBrk="1" hangingPunct="1">
              <a:spcBef>
                <a:spcPct val="0"/>
              </a:spcBef>
              <a:buFontTx/>
              <a:buNone/>
            </a:pPr>
            <a:r>
              <a:rPr lang="pt-PT" altLang="en-US" sz="2000"/>
              <a:t>métodos e por conseguinte alterar código nas outras classes da hierarquia.</a:t>
            </a:r>
          </a:p>
          <a:p>
            <a:pPr eaLnBrk="1" hangingPunct="1">
              <a:spcBef>
                <a:spcPct val="0"/>
              </a:spcBef>
            </a:pPr>
            <a:endParaRPr lang="pt-PT" altLang="en-US" sz="2000"/>
          </a:p>
          <a:p>
            <a:pPr eaLnBrk="1" hangingPunct="1">
              <a:spcBef>
                <a:spcPct val="0"/>
              </a:spcBef>
            </a:pPr>
            <a:r>
              <a:rPr lang="pt-PT" altLang="en-US" sz="2000"/>
              <a:t> A solução associada à linguagem Java é através do uso de interfaces. </a:t>
            </a:r>
          </a:p>
          <a:p>
            <a:pPr eaLnBrk="1" hangingPunct="1">
              <a:spcBef>
                <a:spcPct val="0"/>
              </a:spcBef>
              <a:buFontTx/>
              <a:buNone/>
            </a:pPr>
            <a:r>
              <a:rPr lang="pt-PT" altLang="en-US" sz="2000"/>
              <a:t>Outras linguagens fazem uso de herança múltipla.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4">
            <a:extLst>
              <a:ext uri="{FF2B5EF4-FFF2-40B4-BE49-F238E27FC236}">
                <a16:creationId xmlns:a16="http://schemas.microsoft.com/office/drawing/2014/main" id="{90950337-95B0-4DEB-A236-75660310E00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7171" name="Slide Number Placeholder 5">
            <a:extLst>
              <a:ext uri="{FF2B5EF4-FFF2-40B4-BE49-F238E27FC236}">
                <a16:creationId xmlns:a16="http://schemas.microsoft.com/office/drawing/2014/main" id="{7184EB6E-A120-4609-8400-76C050F167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EDF2FBB-3C60-42DF-B6B7-AA6CFB3BF249}" type="slidenum">
              <a:rPr lang="pt-PT" altLang="en-US" sz="1400" smtClean="0"/>
              <a:pPr>
                <a:spcBef>
                  <a:spcPct val="0"/>
                </a:spcBef>
                <a:buFontTx/>
                <a:buNone/>
              </a:pPr>
              <a:t>5</a:t>
            </a:fld>
            <a:endParaRPr lang="pt-PT" altLang="en-US" sz="1400"/>
          </a:p>
        </p:txBody>
      </p:sp>
      <p:sp>
        <p:nvSpPr>
          <p:cNvPr id="7172" name="Rectangle 2">
            <a:extLst>
              <a:ext uri="{FF2B5EF4-FFF2-40B4-BE49-F238E27FC236}">
                <a16:creationId xmlns:a16="http://schemas.microsoft.com/office/drawing/2014/main" id="{BDE6F755-39C0-4966-8027-862C9FFE929A}"/>
              </a:ext>
            </a:extLst>
          </p:cNvPr>
          <p:cNvSpPr>
            <a:spLocks noGrp="1" noChangeArrowheads="1"/>
          </p:cNvSpPr>
          <p:nvPr>
            <p:ph type="title"/>
          </p:nvPr>
        </p:nvSpPr>
        <p:spPr>
          <a:xfrm>
            <a:off x="457200" y="115888"/>
            <a:ext cx="8229600" cy="1143000"/>
          </a:xfrm>
        </p:spPr>
        <p:txBody>
          <a:bodyPr/>
          <a:lstStyle/>
          <a:p>
            <a:pPr eaLnBrk="1" hangingPunct="1"/>
            <a:r>
              <a:rPr lang="pt-PT" altLang="en-US"/>
              <a:t>Interface (3)</a:t>
            </a:r>
          </a:p>
        </p:txBody>
      </p:sp>
      <p:sp>
        <p:nvSpPr>
          <p:cNvPr id="7173" name="Rectangle 3">
            <a:extLst>
              <a:ext uri="{FF2B5EF4-FFF2-40B4-BE49-F238E27FC236}">
                <a16:creationId xmlns:a16="http://schemas.microsoft.com/office/drawing/2014/main" id="{4E82E475-EE57-466C-A45D-FDF3BE3BDAD0}"/>
              </a:ext>
            </a:extLst>
          </p:cNvPr>
          <p:cNvSpPr>
            <a:spLocks noGrp="1" noChangeArrowheads="1"/>
          </p:cNvSpPr>
          <p:nvPr>
            <p:ph type="body" idx="1"/>
          </p:nvPr>
        </p:nvSpPr>
        <p:spPr>
          <a:xfrm>
            <a:off x="457200" y="1341438"/>
            <a:ext cx="8229600" cy="5068887"/>
          </a:xfrm>
        </p:spPr>
        <p:txBody>
          <a:bodyPr/>
          <a:lstStyle/>
          <a:p>
            <a:pPr eaLnBrk="1" hangingPunct="1">
              <a:lnSpc>
                <a:spcPct val="90000"/>
              </a:lnSpc>
            </a:pPr>
            <a:r>
              <a:rPr lang="pt-PT" altLang="en-US" sz="2000"/>
              <a:t>Interfaces são apenas um conjunto de especificações sintáticas (necessariamente abstratas) de métodos que representam um comportamento particular, que qualquer classe, em qualquer ponto da hierarquia, pode implementar.</a:t>
            </a:r>
          </a:p>
          <a:p>
            <a:pPr eaLnBrk="1" hangingPunct="1">
              <a:lnSpc>
                <a:spcPct val="90000"/>
              </a:lnSpc>
            </a:pPr>
            <a:r>
              <a:rPr lang="pt-PT" altLang="en-US" sz="2000"/>
              <a:t>As interfaces especificam um tipo de dados (conjunto de métodos abstratos a implementar), e qualquer classe que  os implemente passa a ser compatível com tal tipo de dados. Ser compatível com o tipo de dados (que é o nome da interface) significa que as instâncias dessa classe podem ser associadas a variáveis declaradas de tal tipo.</a:t>
            </a:r>
          </a:p>
          <a:p>
            <a:pPr eaLnBrk="1" hangingPunct="1">
              <a:lnSpc>
                <a:spcPct val="90000"/>
              </a:lnSpc>
            </a:pPr>
            <a:r>
              <a:rPr lang="pt-PT" altLang="en-US" sz="2000"/>
              <a:t>Em resumo, interfaces é a resposta a três problemas que se colocam numa hierarquia de classes:</a:t>
            </a:r>
          </a:p>
          <a:p>
            <a:pPr lvl="1" eaLnBrk="1" hangingPunct="1">
              <a:lnSpc>
                <a:spcPct val="90000"/>
              </a:lnSpc>
            </a:pPr>
            <a:r>
              <a:rPr lang="pt-PT" altLang="en-US" sz="1800"/>
              <a:t>Definição clara de novos tipos de dados;</a:t>
            </a:r>
          </a:p>
          <a:p>
            <a:pPr lvl="1" eaLnBrk="1" hangingPunct="1">
              <a:lnSpc>
                <a:spcPct val="90000"/>
              </a:lnSpc>
            </a:pPr>
            <a:r>
              <a:rPr lang="pt-PT" altLang="en-US" sz="1800"/>
              <a:t>Implementação de tais tipos de dados;</a:t>
            </a:r>
          </a:p>
          <a:p>
            <a:pPr lvl="1" eaLnBrk="1" hangingPunct="1">
              <a:lnSpc>
                <a:spcPct val="90000"/>
              </a:lnSpc>
            </a:pPr>
            <a:r>
              <a:rPr lang="pt-PT" altLang="en-US" sz="1800"/>
              <a:t>Possibilidade de garantir que classes não relacionáveis na hierarquia possam partilhar certas propriedades comportamentais, ou seja, que implementam certo comportamento especificado.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4">
            <a:extLst>
              <a:ext uri="{FF2B5EF4-FFF2-40B4-BE49-F238E27FC236}">
                <a16:creationId xmlns:a16="http://schemas.microsoft.com/office/drawing/2014/main" id="{0055F7EB-CB99-469D-8E3C-AA960D41C28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8195" name="Slide Number Placeholder 5">
            <a:extLst>
              <a:ext uri="{FF2B5EF4-FFF2-40B4-BE49-F238E27FC236}">
                <a16:creationId xmlns:a16="http://schemas.microsoft.com/office/drawing/2014/main" id="{B2BA0664-6240-41A5-82D7-6F8B472A55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6F6419F-93F9-4501-96E0-5AFF4CBB5FE9}" type="slidenum">
              <a:rPr lang="pt-PT" altLang="en-US" sz="1400" smtClean="0"/>
              <a:pPr>
                <a:spcBef>
                  <a:spcPct val="0"/>
                </a:spcBef>
                <a:buFontTx/>
                <a:buNone/>
              </a:pPr>
              <a:t>6</a:t>
            </a:fld>
            <a:endParaRPr lang="pt-PT" altLang="en-US" sz="1400"/>
          </a:p>
        </p:txBody>
      </p:sp>
      <p:sp>
        <p:nvSpPr>
          <p:cNvPr id="8196" name="Rectangle 2">
            <a:extLst>
              <a:ext uri="{FF2B5EF4-FFF2-40B4-BE49-F238E27FC236}">
                <a16:creationId xmlns:a16="http://schemas.microsoft.com/office/drawing/2014/main" id="{2CFBF6DB-8370-4FC8-ADB1-0081D66BA36D}"/>
              </a:ext>
            </a:extLst>
          </p:cNvPr>
          <p:cNvSpPr>
            <a:spLocks noGrp="1" noChangeArrowheads="1"/>
          </p:cNvSpPr>
          <p:nvPr>
            <p:ph type="title"/>
          </p:nvPr>
        </p:nvSpPr>
        <p:spPr/>
        <p:txBody>
          <a:bodyPr/>
          <a:lstStyle/>
          <a:p>
            <a:pPr eaLnBrk="1" hangingPunct="1"/>
            <a:r>
              <a:rPr lang="pt-PT" altLang="en-US"/>
              <a:t>Definição de uma Interface</a:t>
            </a:r>
          </a:p>
        </p:txBody>
      </p:sp>
      <p:sp>
        <p:nvSpPr>
          <p:cNvPr id="8197" name="Rectangle 3">
            <a:extLst>
              <a:ext uri="{FF2B5EF4-FFF2-40B4-BE49-F238E27FC236}">
                <a16:creationId xmlns:a16="http://schemas.microsoft.com/office/drawing/2014/main" id="{248DAD8F-7F45-4905-82BC-9984615EAF56}"/>
              </a:ext>
            </a:extLst>
          </p:cNvPr>
          <p:cNvSpPr>
            <a:spLocks noGrp="1" noChangeArrowheads="1"/>
          </p:cNvSpPr>
          <p:nvPr>
            <p:ph type="body" idx="1"/>
          </p:nvPr>
        </p:nvSpPr>
        <p:spPr>
          <a:xfrm>
            <a:off x="457200" y="1600200"/>
            <a:ext cx="8229600" cy="4997450"/>
          </a:xfrm>
        </p:spPr>
        <p:txBody>
          <a:bodyPr/>
          <a:lstStyle/>
          <a:p>
            <a:pPr eaLnBrk="1" hangingPunct="1">
              <a:lnSpc>
                <a:spcPct val="80000"/>
              </a:lnSpc>
            </a:pPr>
            <a:r>
              <a:rPr lang="pt-PT" altLang="en-US" sz="2000"/>
              <a:t>A declaração de uma interface Java é simples, pois apenas define um conjunto de assinaturas de métodos (</a:t>
            </a:r>
            <a:r>
              <a:rPr lang="pt-PT" altLang="en-US" sz="2000" u="sng"/>
              <a:t>implicitamente</a:t>
            </a:r>
            <a:r>
              <a:rPr lang="pt-PT" altLang="en-US" sz="2000"/>
              <a:t> abstractos) e opcionalmente um conjunto de constantes (</a:t>
            </a:r>
            <a:r>
              <a:rPr lang="pt-PT" altLang="en-US" sz="2000" u="sng"/>
              <a:t>implicitamente</a:t>
            </a:r>
            <a:r>
              <a:rPr lang="pt-PT" altLang="en-US" sz="2000"/>
              <a:t> </a:t>
            </a:r>
            <a:r>
              <a:rPr lang="pt-PT" altLang="en-US" sz="2000">
                <a:latin typeface="Times New Roman" panose="02020603050405020304" pitchFamily="18" charset="0"/>
              </a:rPr>
              <a:t>public static final</a:t>
            </a:r>
            <a:r>
              <a:rPr lang="pt-PT" altLang="en-US" sz="2000"/>
              <a:t>).</a:t>
            </a:r>
          </a:p>
          <a:p>
            <a:pPr eaLnBrk="1" hangingPunct="1">
              <a:lnSpc>
                <a:spcPct val="80000"/>
              </a:lnSpc>
            </a:pPr>
            <a:r>
              <a:rPr lang="pt-PT" altLang="en-US" sz="2000"/>
              <a:t>As interfaces JAVA são declarações puramente sintácticas ainda mais restritivas que as classes abstractas. Numa classe abstracta é possível introduzir métodos concretos. Numa interface, todos os métodos são abstractos por definição. Numa classe abstracta, é possível introduzir variáveis de instância que todas as subclasses herdam e podem redefinir. Numa interface, os únicos identificadores de valores são constantes e final.</a:t>
            </a:r>
          </a:p>
          <a:p>
            <a:pPr eaLnBrk="1" hangingPunct="1">
              <a:lnSpc>
                <a:spcPct val="80000"/>
              </a:lnSpc>
            </a:pPr>
            <a:r>
              <a:rPr lang="pt-PT" altLang="en-US" sz="2000"/>
              <a:t>Exemplo:</a:t>
            </a:r>
          </a:p>
          <a:p>
            <a:pPr eaLnBrk="1" hangingPunct="1">
              <a:lnSpc>
                <a:spcPct val="80000"/>
              </a:lnSpc>
              <a:buFontTx/>
              <a:buNone/>
            </a:pPr>
            <a:endParaRPr lang="pt-PT" altLang="en-US" sz="1200"/>
          </a:p>
          <a:p>
            <a:pPr lvl="4" eaLnBrk="1" hangingPunct="1">
              <a:lnSpc>
                <a:spcPct val="80000"/>
              </a:lnSpc>
              <a:buFontTx/>
              <a:buNone/>
            </a:pPr>
            <a:r>
              <a:rPr lang="pt-PT" altLang="en-US">
                <a:latin typeface="Times New Roman" panose="02020603050405020304" pitchFamily="18" charset="0"/>
              </a:rPr>
              <a:t>public interface AutoEjectavel </a:t>
            </a:r>
          </a:p>
          <a:p>
            <a:pPr lvl="4" eaLnBrk="1" hangingPunct="1">
              <a:lnSpc>
                <a:spcPct val="80000"/>
              </a:lnSpc>
              <a:buFontTx/>
              <a:buNone/>
            </a:pPr>
            <a:r>
              <a:rPr lang="pt-PT" altLang="en-US">
                <a:latin typeface="Times New Roman" panose="02020603050405020304" pitchFamily="18" charset="0"/>
              </a:rPr>
              <a:t>{</a:t>
            </a:r>
          </a:p>
          <a:p>
            <a:pPr lvl="4" eaLnBrk="1" hangingPunct="1">
              <a:lnSpc>
                <a:spcPct val="80000"/>
              </a:lnSpc>
              <a:buFontTx/>
              <a:buNone/>
            </a:pPr>
            <a:r>
              <a:rPr lang="pt-PT" altLang="en-US">
                <a:latin typeface="Times New Roman" panose="02020603050405020304" pitchFamily="18" charset="0"/>
              </a:rPr>
              <a:t>	int TEMPO_EJECT = 5;</a:t>
            </a:r>
          </a:p>
          <a:p>
            <a:pPr lvl="4" eaLnBrk="1" hangingPunct="1">
              <a:lnSpc>
                <a:spcPct val="80000"/>
              </a:lnSpc>
              <a:buFontTx/>
              <a:buNone/>
            </a:pPr>
            <a:r>
              <a:rPr lang="pt-PT" altLang="en-US">
                <a:latin typeface="Times New Roman" panose="02020603050405020304" pitchFamily="18" charset="0"/>
              </a:rPr>
              <a:t>	public void ejectar();</a:t>
            </a:r>
          </a:p>
          <a:p>
            <a:pPr lvl="4" eaLnBrk="1" hangingPunct="1">
              <a:lnSpc>
                <a:spcPct val="80000"/>
              </a:lnSpc>
              <a:buFontTx/>
              <a:buNone/>
            </a:pPr>
            <a:r>
              <a:rPr lang="pt-PT" altLang="en-US">
                <a:latin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4">
            <a:extLst>
              <a:ext uri="{FF2B5EF4-FFF2-40B4-BE49-F238E27FC236}">
                <a16:creationId xmlns:a16="http://schemas.microsoft.com/office/drawing/2014/main" id="{6E126D5F-3C6D-40AC-BC0B-5AB80E30B4B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9219" name="Slide Number Placeholder 5">
            <a:extLst>
              <a:ext uri="{FF2B5EF4-FFF2-40B4-BE49-F238E27FC236}">
                <a16:creationId xmlns:a16="http://schemas.microsoft.com/office/drawing/2014/main" id="{2AF7EEB2-DBBD-4831-A0EB-B0A132417F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ADA6E0D-C426-4DCC-8C53-7BCF8B21160E}" type="slidenum">
              <a:rPr lang="pt-PT" altLang="en-US" sz="1400" smtClean="0"/>
              <a:pPr>
                <a:spcBef>
                  <a:spcPct val="0"/>
                </a:spcBef>
                <a:buFontTx/>
                <a:buNone/>
              </a:pPr>
              <a:t>7</a:t>
            </a:fld>
            <a:endParaRPr lang="pt-PT" altLang="en-US" sz="1400"/>
          </a:p>
        </p:txBody>
      </p:sp>
      <p:sp>
        <p:nvSpPr>
          <p:cNvPr id="9220" name="Rectangle 2">
            <a:extLst>
              <a:ext uri="{FF2B5EF4-FFF2-40B4-BE49-F238E27FC236}">
                <a16:creationId xmlns:a16="http://schemas.microsoft.com/office/drawing/2014/main" id="{B68257E9-DB6B-403E-B9F6-7F78E02D7259}"/>
              </a:ext>
            </a:extLst>
          </p:cNvPr>
          <p:cNvSpPr>
            <a:spLocks noGrp="1" noChangeArrowheads="1"/>
          </p:cNvSpPr>
          <p:nvPr>
            <p:ph type="title"/>
          </p:nvPr>
        </p:nvSpPr>
        <p:spPr>
          <a:xfrm>
            <a:off x="457200" y="115888"/>
            <a:ext cx="8229600" cy="1143000"/>
          </a:xfrm>
        </p:spPr>
        <p:txBody>
          <a:bodyPr/>
          <a:lstStyle/>
          <a:p>
            <a:pPr eaLnBrk="1" hangingPunct="1"/>
            <a:r>
              <a:rPr lang="pt-PT" altLang="en-US" sz="3600"/>
              <a:t>Exemplos de Interfaces</a:t>
            </a:r>
          </a:p>
        </p:txBody>
      </p:sp>
      <p:sp>
        <p:nvSpPr>
          <p:cNvPr id="9221" name="Rectangle 3">
            <a:extLst>
              <a:ext uri="{FF2B5EF4-FFF2-40B4-BE49-F238E27FC236}">
                <a16:creationId xmlns:a16="http://schemas.microsoft.com/office/drawing/2014/main" id="{48B27706-68B3-4BEA-B2DE-7E2D19B2917F}"/>
              </a:ext>
            </a:extLst>
          </p:cNvPr>
          <p:cNvSpPr>
            <a:spLocks noGrp="1" noChangeArrowheads="1"/>
          </p:cNvSpPr>
          <p:nvPr>
            <p:ph type="body" idx="1"/>
          </p:nvPr>
        </p:nvSpPr>
        <p:spPr>
          <a:xfrm>
            <a:off x="179388" y="1196975"/>
            <a:ext cx="4392612" cy="5400675"/>
          </a:xfrm>
        </p:spPr>
        <p:txBody>
          <a:bodyPr/>
          <a:lstStyle/>
          <a:p>
            <a:pPr eaLnBrk="1" hangingPunct="1">
              <a:lnSpc>
                <a:spcPct val="90000"/>
              </a:lnSpc>
            </a:pPr>
            <a:r>
              <a:rPr lang="pt-PT" altLang="en-US" sz="2000"/>
              <a:t>Exemplos (definem tipos de dados)</a:t>
            </a:r>
            <a:r>
              <a:rPr lang="pt-PT" altLang="en-US" sz="2800"/>
              <a:t>:</a:t>
            </a:r>
          </a:p>
          <a:p>
            <a:pPr lvl="1" eaLnBrk="1" hangingPunct="1">
              <a:lnSpc>
                <a:spcPct val="90000"/>
              </a:lnSpc>
              <a:buFontTx/>
              <a:buNone/>
            </a:pPr>
            <a:r>
              <a:rPr lang="pt-PT" altLang="en-US" sz="1800">
                <a:latin typeface="Times New Roman" panose="02020603050405020304" pitchFamily="18" charset="0"/>
              </a:rPr>
              <a:t>public interface </a:t>
            </a:r>
            <a:r>
              <a:rPr lang="pt-PT" altLang="en-US" sz="1800" b="1">
                <a:latin typeface="Times New Roman" panose="02020603050405020304" pitchFamily="18" charset="0"/>
              </a:rPr>
              <a:t>Enumeravel</a:t>
            </a:r>
            <a:r>
              <a:rPr lang="pt-PT" altLang="en-US" sz="1800">
                <a:latin typeface="Times New Roman" panose="02020603050405020304" pitchFamily="18" charset="0"/>
              </a:rPr>
              <a:t> </a:t>
            </a:r>
          </a:p>
          <a:p>
            <a:pPr lvl="1" eaLnBrk="1" hangingPunct="1">
              <a:lnSpc>
                <a:spcPct val="90000"/>
              </a:lnSpc>
              <a:buFontTx/>
              <a:buNone/>
            </a:pPr>
            <a:r>
              <a:rPr lang="pt-PT" altLang="en-US" sz="1800">
                <a:latin typeface="Times New Roman" panose="02020603050405020304" pitchFamily="18" charset="0"/>
              </a:rPr>
              <a:t>{</a:t>
            </a:r>
          </a:p>
          <a:p>
            <a:pPr lvl="1" eaLnBrk="1" hangingPunct="1">
              <a:lnSpc>
                <a:spcPct val="90000"/>
              </a:lnSpc>
              <a:buFontTx/>
              <a:buNone/>
            </a:pPr>
            <a:r>
              <a:rPr lang="pt-PT" altLang="en-US" sz="1800">
                <a:latin typeface="Times New Roman" panose="02020603050405020304" pitchFamily="18" charset="0"/>
              </a:rPr>
              <a:t>	public abstract boolean vazia();</a:t>
            </a:r>
          </a:p>
          <a:p>
            <a:pPr lvl="1" eaLnBrk="1" hangingPunct="1">
              <a:lnSpc>
                <a:spcPct val="90000"/>
              </a:lnSpc>
              <a:buFontTx/>
              <a:buNone/>
            </a:pPr>
            <a:r>
              <a:rPr lang="pt-PT" altLang="en-US" sz="1800">
                <a:latin typeface="Times New Roman" panose="02020603050405020304" pitchFamily="18" charset="0"/>
              </a:rPr>
              <a:t>	public abstract Object seguinte();</a:t>
            </a:r>
          </a:p>
          <a:p>
            <a:pPr lvl="1" eaLnBrk="1" hangingPunct="1">
              <a:lnSpc>
                <a:spcPct val="90000"/>
              </a:lnSpc>
              <a:buFontTx/>
              <a:buNone/>
            </a:pPr>
            <a:r>
              <a:rPr lang="pt-PT" altLang="en-US" sz="1800">
                <a:latin typeface="Times New Roman" panose="02020603050405020304" pitchFamily="18" charset="0"/>
              </a:rPr>
              <a:t>}</a:t>
            </a:r>
          </a:p>
          <a:p>
            <a:pPr lvl="1" eaLnBrk="1" hangingPunct="1">
              <a:lnSpc>
                <a:spcPct val="90000"/>
              </a:lnSpc>
              <a:buFontTx/>
              <a:buNone/>
            </a:pPr>
            <a:r>
              <a:rPr lang="pt-PT" altLang="en-US" sz="1800">
                <a:latin typeface="Times New Roman" panose="02020603050405020304" pitchFamily="18" charset="0"/>
              </a:rPr>
              <a:t>public interface </a:t>
            </a:r>
            <a:r>
              <a:rPr lang="pt-PT" altLang="en-US" sz="1800" b="1">
                <a:latin typeface="Times New Roman" panose="02020603050405020304" pitchFamily="18" charset="0"/>
              </a:rPr>
              <a:t>Colorivel</a:t>
            </a:r>
            <a:r>
              <a:rPr lang="pt-PT" altLang="en-US" sz="1800">
                <a:latin typeface="Times New Roman" panose="02020603050405020304" pitchFamily="18" charset="0"/>
              </a:rPr>
              <a:t> </a:t>
            </a:r>
          </a:p>
          <a:p>
            <a:pPr lvl="1" eaLnBrk="1" hangingPunct="1">
              <a:lnSpc>
                <a:spcPct val="90000"/>
              </a:lnSpc>
              <a:buFontTx/>
              <a:buNone/>
            </a:pPr>
            <a:r>
              <a:rPr lang="pt-PT" altLang="en-US" sz="1800">
                <a:latin typeface="Times New Roman" panose="02020603050405020304" pitchFamily="18" charset="0"/>
              </a:rPr>
              <a:t>{</a:t>
            </a:r>
          </a:p>
          <a:p>
            <a:pPr lvl="1" eaLnBrk="1" hangingPunct="1">
              <a:lnSpc>
                <a:spcPct val="90000"/>
              </a:lnSpc>
              <a:buFontTx/>
              <a:buNone/>
            </a:pPr>
            <a:r>
              <a:rPr lang="pt-PT" altLang="en-US" sz="1800">
                <a:latin typeface="Times New Roman" panose="02020603050405020304" pitchFamily="18" charset="0"/>
              </a:rPr>
              <a:t>	public void defineCor(int cor);</a:t>
            </a:r>
          </a:p>
          <a:p>
            <a:pPr lvl="1" eaLnBrk="1" hangingPunct="1">
              <a:lnSpc>
                <a:spcPct val="90000"/>
              </a:lnSpc>
              <a:buFontTx/>
              <a:buNone/>
            </a:pPr>
            <a:r>
              <a:rPr lang="pt-PT" altLang="en-US" sz="1800">
                <a:latin typeface="Times New Roman" panose="02020603050405020304" pitchFamily="18" charset="0"/>
              </a:rPr>
              <a:t>}</a:t>
            </a:r>
          </a:p>
          <a:p>
            <a:pPr lvl="1" eaLnBrk="1" hangingPunct="1">
              <a:lnSpc>
                <a:spcPct val="90000"/>
              </a:lnSpc>
              <a:buFontTx/>
              <a:buNone/>
            </a:pPr>
            <a:r>
              <a:rPr lang="pt-PT" altLang="en-US" sz="1800">
                <a:latin typeface="Times New Roman" panose="02020603050405020304" pitchFamily="18" charset="0"/>
              </a:rPr>
              <a:t>public interface </a:t>
            </a:r>
            <a:r>
              <a:rPr lang="pt-PT" altLang="en-US" sz="1800" b="1">
                <a:latin typeface="Times New Roman" panose="02020603050405020304" pitchFamily="18" charset="0"/>
              </a:rPr>
              <a:t>Ordem</a:t>
            </a:r>
            <a:r>
              <a:rPr lang="pt-PT" altLang="en-US" sz="1800">
                <a:latin typeface="Times New Roman" panose="02020603050405020304" pitchFamily="18" charset="0"/>
              </a:rPr>
              <a:t> </a:t>
            </a:r>
          </a:p>
          <a:p>
            <a:pPr lvl="1" eaLnBrk="1" hangingPunct="1">
              <a:lnSpc>
                <a:spcPct val="90000"/>
              </a:lnSpc>
              <a:buFontTx/>
              <a:buNone/>
            </a:pPr>
            <a:r>
              <a:rPr lang="pt-PT" altLang="en-US" sz="1800">
                <a:latin typeface="Times New Roman" panose="02020603050405020304" pitchFamily="18" charset="0"/>
              </a:rPr>
              <a:t>{</a:t>
            </a:r>
          </a:p>
          <a:p>
            <a:pPr lvl="1" eaLnBrk="1" hangingPunct="1">
              <a:lnSpc>
                <a:spcPct val="90000"/>
              </a:lnSpc>
              <a:buFontTx/>
              <a:buNone/>
            </a:pPr>
            <a:r>
              <a:rPr lang="pt-PT" altLang="en-US" sz="1800">
                <a:latin typeface="Times New Roman" panose="02020603050405020304" pitchFamily="18" charset="0"/>
              </a:rPr>
              <a:t>	public boolean igual(Ordem elem);</a:t>
            </a:r>
          </a:p>
          <a:p>
            <a:pPr lvl="1" eaLnBrk="1" hangingPunct="1">
              <a:lnSpc>
                <a:spcPct val="90000"/>
              </a:lnSpc>
              <a:buFontTx/>
              <a:buNone/>
            </a:pPr>
            <a:r>
              <a:rPr lang="pt-PT" altLang="en-US" sz="1800"/>
              <a:t>	</a:t>
            </a:r>
            <a:r>
              <a:rPr lang="pt-PT" altLang="en-US" sz="1800">
                <a:latin typeface="Times New Roman" panose="02020603050405020304" pitchFamily="18" charset="0"/>
              </a:rPr>
              <a:t>public boolean maior(Ordem elem);</a:t>
            </a:r>
          </a:p>
          <a:p>
            <a:pPr lvl="1" eaLnBrk="1" hangingPunct="1">
              <a:lnSpc>
                <a:spcPct val="90000"/>
              </a:lnSpc>
              <a:buFontTx/>
              <a:buNone/>
            </a:pPr>
            <a:r>
              <a:rPr lang="pt-PT" altLang="en-US" sz="1800">
                <a:latin typeface="Times New Roman" panose="02020603050405020304" pitchFamily="18" charset="0"/>
              </a:rPr>
              <a:t>	public boolean menor(Ordem elem);</a:t>
            </a:r>
          </a:p>
          <a:p>
            <a:pPr lvl="1" eaLnBrk="1" hangingPunct="1">
              <a:lnSpc>
                <a:spcPct val="90000"/>
              </a:lnSpc>
              <a:buFontTx/>
              <a:buNone/>
            </a:pPr>
            <a:r>
              <a:rPr lang="pt-PT" altLang="en-US" sz="1800">
                <a:latin typeface="Times New Roman" panose="02020603050405020304" pitchFamily="18" charset="0"/>
              </a:rPr>
              <a:t>}</a:t>
            </a:r>
          </a:p>
        </p:txBody>
      </p:sp>
      <p:sp>
        <p:nvSpPr>
          <p:cNvPr id="9222" name="Text Box 4">
            <a:extLst>
              <a:ext uri="{FF2B5EF4-FFF2-40B4-BE49-F238E27FC236}">
                <a16:creationId xmlns:a16="http://schemas.microsoft.com/office/drawing/2014/main" id="{39841836-7815-4F00-87A2-8AC448DC81FF}"/>
              </a:ext>
            </a:extLst>
          </p:cNvPr>
          <p:cNvSpPr txBox="1">
            <a:spLocks noChangeArrowheads="1"/>
          </p:cNvSpPr>
          <p:nvPr/>
        </p:nvSpPr>
        <p:spPr bwMode="auto">
          <a:xfrm>
            <a:off x="4667250" y="1312863"/>
            <a:ext cx="4527550" cy="476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a:t>Variáveis de tipos referenciados podem ter</a:t>
            </a:r>
          </a:p>
          <a:p>
            <a:pPr eaLnBrk="1" hangingPunct="1">
              <a:spcBef>
                <a:spcPct val="0"/>
              </a:spcBef>
              <a:buFontTx/>
              <a:buNone/>
            </a:pPr>
            <a:r>
              <a:rPr lang="pt-PT" altLang="en-US" sz="1800"/>
              <a:t>tipos associados a Classes ou Interfaces</a:t>
            </a:r>
          </a:p>
          <a:p>
            <a:pPr eaLnBrk="1" hangingPunct="1">
              <a:spcBef>
                <a:spcPct val="0"/>
              </a:spcBef>
              <a:buFontTx/>
              <a:buNone/>
            </a:pPr>
            <a:endParaRPr lang="pt-PT" altLang="en-US" sz="1800"/>
          </a:p>
          <a:p>
            <a:pPr eaLnBrk="1" hangingPunct="1">
              <a:spcBef>
                <a:spcPct val="0"/>
              </a:spcBef>
              <a:buFontTx/>
              <a:buNone/>
            </a:pPr>
            <a:r>
              <a:rPr lang="pt-PT" altLang="en-US" sz="1800"/>
              <a:t>Dizer que uma classe B é subclasse de A</a:t>
            </a:r>
          </a:p>
          <a:p>
            <a:pPr eaLnBrk="1" hangingPunct="1">
              <a:spcBef>
                <a:spcPct val="0"/>
              </a:spcBef>
              <a:buFontTx/>
              <a:buNone/>
            </a:pPr>
            <a:r>
              <a:rPr lang="pt-PT" altLang="en-US" sz="1800"/>
              <a:t>e implementa I, escrevemos:</a:t>
            </a:r>
          </a:p>
          <a:p>
            <a:pPr eaLnBrk="1" hangingPunct="1">
              <a:spcBef>
                <a:spcPct val="0"/>
              </a:spcBef>
              <a:buFontTx/>
              <a:buNone/>
            </a:pPr>
            <a:endParaRPr lang="pt-PT" altLang="en-US" sz="1800"/>
          </a:p>
          <a:p>
            <a:pPr eaLnBrk="1" hangingPunct="1">
              <a:spcBef>
                <a:spcPct val="0"/>
              </a:spcBef>
              <a:buFontTx/>
              <a:buNone/>
            </a:pPr>
            <a:r>
              <a:rPr lang="pt-PT" altLang="en-US" sz="1800">
                <a:latin typeface="Times New Roman" panose="02020603050405020304" pitchFamily="18" charset="0"/>
              </a:rPr>
              <a:t>classe B extends A implements I</a:t>
            </a:r>
          </a:p>
          <a:p>
            <a:pPr eaLnBrk="1" hangingPunct="1">
              <a:spcBef>
                <a:spcPct val="0"/>
              </a:spcBef>
              <a:buFontTx/>
              <a:buNone/>
            </a:pPr>
            <a:r>
              <a:rPr lang="pt-PT" altLang="en-US" sz="1800">
                <a:latin typeface="Times New Roman" panose="02020603050405020304" pitchFamily="18" charset="0"/>
              </a:rPr>
              <a:t>{ …  }</a:t>
            </a:r>
          </a:p>
          <a:p>
            <a:pPr eaLnBrk="1" hangingPunct="1">
              <a:spcBef>
                <a:spcPct val="0"/>
              </a:spcBef>
              <a:buFontTx/>
              <a:buNone/>
            </a:pPr>
            <a:endParaRPr lang="pt-PT" altLang="en-US" sz="1800">
              <a:latin typeface="Times New Roman" panose="02020603050405020304" pitchFamily="18" charset="0"/>
            </a:endParaRPr>
          </a:p>
          <a:p>
            <a:pPr eaLnBrk="1" hangingPunct="1">
              <a:spcBef>
                <a:spcPct val="0"/>
              </a:spcBef>
              <a:buFontTx/>
              <a:buNone/>
            </a:pPr>
            <a:r>
              <a:rPr lang="pt-PT" altLang="en-US" sz="1800"/>
              <a:t>Qualquer instância de </a:t>
            </a:r>
            <a:r>
              <a:rPr lang="pt-PT" altLang="en-US" sz="1800" b="1"/>
              <a:t>B</a:t>
            </a:r>
            <a:r>
              <a:rPr lang="pt-PT" altLang="en-US" sz="1800"/>
              <a:t> é do tipo </a:t>
            </a:r>
            <a:r>
              <a:rPr lang="pt-PT" altLang="en-US" sz="1800" b="1"/>
              <a:t>B</a:t>
            </a:r>
            <a:r>
              <a:rPr lang="pt-PT" altLang="en-US" sz="1800"/>
              <a:t> </a:t>
            </a:r>
          </a:p>
          <a:p>
            <a:pPr eaLnBrk="1" hangingPunct="1">
              <a:spcBef>
                <a:spcPct val="0"/>
              </a:spcBef>
              <a:buFontTx/>
              <a:buNone/>
            </a:pPr>
            <a:r>
              <a:rPr lang="pt-PT" altLang="en-US" sz="1800"/>
              <a:t>(subtipo de </a:t>
            </a:r>
            <a:r>
              <a:rPr lang="pt-PT" altLang="en-US" sz="1800" b="1"/>
              <a:t>A</a:t>
            </a:r>
            <a:r>
              <a:rPr lang="pt-PT" altLang="en-US" sz="1800"/>
              <a:t>) e também do tipo </a:t>
            </a:r>
            <a:r>
              <a:rPr lang="pt-PT" altLang="en-US" sz="1800" b="1"/>
              <a:t>I</a:t>
            </a:r>
            <a:r>
              <a:rPr lang="pt-PT" altLang="en-US" sz="1800"/>
              <a:t>.</a:t>
            </a:r>
          </a:p>
          <a:p>
            <a:pPr eaLnBrk="1" hangingPunct="1">
              <a:spcBef>
                <a:spcPct val="0"/>
              </a:spcBef>
              <a:buFontTx/>
              <a:buNone/>
            </a:pPr>
            <a:endParaRPr lang="pt-PT" altLang="en-US" sz="1800"/>
          </a:p>
          <a:p>
            <a:pPr eaLnBrk="1" hangingPunct="1">
              <a:spcBef>
                <a:spcPct val="0"/>
              </a:spcBef>
              <a:buFontTx/>
              <a:buNone/>
            </a:pPr>
            <a:r>
              <a:rPr lang="pt-PT" altLang="en-US" sz="1800"/>
              <a:t>Notar que se tivermos a declaração</a:t>
            </a:r>
          </a:p>
          <a:p>
            <a:pPr eaLnBrk="1" hangingPunct="1">
              <a:spcBef>
                <a:spcPct val="0"/>
              </a:spcBef>
              <a:buFontTx/>
              <a:buNone/>
            </a:pPr>
            <a:r>
              <a:rPr lang="pt-PT" altLang="en-US" sz="1800">
                <a:latin typeface="Times New Roman" panose="02020603050405020304" pitchFamily="18" charset="0"/>
              </a:rPr>
              <a:t>	I uma_var_i;</a:t>
            </a:r>
          </a:p>
          <a:p>
            <a:pPr eaLnBrk="1" hangingPunct="1">
              <a:spcBef>
                <a:spcPct val="0"/>
              </a:spcBef>
              <a:buFontTx/>
              <a:buNone/>
            </a:pPr>
            <a:r>
              <a:rPr lang="pt-PT" altLang="en-US" sz="1800"/>
              <a:t>Então a expressão</a:t>
            </a:r>
          </a:p>
          <a:p>
            <a:pPr eaLnBrk="1" hangingPunct="1">
              <a:spcBef>
                <a:spcPct val="0"/>
              </a:spcBef>
              <a:buFontTx/>
              <a:buNone/>
            </a:pPr>
            <a:r>
              <a:rPr lang="pt-PT" altLang="en-US" sz="1800">
                <a:latin typeface="Times New Roman" panose="02020603050405020304" pitchFamily="18" charset="0"/>
              </a:rPr>
              <a:t>	(uma_var_i  instanceof  I)</a:t>
            </a:r>
          </a:p>
          <a:p>
            <a:pPr eaLnBrk="1" hangingPunct="1">
              <a:spcBef>
                <a:spcPct val="0"/>
              </a:spcBef>
              <a:buFontTx/>
              <a:buNone/>
            </a:pPr>
            <a:r>
              <a:rPr lang="pt-PT" altLang="en-US" sz="1800"/>
              <a:t>Retorna </a:t>
            </a:r>
            <a:r>
              <a:rPr lang="pt-PT" altLang="en-US" sz="1800">
                <a:latin typeface="Times New Roman" panose="02020603050405020304" pitchFamily="18" charset="0"/>
              </a:rPr>
              <a:t>true</a:t>
            </a:r>
            <a:r>
              <a:rPr lang="pt-PT" altLang="en-US" sz="180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4">
            <a:extLst>
              <a:ext uri="{FF2B5EF4-FFF2-40B4-BE49-F238E27FC236}">
                <a16:creationId xmlns:a16="http://schemas.microsoft.com/office/drawing/2014/main" id="{6ED534D4-681D-49F8-85FC-A6240B0C6BD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0243" name="Slide Number Placeholder 5">
            <a:extLst>
              <a:ext uri="{FF2B5EF4-FFF2-40B4-BE49-F238E27FC236}">
                <a16:creationId xmlns:a16="http://schemas.microsoft.com/office/drawing/2014/main" id="{491516AC-C87F-4357-A6E9-8B39D0F490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51B1BD7-350A-44A8-ABA2-A697E17C59A4}" type="slidenum">
              <a:rPr lang="pt-PT" altLang="en-US" sz="1400" smtClean="0"/>
              <a:pPr>
                <a:spcBef>
                  <a:spcPct val="0"/>
                </a:spcBef>
                <a:buFontTx/>
                <a:buNone/>
              </a:pPr>
              <a:t>8</a:t>
            </a:fld>
            <a:endParaRPr lang="pt-PT" altLang="en-US" sz="1400"/>
          </a:p>
        </p:txBody>
      </p:sp>
      <p:sp>
        <p:nvSpPr>
          <p:cNvPr id="10244" name="Rectangle 2">
            <a:extLst>
              <a:ext uri="{FF2B5EF4-FFF2-40B4-BE49-F238E27FC236}">
                <a16:creationId xmlns:a16="http://schemas.microsoft.com/office/drawing/2014/main" id="{63D020A5-283E-424F-A495-0A8762979148}"/>
              </a:ext>
            </a:extLst>
          </p:cNvPr>
          <p:cNvSpPr>
            <a:spLocks noGrp="1" noChangeArrowheads="1"/>
          </p:cNvSpPr>
          <p:nvPr>
            <p:ph type="title"/>
          </p:nvPr>
        </p:nvSpPr>
        <p:spPr>
          <a:xfrm>
            <a:off x="457200" y="115888"/>
            <a:ext cx="8229600" cy="855662"/>
          </a:xfrm>
        </p:spPr>
        <p:txBody>
          <a:bodyPr/>
          <a:lstStyle/>
          <a:p>
            <a:pPr eaLnBrk="1" hangingPunct="1"/>
            <a:r>
              <a:rPr lang="pt-PT" altLang="en-US"/>
              <a:t>Hierarquias de Interfaces</a:t>
            </a:r>
          </a:p>
        </p:txBody>
      </p:sp>
      <p:sp>
        <p:nvSpPr>
          <p:cNvPr id="10245" name="Rectangle 3">
            <a:extLst>
              <a:ext uri="{FF2B5EF4-FFF2-40B4-BE49-F238E27FC236}">
                <a16:creationId xmlns:a16="http://schemas.microsoft.com/office/drawing/2014/main" id="{0F3789A2-AA60-40AC-B3E1-15CEE9FAC254}"/>
              </a:ext>
            </a:extLst>
          </p:cNvPr>
          <p:cNvSpPr>
            <a:spLocks noGrp="1" noChangeArrowheads="1"/>
          </p:cNvSpPr>
          <p:nvPr>
            <p:ph type="body" idx="1"/>
          </p:nvPr>
        </p:nvSpPr>
        <p:spPr>
          <a:xfrm>
            <a:off x="457200" y="836613"/>
            <a:ext cx="8229600" cy="2765425"/>
          </a:xfrm>
        </p:spPr>
        <p:txBody>
          <a:bodyPr/>
          <a:lstStyle/>
          <a:p>
            <a:pPr eaLnBrk="1" hangingPunct="1"/>
            <a:r>
              <a:rPr lang="pt-PT" altLang="en-US" sz="2000"/>
              <a:t>Em Java temos uma hierarquia de interfaces paralela à hierarquia de classes.</a:t>
            </a:r>
          </a:p>
          <a:p>
            <a:pPr eaLnBrk="1" hangingPunct="1"/>
            <a:r>
              <a:rPr lang="pt-PT" altLang="en-US" sz="2000"/>
              <a:t>Nas interfaces há herança múltipla</a:t>
            </a:r>
          </a:p>
          <a:p>
            <a:pPr eaLnBrk="1" hangingPunct="1"/>
            <a:r>
              <a:rPr lang="pt-PT" altLang="en-US" sz="2000"/>
              <a:t>Podemos ter interface vazias chamadas </a:t>
            </a:r>
            <a:r>
              <a:rPr lang="pt-PT" altLang="en-US" sz="2000" i="1"/>
              <a:t>marker interfaces</a:t>
            </a:r>
            <a:r>
              <a:rPr lang="pt-PT" altLang="en-US" sz="2000"/>
              <a:t> (por essa mesma razão). As </a:t>
            </a:r>
            <a:r>
              <a:rPr lang="pt-PT" altLang="en-US" sz="2000" i="1"/>
              <a:t>marker interfaces</a:t>
            </a:r>
            <a:r>
              <a:rPr lang="pt-PT" altLang="en-US" sz="2000"/>
              <a:t> são como etiquetas, sendo úteis para determinar se os objectos têm certas propriedades usando </a:t>
            </a:r>
            <a:r>
              <a:rPr lang="pt-PT" altLang="en-US" sz="2000">
                <a:latin typeface="Times New Roman" panose="02020603050405020304" pitchFamily="18" charset="0"/>
              </a:rPr>
              <a:t>instanceof</a:t>
            </a:r>
            <a:r>
              <a:rPr lang="pt-PT" altLang="en-US" sz="2000"/>
              <a:t>.</a:t>
            </a:r>
          </a:p>
        </p:txBody>
      </p:sp>
      <p:pic>
        <p:nvPicPr>
          <p:cNvPr id="10246" name="Picture 4">
            <a:extLst>
              <a:ext uri="{FF2B5EF4-FFF2-40B4-BE49-F238E27FC236}">
                <a16:creationId xmlns:a16="http://schemas.microsoft.com/office/drawing/2014/main" id="{4F5C37A1-D8FA-49E9-8061-C2408A89E8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238" y="2852738"/>
            <a:ext cx="4938712" cy="376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4">
            <a:extLst>
              <a:ext uri="{FF2B5EF4-FFF2-40B4-BE49-F238E27FC236}">
                <a16:creationId xmlns:a16="http://schemas.microsoft.com/office/drawing/2014/main" id="{9BF73F97-A0B7-46D3-909B-C6D90EA056D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1267" name="Slide Number Placeholder 5">
            <a:extLst>
              <a:ext uri="{FF2B5EF4-FFF2-40B4-BE49-F238E27FC236}">
                <a16:creationId xmlns:a16="http://schemas.microsoft.com/office/drawing/2014/main" id="{AC2BD774-BF43-4611-A939-14387458C4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5CC95E2-2CF1-4162-8562-FBD7CF2693CC}" type="slidenum">
              <a:rPr lang="pt-PT" altLang="en-US" sz="1400" smtClean="0"/>
              <a:pPr>
                <a:spcBef>
                  <a:spcPct val="0"/>
                </a:spcBef>
                <a:buFontTx/>
                <a:buNone/>
              </a:pPr>
              <a:t>9</a:t>
            </a:fld>
            <a:endParaRPr lang="pt-PT" altLang="en-US" sz="1400"/>
          </a:p>
        </p:txBody>
      </p:sp>
      <p:sp>
        <p:nvSpPr>
          <p:cNvPr id="11268" name="Rectangle 2">
            <a:extLst>
              <a:ext uri="{FF2B5EF4-FFF2-40B4-BE49-F238E27FC236}">
                <a16:creationId xmlns:a16="http://schemas.microsoft.com/office/drawing/2014/main" id="{0D279966-C6DF-449D-8742-3A578057F8ED}"/>
              </a:ext>
            </a:extLst>
          </p:cNvPr>
          <p:cNvSpPr>
            <a:spLocks noGrp="1" noChangeArrowheads="1"/>
          </p:cNvSpPr>
          <p:nvPr>
            <p:ph type="title"/>
          </p:nvPr>
        </p:nvSpPr>
        <p:spPr/>
        <p:txBody>
          <a:bodyPr/>
          <a:lstStyle/>
          <a:p>
            <a:pPr eaLnBrk="1" hangingPunct="1"/>
            <a:r>
              <a:rPr lang="pt-PT" altLang="en-US"/>
              <a:t>Implementação de Interfaces</a:t>
            </a:r>
          </a:p>
        </p:txBody>
      </p:sp>
      <p:sp>
        <p:nvSpPr>
          <p:cNvPr id="11269" name="Rectangle 3">
            <a:extLst>
              <a:ext uri="{FF2B5EF4-FFF2-40B4-BE49-F238E27FC236}">
                <a16:creationId xmlns:a16="http://schemas.microsoft.com/office/drawing/2014/main" id="{CE6E8CA1-41A2-4884-88E8-40CE008C7515}"/>
              </a:ext>
            </a:extLst>
          </p:cNvPr>
          <p:cNvSpPr>
            <a:spLocks noGrp="1" noChangeArrowheads="1"/>
          </p:cNvSpPr>
          <p:nvPr>
            <p:ph type="body" idx="1"/>
          </p:nvPr>
        </p:nvSpPr>
        <p:spPr>
          <a:xfrm>
            <a:off x="457200" y="1600200"/>
            <a:ext cx="8229600" cy="1757363"/>
          </a:xfrm>
        </p:spPr>
        <p:txBody>
          <a:bodyPr/>
          <a:lstStyle/>
          <a:p>
            <a:pPr eaLnBrk="1" hangingPunct="1"/>
            <a:r>
              <a:rPr lang="pt-PT" altLang="en-US" sz="2000"/>
              <a:t>A declaração de implementação de uma interface prescreve uma obrigatoriedade de implementação de todos os métodos abstractos por parte das classes que declararem serem suas implementações, ou seja, que usem a declaração </a:t>
            </a:r>
            <a:r>
              <a:rPr lang="pt-PT" altLang="en-US" sz="2000">
                <a:latin typeface="Times New Roman" panose="02020603050405020304" pitchFamily="18" charset="0"/>
              </a:rPr>
              <a:t>implements</a:t>
            </a:r>
            <a:r>
              <a:rPr lang="pt-PT" altLang="en-US" sz="2000"/>
              <a:t>.</a:t>
            </a:r>
          </a:p>
          <a:p>
            <a:pPr eaLnBrk="1" hangingPunct="1"/>
            <a:r>
              <a:rPr lang="pt-PT" altLang="en-US" sz="2000"/>
              <a:t>Exemplo:</a:t>
            </a:r>
            <a:endParaRPr lang="pt-PT" altLang="en-US" sz="2800">
              <a:latin typeface="Times New Roman" panose="02020603050405020304" pitchFamily="18" charset="0"/>
            </a:endParaRPr>
          </a:p>
        </p:txBody>
      </p:sp>
      <p:sp>
        <p:nvSpPr>
          <p:cNvPr id="11270" name="Text Box 5">
            <a:extLst>
              <a:ext uri="{FF2B5EF4-FFF2-40B4-BE49-F238E27FC236}">
                <a16:creationId xmlns:a16="http://schemas.microsoft.com/office/drawing/2014/main" id="{3089353B-2EFF-4F94-B1A6-70DFA3E6BF21}"/>
              </a:ext>
            </a:extLst>
          </p:cNvPr>
          <p:cNvSpPr txBox="1">
            <a:spLocks noChangeArrowheads="1"/>
          </p:cNvSpPr>
          <p:nvPr/>
        </p:nvSpPr>
        <p:spPr bwMode="auto">
          <a:xfrm>
            <a:off x="5435600" y="3289300"/>
            <a:ext cx="3479800" cy="311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a:latin typeface="Times New Roman" panose="02020603050405020304" pitchFamily="18" charset="0"/>
              </a:rPr>
              <a:t>public class Hi8 extends ItemMulti</a:t>
            </a:r>
          </a:p>
          <a:p>
            <a:pPr eaLnBrk="1" hangingPunct="1">
              <a:spcBef>
                <a:spcPct val="0"/>
              </a:spcBef>
              <a:buFontTx/>
              <a:buNone/>
            </a:pPr>
            <a:r>
              <a:rPr lang="pt-PT" altLang="en-US" sz="1800">
                <a:latin typeface="Times New Roman" panose="02020603050405020304" pitchFamily="18" charset="0"/>
              </a:rPr>
              <a:t>       implements Apagavel </a:t>
            </a:r>
          </a:p>
          <a:p>
            <a:pPr eaLnBrk="1" hangingPunct="1">
              <a:spcBef>
                <a:spcPct val="0"/>
              </a:spcBef>
              <a:buFontTx/>
              <a:buNone/>
            </a:pPr>
            <a:r>
              <a:rPr lang="pt-PT" altLang="en-US" sz="1800">
                <a:latin typeface="Times New Roman" panose="02020603050405020304" pitchFamily="18" charset="0"/>
              </a:rPr>
              <a:t>{ //</a:t>
            </a:r>
          </a:p>
          <a:p>
            <a:pPr eaLnBrk="1" hangingPunct="1">
              <a:spcBef>
                <a:spcPct val="0"/>
              </a:spcBef>
              <a:buFontTx/>
              <a:buNone/>
            </a:pPr>
            <a:r>
              <a:rPr lang="pt-PT" altLang="en-US" sz="1800">
                <a:latin typeface="Times New Roman" panose="02020603050405020304" pitchFamily="18" charset="0"/>
              </a:rPr>
              <a:t>  private int minutos;</a:t>
            </a:r>
          </a:p>
          <a:p>
            <a:pPr eaLnBrk="1" hangingPunct="1">
              <a:spcBef>
                <a:spcPct val="0"/>
              </a:spcBef>
              <a:buFontTx/>
              <a:buNone/>
            </a:pPr>
            <a:r>
              <a:rPr lang="pt-PT" altLang="en-US" sz="1800">
                <a:latin typeface="Times New Roman" panose="02020603050405020304" pitchFamily="18" charset="0"/>
              </a:rPr>
              <a:t>  private double ocupacao;</a:t>
            </a:r>
          </a:p>
          <a:p>
            <a:pPr eaLnBrk="1" hangingPunct="1">
              <a:spcBef>
                <a:spcPct val="0"/>
              </a:spcBef>
              <a:buFontTx/>
              <a:buNone/>
            </a:pPr>
            <a:r>
              <a:rPr lang="pt-PT" altLang="en-US" sz="1800">
                <a:latin typeface="Times New Roman" panose="02020603050405020304" pitchFamily="18" charset="0"/>
              </a:rPr>
              <a:t>  private int gravacoes;</a:t>
            </a:r>
          </a:p>
          <a:p>
            <a:pPr eaLnBrk="1" hangingPunct="1">
              <a:spcBef>
                <a:spcPct val="0"/>
              </a:spcBef>
              <a:buFontTx/>
              <a:buNone/>
            </a:pPr>
            <a:r>
              <a:rPr lang="pt-PT" altLang="en-US" sz="1800">
                <a:latin typeface="Times New Roman" panose="02020603050405020304" pitchFamily="18" charset="0"/>
              </a:rPr>
              <a:t>  . . . .</a:t>
            </a:r>
          </a:p>
          <a:p>
            <a:pPr eaLnBrk="1" hangingPunct="1">
              <a:spcBef>
                <a:spcPct val="0"/>
              </a:spcBef>
              <a:buFontTx/>
              <a:buNone/>
            </a:pPr>
            <a:r>
              <a:rPr lang="pt-PT" altLang="en-US" sz="1800">
                <a:latin typeface="Times New Roman" panose="02020603050405020304" pitchFamily="18" charset="0"/>
              </a:rPr>
              <a:t>  // implementação de Apagavel</a:t>
            </a:r>
          </a:p>
          <a:p>
            <a:pPr eaLnBrk="1" hangingPunct="1">
              <a:spcBef>
                <a:spcPct val="0"/>
              </a:spcBef>
              <a:buFontTx/>
              <a:buNone/>
            </a:pPr>
            <a:r>
              <a:rPr lang="pt-PT" altLang="en-US" sz="1800">
                <a:latin typeface="Times New Roman" panose="02020603050405020304" pitchFamily="18" charset="0"/>
              </a:rPr>
              <a:t>  public void apaga() </a:t>
            </a:r>
          </a:p>
          <a:p>
            <a:pPr eaLnBrk="1" hangingPunct="1">
              <a:spcBef>
                <a:spcPct val="0"/>
              </a:spcBef>
              <a:buFontTx/>
              <a:buNone/>
            </a:pPr>
            <a:r>
              <a:rPr lang="pt-PT" altLang="en-US" sz="1800">
                <a:latin typeface="Times New Roman" panose="02020603050405020304" pitchFamily="18" charset="0"/>
              </a:rPr>
              <a:t>  { ocupacao = 0.0; gravacoes = 0; }</a:t>
            </a:r>
          </a:p>
          <a:p>
            <a:pPr eaLnBrk="1" hangingPunct="1">
              <a:spcBef>
                <a:spcPct val="0"/>
              </a:spcBef>
              <a:buFontTx/>
              <a:buNone/>
            </a:pPr>
            <a:r>
              <a:rPr lang="pt-PT" altLang="en-US" sz="1800">
                <a:latin typeface="Times New Roman" panose="02020603050405020304" pitchFamily="18" charset="0"/>
              </a:rPr>
              <a:t>}</a:t>
            </a:r>
          </a:p>
        </p:txBody>
      </p:sp>
      <p:sp>
        <p:nvSpPr>
          <p:cNvPr id="11271" name="Text Box 6">
            <a:extLst>
              <a:ext uri="{FF2B5EF4-FFF2-40B4-BE49-F238E27FC236}">
                <a16:creationId xmlns:a16="http://schemas.microsoft.com/office/drawing/2014/main" id="{DCFBE8A6-3338-4A4A-9B1A-F831E6464BAF}"/>
              </a:ext>
            </a:extLst>
          </p:cNvPr>
          <p:cNvSpPr txBox="1">
            <a:spLocks noChangeArrowheads="1"/>
          </p:cNvSpPr>
          <p:nvPr/>
        </p:nvSpPr>
        <p:spPr bwMode="auto">
          <a:xfrm>
            <a:off x="900113" y="3284538"/>
            <a:ext cx="44640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a:latin typeface="Times New Roman" panose="02020603050405020304" pitchFamily="18" charset="0"/>
              </a:rPr>
              <a:t>public interface Apagavel </a:t>
            </a:r>
          </a:p>
          <a:p>
            <a:pPr eaLnBrk="1" hangingPunct="1">
              <a:spcBef>
                <a:spcPct val="0"/>
              </a:spcBef>
              <a:buFontTx/>
              <a:buNone/>
            </a:pPr>
            <a:r>
              <a:rPr lang="pt-PT" altLang="en-US" sz="1800">
                <a:latin typeface="Times New Roman" panose="02020603050405020304" pitchFamily="18" charset="0"/>
              </a:rPr>
              <a:t>{ public void apaga(); }</a:t>
            </a:r>
          </a:p>
          <a:p>
            <a:pPr eaLnBrk="1" hangingPunct="1">
              <a:spcBef>
                <a:spcPct val="0"/>
              </a:spcBef>
              <a:buFontTx/>
              <a:buNone/>
            </a:pPr>
            <a:r>
              <a:rPr lang="pt-PT" altLang="en-US" sz="1800">
                <a:latin typeface="Times New Roman" panose="02020603050405020304" pitchFamily="18" charset="0"/>
              </a:rPr>
              <a:t>public interface Regravavel extends Apagavel { // método(s) a decidir }</a:t>
            </a:r>
          </a:p>
        </p:txBody>
      </p:sp>
      <p:pic>
        <p:nvPicPr>
          <p:cNvPr id="11272" name="Picture 7">
            <a:extLst>
              <a:ext uri="{FF2B5EF4-FFF2-40B4-BE49-F238E27FC236}">
                <a16:creationId xmlns:a16="http://schemas.microsoft.com/office/drawing/2014/main" id="{BA8FD87A-C149-421D-9C22-300F66D9FB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4572000"/>
            <a:ext cx="5253038"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4">
            <a:extLst>
              <a:ext uri="{FF2B5EF4-FFF2-40B4-BE49-F238E27FC236}">
                <a16:creationId xmlns:a16="http://schemas.microsoft.com/office/drawing/2014/main" id="{53B6E852-990A-433A-9743-A2470D98744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2291" name="Slide Number Placeholder 5">
            <a:extLst>
              <a:ext uri="{FF2B5EF4-FFF2-40B4-BE49-F238E27FC236}">
                <a16:creationId xmlns:a16="http://schemas.microsoft.com/office/drawing/2014/main" id="{EDD03FC1-A5C8-47CA-B7F4-4C9B38B28F5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E86E0F9-9673-43A0-9FAA-9621DC5F0AF4}" type="slidenum">
              <a:rPr lang="pt-PT" altLang="en-US" sz="1400" smtClean="0"/>
              <a:pPr>
                <a:spcBef>
                  <a:spcPct val="0"/>
                </a:spcBef>
                <a:buFontTx/>
                <a:buNone/>
              </a:pPr>
              <a:t>10</a:t>
            </a:fld>
            <a:endParaRPr lang="pt-PT" altLang="en-US" sz="1400"/>
          </a:p>
        </p:txBody>
      </p:sp>
      <p:sp>
        <p:nvSpPr>
          <p:cNvPr id="12292" name="Rectangle 2">
            <a:extLst>
              <a:ext uri="{FF2B5EF4-FFF2-40B4-BE49-F238E27FC236}">
                <a16:creationId xmlns:a16="http://schemas.microsoft.com/office/drawing/2014/main" id="{E0C4662D-4B5D-4EA9-AF17-137E0A177C6A}"/>
              </a:ext>
            </a:extLst>
          </p:cNvPr>
          <p:cNvSpPr>
            <a:spLocks noGrp="1" noChangeArrowheads="1"/>
          </p:cNvSpPr>
          <p:nvPr>
            <p:ph type="title"/>
          </p:nvPr>
        </p:nvSpPr>
        <p:spPr>
          <a:xfrm>
            <a:off x="457200" y="115888"/>
            <a:ext cx="8229600" cy="922337"/>
          </a:xfrm>
        </p:spPr>
        <p:txBody>
          <a:bodyPr/>
          <a:lstStyle/>
          <a:p>
            <a:pPr eaLnBrk="1" hangingPunct="1"/>
            <a:r>
              <a:rPr lang="pt-PT" altLang="en-US"/>
              <a:t>Implementações (cont)</a:t>
            </a:r>
          </a:p>
        </p:txBody>
      </p:sp>
      <p:sp>
        <p:nvSpPr>
          <p:cNvPr id="12293" name="Rectangle 3">
            <a:extLst>
              <a:ext uri="{FF2B5EF4-FFF2-40B4-BE49-F238E27FC236}">
                <a16:creationId xmlns:a16="http://schemas.microsoft.com/office/drawing/2014/main" id="{61382674-4D3E-4F2C-B25B-1867AE51F5C2}"/>
              </a:ext>
            </a:extLst>
          </p:cNvPr>
          <p:cNvSpPr>
            <a:spLocks noGrp="1" noChangeArrowheads="1"/>
          </p:cNvSpPr>
          <p:nvPr>
            <p:ph type="body" idx="1"/>
          </p:nvPr>
        </p:nvSpPr>
        <p:spPr>
          <a:xfrm>
            <a:off x="457200" y="1196975"/>
            <a:ext cx="8229600" cy="5400675"/>
          </a:xfrm>
        </p:spPr>
        <p:txBody>
          <a:bodyPr/>
          <a:lstStyle/>
          <a:p>
            <a:pPr eaLnBrk="1" hangingPunct="1">
              <a:lnSpc>
                <a:spcPct val="90000"/>
              </a:lnSpc>
            </a:pPr>
            <a:r>
              <a:rPr lang="pt-PT" altLang="en-US" sz="2000" dirty="0"/>
              <a:t>Se a classe </a:t>
            </a:r>
            <a:r>
              <a:rPr lang="pt-PT" altLang="en-US" sz="2000" dirty="0">
                <a:latin typeface="Times New Roman" panose="02020603050405020304" pitchFamily="18" charset="0"/>
              </a:rPr>
              <a:t>Hi8</a:t>
            </a:r>
            <a:r>
              <a:rPr lang="pt-PT" altLang="en-US" sz="2000" dirty="0"/>
              <a:t> implementa a interface </a:t>
            </a:r>
            <a:r>
              <a:rPr lang="pt-PT" altLang="en-US" sz="2000" dirty="0" err="1">
                <a:latin typeface="Times New Roman" panose="02020603050405020304" pitchFamily="18" charset="0"/>
              </a:rPr>
              <a:t>Apagavel</a:t>
            </a:r>
            <a:r>
              <a:rPr lang="pt-PT" altLang="en-US" sz="2000" dirty="0"/>
              <a:t>, então uma qualquer instância de </a:t>
            </a:r>
            <a:r>
              <a:rPr lang="pt-PT" altLang="en-US" sz="2000" dirty="0">
                <a:latin typeface="Times New Roman" panose="02020603050405020304" pitchFamily="18" charset="0"/>
              </a:rPr>
              <a:t>Hi8</a:t>
            </a:r>
            <a:r>
              <a:rPr lang="pt-PT" altLang="en-US" sz="2000" dirty="0"/>
              <a:t> é também do tipo </a:t>
            </a:r>
            <a:r>
              <a:rPr lang="pt-PT" altLang="en-US" sz="2000" dirty="0" err="1">
                <a:latin typeface="Times New Roman" panose="02020603050405020304" pitchFamily="18" charset="0"/>
              </a:rPr>
              <a:t>Apagavel</a:t>
            </a:r>
            <a:r>
              <a:rPr lang="pt-PT" altLang="en-US" sz="2000" dirty="0"/>
              <a:t>, pelo que serão válidas as seguintes expressões:</a:t>
            </a:r>
          </a:p>
          <a:p>
            <a:pPr lvl="1" eaLnBrk="1" hangingPunct="1">
              <a:lnSpc>
                <a:spcPct val="90000"/>
              </a:lnSpc>
            </a:pPr>
            <a:r>
              <a:rPr lang="pt-PT" altLang="en-US" sz="1800" dirty="0">
                <a:latin typeface="Times New Roman" panose="02020603050405020304" pitchFamily="18" charset="0"/>
              </a:rPr>
              <a:t>Hi8 filme1 = </a:t>
            </a:r>
            <a:r>
              <a:rPr lang="pt-PT" altLang="en-US" sz="1800" dirty="0" err="1">
                <a:latin typeface="Times New Roman" panose="02020603050405020304" pitchFamily="18" charset="0"/>
              </a:rPr>
              <a:t>new</a:t>
            </a:r>
            <a:r>
              <a:rPr lang="pt-PT" altLang="en-US" sz="1800" dirty="0">
                <a:latin typeface="Times New Roman" panose="02020603050405020304" pitchFamily="18" charset="0"/>
              </a:rPr>
              <a:t> Hi8("A1", "2005", "obs1", 180, 40.0, 3);</a:t>
            </a:r>
          </a:p>
          <a:p>
            <a:pPr lvl="1" eaLnBrk="1" hangingPunct="1">
              <a:lnSpc>
                <a:spcPct val="90000"/>
              </a:lnSpc>
            </a:pPr>
            <a:r>
              <a:rPr lang="pt-PT" altLang="en-US" sz="1800" dirty="0" err="1">
                <a:latin typeface="Times New Roman" panose="02020603050405020304" pitchFamily="18" charset="0"/>
              </a:rPr>
              <a:t>Apagavel</a:t>
            </a:r>
            <a:r>
              <a:rPr lang="pt-PT" altLang="en-US" sz="1800" dirty="0">
                <a:latin typeface="Times New Roman" panose="02020603050405020304" pitchFamily="18" charset="0"/>
              </a:rPr>
              <a:t> apg1 = filme1;</a:t>
            </a:r>
          </a:p>
          <a:p>
            <a:pPr lvl="1" eaLnBrk="1" hangingPunct="1">
              <a:lnSpc>
                <a:spcPct val="90000"/>
              </a:lnSpc>
            </a:pPr>
            <a:r>
              <a:rPr lang="pt-PT" altLang="en-US" sz="1800" dirty="0">
                <a:latin typeface="Times New Roman" panose="02020603050405020304" pitchFamily="18" charset="0"/>
              </a:rPr>
              <a:t>apg1.apaga();</a:t>
            </a:r>
          </a:p>
          <a:p>
            <a:pPr lvl="1" eaLnBrk="1" hangingPunct="1">
              <a:lnSpc>
                <a:spcPct val="90000"/>
              </a:lnSpc>
            </a:pPr>
            <a:r>
              <a:rPr lang="pt-PT" altLang="en-US" sz="1800" dirty="0" err="1">
                <a:latin typeface="Times New Roman" panose="02020603050405020304" pitchFamily="18" charset="0"/>
              </a:rPr>
              <a:t>out.println</a:t>
            </a:r>
            <a:r>
              <a:rPr lang="pt-PT" altLang="en-US" sz="1800" dirty="0">
                <a:latin typeface="Times New Roman" panose="02020603050405020304" pitchFamily="18" charset="0"/>
              </a:rPr>
              <a:t>("</a:t>
            </a:r>
            <a:r>
              <a:rPr lang="pt-PT" altLang="en-US" sz="1800" dirty="0" err="1">
                <a:latin typeface="Times New Roman" panose="02020603050405020304" pitchFamily="18" charset="0"/>
              </a:rPr>
              <a:t>Ocupacao</a:t>
            </a:r>
            <a:r>
              <a:rPr lang="pt-PT" altLang="en-US" sz="1800" dirty="0">
                <a:latin typeface="Times New Roman" panose="02020603050405020304" pitchFamily="18" charset="0"/>
              </a:rPr>
              <a:t> = " + filme1.getOcupa());</a:t>
            </a:r>
          </a:p>
          <a:p>
            <a:pPr lvl="1" eaLnBrk="1" hangingPunct="1">
              <a:lnSpc>
                <a:spcPct val="90000"/>
              </a:lnSpc>
            </a:pPr>
            <a:r>
              <a:rPr lang="pt-PT" altLang="en-US" sz="1800" dirty="0" err="1">
                <a:latin typeface="Times New Roman" panose="02020603050405020304" pitchFamily="18" charset="0"/>
              </a:rPr>
              <a:t>out.println</a:t>
            </a:r>
            <a:r>
              <a:rPr lang="pt-PT" altLang="en-US" sz="1800" dirty="0">
                <a:latin typeface="Times New Roman" panose="02020603050405020304" pitchFamily="18" charset="0"/>
              </a:rPr>
              <a:t>("Gravações = " + apg1.getGrava()); </a:t>
            </a:r>
          </a:p>
          <a:p>
            <a:pPr eaLnBrk="1" hangingPunct="1">
              <a:lnSpc>
                <a:spcPct val="90000"/>
              </a:lnSpc>
            </a:pPr>
            <a:endParaRPr lang="pt-PT" altLang="en-US" sz="1800" dirty="0">
              <a:latin typeface="Times New Roman" panose="02020603050405020304" pitchFamily="18" charset="0"/>
            </a:endParaRPr>
          </a:p>
          <a:p>
            <a:pPr eaLnBrk="1" hangingPunct="1">
              <a:lnSpc>
                <a:spcPct val="90000"/>
              </a:lnSpc>
            </a:pPr>
            <a:r>
              <a:rPr lang="pt-PT" altLang="en-US" sz="2000" dirty="0"/>
              <a:t>Em conclusão, as interfaces definem assim um protocolo de comportamento que pode ser implementado por qualquer classe em qualquer ponto da hierarquia. São úteis para:</a:t>
            </a:r>
          </a:p>
          <a:p>
            <a:pPr lvl="1" eaLnBrk="1" hangingPunct="1">
              <a:lnSpc>
                <a:spcPct val="90000"/>
              </a:lnSpc>
            </a:pPr>
            <a:r>
              <a:rPr lang="pt-PT" altLang="en-US" sz="1800" dirty="0"/>
              <a:t>Reunirem similaridades comportamentais (métodos) entre classes não relacionadas sem forçar artificialmente o seu relacionamento hierárquico;</a:t>
            </a:r>
          </a:p>
          <a:p>
            <a:pPr lvl="1" eaLnBrk="1" hangingPunct="1">
              <a:lnSpc>
                <a:spcPct val="90000"/>
              </a:lnSpc>
            </a:pPr>
            <a:r>
              <a:rPr lang="pt-PT" altLang="en-US" sz="1800" dirty="0"/>
              <a:t>Definirem novos tipos implementáveis por qualquer classe;</a:t>
            </a:r>
          </a:p>
          <a:p>
            <a:pPr lvl="1" eaLnBrk="1" hangingPunct="1">
              <a:lnSpc>
                <a:spcPct val="90000"/>
              </a:lnSpc>
            </a:pPr>
            <a:r>
              <a:rPr lang="pt-PT" altLang="en-US" sz="1800" dirty="0"/>
              <a:t>Conterem a API comum de objetos sem indicação da sua verdadeira classe.</a:t>
            </a:r>
          </a:p>
        </p:txBody>
      </p:sp>
      <p:sp>
        <p:nvSpPr>
          <p:cNvPr id="12294" name="AutoShape 4">
            <a:extLst>
              <a:ext uri="{FF2B5EF4-FFF2-40B4-BE49-F238E27FC236}">
                <a16:creationId xmlns:a16="http://schemas.microsoft.com/office/drawing/2014/main" id="{8E27FAA3-4D73-4A32-AF07-751E20ADB8C9}"/>
              </a:ext>
            </a:extLst>
          </p:cNvPr>
          <p:cNvSpPr>
            <a:spLocks noChangeArrowheads="1"/>
          </p:cNvSpPr>
          <p:nvPr/>
        </p:nvSpPr>
        <p:spPr bwMode="auto">
          <a:xfrm>
            <a:off x="6877050" y="2132013"/>
            <a:ext cx="2232025" cy="1081087"/>
          </a:xfrm>
          <a:prstGeom prst="wedgeRoundRectCallout">
            <a:avLst>
              <a:gd name="adj1" fmla="val -105190"/>
              <a:gd name="adj2" fmla="val 73787"/>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200"/>
              <a:t>Erro de compilação pois não podemos enviar uma msg de classe a uma váriavel do tipo interface que só responde a </a:t>
            </a:r>
            <a:r>
              <a:rPr lang="pt-PT" altLang="en-US" sz="1200">
                <a:latin typeface="Times New Roman" panose="02020603050405020304" pitchFamily="18" charset="0"/>
              </a:rPr>
              <a:t>apaga().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a:extLst>
              <a:ext uri="{FF2B5EF4-FFF2-40B4-BE49-F238E27FC236}">
                <a16:creationId xmlns:a16="http://schemas.microsoft.com/office/drawing/2014/main" id="{D70095E4-3A6C-4F89-A092-EBA56D37B8A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3315" name="Slide Number Placeholder 5">
            <a:extLst>
              <a:ext uri="{FF2B5EF4-FFF2-40B4-BE49-F238E27FC236}">
                <a16:creationId xmlns:a16="http://schemas.microsoft.com/office/drawing/2014/main" id="{97ACD138-54F3-4A7E-ACB4-BB53E79DF1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C9CCAA0-DCA9-477E-9C56-604833A46920}" type="slidenum">
              <a:rPr lang="pt-PT" altLang="en-US" sz="1400" smtClean="0"/>
              <a:pPr>
                <a:spcBef>
                  <a:spcPct val="0"/>
                </a:spcBef>
                <a:buFontTx/>
                <a:buNone/>
              </a:pPr>
              <a:t>11</a:t>
            </a:fld>
            <a:endParaRPr lang="pt-PT" altLang="en-US" sz="1400"/>
          </a:p>
        </p:txBody>
      </p:sp>
      <p:sp>
        <p:nvSpPr>
          <p:cNvPr id="13316" name="Rectangle 2">
            <a:extLst>
              <a:ext uri="{FF2B5EF4-FFF2-40B4-BE49-F238E27FC236}">
                <a16:creationId xmlns:a16="http://schemas.microsoft.com/office/drawing/2014/main" id="{8E6E28DA-7E29-4EB9-B548-98026E50D78C}"/>
              </a:ext>
            </a:extLst>
          </p:cNvPr>
          <p:cNvSpPr>
            <a:spLocks noGrp="1" noChangeArrowheads="1"/>
          </p:cNvSpPr>
          <p:nvPr>
            <p:ph type="title"/>
          </p:nvPr>
        </p:nvSpPr>
        <p:spPr>
          <a:xfrm>
            <a:off x="457200" y="115888"/>
            <a:ext cx="8229600" cy="865187"/>
          </a:xfrm>
        </p:spPr>
        <p:txBody>
          <a:bodyPr/>
          <a:lstStyle/>
          <a:p>
            <a:pPr eaLnBrk="1" hangingPunct="1"/>
            <a:r>
              <a:rPr lang="pt-PT" altLang="en-US"/>
              <a:t>Interfaces: Sumário</a:t>
            </a:r>
          </a:p>
        </p:txBody>
      </p:sp>
      <p:sp>
        <p:nvSpPr>
          <p:cNvPr id="13317" name="Rectangle 3">
            <a:extLst>
              <a:ext uri="{FF2B5EF4-FFF2-40B4-BE49-F238E27FC236}">
                <a16:creationId xmlns:a16="http://schemas.microsoft.com/office/drawing/2014/main" id="{F2F13B2C-BD0D-4B07-8EA9-A3EC7DC17DA6}"/>
              </a:ext>
            </a:extLst>
          </p:cNvPr>
          <p:cNvSpPr>
            <a:spLocks noGrp="1" noChangeArrowheads="1"/>
          </p:cNvSpPr>
          <p:nvPr>
            <p:ph type="body" idx="1"/>
          </p:nvPr>
        </p:nvSpPr>
        <p:spPr>
          <a:xfrm>
            <a:off x="457200" y="908050"/>
            <a:ext cx="8229600" cy="5689600"/>
          </a:xfrm>
        </p:spPr>
        <p:txBody>
          <a:bodyPr/>
          <a:lstStyle/>
          <a:p>
            <a:pPr eaLnBrk="1" hangingPunct="1">
              <a:lnSpc>
                <a:spcPct val="80000"/>
              </a:lnSpc>
            </a:pPr>
            <a:r>
              <a:rPr lang="pt-PT" altLang="en-US" sz="2000"/>
              <a:t>A partir de agora, uma qualquer classe de JAVA poderá, em função da forma como é definida, ser vista de duas diferentes perspetivas: </a:t>
            </a:r>
          </a:p>
          <a:p>
            <a:pPr eaLnBrk="1" hangingPunct="1">
              <a:lnSpc>
                <a:spcPct val="80000"/>
              </a:lnSpc>
              <a:buFontTx/>
              <a:buNone/>
            </a:pPr>
            <a:endParaRPr lang="pt-PT" altLang="en-US" sz="2000"/>
          </a:p>
          <a:p>
            <a:pPr lvl="1" eaLnBrk="1" hangingPunct="1">
              <a:lnSpc>
                <a:spcPct val="80000"/>
              </a:lnSpc>
            </a:pPr>
            <a:r>
              <a:rPr lang="pt-PT" altLang="en-US" sz="1800"/>
              <a:t>de quem é subclasse, e, portanto, de quem herda estrutura e comportamento (e o que destes redefine ou acrescenta) </a:t>
            </a:r>
          </a:p>
          <a:p>
            <a:pPr lvl="1" eaLnBrk="1" hangingPunct="1">
              <a:lnSpc>
                <a:spcPct val="80000"/>
              </a:lnSpc>
            </a:pPr>
            <a:r>
              <a:rPr lang="pt-PT" altLang="en-US" sz="1800"/>
              <a:t>que interfaces implementa, ou seja, quais as propriedades adicionais que acrescenta às suas instâncias, tais como, por exemplo, serem </a:t>
            </a:r>
            <a:r>
              <a:rPr lang="pt-PT" altLang="en-US" sz="1800">
                <a:latin typeface="Times New Roman" panose="02020603050405020304" pitchFamily="18" charset="0"/>
              </a:rPr>
              <a:t>Conjuntos</a:t>
            </a:r>
            <a:r>
              <a:rPr lang="pt-PT" altLang="en-US" sz="1800"/>
              <a:t>, serem </a:t>
            </a:r>
            <a:r>
              <a:rPr lang="pt-PT" altLang="en-US" sz="1800">
                <a:latin typeface="Times New Roman" panose="02020603050405020304" pitchFamily="18" charset="0"/>
              </a:rPr>
              <a:t>Coloríveis</a:t>
            </a:r>
            <a:r>
              <a:rPr lang="pt-PT" altLang="en-US" sz="1800"/>
              <a:t>, serem </a:t>
            </a:r>
            <a:r>
              <a:rPr lang="pt-PT" altLang="en-US" sz="1800">
                <a:latin typeface="Times New Roman" panose="02020603050405020304" pitchFamily="18" charset="0"/>
              </a:rPr>
              <a:t>Regraváveis</a:t>
            </a:r>
            <a:r>
              <a:rPr lang="pt-PT" altLang="en-US" sz="1800"/>
              <a:t>, </a:t>
            </a:r>
            <a:r>
              <a:rPr lang="pt-PT" altLang="en-US" sz="1800">
                <a:latin typeface="Times New Roman" panose="02020603050405020304" pitchFamily="18" charset="0"/>
              </a:rPr>
              <a:t>Clonáveis</a:t>
            </a:r>
            <a:r>
              <a:rPr lang="pt-PT" altLang="en-US" sz="1800"/>
              <a:t>, </a:t>
            </a:r>
            <a:r>
              <a:rPr lang="pt-PT" altLang="en-US" sz="1800">
                <a:latin typeface="Times New Roman" panose="02020603050405020304" pitchFamily="18" charset="0"/>
              </a:rPr>
              <a:t>Persistentes</a:t>
            </a:r>
            <a:r>
              <a:rPr lang="pt-PT" altLang="en-US" sz="1800"/>
              <a:t>, etc.</a:t>
            </a:r>
          </a:p>
          <a:p>
            <a:pPr eaLnBrk="1" hangingPunct="1">
              <a:lnSpc>
                <a:spcPct val="80000"/>
              </a:lnSpc>
            </a:pPr>
            <a:r>
              <a:rPr lang="pt-PT" altLang="en-US" sz="2000"/>
              <a:t>Uma classe passará a ter duas interpretações possíveis:</a:t>
            </a:r>
          </a:p>
          <a:p>
            <a:pPr eaLnBrk="1" hangingPunct="1">
              <a:lnSpc>
                <a:spcPct val="80000"/>
              </a:lnSpc>
              <a:buFontTx/>
              <a:buNone/>
            </a:pPr>
            <a:endParaRPr lang="pt-PT" altLang="en-US" sz="2000"/>
          </a:p>
          <a:p>
            <a:pPr lvl="1" eaLnBrk="1" hangingPunct="1">
              <a:lnSpc>
                <a:spcPct val="80000"/>
              </a:lnSpc>
            </a:pPr>
            <a:r>
              <a:rPr lang="pt-PT" altLang="en-US" sz="1800"/>
              <a:t>É subclasse por se encontrar inserida na hierarquia normal de classes, caracterizada por possuir um mecanismo de herança simples de estrutura e comportamento, ainda que com redefinições e extensões;</a:t>
            </a:r>
          </a:p>
          <a:p>
            <a:pPr lvl="1" eaLnBrk="1" hangingPunct="1">
              <a:lnSpc>
                <a:spcPct val="80000"/>
              </a:lnSpc>
            </a:pPr>
            <a:r>
              <a:rPr lang="pt-PT" altLang="en-US" sz="1800"/>
              <a:t>É subtipo por se encontrar semanticamente “envolvida”, ainda que apenas como o único mecanismo possível de implementação, numa hierarquia lógica com herança múltipla de definições de comportamento abstrato, ou seja, de especificações puramente sintáticas.</a:t>
            </a:r>
          </a:p>
          <a:p>
            <a:pPr lvl="1" eaLnBrk="1" hangingPunct="1">
              <a:lnSpc>
                <a:spcPct val="80000"/>
              </a:lnSpc>
              <a:buFontTx/>
              <a:buNone/>
            </a:pPr>
            <a:endParaRPr lang="pt-PT" altLang="en-US" sz="1800"/>
          </a:p>
          <a:p>
            <a:pPr eaLnBrk="1" hangingPunct="1">
              <a:lnSpc>
                <a:spcPct val="80000"/>
              </a:lnSpc>
            </a:pPr>
            <a:r>
              <a:rPr lang="pt-PT" altLang="en-US" sz="2000"/>
              <a:t>Os métodos de implementação de interfaces JAVA definidos numa dada classe não devem, do ponto de vista de concepção, ser considerados como herdados pelas subclasses desta.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a:extLst>
              <a:ext uri="{FF2B5EF4-FFF2-40B4-BE49-F238E27FC236}">
                <a16:creationId xmlns:a16="http://schemas.microsoft.com/office/drawing/2014/main" id="{CFD74FAC-F9CF-4232-8440-EA98AE0399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4339" name="Slide Number Placeholder 5">
            <a:extLst>
              <a:ext uri="{FF2B5EF4-FFF2-40B4-BE49-F238E27FC236}">
                <a16:creationId xmlns:a16="http://schemas.microsoft.com/office/drawing/2014/main" id="{EF85C94D-CA61-41C6-BBC4-A5904C68D75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8FE8803-0BD6-4F70-94DC-AD410F152C15}" type="slidenum">
              <a:rPr lang="pt-PT" altLang="en-US" sz="1400" smtClean="0"/>
              <a:pPr>
                <a:spcBef>
                  <a:spcPct val="0"/>
                </a:spcBef>
                <a:buFontTx/>
                <a:buNone/>
              </a:pPr>
              <a:t>12</a:t>
            </a:fld>
            <a:endParaRPr lang="pt-PT" altLang="en-US" sz="1400"/>
          </a:p>
        </p:txBody>
      </p:sp>
      <p:sp>
        <p:nvSpPr>
          <p:cNvPr id="14340" name="Rectangle 2">
            <a:extLst>
              <a:ext uri="{FF2B5EF4-FFF2-40B4-BE49-F238E27FC236}">
                <a16:creationId xmlns:a16="http://schemas.microsoft.com/office/drawing/2014/main" id="{C7C1E2FE-F6FA-4CF2-AD76-5DC2D848645B}"/>
              </a:ext>
            </a:extLst>
          </p:cNvPr>
          <p:cNvSpPr>
            <a:spLocks noGrp="1" noChangeArrowheads="1"/>
          </p:cNvSpPr>
          <p:nvPr>
            <p:ph type="title"/>
          </p:nvPr>
        </p:nvSpPr>
        <p:spPr>
          <a:xfrm>
            <a:off x="457200" y="188913"/>
            <a:ext cx="8229600" cy="850900"/>
          </a:xfrm>
        </p:spPr>
        <p:txBody>
          <a:bodyPr/>
          <a:lstStyle/>
          <a:p>
            <a:pPr eaLnBrk="1" hangingPunct="1"/>
            <a:r>
              <a:rPr lang="pt-PT" altLang="en-US" sz="3600"/>
              <a:t>Classes Abstractas versus Interfaces</a:t>
            </a:r>
          </a:p>
        </p:txBody>
      </p:sp>
      <p:sp>
        <p:nvSpPr>
          <p:cNvPr id="14341" name="Rectangle 3">
            <a:extLst>
              <a:ext uri="{FF2B5EF4-FFF2-40B4-BE49-F238E27FC236}">
                <a16:creationId xmlns:a16="http://schemas.microsoft.com/office/drawing/2014/main" id="{39947742-71D2-4E11-9DCC-A0DABF40754C}"/>
              </a:ext>
            </a:extLst>
          </p:cNvPr>
          <p:cNvSpPr>
            <a:spLocks noGrp="1" noChangeArrowheads="1"/>
          </p:cNvSpPr>
          <p:nvPr>
            <p:ph type="body" idx="1"/>
          </p:nvPr>
        </p:nvSpPr>
        <p:spPr>
          <a:xfrm>
            <a:off x="457200" y="981075"/>
            <a:ext cx="8229600" cy="1079500"/>
          </a:xfrm>
        </p:spPr>
        <p:txBody>
          <a:bodyPr/>
          <a:lstStyle/>
          <a:p>
            <a:pPr eaLnBrk="1" hangingPunct="1">
              <a:lnSpc>
                <a:spcPct val="80000"/>
              </a:lnSpc>
              <a:defRPr/>
            </a:pPr>
            <a:r>
              <a:rPr lang="pt-PT" altLang="en-US" sz="2000" dirty="0"/>
              <a:t>Uma classe </a:t>
            </a:r>
            <a:r>
              <a:rPr lang="pt-PT" altLang="en-US" sz="2000" dirty="0" err="1"/>
              <a:t>abstracta</a:t>
            </a:r>
            <a:r>
              <a:rPr lang="pt-PT" altLang="en-US" sz="2000" dirty="0"/>
              <a:t> pode não ser 100% </a:t>
            </a:r>
            <a:r>
              <a:rPr lang="pt-PT" altLang="en-US" sz="2000" dirty="0" err="1"/>
              <a:t>abstracta</a:t>
            </a:r>
            <a:r>
              <a:rPr lang="pt-PT" altLang="en-US" sz="2000" dirty="0"/>
              <a:t>; porém, uma interface é sempre 100% </a:t>
            </a:r>
            <a:r>
              <a:rPr lang="pt-PT" altLang="en-US" sz="2000" dirty="0" err="1"/>
              <a:t>abstracta</a:t>
            </a:r>
            <a:r>
              <a:rPr lang="pt-PT" altLang="en-US" sz="2000" dirty="0"/>
              <a:t> (ou seja, sintática e sem especificação de qualquer semântica);</a:t>
            </a:r>
          </a:p>
          <a:p>
            <a:pPr marL="0" indent="0" eaLnBrk="1" hangingPunct="1">
              <a:lnSpc>
                <a:spcPct val="80000"/>
              </a:lnSpc>
              <a:buFontTx/>
              <a:buNone/>
              <a:defRPr/>
            </a:pPr>
            <a:endParaRPr lang="pt-PT" altLang="en-US" sz="2000" dirty="0"/>
          </a:p>
          <a:p>
            <a:pPr marL="0" indent="0" eaLnBrk="1" hangingPunct="1">
              <a:lnSpc>
                <a:spcPct val="80000"/>
              </a:lnSpc>
              <a:buFontTx/>
              <a:buNone/>
              <a:defRPr/>
            </a:pPr>
            <a:endParaRPr lang="pt-PT" altLang="en-US" sz="2000" dirty="0"/>
          </a:p>
        </p:txBody>
      </p:sp>
      <p:sp>
        <p:nvSpPr>
          <p:cNvPr id="2" name="Rectangle 1">
            <a:extLst>
              <a:ext uri="{FF2B5EF4-FFF2-40B4-BE49-F238E27FC236}">
                <a16:creationId xmlns:a16="http://schemas.microsoft.com/office/drawing/2014/main" id="{7B4E9D41-959A-4BD5-A99E-502A65D63991}"/>
              </a:ext>
            </a:extLst>
          </p:cNvPr>
          <p:cNvSpPr/>
          <p:nvPr/>
        </p:nvSpPr>
        <p:spPr>
          <a:xfrm>
            <a:off x="1547813" y="1989138"/>
            <a:ext cx="1008062"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PT" sz="1200" dirty="0"/>
              <a:t>código aqui!</a:t>
            </a:r>
          </a:p>
        </p:txBody>
      </p:sp>
      <p:sp>
        <p:nvSpPr>
          <p:cNvPr id="7" name="Rectangle 6">
            <a:extLst>
              <a:ext uri="{FF2B5EF4-FFF2-40B4-BE49-F238E27FC236}">
                <a16:creationId xmlns:a16="http://schemas.microsoft.com/office/drawing/2014/main" id="{5AF685D4-98F2-4915-AC43-071FD4C7570D}"/>
              </a:ext>
            </a:extLst>
          </p:cNvPr>
          <p:cNvSpPr/>
          <p:nvPr/>
        </p:nvSpPr>
        <p:spPr>
          <a:xfrm>
            <a:off x="755650" y="2924175"/>
            <a:ext cx="1008063" cy="433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PT" sz="800" dirty="0" err="1"/>
              <a:t>reimplementacão</a:t>
            </a:r>
            <a:endParaRPr lang="pt-PT" sz="800" dirty="0"/>
          </a:p>
        </p:txBody>
      </p:sp>
      <p:sp>
        <p:nvSpPr>
          <p:cNvPr id="8" name="Rectangle 7">
            <a:extLst>
              <a:ext uri="{FF2B5EF4-FFF2-40B4-BE49-F238E27FC236}">
                <a16:creationId xmlns:a16="http://schemas.microsoft.com/office/drawing/2014/main" id="{D9B70BFE-E2CE-4AD2-A3CF-056A0BC38ACF}"/>
              </a:ext>
            </a:extLst>
          </p:cNvPr>
          <p:cNvSpPr/>
          <p:nvPr/>
        </p:nvSpPr>
        <p:spPr>
          <a:xfrm>
            <a:off x="2411413" y="2924175"/>
            <a:ext cx="1008062" cy="433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PT" sz="800" dirty="0"/>
              <a:t>implementa!</a:t>
            </a:r>
          </a:p>
        </p:txBody>
      </p:sp>
      <p:cxnSp>
        <p:nvCxnSpPr>
          <p:cNvPr id="4" name="Straight Connector 3">
            <a:extLst>
              <a:ext uri="{FF2B5EF4-FFF2-40B4-BE49-F238E27FC236}">
                <a16:creationId xmlns:a16="http://schemas.microsoft.com/office/drawing/2014/main" id="{025D5556-B9A5-4771-97C8-2A4D137934AB}"/>
              </a:ext>
            </a:extLst>
          </p:cNvPr>
          <p:cNvCxnSpPr>
            <a:stCxn id="7" idx="0"/>
          </p:cNvCxnSpPr>
          <p:nvPr/>
        </p:nvCxnSpPr>
        <p:spPr>
          <a:xfrm flipV="1">
            <a:off x="1258888" y="2636838"/>
            <a:ext cx="0" cy="2873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C52875-EA9F-4158-B633-7DD57D97CE81}"/>
              </a:ext>
            </a:extLst>
          </p:cNvPr>
          <p:cNvCxnSpPr/>
          <p:nvPr/>
        </p:nvCxnSpPr>
        <p:spPr>
          <a:xfrm flipV="1">
            <a:off x="2916238" y="2636838"/>
            <a:ext cx="0" cy="2873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45BC44C-91EF-457A-8803-C0ED64E0FDC6}"/>
              </a:ext>
            </a:extLst>
          </p:cNvPr>
          <p:cNvCxnSpPr/>
          <p:nvPr/>
        </p:nvCxnSpPr>
        <p:spPr>
          <a:xfrm>
            <a:off x="1258888" y="2636838"/>
            <a:ext cx="16573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87B1D50-79CB-4A8D-8C9B-48BBD6E98262}"/>
              </a:ext>
            </a:extLst>
          </p:cNvPr>
          <p:cNvCxnSpPr>
            <a:stCxn id="2" idx="2"/>
          </p:cNvCxnSpPr>
          <p:nvPr/>
        </p:nvCxnSpPr>
        <p:spPr>
          <a:xfrm>
            <a:off x="2051050" y="2420938"/>
            <a:ext cx="0" cy="21590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211E7C5-5B90-4A7E-9975-1BB3B75173AD}"/>
              </a:ext>
            </a:extLst>
          </p:cNvPr>
          <p:cNvSpPr/>
          <p:nvPr/>
        </p:nvSpPr>
        <p:spPr>
          <a:xfrm>
            <a:off x="5795963" y="2205038"/>
            <a:ext cx="1439862"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PT" dirty="0"/>
              <a:t>interface</a:t>
            </a:r>
          </a:p>
        </p:txBody>
      </p:sp>
      <p:sp>
        <p:nvSpPr>
          <p:cNvPr id="13" name="Speech Bubble: Oval 12">
            <a:extLst>
              <a:ext uri="{FF2B5EF4-FFF2-40B4-BE49-F238E27FC236}">
                <a16:creationId xmlns:a16="http://schemas.microsoft.com/office/drawing/2014/main" id="{1D4F39B7-4B97-4C5B-98F9-3EA9C10207D4}"/>
              </a:ext>
            </a:extLst>
          </p:cNvPr>
          <p:cNvSpPr/>
          <p:nvPr/>
        </p:nvSpPr>
        <p:spPr>
          <a:xfrm>
            <a:off x="6948488" y="3141663"/>
            <a:ext cx="1655762" cy="647700"/>
          </a:xfrm>
          <a:prstGeom prst="wedgeEllipseCallout">
            <a:avLst>
              <a:gd name="adj1" fmla="val -72421"/>
              <a:gd name="adj2" fmla="val -121428"/>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PT" sz="1000" dirty="0">
                <a:solidFill>
                  <a:schemeClr val="tx1"/>
                </a:solidFill>
              </a:rPr>
              <a:t>só descreve o comportamento!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a:extLst>
              <a:ext uri="{FF2B5EF4-FFF2-40B4-BE49-F238E27FC236}">
                <a16:creationId xmlns:a16="http://schemas.microsoft.com/office/drawing/2014/main" id="{66883A8C-C2F8-4300-B1DB-76BB7FC3470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5363" name="Slide Number Placeholder 5">
            <a:extLst>
              <a:ext uri="{FF2B5EF4-FFF2-40B4-BE49-F238E27FC236}">
                <a16:creationId xmlns:a16="http://schemas.microsoft.com/office/drawing/2014/main" id="{DD2074E5-D46D-489D-9E31-4D74893BF0C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0765A52-E1E7-49F1-A1B6-C223D901C908}" type="slidenum">
              <a:rPr lang="pt-PT" altLang="en-US" sz="1400" smtClean="0"/>
              <a:pPr>
                <a:spcBef>
                  <a:spcPct val="0"/>
                </a:spcBef>
                <a:buFontTx/>
                <a:buNone/>
              </a:pPr>
              <a:t>13</a:t>
            </a:fld>
            <a:endParaRPr lang="pt-PT" altLang="en-US" sz="1400"/>
          </a:p>
        </p:txBody>
      </p:sp>
      <p:sp>
        <p:nvSpPr>
          <p:cNvPr id="15364" name="Rectangle 2">
            <a:extLst>
              <a:ext uri="{FF2B5EF4-FFF2-40B4-BE49-F238E27FC236}">
                <a16:creationId xmlns:a16="http://schemas.microsoft.com/office/drawing/2014/main" id="{DFC6DA42-DADC-492F-B654-C56624BA2702}"/>
              </a:ext>
            </a:extLst>
          </p:cNvPr>
          <p:cNvSpPr>
            <a:spLocks noGrp="1" noChangeArrowheads="1"/>
          </p:cNvSpPr>
          <p:nvPr>
            <p:ph type="title"/>
          </p:nvPr>
        </p:nvSpPr>
        <p:spPr>
          <a:xfrm>
            <a:off x="457200" y="188913"/>
            <a:ext cx="8229600" cy="850900"/>
          </a:xfrm>
        </p:spPr>
        <p:txBody>
          <a:bodyPr/>
          <a:lstStyle/>
          <a:p>
            <a:pPr eaLnBrk="1" hangingPunct="1"/>
            <a:r>
              <a:rPr lang="pt-PT" altLang="en-US" sz="3600"/>
              <a:t>Classes Abstractas versus Interfaces</a:t>
            </a:r>
          </a:p>
        </p:txBody>
      </p:sp>
      <p:sp>
        <p:nvSpPr>
          <p:cNvPr id="14341" name="Rectangle 3">
            <a:extLst>
              <a:ext uri="{FF2B5EF4-FFF2-40B4-BE49-F238E27FC236}">
                <a16:creationId xmlns:a16="http://schemas.microsoft.com/office/drawing/2014/main" id="{E633B282-E2FB-460E-809C-CC7DFAA8CC3F}"/>
              </a:ext>
            </a:extLst>
          </p:cNvPr>
          <p:cNvSpPr>
            <a:spLocks noGrp="1" noChangeArrowheads="1"/>
          </p:cNvSpPr>
          <p:nvPr>
            <p:ph type="body" idx="1"/>
          </p:nvPr>
        </p:nvSpPr>
        <p:spPr>
          <a:xfrm>
            <a:off x="457200" y="981075"/>
            <a:ext cx="8229600" cy="2303463"/>
          </a:xfrm>
        </p:spPr>
        <p:txBody>
          <a:bodyPr/>
          <a:lstStyle/>
          <a:p>
            <a:pPr eaLnBrk="1" hangingPunct="1">
              <a:lnSpc>
                <a:spcPct val="80000"/>
              </a:lnSpc>
              <a:defRPr/>
            </a:pPr>
            <a:r>
              <a:rPr lang="pt-PT" altLang="en-US" sz="2000" dirty="0"/>
              <a:t>Uma classe </a:t>
            </a:r>
            <a:r>
              <a:rPr lang="pt-PT" altLang="en-US" sz="2000" dirty="0" err="1"/>
              <a:t>abstracta</a:t>
            </a:r>
            <a:r>
              <a:rPr lang="pt-PT" altLang="en-US" sz="2000" dirty="0"/>
              <a:t> pode não ser 100% </a:t>
            </a:r>
            <a:r>
              <a:rPr lang="pt-PT" altLang="en-US" sz="2000" dirty="0" err="1"/>
              <a:t>abstracta</a:t>
            </a:r>
            <a:r>
              <a:rPr lang="pt-PT" altLang="en-US" sz="2000" dirty="0"/>
              <a:t>; porém, uma interface é sempre 100% </a:t>
            </a:r>
            <a:r>
              <a:rPr lang="pt-PT" altLang="en-US" sz="2000" dirty="0" err="1"/>
              <a:t>abstracta</a:t>
            </a:r>
            <a:r>
              <a:rPr lang="pt-PT" altLang="en-US" sz="2000" dirty="0"/>
              <a:t> (ou seja, </a:t>
            </a:r>
            <a:r>
              <a:rPr lang="pt-PT" altLang="en-US" sz="2000" dirty="0" err="1"/>
              <a:t>sintáctica</a:t>
            </a:r>
            <a:r>
              <a:rPr lang="pt-PT" altLang="en-US" sz="2000" dirty="0"/>
              <a:t> e sem especificação de qualquer semântica);</a:t>
            </a:r>
          </a:p>
          <a:p>
            <a:pPr eaLnBrk="1" hangingPunct="1">
              <a:lnSpc>
                <a:spcPct val="80000"/>
              </a:lnSpc>
              <a:defRPr/>
            </a:pPr>
            <a:r>
              <a:rPr lang="pt-PT" altLang="en-US" sz="2000" dirty="0"/>
              <a:t>Uma classe </a:t>
            </a:r>
            <a:r>
              <a:rPr lang="pt-PT" altLang="en-US" sz="2000" dirty="0" err="1"/>
              <a:t>abstracta</a:t>
            </a:r>
            <a:r>
              <a:rPr lang="pt-PT" altLang="en-US" sz="2000" dirty="0"/>
              <a:t> não impõe às suas subclasses a implementação obrigatória dos métodos </a:t>
            </a:r>
            <a:r>
              <a:rPr lang="pt-PT" altLang="en-US" sz="2000" dirty="0" err="1"/>
              <a:t>abstractos</a:t>
            </a:r>
            <a:r>
              <a:rPr lang="pt-PT" altLang="en-US" sz="2000" dirty="0"/>
              <a:t>, ou seja, uma subclasse de uma classe </a:t>
            </a:r>
            <a:r>
              <a:rPr lang="pt-PT" altLang="en-US" sz="2000" dirty="0" err="1"/>
              <a:t>abstracta</a:t>
            </a:r>
            <a:r>
              <a:rPr lang="pt-PT" altLang="en-US" sz="2000" dirty="0"/>
              <a:t> pode ainda ser uma classe </a:t>
            </a:r>
            <a:r>
              <a:rPr lang="pt-PT" altLang="en-US" sz="2000" dirty="0" err="1"/>
              <a:t>abstracta</a:t>
            </a:r>
            <a:r>
              <a:rPr lang="pt-PT" altLang="en-US" sz="2000" dirty="0"/>
              <a:t>; uma interface impõe, à classe que declarar que a implementa, uma implementação completa;</a:t>
            </a:r>
          </a:p>
          <a:p>
            <a:pPr marL="0" indent="0" eaLnBrk="1" hangingPunct="1">
              <a:lnSpc>
                <a:spcPct val="80000"/>
              </a:lnSpc>
              <a:buFontTx/>
              <a:buNone/>
              <a:defRPr/>
            </a:pPr>
            <a:endParaRPr lang="pt-PT" altLang="en-US" sz="2000" dirty="0"/>
          </a:p>
        </p:txBody>
      </p:sp>
      <p:sp>
        <p:nvSpPr>
          <p:cNvPr id="6" name="Rectangle 5">
            <a:extLst>
              <a:ext uri="{FF2B5EF4-FFF2-40B4-BE49-F238E27FC236}">
                <a16:creationId xmlns:a16="http://schemas.microsoft.com/office/drawing/2014/main" id="{D35582B3-D2B1-4DF1-8956-F0F0AF47E2B7}"/>
              </a:ext>
            </a:extLst>
          </p:cNvPr>
          <p:cNvSpPr/>
          <p:nvPr/>
        </p:nvSpPr>
        <p:spPr>
          <a:xfrm>
            <a:off x="1763713" y="3429000"/>
            <a:ext cx="1008062"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PT" sz="1200" dirty="0"/>
              <a:t>código aqui!</a:t>
            </a:r>
          </a:p>
        </p:txBody>
      </p:sp>
      <p:sp>
        <p:nvSpPr>
          <p:cNvPr id="7" name="Rectangle 6">
            <a:extLst>
              <a:ext uri="{FF2B5EF4-FFF2-40B4-BE49-F238E27FC236}">
                <a16:creationId xmlns:a16="http://schemas.microsoft.com/office/drawing/2014/main" id="{C0D1BC69-A3A6-4946-A3EA-B0022BA75759}"/>
              </a:ext>
            </a:extLst>
          </p:cNvPr>
          <p:cNvSpPr/>
          <p:nvPr/>
        </p:nvSpPr>
        <p:spPr>
          <a:xfrm>
            <a:off x="755650" y="4365625"/>
            <a:ext cx="1008063"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PT" sz="800" dirty="0" err="1"/>
              <a:t>reimplementacão</a:t>
            </a:r>
            <a:endParaRPr lang="pt-PT" sz="800" dirty="0"/>
          </a:p>
        </p:txBody>
      </p:sp>
      <p:sp>
        <p:nvSpPr>
          <p:cNvPr id="8" name="Rectangle 7">
            <a:extLst>
              <a:ext uri="{FF2B5EF4-FFF2-40B4-BE49-F238E27FC236}">
                <a16:creationId xmlns:a16="http://schemas.microsoft.com/office/drawing/2014/main" id="{F32C8715-1726-46F0-AD37-638F9F2324D2}"/>
              </a:ext>
            </a:extLst>
          </p:cNvPr>
          <p:cNvSpPr/>
          <p:nvPr/>
        </p:nvSpPr>
        <p:spPr>
          <a:xfrm>
            <a:off x="2411413" y="4365625"/>
            <a:ext cx="1008062"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PT" sz="800" dirty="0"/>
              <a:t>implementa!</a:t>
            </a:r>
          </a:p>
        </p:txBody>
      </p:sp>
      <p:cxnSp>
        <p:nvCxnSpPr>
          <p:cNvPr id="9" name="Straight Connector 8">
            <a:extLst>
              <a:ext uri="{FF2B5EF4-FFF2-40B4-BE49-F238E27FC236}">
                <a16:creationId xmlns:a16="http://schemas.microsoft.com/office/drawing/2014/main" id="{67DFF554-4576-48DE-A6CC-E2A7BF61B2EB}"/>
              </a:ext>
            </a:extLst>
          </p:cNvPr>
          <p:cNvCxnSpPr>
            <a:stCxn id="7" idx="0"/>
          </p:cNvCxnSpPr>
          <p:nvPr/>
        </p:nvCxnSpPr>
        <p:spPr>
          <a:xfrm flipV="1">
            <a:off x="1258888" y="4076700"/>
            <a:ext cx="0" cy="288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A58B897-B683-42B5-8E3D-74EFD0CA4C0B}"/>
              </a:ext>
            </a:extLst>
          </p:cNvPr>
          <p:cNvCxnSpPr/>
          <p:nvPr/>
        </p:nvCxnSpPr>
        <p:spPr>
          <a:xfrm flipV="1">
            <a:off x="2916238" y="4076700"/>
            <a:ext cx="0" cy="288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CABEFCA-5C89-4F5E-B5A8-518045B75776}"/>
              </a:ext>
            </a:extLst>
          </p:cNvPr>
          <p:cNvCxnSpPr/>
          <p:nvPr/>
        </p:nvCxnSpPr>
        <p:spPr>
          <a:xfrm>
            <a:off x="1258888" y="4076700"/>
            <a:ext cx="16573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EF187E7-4532-4810-8A18-F1E607DD8D5A}"/>
              </a:ext>
            </a:extLst>
          </p:cNvPr>
          <p:cNvCxnSpPr>
            <a:stCxn id="6" idx="2"/>
          </p:cNvCxnSpPr>
          <p:nvPr/>
        </p:nvCxnSpPr>
        <p:spPr>
          <a:xfrm>
            <a:off x="2268538" y="3860800"/>
            <a:ext cx="0" cy="215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26FAE1A4-EC72-4115-AA44-82E4C04D1BD2}"/>
              </a:ext>
            </a:extLst>
          </p:cNvPr>
          <p:cNvCxnSpPr>
            <a:stCxn id="8" idx="2"/>
          </p:cNvCxnSpPr>
          <p:nvPr/>
        </p:nvCxnSpPr>
        <p:spPr>
          <a:xfrm>
            <a:off x="2916238" y="4797425"/>
            <a:ext cx="0" cy="431800"/>
          </a:xfrm>
          <a:prstGeom prst="straightConnector1">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374" name="TextBox 3">
            <a:extLst>
              <a:ext uri="{FF2B5EF4-FFF2-40B4-BE49-F238E27FC236}">
                <a16:creationId xmlns:a16="http://schemas.microsoft.com/office/drawing/2014/main" id="{6F621182-CC2B-4A31-BE64-A8C243414C15}"/>
              </a:ext>
            </a:extLst>
          </p:cNvPr>
          <p:cNvSpPr txBox="1">
            <a:spLocks noChangeArrowheads="1"/>
          </p:cNvSpPr>
          <p:nvPr/>
        </p:nvSpPr>
        <p:spPr bwMode="auto">
          <a:xfrm>
            <a:off x="2411413" y="5373688"/>
            <a:ext cx="15176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pt-PT" altLang="en-US" sz="1000"/>
              <a:t>delegar na subclasse…</a:t>
            </a:r>
          </a:p>
        </p:txBody>
      </p:sp>
      <p:sp>
        <p:nvSpPr>
          <p:cNvPr id="16" name="Rectangle 15">
            <a:extLst>
              <a:ext uri="{FF2B5EF4-FFF2-40B4-BE49-F238E27FC236}">
                <a16:creationId xmlns:a16="http://schemas.microsoft.com/office/drawing/2014/main" id="{1C0F97AF-9C10-4E41-9D52-BE4A92166CC6}"/>
              </a:ext>
            </a:extLst>
          </p:cNvPr>
          <p:cNvSpPr/>
          <p:nvPr/>
        </p:nvSpPr>
        <p:spPr>
          <a:xfrm>
            <a:off x="2411413" y="5805488"/>
            <a:ext cx="1008062"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PT" sz="800" dirty="0"/>
              <a:t>implementa!</a:t>
            </a:r>
          </a:p>
        </p:txBody>
      </p:sp>
      <p:cxnSp>
        <p:nvCxnSpPr>
          <p:cNvPr id="17" name="Straight Arrow Connector 16">
            <a:extLst>
              <a:ext uri="{FF2B5EF4-FFF2-40B4-BE49-F238E27FC236}">
                <a16:creationId xmlns:a16="http://schemas.microsoft.com/office/drawing/2014/main" id="{179D683D-AE9F-4CF4-8C4B-A6C483A0EBB5}"/>
              </a:ext>
            </a:extLst>
          </p:cNvPr>
          <p:cNvCxnSpPr>
            <a:cxnSpLocks/>
          </p:cNvCxnSpPr>
          <p:nvPr/>
        </p:nvCxnSpPr>
        <p:spPr>
          <a:xfrm>
            <a:off x="2916238" y="5619750"/>
            <a:ext cx="0" cy="185738"/>
          </a:xfrm>
          <a:prstGeom prst="straightConnector1">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Rectangle 18">
            <a:extLst>
              <a:ext uri="{FF2B5EF4-FFF2-40B4-BE49-F238E27FC236}">
                <a16:creationId xmlns:a16="http://schemas.microsoft.com/office/drawing/2014/main" id="{4B6CB7C2-ECD3-4A87-8516-19E943CA2B59}"/>
              </a:ext>
            </a:extLst>
          </p:cNvPr>
          <p:cNvSpPr/>
          <p:nvPr/>
        </p:nvSpPr>
        <p:spPr>
          <a:xfrm>
            <a:off x="5724525" y="3429000"/>
            <a:ext cx="1008063"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PT" sz="1100" dirty="0"/>
              <a:t>implementa!</a:t>
            </a:r>
          </a:p>
        </p:txBody>
      </p:sp>
      <p:sp>
        <p:nvSpPr>
          <p:cNvPr id="20" name="Rectangle 19">
            <a:extLst>
              <a:ext uri="{FF2B5EF4-FFF2-40B4-BE49-F238E27FC236}">
                <a16:creationId xmlns:a16="http://schemas.microsoft.com/office/drawing/2014/main" id="{41E041F0-DB34-44EB-8F00-E3FAB01FA869}"/>
              </a:ext>
            </a:extLst>
          </p:cNvPr>
          <p:cNvSpPr/>
          <p:nvPr/>
        </p:nvSpPr>
        <p:spPr>
          <a:xfrm>
            <a:off x="7596188" y="3429000"/>
            <a:ext cx="1008062"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PT" sz="1200" dirty="0">
                <a:solidFill>
                  <a:schemeClr val="tx1"/>
                </a:solidFill>
              </a:rPr>
              <a:t>Interface</a:t>
            </a:r>
          </a:p>
        </p:txBody>
      </p:sp>
      <p:cxnSp>
        <p:nvCxnSpPr>
          <p:cNvPr id="14" name="Straight Arrow Connector 13">
            <a:extLst>
              <a:ext uri="{FF2B5EF4-FFF2-40B4-BE49-F238E27FC236}">
                <a16:creationId xmlns:a16="http://schemas.microsoft.com/office/drawing/2014/main" id="{A35E69D0-BC0A-41A5-B770-E3C5E4FC8B6F}"/>
              </a:ext>
            </a:extLst>
          </p:cNvPr>
          <p:cNvCxnSpPr>
            <a:stCxn id="20" idx="1"/>
            <a:endCxn id="19" idx="3"/>
          </p:cNvCxnSpPr>
          <p:nvPr/>
        </p:nvCxnSpPr>
        <p:spPr>
          <a:xfrm flipH="1">
            <a:off x="6732588" y="3644900"/>
            <a:ext cx="86360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4">
            <a:extLst>
              <a:ext uri="{FF2B5EF4-FFF2-40B4-BE49-F238E27FC236}">
                <a16:creationId xmlns:a16="http://schemas.microsoft.com/office/drawing/2014/main" id="{A497310C-7964-47C2-8258-8F00F9EE690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6387" name="Slide Number Placeholder 5">
            <a:extLst>
              <a:ext uri="{FF2B5EF4-FFF2-40B4-BE49-F238E27FC236}">
                <a16:creationId xmlns:a16="http://schemas.microsoft.com/office/drawing/2014/main" id="{07003ADE-0BB0-4A4A-A084-BDD0B91AD4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FE69154-2D69-404A-95A4-B19E3A6E378F}" type="slidenum">
              <a:rPr lang="pt-PT" altLang="en-US" sz="1400" smtClean="0"/>
              <a:pPr>
                <a:spcBef>
                  <a:spcPct val="0"/>
                </a:spcBef>
                <a:buFontTx/>
                <a:buNone/>
              </a:pPr>
              <a:t>14</a:t>
            </a:fld>
            <a:endParaRPr lang="pt-PT" altLang="en-US" sz="1400"/>
          </a:p>
        </p:txBody>
      </p:sp>
      <p:sp>
        <p:nvSpPr>
          <p:cNvPr id="16388" name="Rectangle 2">
            <a:extLst>
              <a:ext uri="{FF2B5EF4-FFF2-40B4-BE49-F238E27FC236}">
                <a16:creationId xmlns:a16="http://schemas.microsoft.com/office/drawing/2014/main" id="{EE6730C4-E40D-4DDC-88DC-BF3DBB299DE5}"/>
              </a:ext>
            </a:extLst>
          </p:cNvPr>
          <p:cNvSpPr>
            <a:spLocks noGrp="1" noChangeArrowheads="1"/>
          </p:cNvSpPr>
          <p:nvPr>
            <p:ph type="title"/>
          </p:nvPr>
        </p:nvSpPr>
        <p:spPr>
          <a:xfrm>
            <a:off x="457200" y="188913"/>
            <a:ext cx="8229600" cy="850900"/>
          </a:xfrm>
        </p:spPr>
        <p:txBody>
          <a:bodyPr/>
          <a:lstStyle/>
          <a:p>
            <a:pPr eaLnBrk="1" hangingPunct="1"/>
            <a:r>
              <a:rPr lang="pt-PT" altLang="en-US" sz="3600"/>
              <a:t>Classes Abstractas versus Interfaces</a:t>
            </a:r>
          </a:p>
        </p:txBody>
      </p:sp>
      <p:sp>
        <p:nvSpPr>
          <p:cNvPr id="14341" name="Rectangle 3">
            <a:extLst>
              <a:ext uri="{FF2B5EF4-FFF2-40B4-BE49-F238E27FC236}">
                <a16:creationId xmlns:a16="http://schemas.microsoft.com/office/drawing/2014/main" id="{78B2561D-6AD9-44E2-94DB-D8B6F88F6CA5}"/>
              </a:ext>
            </a:extLst>
          </p:cNvPr>
          <p:cNvSpPr>
            <a:spLocks noGrp="1" noChangeArrowheads="1"/>
          </p:cNvSpPr>
          <p:nvPr>
            <p:ph type="body" idx="1"/>
          </p:nvPr>
        </p:nvSpPr>
        <p:spPr>
          <a:xfrm>
            <a:off x="457200" y="981075"/>
            <a:ext cx="8229600" cy="4319588"/>
          </a:xfrm>
        </p:spPr>
        <p:txBody>
          <a:bodyPr/>
          <a:lstStyle/>
          <a:p>
            <a:pPr eaLnBrk="1" hangingPunct="1">
              <a:lnSpc>
                <a:spcPct val="80000"/>
              </a:lnSpc>
              <a:defRPr/>
            </a:pPr>
            <a:r>
              <a:rPr lang="pt-PT" altLang="en-US" sz="2000" dirty="0"/>
              <a:t>Uma classe </a:t>
            </a:r>
            <a:r>
              <a:rPr lang="pt-PT" altLang="en-US" sz="2000" dirty="0" err="1"/>
              <a:t>abstracta</a:t>
            </a:r>
            <a:r>
              <a:rPr lang="pt-PT" altLang="en-US" sz="2000" dirty="0"/>
              <a:t> pode não ser 100% </a:t>
            </a:r>
            <a:r>
              <a:rPr lang="pt-PT" altLang="en-US" sz="2000" dirty="0" err="1"/>
              <a:t>abstracta</a:t>
            </a:r>
            <a:r>
              <a:rPr lang="pt-PT" altLang="en-US" sz="2000" dirty="0"/>
              <a:t>; porém, uma interface é sempre 100% </a:t>
            </a:r>
            <a:r>
              <a:rPr lang="pt-PT" altLang="en-US" sz="2000" dirty="0" err="1"/>
              <a:t>abstracta</a:t>
            </a:r>
            <a:r>
              <a:rPr lang="pt-PT" altLang="en-US" sz="2000" dirty="0"/>
              <a:t> (ou seja, </a:t>
            </a:r>
            <a:r>
              <a:rPr lang="pt-PT" altLang="en-US" sz="2000" dirty="0" err="1"/>
              <a:t>sintáctica</a:t>
            </a:r>
            <a:r>
              <a:rPr lang="pt-PT" altLang="en-US" sz="2000" dirty="0"/>
              <a:t> e sem especificação de qualquer semântica);</a:t>
            </a:r>
          </a:p>
          <a:p>
            <a:pPr eaLnBrk="1" hangingPunct="1">
              <a:lnSpc>
                <a:spcPct val="80000"/>
              </a:lnSpc>
              <a:defRPr/>
            </a:pPr>
            <a:r>
              <a:rPr lang="pt-PT" altLang="en-US" sz="2000" dirty="0"/>
              <a:t>Uma classe </a:t>
            </a:r>
            <a:r>
              <a:rPr lang="pt-PT" altLang="en-US" sz="2000" dirty="0" err="1"/>
              <a:t>abstracta</a:t>
            </a:r>
            <a:r>
              <a:rPr lang="pt-PT" altLang="en-US" sz="2000" dirty="0"/>
              <a:t> não impõe às suas subclasses a implementação obrigatória dos métodos </a:t>
            </a:r>
            <a:r>
              <a:rPr lang="pt-PT" altLang="en-US" sz="2000" dirty="0" err="1"/>
              <a:t>abstractos</a:t>
            </a:r>
            <a:r>
              <a:rPr lang="pt-PT" altLang="en-US" sz="2000" dirty="0"/>
              <a:t>, ou seja, uma subclasse de uma classe </a:t>
            </a:r>
            <a:r>
              <a:rPr lang="pt-PT" altLang="en-US" sz="2000" dirty="0" err="1"/>
              <a:t>abstracta</a:t>
            </a:r>
            <a:r>
              <a:rPr lang="pt-PT" altLang="en-US" sz="2000" dirty="0"/>
              <a:t> pode ainda ser uma classe </a:t>
            </a:r>
            <a:r>
              <a:rPr lang="pt-PT" altLang="en-US" sz="2000" dirty="0" err="1"/>
              <a:t>abstracta</a:t>
            </a:r>
            <a:r>
              <a:rPr lang="pt-PT" altLang="en-US" sz="2000" dirty="0"/>
              <a:t>; uma interface impõe, à classe que declarar que a implementa, uma implementação completa;</a:t>
            </a:r>
          </a:p>
          <a:p>
            <a:pPr eaLnBrk="1" hangingPunct="1">
              <a:lnSpc>
                <a:spcPct val="80000"/>
              </a:lnSpc>
              <a:defRPr/>
            </a:pPr>
            <a:r>
              <a:rPr lang="pt-PT" altLang="en-US" sz="2000" dirty="0"/>
              <a:t>Uma classe </a:t>
            </a:r>
            <a:r>
              <a:rPr lang="pt-PT" altLang="en-US" sz="2000" dirty="0" err="1"/>
              <a:t>abstracta</a:t>
            </a:r>
            <a:r>
              <a:rPr lang="pt-PT" altLang="en-US" sz="2000" dirty="0"/>
              <a:t> pode ser usada para se escrever software genérico, parametrizável e extensível; uma interface não tem, em princípio, tais objetivos, sendo em geral associada à necessidade de se </a:t>
            </a:r>
            <a:r>
              <a:rPr lang="pt-PT" altLang="en-US" sz="2000" i="1" dirty="0"/>
              <a:t>especificar</a:t>
            </a:r>
            <a:r>
              <a:rPr lang="pt-PT" altLang="en-US" sz="2000" dirty="0"/>
              <a:t> um conjunto adicional </a:t>
            </a:r>
            <a:r>
              <a:rPr lang="pt-PT" altLang="en-US" sz="2000" i="1" dirty="0">
                <a:solidFill>
                  <a:schemeClr val="accent1">
                    <a:lumMod val="75000"/>
                  </a:schemeClr>
                </a:solidFill>
              </a:rPr>
              <a:t>de propriedades funcionais</a:t>
            </a:r>
            <a:r>
              <a:rPr lang="pt-PT" altLang="en-US" sz="2000" dirty="0"/>
              <a:t>, ou seja de tratamento, que sejam garantidas por uma dada implementação, podendo ser tais classes de implementação horizontais na hierarquia, isto é, não existindo entre si qualquer relacionamento na hierarquia simples de classes de JAVA;</a:t>
            </a:r>
          </a:p>
          <a:p>
            <a:pPr eaLnBrk="1" hangingPunct="1">
              <a:lnSpc>
                <a:spcPct val="80000"/>
              </a:lnSpc>
              <a:defRPr/>
            </a:pPr>
            <a:endParaRPr lang="pt-PT" alt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a:extLst>
              <a:ext uri="{FF2B5EF4-FFF2-40B4-BE49-F238E27FC236}">
                <a16:creationId xmlns:a16="http://schemas.microsoft.com/office/drawing/2014/main" id="{F4846C4B-3EA7-4E1B-9633-8E1151BDA6C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7411" name="Slide Number Placeholder 5">
            <a:extLst>
              <a:ext uri="{FF2B5EF4-FFF2-40B4-BE49-F238E27FC236}">
                <a16:creationId xmlns:a16="http://schemas.microsoft.com/office/drawing/2014/main" id="{D2A23559-8133-4950-B6DD-D732347A10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C8EB105-FCC0-4512-997B-62DA84C8BA63}" type="slidenum">
              <a:rPr lang="pt-PT" altLang="en-US" sz="1400" smtClean="0"/>
              <a:pPr>
                <a:spcBef>
                  <a:spcPct val="0"/>
                </a:spcBef>
                <a:buFontTx/>
                <a:buNone/>
              </a:pPr>
              <a:t>15</a:t>
            </a:fld>
            <a:endParaRPr lang="pt-PT" altLang="en-US" sz="1400"/>
          </a:p>
        </p:txBody>
      </p:sp>
      <p:sp>
        <p:nvSpPr>
          <p:cNvPr id="17412" name="Rectangle 2">
            <a:extLst>
              <a:ext uri="{FF2B5EF4-FFF2-40B4-BE49-F238E27FC236}">
                <a16:creationId xmlns:a16="http://schemas.microsoft.com/office/drawing/2014/main" id="{F41C635D-FDF4-4D43-A9A5-F04296E74E88}"/>
              </a:ext>
            </a:extLst>
          </p:cNvPr>
          <p:cNvSpPr>
            <a:spLocks noGrp="1" noChangeArrowheads="1"/>
          </p:cNvSpPr>
          <p:nvPr>
            <p:ph type="title"/>
          </p:nvPr>
        </p:nvSpPr>
        <p:spPr>
          <a:xfrm>
            <a:off x="457200" y="188913"/>
            <a:ext cx="8229600" cy="850900"/>
          </a:xfrm>
        </p:spPr>
        <p:txBody>
          <a:bodyPr/>
          <a:lstStyle/>
          <a:p>
            <a:pPr eaLnBrk="1" hangingPunct="1"/>
            <a:r>
              <a:rPr lang="pt-PT" altLang="en-US" sz="3600"/>
              <a:t>Classes Abstractas versus Interfaces</a:t>
            </a:r>
          </a:p>
        </p:txBody>
      </p:sp>
      <p:sp>
        <p:nvSpPr>
          <p:cNvPr id="17413" name="Rectangle 3">
            <a:extLst>
              <a:ext uri="{FF2B5EF4-FFF2-40B4-BE49-F238E27FC236}">
                <a16:creationId xmlns:a16="http://schemas.microsoft.com/office/drawing/2014/main" id="{1105DDBA-1D51-4BC3-9A79-10F36D39FE0C}"/>
              </a:ext>
            </a:extLst>
          </p:cNvPr>
          <p:cNvSpPr>
            <a:spLocks noGrp="1" noChangeArrowheads="1"/>
          </p:cNvSpPr>
          <p:nvPr>
            <p:ph type="body" idx="1"/>
          </p:nvPr>
        </p:nvSpPr>
        <p:spPr>
          <a:xfrm>
            <a:off x="457200" y="981075"/>
            <a:ext cx="8229600" cy="5616575"/>
          </a:xfrm>
        </p:spPr>
        <p:txBody>
          <a:bodyPr/>
          <a:lstStyle/>
          <a:p>
            <a:pPr eaLnBrk="1" hangingPunct="1">
              <a:lnSpc>
                <a:spcPct val="80000"/>
              </a:lnSpc>
            </a:pPr>
            <a:r>
              <a:rPr lang="pt-PT" altLang="en-US" sz="2000"/>
              <a:t>Uma classe abstracta pode não ser 100% abstracta; porém, uma interface é sempre 100% abstracta (ou seja, sintáctica e sem especificação de qualquer semântica);</a:t>
            </a:r>
          </a:p>
          <a:p>
            <a:pPr eaLnBrk="1" hangingPunct="1">
              <a:lnSpc>
                <a:spcPct val="80000"/>
              </a:lnSpc>
            </a:pPr>
            <a:r>
              <a:rPr lang="pt-PT" altLang="en-US" sz="2000"/>
              <a:t>Uma classe abstracta não impõe às suas subclasses a implementação obrigatória dos métodos abstractos, ou seja, uma subclasse de uma classe abstracta pode ainda ser uma classe abstracta; uma interface impõe, à classe que declarar que a implementa, uma implementação completa;</a:t>
            </a:r>
          </a:p>
          <a:p>
            <a:pPr eaLnBrk="1" hangingPunct="1">
              <a:lnSpc>
                <a:spcPct val="80000"/>
              </a:lnSpc>
            </a:pPr>
            <a:r>
              <a:rPr lang="pt-PT" altLang="en-US" sz="2000"/>
              <a:t>Uma classe abstracta pode ser usada para se escrever software genérico, parametrizável e extensível; uma interface não tem, em princípio, tais objetivos, sendo em geral associada à necessidade de se especificar um conjunto adicional de propriedades funcionais, ou seja de tratamento, que sejam garantidas por uma dada implementação, podendo ser tais classes de implementação horizontais na hierarquia, isto é, não existindo entre si qualquer relacionamento na hierarquia simples de classes de JAVA;</a:t>
            </a:r>
          </a:p>
          <a:p>
            <a:pPr eaLnBrk="1" hangingPunct="1">
              <a:lnSpc>
                <a:spcPct val="80000"/>
              </a:lnSpc>
            </a:pPr>
            <a:r>
              <a:rPr lang="pt-PT" altLang="en-US" sz="2000"/>
              <a:t>Classes e interfaces coexistem em JAVA em hierarquias com propriedades distintas, resultando o poder expressivo e de definição da linguagem JAVA da correta simbiose das duas, o que requer, naturalmente, muita prática em desenvolvimento de grandes aplicações.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4">
            <a:extLst>
              <a:ext uri="{FF2B5EF4-FFF2-40B4-BE49-F238E27FC236}">
                <a16:creationId xmlns:a16="http://schemas.microsoft.com/office/drawing/2014/main" id="{A3787279-A8A2-4FDA-86E1-431D7412262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8435" name="Slide Number Placeholder 5">
            <a:extLst>
              <a:ext uri="{FF2B5EF4-FFF2-40B4-BE49-F238E27FC236}">
                <a16:creationId xmlns:a16="http://schemas.microsoft.com/office/drawing/2014/main" id="{F82CD024-3792-4770-B62C-A8F63A289E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8471AA4-5CE5-4AC8-B80C-C9923514FF1B}" type="slidenum">
              <a:rPr lang="pt-PT" altLang="en-US" sz="1400" smtClean="0"/>
              <a:pPr>
                <a:spcBef>
                  <a:spcPct val="0"/>
                </a:spcBef>
                <a:buFontTx/>
                <a:buNone/>
              </a:pPr>
              <a:t>16</a:t>
            </a:fld>
            <a:endParaRPr lang="pt-PT" altLang="en-US" sz="1400"/>
          </a:p>
        </p:txBody>
      </p:sp>
      <p:sp>
        <p:nvSpPr>
          <p:cNvPr id="18436" name="Rectangle 2">
            <a:extLst>
              <a:ext uri="{FF2B5EF4-FFF2-40B4-BE49-F238E27FC236}">
                <a16:creationId xmlns:a16="http://schemas.microsoft.com/office/drawing/2014/main" id="{6A3BEA34-3A7C-49EE-807A-CB38F7EB01F5}"/>
              </a:ext>
            </a:extLst>
          </p:cNvPr>
          <p:cNvSpPr>
            <a:spLocks noGrp="1" noChangeArrowheads="1"/>
          </p:cNvSpPr>
          <p:nvPr>
            <p:ph type="title"/>
          </p:nvPr>
        </p:nvSpPr>
        <p:spPr/>
        <p:txBody>
          <a:bodyPr/>
          <a:lstStyle/>
          <a:p>
            <a:pPr eaLnBrk="1" hangingPunct="1"/>
            <a:r>
              <a:rPr lang="pt-PT" altLang="en-US"/>
              <a:t>Interfaces: exemplo</a:t>
            </a:r>
          </a:p>
        </p:txBody>
      </p:sp>
      <p:pic>
        <p:nvPicPr>
          <p:cNvPr id="18437" name="Picture 4">
            <a:extLst>
              <a:ext uri="{FF2B5EF4-FFF2-40B4-BE49-F238E27FC236}">
                <a16:creationId xmlns:a16="http://schemas.microsoft.com/office/drawing/2014/main" id="{0BBE88FD-D6C0-4A21-B758-615440C3C189}"/>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211638" y="4068763"/>
            <a:ext cx="4713287" cy="2384425"/>
          </a:xfrm>
          <a:noFill/>
        </p:spPr>
      </p:pic>
      <p:sp>
        <p:nvSpPr>
          <p:cNvPr id="18438" name="Text Box 5">
            <a:extLst>
              <a:ext uri="{FF2B5EF4-FFF2-40B4-BE49-F238E27FC236}">
                <a16:creationId xmlns:a16="http://schemas.microsoft.com/office/drawing/2014/main" id="{7AAB59FE-29CF-4160-8C0D-C1427C9CAA96}"/>
              </a:ext>
            </a:extLst>
          </p:cNvPr>
          <p:cNvSpPr txBox="1">
            <a:spLocks noChangeArrowheads="1"/>
          </p:cNvSpPr>
          <p:nvPr/>
        </p:nvSpPr>
        <p:spPr bwMode="auto">
          <a:xfrm>
            <a:off x="971550" y="4470400"/>
            <a:ext cx="26352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a:t>public interface Lavavel </a:t>
            </a:r>
          </a:p>
          <a:p>
            <a:pPr eaLnBrk="1" hangingPunct="1">
              <a:spcBef>
                <a:spcPct val="0"/>
              </a:spcBef>
              <a:buFontTx/>
              <a:buNone/>
            </a:pPr>
            <a:r>
              <a:rPr lang="pt-PT" altLang="en-US" sz="1800"/>
              <a:t>{</a:t>
            </a:r>
          </a:p>
          <a:p>
            <a:pPr eaLnBrk="1" hangingPunct="1">
              <a:spcBef>
                <a:spcPct val="0"/>
              </a:spcBef>
              <a:buFontTx/>
              <a:buNone/>
            </a:pPr>
            <a:r>
              <a:rPr lang="pt-PT" altLang="en-US" sz="1800"/>
              <a:t>     public void aLavar();</a:t>
            </a:r>
          </a:p>
          <a:p>
            <a:pPr eaLnBrk="1" hangingPunct="1">
              <a:spcBef>
                <a:spcPct val="0"/>
              </a:spcBef>
              <a:buFontTx/>
              <a:buNone/>
            </a:pPr>
            <a:r>
              <a:rPr lang="pt-PT" altLang="en-US" sz="1800"/>
              <a:t>}</a:t>
            </a:r>
          </a:p>
        </p:txBody>
      </p:sp>
      <p:pic>
        <p:nvPicPr>
          <p:cNvPr id="18439" name="Picture 6">
            <a:extLst>
              <a:ext uri="{FF2B5EF4-FFF2-40B4-BE49-F238E27FC236}">
                <a16:creationId xmlns:a16="http://schemas.microsoft.com/office/drawing/2014/main" id="{8BE8FF56-EBD9-497C-B704-AFD81CBCD1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1628775"/>
            <a:ext cx="4398963"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Text Box 7">
            <a:extLst>
              <a:ext uri="{FF2B5EF4-FFF2-40B4-BE49-F238E27FC236}">
                <a16:creationId xmlns:a16="http://schemas.microsoft.com/office/drawing/2014/main" id="{9FE01998-1956-4241-A44B-A63E9F87D442}"/>
              </a:ext>
            </a:extLst>
          </p:cNvPr>
          <p:cNvSpPr txBox="1">
            <a:spLocks noChangeArrowheads="1"/>
          </p:cNvSpPr>
          <p:nvPr/>
        </p:nvSpPr>
        <p:spPr bwMode="auto">
          <a:xfrm>
            <a:off x="4716463" y="1700213"/>
            <a:ext cx="442753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2000"/>
              <a:t>solução usando uma</a:t>
            </a:r>
          </a:p>
          <a:p>
            <a:pPr algn="ctr" eaLnBrk="1" hangingPunct="1">
              <a:spcBef>
                <a:spcPct val="0"/>
              </a:spcBef>
              <a:buFontTx/>
              <a:buNone/>
            </a:pPr>
            <a:r>
              <a:rPr lang="pt-PT" altLang="en-US" sz="2000"/>
              <a:t>Superclasse abstracta</a:t>
            </a:r>
          </a:p>
          <a:p>
            <a:pPr algn="ctr" eaLnBrk="1" hangingPunct="1">
              <a:spcBef>
                <a:spcPct val="0"/>
              </a:spcBef>
              <a:buFontTx/>
              <a:buNone/>
            </a:pPr>
            <a:r>
              <a:rPr lang="pt-PT" altLang="en-US" sz="2000"/>
              <a:t> versus</a:t>
            </a:r>
          </a:p>
          <a:p>
            <a:pPr algn="ctr" eaLnBrk="1" hangingPunct="1">
              <a:spcBef>
                <a:spcPct val="0"/>
              </a:spcBef>
              <a:buFontTx/>
              <a:buNone/>
            </a:pPr>
            <a:r>
              <a:rPr lang="pt-PT" altLang="en-US" sz="2000"/>
              <a:t>solução usando uma Interface.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a:extLst>
              <a:ext uri="{FF2B5EF4-FFF2-40B4-BE49-F238E27FC236}">
                <a16:creationId xmlns:a16="http://schemas.microsoft.com/office/drawing/2014/main" id="{C555510D-07B0-4A9E-8E60-27FD896A6A9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19459" name="Slide Number Placeholder 5">
            <a:extLst>
              <a:ext uri="{FF2B5EF4-FFF2-40B4-BE49-F238E27FC236}">
                <a16:creationId xmlns:a16="http://schemas.microsoft.com/office/drawing/2014/main" id="{C1D5D36B-135F-46A4-B5ED-2D5B8E5CAE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E3BD1F7-3B91-49B6-A2B1-A502A72D6A3A}" type="slidenum">
              <a:rPr lang="pt-PT" altLang="en-US" sz="1400" smtClean="0"/>
              <a:pPr>
                <a:spcBef>
                  <a:spcPct val="0"/>
                </a:spcBef>
                <a:buFontTx/>
                <a:buNone/>
              </a:pPr>
              <a:t>17</a:t>
            </a:fld>
            <a:endParaRPr lang="pt-PT" altLang="en-US" sz="1400"/>
          </a:p>
        </p:txBody>
      </p:sp>
      <p:sp>
        <p:nvSpPr>
          <p:cNvPr id="19460" name="Rectangle 2">
            <a:extLst>
              <a:ext uri="{FF2B5EF4-FFF2-40B4-BE49-F238E27FC236}">
                <a16:creationId xmlns:a16="http://schemas.microsoft.com/office/drawing/2014/main" id="{E1165F4F-6451-4773-A7C5-33C124FFEEA9}"/>
              </a:ext>
            </a:extLst>
          </p:cNvPr>
          <p:cNvSpPr>
            <a:spLocks noGrp="1" noChangeArrowheads="1"/>
          </p:cNvSpPr>
          <p:nvPr>
            <p:ph type="title"/>
          </p:nvPr>
        </p:nvSpPr>
        <p:spPr/>
        <p:txBody>
          <a:bodyPr/>
          <a:lstStyle/>
          <a:p>
            <a:pPr eaLnBrk="1" hangingPunct="1"/>
            <a:r>
              <a:rPr lang="pt-PT" altLang="en-US"/>
              <a:t>Interfaces Java1.7</a:t>
            </a:r>
          </a:p>
        </p:txBody>
      </p:sp>
      <p:sp>
        <p:nvSpPr>
          <p:cNvPr id="19461" name="Rectangle 3">
            <a:extLst>
              <a:ext uri="{FF2B5EF4-FFF2-40B4-BE49-F238E27FC236}">
                <a16:creationId xmlns:a16="http://schemas.microsoft.com/office/drawing/2014/main" id="{1919726A-9847-487A-A99D-BCD12EC1295D}"/>
              </a:ext>
            </a:extLst>
          </p:cNvPr>
          <p:cNvSpPr>
            <a:spLocks noGrp="1" noChangeArrowheads="1"/>
          </p:cNvSpPr>
          <p:nvPr>
            <p:ph type="body" idx="1"/>
          </p:nvPr>
        </p:nvSpPr>
        <p:spPr/>
        <p:txBody>
          <a:bodyPr/>
          <a:lstStyle/>
          <a:p>
            <a:pPr eaLnBrk="1" hangingPunct="1"/>
            <a:r>
              <a:rPr lang="pt-PT" altLang="en-US" sz="2400" b="1"/>
              <a:t>A interface </a:t>
            </a:r>
            <a:r>
              <a:rPr lang="pt-PT" altLang="en-US" sz="2400">
                <a:latin typeface="Times New Roman" panose="02020603050405020304" pitchFamily="18" charset="0"/>
              </a:rPr>
              <a:t>Serializable:</a:t>
            </a:r>
          </a:p>
          <a:p>
            <a:pPr lvl="1" eaLnBrk="1" hangingPunct="1"/>
            <a:r>
              <a:rPr lang="pt-PT" altLang="en-US" sz="2000"/>
              <a:t>Torna os objectos das classes que a implementam persistentes. Isto é, são possuidoras de persistência (sendo “serializáveis”). Isto vai ser importante quando falarmos de </a:t>
            </a:r>
            <a:r>
              <a:rPr lang="pt-PT" altLang="en-US" sz="2000">
                <a:latin typeface="Times New Roman" panose="02020603050405020304" pitchFamily="18" charset="0"/>
              </a:rPr>
              <a:t>ObjectStreams</a:t>
            </a:r>
            <a:r>
              <a:rPr lang="pt-PT" altLang="en-US" sz="2000"/>
              <a:t>. Esta interface é um examplo de uma </a:t>
            </a:r>
            <a:r>
              <a:rPr lang="pt-PT" altLang="en-US" sz="2000" i="1"/>
              <a:t>marker interface</a:t>
            </a:r>
            <a:r>
              <a:rPr lang="pt-PT" altLang="en-US" sz="2000"/>
              <a:t>.</a:t>
            </a:r>
          </a:p>
          <a:p>
            <a:pPr eaLnBrk="1" hangingPunct="1"/>
            <a:r>
              <a:rPr lang="pt-PT" altLang="en-US" sz="2400"/>
              <a:t>Interfaces parametrizáveis:</a:t>
            </a:r>
          </a:p>
          <a:p>
            <a:pPr lvl="1" eaLnBrk="1" hangingPunct="1"/>
            <a:r>
              <a:rPr lang="pt-PT" altLang="en-US" sz="2000"/>
              <a:t>Interface </a:t>
            </a:r>
            <a:r>
              <a:rPr lang="pt-PT" altLang="en-US" sz="2000">
                <a:latin typeface="Times New Roman" panose="02020603050405020304" pitchFamily="18" charset="0"/>
              </a:rPr>
              <a:t>Comparable&lt;T&gt;</a:t>
            </a:r>
            <a:r>
              <a:rPr lang="pt-PT" altLang="en-US" sz="2000"/>
              <a:t> está definida </a:t>
            </a:r>
          </a:p>
          <a:p>
            <a:pPr lvl="1" eaLnBrk="1" hangingPunct="1">
              <a:buFontTx/>
              <a:buNone/>
            </a:pPr>
            <a:r>
              <a:rPr lang="pt-PT" altLang="en-US" sz="2000"/>
              <a:t>da seguinte forma genérica:</a:t>
            </a:r>
          </a:p>
          <a:p>
            <a:pPr lvl="2" eaLnBrk="1" hangingPunct="1">
              <a:buFontTx/>
              <a:buNone/>
            </a:pPr>
            <a:r>
              <a:rPr lang="pt-PT" altLang="en-US" sz="1800">
                <a:latin typeface="Times New Roman" panose="02020603050405020304" pitchFamily="18" charset="0"/>
              </a:rPr>
              <a:t>public interface Comparable&lt;T&gt;</a:t>
            </a:r>
          </a:p>
          <a:p>
            <a:pPr lvl="2" eaLnBrk="1" hangingPunct="1">
              <a:buFontTx/>
              <a:buNone/>
            </a:pPr>
            <a:r>
              <a:rPr lang="pt-PT" altLang="en-US" sz="1800">
                <a:latin typeface="Times New Roman" panose="02020603050405020304" pitchFamily="18" charset="0"/>
              </a:rPr>
              <a:t>{</a:t>
            </a:r>
          </a:p>
          <a:p>
            <a:pPr lvl="2" eaLnBrk="1" hangingPunct="1">
              <a:buFontTx/>
              <a:buNone/>
            </a:pPr>
            <a:r>
              <a:rPr lang="pt-PT" altLang="en-US" sz="1800">
                <a:latin typeface="Times New Roman" panose="02020603050405020304" pitchFamily="18" charset="0"/>
              </a:rPr>
              <a:t>	int compareTo (T obj);</a:t>
            </a:r>
          </a:p>
          <a:p>
            <a:pPr lvl="2" eaLnBrk="1" hangingPunct="1">
              <a:buFontTx/>
              <a:buNone/>
            </a:pPr>
            <a:r>
              <a:rPr lang="pt-PT" altLang="en-US" sz="1800">
                <a:latin typeface="Times New Roman" panose="02020603050405020304" pitchFamily="18" charset="0"/>
              </a:rPr>
              <a:t>}</a:t>
            </a:r>
          </a:p>
        </p:txBody>
      </p:sp>
      <p:sp>
        <p:nvSpPr>
          <p:cNvPr id="19462" name="AutoShape 4">
            <a:extLst>
              <a:ext uri="{FF2B5EF4-FFF2-40B4-BE49-F238E27FC236}">
                <a16:creationId xmlns:a16="http://schemas.microsoft.com/office/drawing/2014/main" id="{0E689DAE-2397-4047-9DA5-57C187A5C2EC}"/>
              </a:ext>
            </a:extLst>
          </p:cNvPr>
          <p:cNvSpPr>
            <a:spLocks noChangeArrowheads="1"/>
          </p:cNvSpPr>
          <p:nvPr/>
        </p:nvSpPr>
        <p:spPr bwMode="auto">
          <a:xfrm>
            <a:off x="5651500" y="4005263"/>
            <a:ext cx="3313113" cy="1008062"/>
          </a:xfrm>
          <a:prstGeom prst="wedgeRoundRectCallout">
            <a:avLst>
              <a:gd name="adj1" fmla="val -98204"/>
              <a:gd name="adj2" fmla="val 69370"/>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pt-PT" altLang="en-US" sz="1400"/>
              <a:t>Definição de ordem, por exemplo nas colecções. Classes como </a:t>
            </a:r>
            <a:r>
              <a:rPr lang="pt-PT" altLang="en-US" sz="1400">
                <a:latin typeface="Times New Roman" panose="02020603050405020304" pitchFamily="18" charset="0"/>
              </a:rPr>
              <a:t>Double</a:t>
            </a:r>
            <a:r>
              <a:rPr lang="pt-PT" altLang="en-US" sz="1400"/>
              <a:t> implementam a interface </a:t>
            </a:r>
            <a:r>
              <a:rPr lang="pt-PT" altLang="en-US" sz="1400">
                <a:latin typeface="Times New Roman" panose="02020603050405020304" pitchFamily="18" charset="0"/>
              </a:rPr>
              <a:t>Comparable&lt;Double&gt;</a:t>
            </a:r>
            <a:r>
              <a:rPr lang="pt-PT" altLang="en-US" sz="1400"/>
              <a:t>.</a:t>
            </a:r>
            <a:endParaRPr lang="pt-PT" altLang="en-US" sz="140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a:extLst>
              <a:ext uri="{FF2B5EF4-FFF2-40B4-BE49-F238E27FC236}">
                <a16:creationId xmlns:a16="http://schemas.microsoft.com/office/drawing/2014/main" id="{D2A34BE8-1670-452D-A78E-FE798BBB9DD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20483" name="Slide Number Placeholder 5">
            <a:extLst>
              <a:ext uri="{FF2B5EF4-FFF2-40B4-BE49-F238E27FC236}">
                <a16:creationId xmlns:a16="http://schemas.microsoft.com/office/drawing/2014/main" id="{0F67E24C-367E-4FA3-8076-8FDF0A53BE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E2DE394-B1A5-4BC0-8C22-B0E16A8E6399}" type="slidenum">
              <a:rPr lang="pt-PT" altLang="en-US" sz="1400" smtClean="0"/>
              <a:pPr>
                <a:spcBef>
                  <a:spcPct val="0"/>
                </a:spcBef>
                <a:buFontTx/>
                <a:buNone/>
              </a:pPr>
              <a:t>18</a:t>
            </a:fld>
            <a:endParaRPr lang="pt-PT" altLang="en-US" sz="1400"/>
          </a:p>
        </p:txBody>
      </p:sp>
      <p:sp>
        <p:nvSpPr>
          <p:cNvPr id="20484" name="Rectangle 3">
            <a:extLst>
              <a:ext uri="{FF2B5EF4-FFF2-40B4-BE49-F238E27FC236}">
                <a16:creationId xmlns:a16="http://schemas.microsoft.com/office/drawing/2014/main" id="{D597719C-651E-4D37-835C-F5481E99E762}"/>
              </a:ext>
            </a:extLst>
          </p:cNvPr>
          <p:cNvSpPr>
            <a:spLocks noGrp="1" noChangeArrowheads="1"/>
          </p:cNvSpPr>
          <p:nvPr>
            <p:ph type="body" idx="1"/>
          </p:nvPr>
        </p:nvSpPr>
        <p:spPr>
          <a:xfrm>
            <a:off x="457200" y="1196975"/>
            <a:ext cx="8229600" cy="5400675"/>
          </a:xfrm>
        </p:spPr>
        <p:txBody>
          <a:bodyPr/>
          <a:lstStyle/>
          <a:p>
            <a:pPr eaLnBrk="1" hangingPunct="1">
              <a:lnSpc>
                <a:spcPct val="90000"/>
              </a:lnSpc>
            </a:pPr>
            <a:r>
              <a:rPr lang="pt-PT" altLang="en-US" sz="2400"/>
              <a:t>A interface </a:t>
            </a:r>
            <a:r>
              <a:rPr lang="pt-PT" altLang="en-US" sz="2400">
                <a:latin typeface="Times New Roman" panose="02020603050405020304" pitchFamily="18" charset="0"/>
              </a:rPr>
              <a:t>Iterator&lt;E&gt;</a:t>
            </a:r>
          </a:p>
          <a:p>
            <a:pPr lvl="3" eaLnBrk="1" hangingPunct="1">
              <a:lnSpc>
                <a:spcPct val="90000"/>
              </a:lnSpc>
              <a:buFontTx/>
              <a:buNone/>
            </a:pPr>
            <a:r>
              <a:rPr lang="pt-PT" altLang="en-US">
                <a:latin typeface="Times New Roman" panose="02020603050405020304" pitchFamily="18" charset="0"/>
              </a:rPr>
              <a:t>public interface Iterator&lt;E&gt;</a:t>
            </a:r>
          </a:p>
          <a:p>
            <a:pPr lvl="3" eaLnBrk="1" hangingPunct="1">
              <a:lnSpc>
                <a:spcPct val="90000"/>
              </a:lnSpc>
              <a:buFontTx/>
              <a:buNone/>
            </a:pPr>
            <a:r>
              <a:rPr lang="pt-PT" altLang="en-US">
                <a:latin typeface="Times New Roman" panose="02020603050405020304" pitchFamily="18" charset="0"/>
              </a:rPr>
              <a:t>{ </a:t>
            </a:r>
          </a:p>
          <a:p>
            <a:pPr lvl="3" eaLnBrk="1" hangingPunct="1">
              <a:lnSpc>
                <a:spcPct val="90000"/>
              </a:lnSpc>
              <a:buFontTx/>
              <a:buNone/>
            </a:pPr>
            <a:r>
              <a:rPr lang="pt-PT" altLang="en-US">
                <a:latin typeface="Times New Roman" panose="02020603050405020304" pitchFamily="18" charset="0"/>
              </a:rPr>
              <a:t>	public boolean hasNext();</a:t>
            </a:r>
          </a:p>
          <a:p>
            <a:pPr lvl="3" eaLnBrk="1" hangingPunct="1">
              <a:lnSpc>
                <a:spcPct val="90000"/>
              </a:lnSpc>
              <a:buFontTx/>
              <a:buNone/>
            </a:pPr>
            <a:r>
              <a:rPr lang="pt-PT" altLang="en-US">
                <a:latin typeface="Times New Roman" panose="02020603050405020304" pitchFamily="18" charset="0"/>
              </a:rPr>
              <a:t>	public E next();</a:t>
            </a:r>
          </a:p>
          <a:p>
            <a:pPr lvl="3" eaLnBrk="1" hangingPunct="1">
              <a:lnSpc>
                <a:spcPct val="90000"/>
              </a:lnSpc>
              <a:buFontTx/>
              <a:buNone/>
            </a:pPr>
            <a:r>
              <a:rPr lang="pt-PT" altLang="en-US">
                <a:latin typeface="Times New Roman" panose="02020603050405020304" pitchFamily="18" charset="0"/>
              </a:rPr>
              <a:t>	public void remove();</a:t>
            </a:r>
          </a:p>
          <a:p>
            <a:pPr lvl="3" eaLnBrk="1" hangingPunct="1">
              <a:lnSpc>
                <a:spcPct val="90000"/>
              </a:lnSpc>
              <a:buFontTx/>
              <a:buNone/>
            </a:pPr>
            <a:r>
              <a:rPr lang="pt-PT" altLang="en-US">
                <a:latin typeface="Times New Roman" panose="02020603050405020304" pitchFamily="18" charset="0"/>
              </a:rPr>
              <a:t>}</a:t>
            </a:r>
          </a:p>
          <a:p>
            <a:pPr eaLnBrk="1" hangingPunct="1">
              <a:lnSpc>
                <a:spcPct val="90000"/>
              </a:lnSpc>
            </a:pPr>
            <a:r>
              <a:rPr lang="pt-PT" altLang="en-US" sz="2400"/>
              <a:t>Aplicações em ArrayList:</a:t>
            </a:r>
          </a:p>
          <a:p>
            <a:pPr lvl="2" eaLnBrk="1" hangingPunct="1">
              <a:lnSpc>
                <a:spcPct val="90000"/>
              </a:lnSpc>
              <a:buFontTx/>
              <a:buNone/>
            </a:pPr>
            <a:r>
              <a:rPr lang="pt-PT" altLang="en-US" sz="1800">
                <a:latin typeface="Times New Roman" panose="02020603050405020304" pitchFamily="18" charset="0"/>
              </a:rPr>
              <a:t>ArrayList&lt;String&gt; lista = new ArrayList&lt;String&gt;();</a:t>
            </a:r>
          </a:p>
          <a:p>
            <a:pPr lvl="2" eaLnBrk="1" hangingPunct="1">
              <a:lnSpc>
                <a:spcPct val="90000"/>
              </a:lnSpc>
              <a:buFontTx/>
              <a:buNone/>
            </a:pPr>
            <a:r>
              <a:rPr lang="pt-PT" altLang="en-US" sz="1800">
                <a:latin typeface="Times New Roman" panose="02020603050405020304" pitchFamily="18" charset="0"/>
              </a:rPr>
              <a:t>String temp = “”;</a:t>
            </a:r>
          </a:p>
          <a:p>
            <a:pPr lvl="2" eaLnBrk="1" hangingPunct="1">
              <a:lnSpc>
                <a:spcPct val="90000"/>
              </a:lnSpc>
              <a:buFontTx/>
              <a:buNone/>
            </a:pPr>
            <a:r>
              <a:rPr lang="pt-PT" altLang="en-US" sz="1800">
                <a:latin typeface="Times New Roman" panose="02020603050405020304" pitchFamily="18" charset="0"/>
              </a:rPr>
              <a:t>for(Iterator&lt;String&gt; i = lista.iterator(); i.hasNext();)</a:t>
            </a:r>
          </a:p>
          <a:p>
            <a:pPr lvl="3" eaLnBrk="1" hangingPunct="1">
              <a:lnSpc>
                <a:spcPct val="90000"/>
              </a:lnSpc>
              <a:buFontTx/>
              <a:buNone/>
            </a:pPr>
            <a:r>
              <a:rPr lang="pt-PT" altLang="en-US" sz="1800">
                <a:latin typeface="Times New Roman" panose="02020603050405020304" pitchFamily="18" charset="0"/>
              </a:rPr>
              <a:t>temp += i.next();</a:t>
            </a:r>
          </a:p>
          <a:p>
            <a:pPr eaLnBrk="1" hangingPunct="1">
              <a:lnSpc>
                <a:spcPct val="90000"/>
              </a:lnSpc>
            </a:pPr>
            <a:r>
              <a:rPr lang="pt-PT" altLang="en-US" sz="2400">
                <a:latin typeface="Times New Roman" panose="02020603050405020304" pitchFamily="18" charset="0"/>
              </a:rPr>
              <a:t>Equivalente a:</a:t>
            </a:r>
          </a:p>
          <a:p>
            <a:pPr lvl="2" eaLnBrk="1" hangingPunct="1">
              <a:lnSpc>
                <a:spcPct val="90000"/>
              </a:lnSpc>
              <a:buFontTx/>
              <a:buNone/>
            </a:pPr>
            <a:r>
              <a:rPr lang="pt-PT" altLang="en-US" sz="1800">
                <a:latin typeface="Times New Roman" panose="02020603050405020304" pitchFamily="18" charset="0"/>
              </a:rPr>
              <a:t>ArrayList&lt;String&gt; lista = new ArrayList&lt;String&gt;();</a:t>
            </a:r>
          </a:p>
          <a:p>
            <a:pPr lvl="2" eaLnBrk="1" hangingPunct="1">
              <a:lnSpc>
                <a:spcPct val="90000"/>
              </a:lnSpc>
              <a:buFontTx/>
              <a:buNone/>
            </a:pPr>
            <a:r>
              <a:rPr lang="pt-PT" altLang="en-US" sz="1800">
                <a:latin typeface="Times New Roman" panose="02020603050405020304" pitchFamily="18" charset="0"/>
              </a:rPr>
              <a:t>String temp = “”;</a:t>
            </a:r>
          </a:p>
          <a:p>
            <a:pPr lvl="2" eaLnBrk="1" hangingPunct="1">
              <a:lnSpc>
                <a:spcPct val="90000"/>
              </a:lnSpc>
              <a:buFontTx/>
              <a:buNone/>
            </a:pPr>
            <a:r>
              <a:rPr lang="pt-PT" altLang="en-US" sz="1800">
                <a:latin typeface="Times New Roman" panose="02020603050405020304" pitchFamily="18" charset="0"/>
              </a:rPr>
              <a:t>for(String a:lista) temp += a;</a:t>
            </a:r>
          </a:p>
          <a:p>
            <a:pPr lvl="1" eaLnBrk="1" hangingPunct="1">
              <a:lnSpc>
                <a:spcPct val="90000"/>
              </a:lnSpc>
            </a:pPr>
            <a:endParaRPr lang="pt-PT" altLang="en-US" sz="1800">
              <a:latin typeface="Times New Roman" panose="02020603050405020304" pitchFamily="18" charset="0"/>
            </a:endParaRPr>
          </a:p>
        </p:txBody>
      </p:sp>
      <p:sp>
        <p:nvSpPr>
          <p:cNvPr id="20485" name="Rectangle 4">
            <a:extLst>
              <a:ext uri="{FF2B5EF4-FFF2-40B4-BE49-F238E27FC236}">
                <a16:creationId xmlns:a16="http://schemas.microsoft.com/office/drawing/2014/main" id="{30CEDB56-A153-4342-AEB5-3BB06850D31F}"/>
              </a:ext>
            </a:extLst>
          </p:cNvPr>
          <p:cNvSpPr>
            <a:spLocks noGrp="1" noChangeArrowheads="1"/>
          </p:cNvSpPr>
          <p:nvPr>
            <p:ph type="title"/>
          </p:nvPr>
        </p:nvSpPr>
        <p:spPr>
          <a:xfrm>
            <a:off x="457200" y="125413"/>
            <a:ext cx="8229600" cy="1143000"/>
          </a:xfrm>
          <a:noFill/>
        </p:spPr>
        <p:txBody>
          <a:bodyPr/>
          <a:lstStyle/>
          <a:p>
            <a:pPr eaLnBrk="1" hangingPunct="1"/>
            <a:r>
              <a:rPr lang="pt-PT" altLang="en-US"/>
              <a:t>Interfaces Java1.7 (cont)</a:t>
            </a:r>
          </a:p>
        </p:txBody>
      </p:sp>
      <p:sp>
        <p:nvSpPr>
          <p:cNvPr id="20486" name="AutoShape 5">
            <a:extLst>
              <a:ext uri="{FF2B5EF4-FFF2-40B4-BE49-F238E27FC236}">
                <a16:creationId xmlns:a16="http://schemas.microsoft.com/office/drawing/2014/main" id="{DF726E43-850E-4106-9570-9C52DE406BF2}"/>
              </a:ext>
            </a:extLst>
          </p:cNvPr>
          <p:cNvSpPr>
            <a:spLocks noChangeArrowheads="1"/>
          </p:cNvSpPr>
          <p:nvPr/>
        </p:nvSpPr>
        <p:spPr bwMode="auto">
          <a:xfrm>
            <a:off x="5148263" y="1268413"/>
            <a:ext cx="4248150" cy="1657350"/>
          </a:xfrm>
          <a:prstGeom prst="wedgeRoundRectCallout">
            <a:avLst>
              <a:gd name="adj1" fmla="val -47162"/>
              <a:gd name="adj2" fmla="val 108431"/>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2000"/>
              <a:t>Equivalente a:</a:t>
            </a:r>
          </a:p>
          <a:p>
            <a:pPr eaLnBrk="1" hangingPunct="1">
              <a:spcBef>
                <a:spcPct val="0"/>
              </a:spcBef>
              <a:buFontTx/>
              <a:buNone/>
            </a:pPr>
            <a:r>
              <a:rPr lang="pt-PT" altLang="en-US" sz="1400">
                <a:latin typeface="Times New Roman" panose="02020603050405020304" pitchFamily="18" charset="0"/>
              </a:rPr>
              <a:t>ArrayList&lt;String&gt; lista = new ArrayList&lt;String&gt;();</a:t>
            </a:r>
          </a:p>
          <a:p>
            <a:pPr eaLnBrk="1" hangingPunct="1">
              <a:spcBef>
                <a:spcPct val="0"/>
              </a:spcBef>
              <a:buFontTx/>
              <a:buNone/>
            </a:pPr>
            <a:r>
              <a:rPr lang="pt-PT" altLang="en-US" sz="1400">
                <a:latin typeface="Times New Roman" panose="02020603050405020304" pitchFamily="18" charset="0"/>
              </a:rPr>
              <a:t>Iterator&lt;String&gt; i = lista.iterator();</a:t>
            </a:r>
          </a:p>
          <a:p>
            <a:pPr eaLnBrk="1" hangingPunct="1">
              <a:spcBef>
                <a:spcPct val="0"/>
              </a:spcBef>
              <a:buFontTx/>
              <a:buNone/>
            </a:pPr>
            <a:r>
              <a:rPr lang="pt-PT" altLang="en-US" sz="1400">
                <a:latin typeface="Times New Roman" panose="02020603050405020304" pitchFamily="18" charset="0"/>
              </a:rPr>
              <a:t>String temp = “”;</a:t>
            </a:r>
          </a:p>
          <a:p>
            <a:pPr eaLnBrk="1" hangingPunct="1">
              <a:spcBef>
                <a:spcPct val="0"/>
              </a:spcBef>
              <a:buFontTx/>
              <a:buNone/>
            </a:pPr>
            <a:r>
              <a:rPr lang="pt-PT" altLang="en-US" sz="1400">
                <a:latin typeface="Times New Roman" panose="02020603050405020304" pitchFamily="18" charset="0"/>
              </a:rPr>
              <a:t>while(i.hasNext())</a:t>
            </a:r>
          </a:p>
          <a:p>
            <a:pPr eaLnBrk="1" hangingPunct="1">
              <a:spcBef>
                <a:spcPct val="0"/>
              </a:spcBef>
              <a:buFontTx/>
              <a:buNone/>
            </a:pPr>
            <a:r>
              <a:rPr lang="pt-PT" altLang="en-US" sz="1400">
                <a:latin typeface="Times New Roman" panose="02020603050405020304" pitchFamily="18" charset="0"/>
              </a:rPr>
              <a:t>        temp += i.next();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F694C-1C0D-464E-9281-EDEB5D8965ED}"/>
              </a:ext>
            </a:extLst>
          </p:cNvPr>
          <p:cNvSpPr>
            <a:spLocks noGrp="1"/>
          </p:cNvSpPr>
          <p:nvPr>
            <p:ph type="title"/>
          </p:nvPr>
        </p:nvSpPr>
        <p:spPr>
          <a:xfrm>
            <a:off x="457200" y="44624"/>
            <a:ext cx="8229600" cy="1143000"/>
          </a:xfrm>
        </p:spPr>
        <p:txBody>
          <a:bodyPr/>
          <a:lstStyle/>
          <a:p>
            <a:r>
              <a:rPr lang="pt-PT" sz="4000" dirty="0"/>
              <a:t>Casos peculiares e interessantes</a:t>
            </a:r>
          </a:p>
        </p:txBody>
      </p:sp>
      <p:sp>
        <p:nvSpPr>
          <p:cNvPr id="4" name="Footer Placeholder 3">
            <a:extLst>
              <a:ext uri="{FF2B5EF4-FFF2-40B4-BE49-F238E27FC236}">
                <a16:creationId xmlns:a16="http://schemas.microsoft.com/office/drawing/2014/main" id="{28209F89-0A8D-4AED-903E-B919CC8CA7AE}"/>
              </a:ext>
            </a:extLst>
          </p:cNvPr>
          <p:cNvSpPr>
            <a:spLocks noGrp="1"/>
          </p:cNvSpPr>
          <p:nvPr>
            <p:ph type="ftr" sz="quarter" idx="11"/>
          </p:nvPr>
        </p:nvSpPr>
        <p:spPr/>
        <p:txBody>
          <a:bodyPr/>
          <a:lstStyle/>
          <a:p>
            <a:pPr>
              <a:defRPr/>
            </a:pPr>
            <a:r>
              <a:rPr lang="pt-PT"/>
              <a:t>Programação Orientada aos Objetos</a:t>
            </a:r>
          </a:p>
        </p:txBody>
      </p:sp>
      <p:sp>
        <p:nvSpPr>
          <p:cNvPr id="5" name="Slide Number Placeholder 4">
            <a:extLst>
              <a:ext uri="{FF2B5EF4-FFF2-40B4-BE49-F238E27FC236}">
                <a16:creationId xmlns:a16="http://schemas.microsoft.com/office/drawing/2014/main" id="{2EA55720-18DC-4487-94B4-83BDE74F9152}"/>
              </a:ext>
            </a:extLst>
          </p:cNvPr>
          <p:cNvSpPr>
            <a:spLocks noGrp="1"/>
          </p:cNvSpPr>
          <p:nvPr>
            <p:ph type="sldNum" sz="quarter" idx="12"/>
          </p:nvPr>
        </p:nvSpPr>
        <p:spPr/>
        <p:txBody>
          <a:bodyPr/>
          <a:lstStyle/>
          <a:p>
            <a:pPr>
              <a:defRPr/>
            </a:pPr>
            <a:fld id="{D7E87FE3-1741-4FA7-BDA6-01B7D32BBB23}" type="slidenum">
              <a:rPr lang="pt-PT" altLang="en-US" smtClean="0"/>
              <a:pPr>
                <a:defRPr/>
              </a:pPr>
              <a:t>19</a:t>
            </a:fld>
            <a:endParaRPr lang="pt-PT" altLang="en-US"/>
          </a:p>
        </p:txBody>
      </p:sp>
      <p:sp>
        <p:nvSpPr>
          <p:cNvPr id="6" name="Rectangle 5">
            <a:extLst>
              <a:ext uri="{FF2B5EF4-FFF2-40B4-BE49-F238E27FC236}">
                <a16:creationId xmlns:a16="http://schemas.microsoft.com/office/drawing/2014/main" id="{24E4E89D-E845-4272-9A9D-052322FBECC2}"/>
              </a:ext>
            </a:extLst>
          </p:cNvPr>
          <p:cNvSpPr/>
          <p:nvPr/>
        </p:nvSpPr>
        <p:spPr>
          <a:xfrm>
            <a:off x="1403648" y="2348880"/>
            <a:ext cx="1728192"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classe A</a:t>
            </a:r>
          </a:p>
        </p:txBody>
      </p:sp>
      <p:sp>
        <p:nvSpPr>
          <p:cNvPr id="7" name="Rectangle 6">
            <a:extLst>
              <a:ext uri="{FF2B5EF4-FFF2-40B4-BE49-F238E27FC236}">
                <a16:creationId xmlns:a16="http://schemas.microsoft.com/office/drawing/2014/main" id="{F507ACFB-25C5-4BB9-97F0-82909DDA9FE0}"/>
              </a:ext>
            </a:extLst>
          </p:cNvPr>
          <p:cNvSpPr/>
          <p:nvPr/>
        </p:nvSpPr>
        <p:spPr>
          <a:xfrm>
            <a:off x="611560" y="4797152"/>
            <a:ext cx="1728192"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classe B</a:t>
            </a:r>
          </a:p>
        </p:txBody>
      </p:sp>
      <p:sp>
        <p:nvSpPr>
          <p:cNvPr id="8" name="Rectangle 7">
            <a:extLst>
              <a:ext uri="{FF2B5EF4-FFF2-40B4-BE49-F238E27FC236}">
                <a16:creationId xmlns:a16="http://schemas.microsoft.com/office/drawing/2014/main" id="{89122DF1-1073-466F-98FC-2E57F6870597}"/>
              </a:ext>
            </a:extLst>
          </p:cNvPr>
          <p:cNvSpPr/>
          <p:nvPr/>
        </p:nvSpPr>
        <p:spPr>
          <a:xfrm>
            <a:off x="2843808" y="4797152"/>
            <a:ext cx="1728192"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classe C</a:t>
            </a:r>
          </a:p>
        </p:txBody>
      </p:sp>
      <p:sp>
        <p:nvSpPr>
          <p:cNvPr id="9" name="Rectangle 8">
            <a:extLst>
              <a:ext uri="{FF2B5EF4-FFF2-40B4-BE49-F238E27FC236}">
                <a16:creationId xmlns:a16="http://schemas.microsoft.com/office/drawing/2014/main" id="{428C1537-9423-4C01-8F70-FCB3F50136BF}"/>
              </a:ext>
            </a:extLst>
          </p:cNvPr>
          <p:cNvSpPr/>
          <p:nvPr/>
        </p:nvSpPr>
        <p:spPr>
          <a:xfrm>
            <a:off x="4355976" y="3437384"/>
            <a:ext cx="1296144" cy="42852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interface X</a:t>
            </a:r>
          </a:p>
        </p:txBody>
      </p:sp>
      <p:cxnSp>
        <p:nvCxnSpPr>
          <p:cNvPr id="11" name="Straight Connector 10">
            <a:extLst>
              <a:ext uri="{FF2B5EF4-FFF2-40B4-BE49-F238E27FC236}">
                <a16:creationId xmlns:a16="http://schemas.microsoft.com/office/drawing/2014/main" id="{8A3BD24E-2928-47B4-BDE5-84596E489C98}"/>
              </a:ext>
            </a:extLst>
          </p:cNvPr>
          <p:cNvCxnSpPr>
            <a:cxnSpLocks/>
            <a:stCxn id="6" idx="2"/>
          </p:cNvCxnSpPr>
          <p:nvPr/>
        </p:nvCxnSpPr>
        <p:spPr>
          <a:xfrm>
            <a:off x="2267744" y="3212976"/>
            <a:ext cx="0" cy="1224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0E03E49-F18C-46C3-BE09-B42AA57DCBA0}"/>
              </a:ext>
            </a:extLst>
          </p:cNvPr>
          <p:cNvCxnSpPr/>
          <p:nvPr/>
        </p:nvCxnSpPr>
        <p:spPr>
          <a:xfrm>
            <a:off x="1619672" y="4437112"/>
            <a:ext cx="20162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BF9BB7F-3F94-405E-B552-BF9C6C524069}"/>
              </a:ext>
            </a:extLst>
          </p:cNvPr>
          <p:cNvCxnSpPr/>
          <p:nvPr/>
        </p:nvCxnSpPr>
        <p:spPr>
          <a:xfrm>
            <a:off x="1619672" y="4437112"/>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8D24B77-6101-48E9-BAC2-527D8EDFD00A}"/>
              </a:ext>
            </a:extLst>
          </p:cNvPr>
          <p:cNvCxnSpPr/>
          <p:nvPr/>
        </p:nvCxnSpPr>
        <p:spPr>
          <a:xfrm>
            <a:off x="3635896" y="4437112"/>
            <a:ext cx="0" cy="360040"/>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5276FD6-45ED-4C8F-BEE3-B38A0CC3144B}"/>
              </a:ext>
            </a:extLst>
          </p:cNvPr>
          <p:cNvSpPr/>
          <p:nvPr/>
        </p:nvSpPr>
        <p:spPr>
          <a:xfrm>
            <a:off x="6516216" y="4293095"/>
            <a:ext cx="1728192" cy="12961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classe PTO</a:t>
            </a:r>
          </a:p>
          <a:p>
            <a:pPr algn="just"/>
            <a:endParaRPr lang="pt-PT" sz="1400" dirty="0"/>
          </a:p>
          <a:p>
            <a:pPr algn="just"/>
            <a:r>
              <a:rPr lang="pt-PT" sz="1400" dirty="0"/>
              <a:t>-var </a:t>
            </a:r>
            <a:r>
              <a:rPr lang="pt-PT" sz="1400" dirty="0" err="1"/>
              <a:t>ArrayList</a:t>
            </a:r>
            <a:r>
              <a:rPr lang="pt-PT" sz="1400" dirty="0"/>
              <a:t>&lt;X&gt;</a:t>
            </a:r>
          </a:p>
        </p:txBody>
      </p:sp>
      <p:cxnSp>
        <p:nvCxnSpPr>
          <p:cNvPr id="20" name="Straight Arrow Connector 19">
            <a:extLst>
              <a:ext uri="{FF2B5EF4-FFF2-40B4-BE49-F238E27FC236}">
                <a16:creationId xmlns:a16="http://schemas.microsoft.com/office/drawing/2014/main" id="{3587B04A-9A01-4F57-92C0-7E87E35DCEB2}"/>
              </a:ext>
            </a:extLst>
          </p:cNvPr>
          <p:cNvCxnSpPr>
            <a:cxnSpLocks/>
          </p:cNvCxnSpPr>
          <p:nvPr/>
        </p:nvCxnSpPr>
        <p:spPr>
          <a:xfrm flipH="1">
            <a:off x="2339752" y="3645024"/>
            <a:ext cx="2016224" cy="1296144"/>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E5A27B62-2042-4C1E-BC38-D26F7E350050}"/>
              </a:ext>
            </a:extLst>
          </p:cNvPr>
          <p:cNvCxnSpPr>
            <a:stCxn id="9" idx="3"/>
            <a:endCxn id="18" idx="0"/>
          </p:cNvCxnSpPr>
          <p:nvPr/>
        </p:nvCxnSpPr>
        <p:spPr>
          <a:xfrm>
            <a:off x="5652120" y="3651647"/>
            <a:ext cx="1728192" cy="641448"/>
          </a:xfrm>
          <a:prstGeom prst="straightConnector1">
            <a:avLst/>
          </a:pr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 name="TextBox 28">
            <a:extLst>
              <a:ext uri="{FF2B5EF4-FFF2-40B4-BE49-F238E27FC236}">
                <a16:creationId xmlns:a16="http://schemas.microsoft.com/office/drawing/2014/main" id="{E4ED8A3F-148A-459F-9E86-36F8EB52452F}"/>
              </a:ext>
            </a:extLst>
          </p:cNvPr>
          <p:cNvSpPr txBox="1"/>
          <p:nvPr/>
        </p:nvSpPr>
        <p:spPr>
          <a:xfrm rot="1300024">
            <a:off x="6012160" y="3719146"/>
            <a:ext cx="838691" cy="246221"/>
          </a:xfrm>
          <a:prstGeom prst="rect">
            <a:avLst/>
          </a:prstGeom>
          <a:noFill/>
        </p:spPr>
        <p:txBody>
          <a:bodyPr wrap="none" rtlCol="0">
            <a:spAutoFit/>
          </a:bodyPr>
          <a:lstStyle/>
          <a:p>
            <a:r>
              <a:rPr lang="pt-PT" sz="1000" dirty="0" err="1"/>
              <a:t>implements</a:t>
            </a:r>
            <a:endParaRPr lang="pt-PT" sz="1000" dirty="0"/>
          </a:p>
        </p:txBody>
      </p:sp>
      <p:sp>
        <p:nvSpPr>
          <p:cNvPr id="30" name="TextBox 29">
            <a:extLst>
              <a:ext uri="{FF2B5EF4-FFF2-40B4-BE49-F238E27FC236}">
                <a16:creationId xmlns:a16="http://schemas.microsoft.com/office/drawing/2014/main" id="{231C607E-6EE9-4107-AFAF-A6B439F06016}"/>
              </a:ext>
            </a:extLst>
          </p:cNvPr>
          <p:cNvSpPr txBox="1"/>
          <p:nvPr/>
        </p:nvSpPr>
        <p:spPr>
          <a:xfrm rot="19540335">
            <a:off x="3219674" y="3871546"/>
            <a:ext cx="838691" cy="246221"/>
          </a:xfrm>
          <a:prstGeom prst="rect">
            <a:avLst/>
          </a:prstGeom>
          <a:noFill/>
        </p:spPr>
        <p:txBody>
          <a:bodyPr wrap="none" rtlCol="0">
            <a:spAutoFit/>
          </a:bodyPr>
          <a:lstStyle/>
          <a:p>
            <a:r>
              <a:rPr lang="pt-PT" sz="1000" dirty="0" err="1"/>
              <a:t>implements</a:t>
            </a:r>
            <a:endParaRPr lang="pt-PT" sz="1000" dirty="0"/>
          </a:p>
        </p:txBody>
      </p:sp>
      <p:sp>
        <p:nvSpPr>
          <p:cNvPr id="31" name="TextBox 30">
            <a:extLst>
              <a:ext uri="{FF2B5EF4-FFF2-40B4-BE49-F238E27FC236}">
                <a16:creationId xmlns:a16="http://schemas.microsoft.com/office/drawing/2014/main" id="{CA6B13C6-2470-4A4E-AF45-682200863B0A}"/>
              </a:ext>
            </a:extLst>
          </p:cNvPr>
          <p:cNvSpPr txBox="1"/>
          <p:nvPr/>
        </p:nvSpPr>
        <p:spPr>
          <a:xfrm rot="17483581">
            <a:off x="4564261" y="4454706"/>
            <a:ext cx="838691" cy="246221"/>
          </a:xfrm>
          <a:prstGeom prst="rect">
            <a:avLst/>
          </a:prstGeom>
          <a:noFill/>
        </p:spPr>
        <p:txBody>
          <a:bodyPr wrap="none" rtlCol="0">
            <a:spAutoFit/>
          </a:bodyPr>
          <a:lstStyle/>
          <a:p>
            <a:r>
              <a:rPr lang="pt-PT" sz="1000" dirty="0" err="1"/>
              <a:t>implements</a:t>
            </a:r>
            <a:endParaRPr lang="pt-PT" sz="1000" dirty="0"/>
          </a:p>
        </p:txBody>
      </p:sp>
      <p:sp>
        <p:nvSpPr>
          <p:cNvPr id="32" name="Rectangle 31">
            <a:extLst>
              <a:ext uri="{FF2B5EF4-FFF2-40B4-BE49-F238E27FC236}">
                <a16:creationId xmlns:a16="http://schemas.microsoft.com/office/drawing/2014/main" id="{3570777D-18DF-48BB-B821-FFE29C07ECA1}"/>
              </a:ext>
            </a:extLst>
          </p:cNvPr>
          <p:cNvSpPr/>
          <p:nvPr/>
        </p:nvSpPr>
        <p:spPr>
          <a:xfrm>
            <a:off x="2843808" y="5877272"/>
            <a:ext cx="1728192"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classe D</a:t>
            </a:r>
          </a:p>
        </p:txBody>
      </p:sp>
      <p:cxnSp>
        <p:nvCxnSpPr>
          <p:cNvPr id="34" name="Straight Connector 33">
            <a:extLst>
              <a:ext uri="{FF2B5EF4-FFF2-40B4-BE49-F238E27FC236}">
                <a16:creationId xmlns:a16="http://schemas.microsoft.com/office/drawing/2014/main" id="{3120586E-34B6-4218-BB0E-C779B44A692D}"/>
              </a:ext>
            </a:extLst>
          </p:cNvPr>
          <p:cNvCxnSpPr>
            <a:stCxn id="8" idx="2"/>
            <a:endCxn id="32" idx="0"/>
          </p:cNvCxnSpPr>
          <p:nvPr/>
        </p:nvCxnSpPr>
        <p:spPr>
          <a:xfrm>
            <a:off x="3707904" y="5661248"/>
            <a:ext cx="0"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B999528A-A777-4C74-8A1E-4C2412987E7B}"/>
              </a:ext>
            </a:extLst>
          </p:cNvPr>
          <p:cNvCxnSpPr>
            <a:cxnSpLocks/>
          </p:cNvCxnSpPr>
          <p:nvPr/>
        </p:nvCxnSpPr>
        <p:spPr>
          <a:xfrm flipH="1">
            <a:off x="4572000" y="3865909"/>
            <a:ext cx="720079" cy="2083371"/>
          </a:xfrm>
          <a:prstGeom prst="straightConnector1">
            <a:avLst/>
          </a:pr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9" name="Speech Bubble: Rectangle 38">
            <a:extLst>
              <a:ext uri="{FF2B5EF4-FFF2-40B4-BE49-F238E27FC236}">
                <a16:creationId xmlns:a16="http://schemas.microsoft.com/office/drawing/2014/main" id="{8CBD568D-F844-4B72-93F2-9CDD157B902E}"/>
              </a:ext>
            </a:extLst>
          </p:cNvPr>
          <p:cNvSpPr/>
          <p:nvPr/>
        </p:nvSpPr>
        <p:spPr>
          <a:xfrm>
            <a:off x="6228184" y="1049061"/>
            <a:ext cx="2808312" cy="2307931"/>
          </a:xfrm>
          <a:prstGeom prst="wedgeRectCallout">
            <a:avLst>
              <a:gd name="adj1" fmla="val 11727"/>
              <a:gd name="adj2" fmla="val 877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dirty="0">
                <a:solidFill>
                  <a:schemeClr val="tx1"/>
                </a:solidFill>
              </a:rPr>
              <a:t>Classe PTO tem lista de objetos do tipo X sendo que PTO também é um X. Logo var de instância de PTO que é uma lista de X pode ter objetos de PTO!!</a:t>
            </a:r>
          </a:p>
        </p:txBody>
      </p:sp>
    </p:spTree>
    <p:extLst>
      <p:ext uri="{BB962C8B-B14F-4D97-AF65-F5344CB8AC3E}">
        <p14:creationId xmlns:p14="http://schemas.microsoft.com/office/powerpoint/2010/main" val="1867966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0B97C-DC1D-4AA1-ACDA-6EFB6F221D01}"/>
              </a:ext>
            </a:extLst>
          </p:cNvPr>
          <p:cNvSpPr>
            <a:spLocks noGrp="1"/>
          </p:cNvSpPr>
          <p:nvPr>
            <p:ph type="title"/>
          </p:nvPr>
        </p:nvSpPr>
        <p:spPr/>
        <p:txBody>
          <a:bodyPr/>
          <a:lstStyle/>
          <a:p>
            <a:r>
              <a:rPr lang="pt-PT" dirty="0"/>
              <a:t>Interfaces da API do Java</a:t>
            </a:r>
          </a:p>
        </p:txBody>
      </p:sp>
      <p:sp>
        <p:nvSpPr>
          <p:cNvPr id="3" name="Content Placeholder 2">
            <a:extLst>
              <a:ext uri="{FF2B5EF4-FFF2-40B4-BE49-F238E27FC236}">
                <a16:creationId xmlns:a16="http://schemas.microsoft.com/office/drawing/2014/main" id="{8EF4A8E0-C5EC-468A-AA57-5856CF5C1DB0}"/>
              </a:ext>
            </a:extLst>
          </p:cNvPr>
          <p:cNvSpPr>
            <a:spLocks noGrp="1"/>
          </p:cNvSpPr>
          <p:nvPr>
            <p:ph idx="1"/>
          </p:nvPr>
        </p:nvSpPr>
        <p:spPr>
          <a:xfrm>
            <a:off x="457200" y="1600200"/>
            <a:ext cx="8229600" cy="4997450"/>
          </a:xfrm>
        </p:spPr>
        <p:txBody>
          <a:bodyPr/>
          <a:lstStyle/>
          <a:p>
            <a:r>
              <a:rPr lang="pt-PT" i="1" dirty="0" err="1"/>
              <a:t>Iterator</a:t>
            </a:r>
            <a:endParaRPr lang="pt-PT" i="1" dirty="0"/>
          </a:p>
          <a:p>
            <a:endParaRPr lang="pt-PT" dirty="0"/>
          </a:p>
          <a:p>
            <a:r>
              <a:rPr lang="pt-PT" i="1" dirty="0" err="1"/>
              <a:t>List</a:t>
            </a:r>
            <a:endParaRPr lang="pt-PT" i="1" dirty="0"/>
          </a:p>
          <a:p>
            <a:r>
              <a:rPr lang="pt-PT" i="1" dirty="0" err="1"/>
              <a:t>Map</a:t>
            </a:r>
            <a:endParaRPr lang="pt-PT" i="1" dirty="0"/>
          </a:p>
          <a:p>
            <a:r>
              <a:rPr lang="pt-PT" i="1" dirty="0"/>
              <a:t>Set</a:t>
            </a:r>
          </a:p>
          <a:p>
            <a:endParaRPr lang="pt-PT" i="1" dirty="0"/>
          </a:p>
          <a:p>
            <a:r>
              <a:rPr lang="pt-PT" i="1" dirty="0" err="1"/>
              <a:t>Queue</a:t>
            </a:r>
            <a:endParaRPr lang="pt-PT" i="1" dirty="0"/>
          </a:p>
          <a:p>
            <a:endParaRPr lang="pt-PT" dirty="0"/>
          </a:p>
        </p:txBody>
      </p:sp>
      <p:sp>
        <p:nvSpPr>
          <p:cNvPr id="4" name="Footer Placeholder 3">
            <a:extLst>
              <a:ext uri="{FF2B5EF4-FFF2-40B4-BE49-F238E27FC236}">
                <a16:creationId xmlns:a16="http://schemas.microsoft.com/office/drawing/2014/main" id="{C3DFFBD6-DADA-4B2A-9464-549351D1CD24}"/>
              </a:ext>
            </a:extLst>
          </p:cNvPr>
          <p:cNvSpPr>
            <a:spLocks noGrp="1"/>
          </p:cNvSpPr>
          <p:nvPr>
            <p:ph type="ftr" sz="quarter" idx="11"/>
          </p:nvPr>
        </p:nvSpPr>
        <p:spPr/>
        <p:txBody>
          <a:bodyPr/>
          <a:lstStyle/>
          <a:p>
            <a:pPr>
              <a:defRPr/>
            </a:pPr>
            <a:r>
              <a:rPr lang="pt-PT"/>
              <a:t>Programação Orientada aos Objetos</a:t>
            </a:r>
          </a:p>
        </p:txBody>
      </p:sp>
      <p:sp>
        <p:nvSpPr>
          <p:cNvPr id="5" name="Slide Number Placeholder 4">
            <a:extLst>
              <a:ext uri="{FF2B5EF4-FFF2-40B4-BE49-F238E27FC236}">
                <a16:creationId xmlns:a16="http://schemas.microsoft.com/office/drawing/2014/main" id="{DB1854AC-8D4E-40D4-921F-7616AB0EC3E2}"/>
              </a:ext>
            </a:extLst>
          </p:cNvPr>
          <p:cNvSpPr>
            <a:spLocks noGrp="1"/>
          </p:cNvSpPr>
          <p:nvPr>
            <p:ph type="sldNum" sz="quarter" idx="12"/>
          </p:nvPr>
        </p:nvSpPr>
        <p:spPr/>
        <p:txBody>
          <a:bodyPr/>
          <a:lstStyle/>
          <a:p>
            <a:pPr>
              <a:defRPr/>
            </a:pPr>
            <a:fld id="{D7E87FE3-1741-4FA7-BDA6-01B7D32BBB23}" type="slidenum">
              <a:rPr lang="pt-PT" altLang="en-US" smtClean="0"/>
              <a:pPr>
                <a:defRPr/>
              </a:pPr>
              <a:t>20</a:t>
            </a:fld>
            <a:endParaRPr lang="pt-PT" altLang="en-US"/>
          </a:p>
        </p:txBody>
      </p:sp>
      <p:sp>
        <p:nvSpPr>
          <p:cNvPr id="6" name="Left Brace 5">
            <a:extLst>
              <a:ext uri="{FF2B5EF4-FFF2-40B4-BE49-F238E27FC236}">
                <a16:creationId xmlns:a16="http://schemas.microsoft.com/office/drawing/2014/main" id="{E3BFF99C-D987-4673-B70F-C6DF5D2E5686}"/>
              </a:ext>
            </a:extLst>
          </p:cNvPr>
          <p:cNvSpPr/>
          <p:nvPr/>
        </p:nvSpPr>
        <p:spPr>
          <a:xfrm>
            <a:off x="2195736" y="4149080"/>
            <a:ext cx="504056" cy="25202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PT"/>
          </a:p>
        </p:txBody>
      </p:sp>
      <p:sp>
        <p:nvSpPr>
          <p:cNvPr id="7" name="TextBox 6">
            <a:extLst>
              <a:ext uri="{FF2B5EF4-FFF2-40B4-BE49-F238E27FC236}">
                <a16:creationId xmlns:a16="http://schemas.microsoft.com/office/drawing/2014/main" id="{A13E48ED-57BA-42FE-BDAF-0F5B28EFD8E7}"/>
              </a:ext>
            </a:extLst>
          </p:cNvPr>
          <p:cNvSpPr txBox="1"/>
          <p:nvPr/>
        </p:nvSpPr>
        <p:spPr>
          <a:xfrm>
            <a:off x="2555776" y="4221088"/>
            <a:ext cx="2161810" cy="2308324"/>
          </a:xfrm>
          <a:prstGeom prst="rect">
            <a:avLst/>
          </a:prstGeom>
          <a:noFill/>
        </p:spPr>
        <p:txBody>
          <a:bodyPr wrap="none" rtlCol="0">
            <a:spAutoFit/>
          </a:bodyPr>
          <a:lstStyle/>
          <a:p>
            <a:pPr marL="285750" indent="-285750">
              <a:buFont typeface="Arial" panose="020B0604020202020204" pitchFamily="34" charset="0"/>
              <a:buChar char="•"/>
            </a:pPr>
            <a:r>
              <a:rPr lang="pt-PT" dirty="0" err="1">
                <a:latin typeface="Times New Roman" panose="02020603050405020304" pitchFamily="18" charset="0"/>
                <a:cs typeface="Times New Roman" panose="02020603050405020304" pitchFamily="18" charset="0"/>
              </a:rPr>
              <a:t>boolean</a:t>
            </a:r>
            <a:r>
              <a:rPr lang="pt-PT" dirty="0">
                <a:latin typeface="Times New Roman" panose="02020603050405020304" pitchFamily="18" charset="0"/>
                <a:cs typeface="Times New Roman" panose="02020603050405020304" pitchFamily="18" charset="0"/>
              </a:rPr>
              <a:t> </a:t>
            </a:r>
            <a:r>
              <a:rPr lang="pt-PT" dirty="0" err="1">
                <a:latin typeface="Times New Roman" panose="02020603050405020304" pitchFamily="18" charset="0"/>
                <a:cs typeface="Times New Roman" panose="02020603050405020304" pitchFamily="18" charset="0"/>
              </a:rPr>
              <a:t>add</a:t>
            </a:r>
            <a:r>
              <a:rPr lang="pt-PT" dirty="0">
                <a:latin typeface="Times New Roman" panose="02020603050405020304" pitchFamily="18" charset="0"/>
                <a:cs typeface="Times New Roman" panose="02020603050405020304" pitchFamily="18" charset="0"/>
              </a:rPr>
              <a:t>(E </a:t>
            </a:r>
            <a:r>
              <a:rPr lang="pt-PT" dirty="0" err="1">
                <a:latin typeface="Times New Roman" panose="02020603050405020304" pitchFamily="18" charset="0"/>
                <a:cs typeface="Times New Roman" panose="02020603050405020304" pitchFamily="18" charset="0"/>
              </a:rPr>
              <a:t>e</a:t>
            </a:r>
            <a:r>
              <a:rPr lang="pt-PT"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pt-PT"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pt-PT" dirty="0">
                <a:latin typeface="Times New Roman" panose="02020603050405020304" pitchFamily="18" charset="0"/>
                <a:cs typeface="Times New Roman" panose="02020603050405020304" pitchFamily="18" charset="0"/>
              </a:rPr>
              <a:t>E </a:t>
            </a:r>
            <a:r>
              <a:rPr lang="pt-PT" dirty="0" err="1">
                <a:latin typeface="Times New Roman" panose="02020603050405020304" pitchFamily="18" charset="0"/>
                <a:cs typeface="Times New Roman" panose="02020603050405020304" pitchFamily="18" charset="0"/>
              </a:rPr>
              <a:t>element</a:t>
            </a:r>
            <a:r>
              <a:rPr lang="pt-PT"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pt-PT" dirty="0" err="1">
                <a:latin typeface="Times New Roman" panose="02020603050405020304" pitchFamily="18" charset="0"/>
                <a:cs typeface="Times New Roman" panose="02020603050405020304" pitchFamily="18" charset="0"/>
              </a:rPr>
              <a:t>boolean</a:t>
            </a:r>
            <a:r>
              <a:rPr lang="pt-PT" dirty="0">
                <a:latin typeface="Times New Roman" panose="02020603050405020304" pitchFamily="18" charset="0"/>
                <a:cs typeface="Times New Roman" panose="02020603050405020304" pitchFamily="18" charset="0"/>
              </a:rPr>
              <a:t> </a:t>
            </a:r>
            <a:r>
              <a:rPr lang="pt-PT" dirty="0" err="1">
                <a:latin typeface="Times New Roman" panose="02020603050405020304" pitchFamily="18" charset="0"/>
                <a:cs typeface="Times New Roman" panose="02020603050405020304" pitchFamily="18" charset="0"/>
              </a:rPr>
              <a:t>offer</a:t>
            </a:r>
            <a:r>
              <a:rPr lang="pt-PT" dirty="0">
                <a:latin typeface="Times New Roman" panose="02020603050405020304" pitchFamily="18" charset="0"/>
                <a:cs typeface="Times New Roman" panose="02020603050405020304" pitchFamily="18" charset="0"/>
              </a:rPr>
              <a:t>(E </a:t>
            </a:r>
            <a:r>
              <a:rPr lang="pt-PT" dirty="0" err="1">
                <a:latin typeface="Times New Roman" panose="02020603050405020304" pitchFamily="18" charset="0"/>
                <a:cs typeface="Times New Roman" panose="02020603050405020304" pitchFamily="18" charset="0"/>
              </a:rPr>
              <a:t>e</a:t>
            </a:r>
            <a:r>
              <a:rPr lang="pt-PT"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pt-PT"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pt-PT" dirty="0">
                <a:latin typeface="Times New Roman" panose="02020603050405020304" pitchFamily="18" charset="0"/>
                <a:cs typeface="Times New Roman" panose="02020603050405020304" pitchFamily="18" charset="0"/>
              </a:rPr>
              <a:t>E </a:t>
            </a:r>
            <a:r>
              <a:rPr lang="pt-PT" dirty="0" err="1">
                <a:latin typeface="Times New Roman" panose="02020603050405020304" pitchFamily="18" charset="0"/>
                <a:cs typeface="Times New Roman" panose="02020603050405020304" pitchFamily="18" charset="0"/>
              </a:rPr>
              <a:t>peek</a:t>
            </a:r>
            <a:r>
              <a:rPr lang="pt-PT"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pt-PT" dirty="0">
                <a:latin typeface="Times New Roman" panose="02020603050405020304" pitchFamily="18" charset="0"/>
                <a:cs typeface="Times New Roman" panose="02020603050405020304" pitchFamily="18" charset="0"/>
              </a:rPr>
              <a:t>E pool()</a:t>
            </a:r>
          </a:p>
          <a:p>
            <a:pPr marL="285750" indent="-285750">
              <a:buFont typeface="Arial" panose="020B0604020202020204" pitchFamily="34" charset="0"/>
              <a:buChar char="•"/>
            </a:pPr>
            <a:r>
              <a:rPr lang="pt-PT" dirty="0">
                <a:latin typeface="Times New Roman" panose="02020603050405020304" pitchFamily="18" charset="0"/>
                <a:cs typeface="Times New Roman" panose="02020603050405020304" pitchFamily="18" charset="0"/>
              </a:rPr>
              <a:t>E remove()</a:t>
            </a:r>
          </a:p>
        </p:txBody>
      </p:sp>
    </p:spTree>
    <p:extLst>
      <p:ext uri="{BB962C8B-B14F-4D97-AF65-F5344CB8AC3E}">
        <p14:creationId xmlns:p14="http://schemas.microsoft.com/office/powerpoint/2010/main" val="4083114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a:extLst>
              <a:ext uri="{FF2B5EF4-FFF2-40B4-BE49-F238E27FC236}">
                <a16:creationId xmlns:a16="http://schemas.microsoft.com/office/drawing/2014/main" id="{2158E5A1-C44E-450E-868D-68EB8677FF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21507" name="Slide Number Placeholder 5">
            <a:extLst>
              <a:ext uri="{FF2B5EF4-FFF2-40B4-BE49-F238E27FC236}">
                <a16:creationId xmlns:a16="http://schemas.microsoft.com/office/drawing/2014/main" id="{E6F057C6-2870-4E3B-9D24-98F676DCD0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9513E88-C074-48CE-8364-6AF921A01775}" type="slidenum">
              <a:rPr lang="pt-PT" altLang="en-US" sz="1400" smtClean="0"/>
              <a:pPr>
                <a:spcBef>
                  <a:spcPct val="0"/>
                </a:spcBef>
                <a:buFontTx/>
                <a:buNone/>
              </a:pPr>
              <a:t>21</a:t>
            </a:fld>
            <a:endParaRPr lang="pt-PT" altLang="en-US" sz="1400"/>
          </a:p>
        </p:txBody>
      </p:sp>
      <p:sp>
        <p:nvSpPr>
          <p:cNvPr id="21508" name="Rectangle 2">
            <a:extLst>
              <a:ext uri="{FF2B5EF4-FFF2-40B4-BE49-F238E27FC236}">
                <a16:creationId xmlns:a16="http://schemas.microsoft.com/office/drawing/2014/main" id="{B353DD04-C6E8-4FBB-A7D3-8DEC670B19F8}"/>
              </a:ext>
            </a:extLst>
          </p:cNvPr>
          <p:cNvSpPr>
            <a:spLocks noGrp="1" noChangeArrowheads="1"/>
          </p:cNvSpPr>
          <p:nvPr>
            <p:ph type="title"/>
          </p:nvPr>
        </p:nvSpPr>
        <p:spPr>
          <a:xfrm>
            <a:off x="457200" y="115888"/>
            <a:ext cx="8229600" cy="865187"/>
          </a:xfrm>
        </p:spPr>
        <p:txBody>
          <a:bodyPr/>
          <a:lstStyle/>
          <a:p>
            <a:pPr eaLnBrk="1" hangingPunct="1"/>
            <a:r>
              <a:rPr lang="pt-PT" altLang="en-US"/>
              <a:t>Exercícios</a:t>
            </a:r>
          </a:p>
        </p:txBody>
      </p:sp>
      <p:sp>
        <p:nvSpPr>
          <p:cNvPr id="21509" name="Rectangle 3">
            <a:extLst>
              <a:ext uri="{FF2B5EF4-FFF2-40B4-BE49-F238E27FC236}">
                <a16:creationId xmlns:a16="http://schemas.microsoft.com/office/drawing/2014/main" id="{32F1195E-FDDF-45E8-B856-FE1BBD975570}"/>
              </a:ext>
            </a:extLst>
          </p:cNvPr>
          <p:cNvSpPr>
            <a:spLocks noGrp="1" noChangeArrowheads="1"/>
          </p:cNvSpPr>
          <p:nvPr>
            <p:ph type="body" idx="1"/>
          </p:nvPr>
        </p:nvSpPr>
        <p:spPr>
          <a:xfrm>
            <a:off x="457200" y="981075"/>
            <a:ext cx="8229600" cy="5616575"/>
          </a:xfrm>
        </p:spPr>
        <p:txBody>
          <a:bodyPr/>
          <a:lstStyle/>
          <a:p>
            <a:pPr eaLnBrk="1" hangingPunct="1">
              <a:lnSpc>
                <a:spcPct val="80000"/>
              </a:lnSpc>
            </a:pPr>
            <a:r>
              <a:rPr lang="pt-PT" altLang="en-US" sz="2400"/>
              <a:t>Usar a seguinte hierarquia de classes implementando as duas interfaces definidas:</a:t>
            </a:r>
          </a:p>
          <a:p>
            <a:pPr eaLnBrk="1" hangingPunct="1">
              <a:lnSpc>
                <a:spcPct val="80000"/>
              </a:lnSpc>
            </a:pPr>
            <a:endParaRPr lang="pt-PT" altLang="en-US" sz="2400"/>
          </a:p>
          <a:p>
            <a:pPr eaLnBrk="1" hangingPunct="1">
              <a:lnSpc>
                <a:spcPct val="80000"/>
              </a:lnSpc>
            </a:pPr>
            <a:endParaRPr lang="pt-PT" altLang="en-US" sz="2400"/>
          </a:p>
          <a:p>
            <a:pPr eaLnBrk="1" hangingPunct="1">
              <a:lnSpc>
                <a:spcPct val="80000"/>
              </a:lnSpc>
            </a:pPr>
            <a:endParaRPr lang="pt-PT" altLang="en-US" sz="2400"/>
          </a:p>
          <a:p>
            <a:pPr eaLnBrk="1" hangingPunct="1">
              <a:lnSpc>
                <a:spcPct val="80000"/>
              </a:lnSpc>
            </a:pPr>
            <a:endParaRPr lang="pt-PT" altLang="en-US" sz="2400"/>
          </a:p>
          <a:p>
            <a:pPr eaLnBrk="1" hangingPunct="1">
              <a:lnSpc>
                <a:spcPct val="80000"/>
              </a:lnSpc>
            </a:pPr>
            <a:endParaRPr lang="pt-PT" altLang="en-US" sz="2400"/>
          </a:p>
          <a:p>
            <a:pPr eaLnBrk="1" hangingPunct="1">
              <a:lnSpc>
                <a:spcPct val="80000"/>
              </a:lnSpc>
            </a:pPr>
            <a:endParaRPr lang="pt-PT" altLang="en-US" sz="2400"/>
          </a:p>
          <a:p>
            <a:pPr eaLnBrk="1" hangingPunct="1">
              <a:lnSpc>
                <a:spcPct val="80000"/>
              </a:lnSpc>
            </a:pPr>
            <a:r>
              <a:rPr lang="pt-PT" altLang="en-US" sz="2400"/>
              <a:t>Implementar os métodos descritos nas interfaces.</a:t>
            </a:r>
          </a:p>
          <a:p>
            <a:pPr eaLnBrk="1" hangingPunct="1">
              <a:lnSpc>
                <a:spcPct val="80000"/>
              </a:lnSpc>
            </a:pPr>
            <a:r>
              <a:rPr lang="pt-PT" altLang="en-US" sz="2400"/>
              <a:t>Definir a classe VideoTeca</a:t>
            </a:r>
            <a:r>
              <a:rPr lang="pt-PT" altLang="en-US" sz="2400">
                <a:latin typeface="Times New Roman" panose="02020603050405020304" pitchFamily="18" charset="0"/>
              </a:rPr>
              <a:t> </a:t>
            </a:r>
            <a:r>
              <a:rPr lang="pt-PT" altLang="en-US" sz="2400"/>
              <a:t>que guarda um conjunto de objectos </a:t>
            </a:r>
            <a:r>
              <a:rPr lang="pt-PT" altLang="en-US" sz="2400">
                <a:latin typeface="Times New Roman" panose="02020603050405020304" pitchFamily="18" charset="0"/>
              </a:rPr>
              <a:t>Apagaveis</a:t>
            </a:r>
            <a:r>
              <a:rPr lang="pt-PT" altLang="en-US" sz="2400"/>
              <a:t> e </a:t>
            </a:r>
            <a:r>
              <a:rPr lang="pt-PT" altLang="en-US" sz="2400">
                <a:latin typeface="Times New Roman" panose="02020603050405020304" pitchFamily="18" charset="0"/>
              </a:rPr>
              <a:t>Regravaveis e ItemMulti.</a:t>
            </a:r>
            <a:endParaRPr lang="pt-PT" altLang="en-US" sz="2400"/>
          </a:p>
          <a:p>
            <a:pPr eaLnBrk="1" hangingPunct="1">
              <a:lnSpc>
                <a:spcPct val="80000"/>
              </a:lnSpc>
            </a:pPr>
            <a:r>
              <a:rPr lang="pt-PT" altLang="en-US" sz="2400"/>
              <a:t>Contar o número de objectos DVD, CD e Hi8 guardados na videoteca. Contar também o número de objectos apagaveis e regravaveis.</a:t>
            </a:r>
          </a:p>
          <a:p>
            <a:pPr eaLnBrk="1" hangingPunct="1">
              <a:lnSpc>
                <a:spcPct val="80000"/>
              </a:lnSpc>
            </a:pPr>
            <a:r>
              <a:rPr lang="pt-PT" altLang="en-US" sz="2400"/>
              <a:t>Encontrar o objecto apagavel com maior duração.</a:t>
            </a:r>
          </a:p>
        </p:txBody>
      </p:sp>
      <p:pic>
        <p:nvPicPr>
          <p:cNvPr id="21510" name="Picture 5">
            <a:extLst>
              <a:ext uri="{FF2B5EF4-FFF2-40B4-BE49-F238E27FC236}">
                <a16:creationId xmlns:a16="http://schemas.microsoft.com/office/drawing/2014/main" id="{538D4F5E-53A6-4E5A-90E9-71E60E67F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5175" y="1570038"/>
            <a:ext cx="5299075"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4">
            <a:extLst>
              <a:ext uri="{FF2B5EF4-FFF2-40B4-BE49-F238E27FC236}">
                <a16:creationId xmlns:a16="http://schemas.microsoft.com/office/drawing/2014/main" id="{BCCCD4A1-4D00-4C64-95EE-5B7E2EAA68F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22531" name="Slide Number Placeholder 5">
            <a:extLst>
              <a:ext uri="{FF2B5EF4-FFF2-40B4-BE49-F238E27FC236}">
                <a16:creationId xmlns:a16="http://schemas.microsoft.com/office/drawing/2014/main" id="{FFD6834F-329B-436A-85CF-D5C030C98E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572E7B9-5D45-4745-AF29-41AA51375D41}" type="slidenum">
              <a:rPr lang="pt-PT" altLang="en-US" sz="1400" smtClean="0"/>
              <a:pPr>
                <a:spcBef>
                  <a:spcPct val="0"/>
                </a:spcBef>
                <a:buFontTx/>
                <a:buNone/>
              </a:pPr>
              <a:t>22</a:t>
            </a:fld>
            <a:endParaRPr lang="pt-PT" altLang="en-US" sz="1400"/>
          </a:p>
        </p:txBody>
      </p:sp>
      <p:sp>
        <p:nvSpPr>
          <p:cNvPr id="22532" name="Rectangle 2">
            <a:extLst>
              <a:ext uri="{FF2B5EF4-FFF2-40B4-BE49-F238E27FC236}">
                <a16:creationId xmlns:a16="http://schemas.microsoft.com/office/drawing/2014/main" id="{24530082-9E04-46DD-A96E-676FDC17D5BF}"/>
              </a:ext>
            </a:extLst>
          </p:cNvPr>
          <p:cNvSpPr>
            <a:spLocks noGrp="1" noChangeArrowheads="1"/>
          </p:cNvSpPr>
          <p:nvPr>
            <p:ph type="title"/>
          </p:nvPr>
        </p:nvSpPr>
        <p:spPr>
          <a:xfrm>
            <a:off x="457200" y="274638"/>
            <a:ext cx="8229600" cy="777875"/>
          </a:xfrm>
        </p:spPr>
        <p:txBody>
          <a:bodyPr/>
          <a:lstStyle/>
          <a:p>
            <a:pPr eaLnBrk="1" hangingPunct="1"/>
            <a:r>
              <a:rPr lang="pt-PT" altLang="en-US" sz="3600"/>
              <a:t>Exercício</a:t>
            </a:r>
          </a:p>
        </p:txBody>
      </p:sp>
      <p:sp>
        <p:nvSpPr>
          <p:cNvPr id="22533" name="Rectangle 3">
            <a:extLst>
              <a:ext uri="{FF2B5EF4-FFF2-40B4-BE49-F238E27FC236}">
                <a16:creationId xmlns:a16="http://schemas.microsoft.com/office/drawing/2014/main" id="{B6128479-84AA-499F-BD95-E1D22703ABA6}"/>
              </a:ext>
            </a:extLst>
          </p:cNvPr>
          <p:cNvSpPr>
            <a:spLocks noGrp="1" noChangeArrowheads="1"/>
          </p:cNvSpPr>
          <p:nvPr>
            <p:ph type="body" idx="1"/>
          </p:nvPr>
        </p:nvSpPr>
        <p:spPr>
          <a:xfrm>
            <a:off x="457200" y="1412875"/>
            <a:ext cx="8229600" cy="4392613"/>
          </a:xfrm>
        </p:spPr>
        <p:txBody>
          <a:bodyPr/>
          <a:lstStyle/>
          <a:p>
            <a:pPr eaLnBrk="1" hangingPunct="1">
              <a:lnSpc>
                <a:spcPct val="90000"/>
              </a:lnSpc>
            </a:pPr>
            <a:r>
              <a:rPr lang="pt-PT" altLang="en-US" sz="2400"/>
              <a:t>Um empresa gere um conjunto de estufas. Cada </a:t>
            </a:r>
            <a:r>
              <a:rPr lang="pt-PT" altLang="en-US" sz="2400" b="1"/>
              <a:t>Estufa</a:t>
            </a:r>
            <a:r>
              <a:rPr lang="pt-PT" altLang="en-US" sz="2400"/>
              <a:t> é representada pela informação agrícola, designadamente: código, área em m</a:t>
            </a:r>
            <a:r>
              <a:rPr lang="pt-PT" altLang="en-US" sz="2400" baseline="30000"/>
              <a:t>2</a:t>
            </a:r>
            <a:r>
              <a:rPr lang="pt-PT" altLang="en-US" sz="2400"/>
              <a:t> e temperaturas máximas e mínimas. No entanto há três tipos de estufa: de fruta, de legumes e de flores. Existe um valor comercial fixo por cada tipo de estufa que é definido em euros/m</a:t>
            </a:r>
            <a:r>
              <a:rPr lang="pt-PT" altLang="en-US" sz="2400" baseline="30000"/>
              <a:t>2</a:t>
            </a:r>
            <a:r>
              <a:rPr lang="pt-PT" altLang="en-US" sz="2400"/>
              <a:t>. As estufas de flores possuem nome de flor e lista de cores. As estufas de fruta, uma lista dos nomes dos frutos. As de legumes, o nome do legume e a altura média atingida. Desenhe uma classe </a:t>
            </a:r>
            <a:r>
              <a:rPr lang="pt-PT" altLang="en-US" sz="2400" b="1"/>
              <a:t>GereEstufas</a:t>
            </a:r>
            <a:r>
              <a:rPr lang="pt-PT" altLang="en-US" sz="2400"/>
              <a:t> que armazena a representação das estufas associadas a esta empresa. Para além disso implemente os seguintes requisitos: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4">
            <a:extLst>
              <a:ext uri="{FF2B5EF4-FFF2-40B4-BE49-F238E27FC236}">
                <a16:creationId xmlns:a16="http://schemas.microsoft.com/office/drawing/2014/main" id="{54B140A5-9B1B-4697-A053-06D931D92A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23555" name="Slide Number Placeholder 5">
            <a:extLst>
              <a:ext uri="{FF2B5EF4-FFF2-40B4-BE49-F238E27FC236}">
                <a16:creationId xmlns:a16="http://schemas.microsoft.com/office/drawing/2014/main" id="{809F1D3B-37A0-47CB-BB2D-2D9E02ADBEA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1F84E6B-B970-484B-91B6-C5F9CEADB3F0}" type="slidenum">
              <a:rPr lang="pt-PT" altLang="en-US" sz="1400" smtClean="0"/>
              <a:pPr>
                <a:spcBef>
                  <a:spcPct val="0"/>
                </a:spcBef>
                <a:buFontTx/>
                <a:buNone/>
              </a:pPr>
              <a:t>23</a:t>
            </a:fld>
            <a:endParaRPr lang="pt-PT" altLang="en-US" sz="1400"/>
          </a:p>
        </p:txBody>
      </p:sp>
      <p:sp>
        <p:nvSpPr>
          <p:cNvPr id="23556" name="Rectangle 3">
            <a:extLst>
              <a:ext uri="{FF2B5EF4-FFF2-40B4-BE49-F238E27FC236}">
                <a16:creationId xmlns:a16="http://schemas.microsoft.com/office/drawing/2014/main" id="{303C832D-FA07-4A6B-90F0-2E6DA1E18900}"/>
              </a:ext>
            </a:extLst>
          </p:cNvPr>
          <p:cNvSpPr>
            <a:spLocks noGrp="1" noChangeArrowheads="1"/>
          </p:cNvSpPr>
          <p:nvPr>
            <p:ph type="body" idx="1"/>
          </p:nvPr>
        </p:nvSpPr>
        <p:spPr>
          <a:xfrm>
            <a:off x="457200" y="73025"/>
            <a:ext cx="8229600" cy="6740525"/>
          </a:xfrm>
        </p:spPr>
        <p:txBody>
          <a:bodyPr/>
          <a:lstStyle/>
          <a:p>
            <a:pPr lvl="1" eaLnBrk="1" hangingPunct="1"/>
            <a:r>
              <a:rPr lang="pt-PT" altLang="en-US" sz="1800" dirty="0"/>
              <a:t>Apresente a classe Estufa e suas subclasses. Apresente a implementação do método </a:t>
            </a:r>
            <a:r>
              <a:rPr lang="pt-PT" altLang="en-US" sz="1800" b="1" i="1" dirty="0" err="1"/>
              <a:t>valorTotal</a:t>
            </a:r>
            <a:r>
              <a:rPr lang="pt-PT" altLang="en-US" sz="1800" b="1" i="1" dirty="0"/>
              <a:t>()</a:t>
            </a:r>
            <a:r>
              <a:rPr lang="pt-PT" altLang="en-US" sz="1800" dirty="0"/>
              <a:t> que calcula o valor comercial da estufa.</a:t>
            </a:r>
          </a:p>
          <a:p>
            <a:pPr lvl="1" eaLnBrk="1" hangingPunct="1"/>
            <a:r>
              <a:rPr lang="pt-PT" altLang="en-US" sz="1800" dirty="0"/>
              <a:t>Apresente a classe </a:t>
            </a:r>
            <a:r>
              <a:rPr lang="pt-PT" altLang="en-US" sz="1800" b="1" dirty="0" err="1"/>
              <a:t>GereEstufas</a:t>
            </a:r>
            <a:r>
              <a:rPr lang="pt-PT" altLang="en-US" sz="1800" dirty="0"/>
              <a:t>. Implemente aqui um método que calcula a área total das estufas desta empresa.</a:t>
            </a:r>
          </a:p>
          <a:p>
            <a:pPr lvl="1" eaLnBrk="1" hangingPunct="1"/>
            <a:r>
              <a:rPr lang="pt-PT" altLang="en-US" sz="1800" dirty="0"/>
              <a:t>Considerando as temperaturas registadas nas estufas, dada a temperatura registada a uma hora, se este valor não estiver entre o máximo e o mínimo de uma estufa então esta estufa está em risco. Escreva um método </a:t>
            </a:r>
            <a:r>
              <a:rPr lang="pt-PT" altLang="en-US" sz="1800" b="1" i="1" dirty="0" err="1"/>
              <a:t>emRisco</a:t>
            </a:r>
            <a:r>
              <a:rPr lang="pt-PT" altLang="en-US" sz="1800" b="1" i="1" dirty="0"/>
              <a:t>(</a:t>
            </a:r>
            <a:r>
              <a:rPr lang="pt-PT" altLang="en-US" sz="1800" b="1" i="1" dirty="0" err="1"/>
              <a:t>int</a:t>
            </a:r>
            <a:r>
              <a:rPr lang="pt-PT" altLang="en-US" sz="1800" b="1" i="1" dirty="0"/>
              <a:t> </a:t>
            </a:r>
            <a:r>
              <a:rPr lang="pt-PT" altLang="en-US" sz="1800" b="1" i="1" dirty="0" err="1"/>
              <a:t>temp</a:t>
            </a:r>
            <a:r>
              <a:rPr lang="pt-PT" altLang="en-US" sz="1800" b="1" i="1" dirty="0"/>
              <a:t>)</a:t>
            </a:r>
            <a:r>
              <a:rPr lang="pt-PT" altLang="en-US" sz="1800" dirty="0"/>
              <a:t> que devolve o conjunto de códigos das estufas em risco.</a:t>
            </a:r>
          </a:p>
          <a:p>
            <a:pPr lvl="1" eaLnBrk="1" hangingPunct="1"/>
            <a:r>
              <a:rPr lang="pt-PT" altLang="en-US" sz="1800" dirty="0"/>
              <a:t>Sabendo que uma estufa em risco pode implicar um prejuízo igual ao seu valor, escreve um método </a:t>
            </a:r>
            <a:r>
              <a:rPr lang="pt-PT" altLang="en-US" sz="1800" b="1" i="1" dirty="0"/>
              <a:t>perdas(</a:t>
            </a:r>
            <a:r>
              <a:rPr lang="pt-PT" altLang="en-US" sz="1800" b="1" i="1" dirty="0" err="1"/>
              <a:t>int</a:t>
            </a:r>
            <a:r>
              <a:rPr lang="pt-PT" altLang="en-US" sz="1800" b="1" i="1" dirty="0"/>
              <a:t> </a:t>
            </a:r>
            <a:r>
              <a:rPr lang="pt-PT" altLang="en-US" sz="1800" b="1" i="1" dirty="0" err="1"/>
              <a:t>temp</a:t>
            </a:r>
            <a:r>
              <a:rPr lang="pt-PT" altLang="en-US" sz="1800" b="1" i="1" dirty="0"/>
              <a:t>)</a:t>
            </a:r>
            <a:r>
              <a:rPr lang="pt-PT" altLang="en-US" sz="1800" dirty="0"/>
              <a:t> que determina o valor total de prejuízo em estufas de um dado tipo.</a:t>
            </a:r>
          </a:p>
          <a:p>
            <a:pPr lvl="1" eaLnBrk="1" hangingPunct="1"/>
            <a:r>
              <a:rPr lang="pt-PT" altLang="en-US" sz="1800" dirty="0">
                <a:solidFill>
                  <a:schemeClr val="accent5">
                    <a:lumMod val="50000"/>
                  </a:schemeClr>
                </a:solidFill>
              </a:rPr>
              <a:t>A empresa decidiu criar estufas de vinha</a:t>
            </a:r>
            <a:r>
              <a:rPr lang="pt-PT" altLang="en-US" sz="1800" dirty="0"/>
              <a:t> que é um caso especial de uma estufa de fruta mas contendo o número de pés de fruto. Crie um método </a:t>
            </a:r>
            <a:r>
              <a:rPr lang="pt-PT" altLang="en-US" sz="1800" b="1" i="1" dirty="0"/>
              <a:t>videiras()</a:t>
            </a:r>
            <a:r>
              <a:rPr lang="pt-PT" altLang="en-US" sz="1800" dirty="0"/>
              <a:t> na classe </a:t>
            </a:r>
            <a:r>
              <a:rPr lang="pt-PT" altLang="en-US" sz="1800" b="1" dirty="0" err="1"/>
              <a:t>GereEstufas</a:t>
            </a:r>
            <a:r>
              <a:rPr lang="pt-PT" altLang="en-US" sz="1800" dirty="0"/>
              <a:t> que contabiliza o número total de pés de vinha pertencentes à empresa.</a:t>
            </a:r>
          </a:p>
          <a:p>
            <a:pPr lvl="1" eaLnBrk="1" hangingPunct="1"/>
            <a:r>
              <a:rPr lang="pt-PT" altLang="en-US" sz="1800" dirty="0">
                <a:solidFill>
                  <a:schemeClr val="accent5">
                    <a:lumMod val="50000"/>
                  </a:schemeClr>
                </a:solidFill>
              </a:rPr>
              <a:t>Podemos formar um grupo de estufas com cardinal i.e. as de flores, de vinha e de frutas. Todas implementam o método </a:t>
            </a:r>
            <a:r>
              <a:rPr lang="pt-PT" altLang="en-US" sz="1800" b="1" i="1" dirty="0">
                <a:solidFill>
                  <a:schemeClr val="accent5">
                    <a:lumMod val="50000"/>
                  </a:schemeClr>
                </a:solidFill>
              </a:rPr>
              <a:t>cardinalidade()</a:t>
            </a:r>
            <a:r>
              <a:rPr lang="pt-PT" altLang="en-US" sz="1800" dirty="0">
                <a:solidFill>
                  <a:schemeClr val="accent5">
                    <a:lumMod val="50000"/>
                  </a:schemeClr>
                </a:solidFill>
              </a:rPr>
              <a:t> que calcula o número de características diferentes da estufa e.g. # de cores, # de pés, # de nomes. Implemente um método em </a:t>
            </a:r>
            <a:r>
              <a:rPr lang="pt-PT" altLang="en-US" sz="1800" dirty="0" err="1">
                <a:solidFill>
                  <a:schemeClr val="accent5">
                    <a:lumMod val="50000"/>
                  </a:schemeClr>
                </a:solidFill>
              </a:rPr>
              <a:t>GereEstufas</a:t>
            </a:r>
            <a:r>
              <a:rPr lang="pt-PT" altLang="en-US" sz="1800" dirty="0">
                <a:solidFill>
                  <a:schemeClr val="accent5">
                    <a:lumMod val="50000"/>
                  </a:schemeClr>
                </a:solidFill>
              </a:rPr>
              <a:t> que contabiliza o número de estufas com cardinal e calcula o total da soma das cardinalidades.</a:t>
            </a:r>
            <a:endParaRPr lang="pt-PT" altLang="en-US" sz="1600" dirty="0">
              <a:solidFill>
                <a:schemeClr val="accent5">
                  <a:lumMod val="50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DA084339-23DF-4EE8-9D5D-09DD543C7C89}"/>
              </a:ext>
            </a:extLst>
          </p:cNvPr>
          <p:cNvSpPr>
            <a:spLocks noGrp="1" noChangeArrowheads="1"/>
          </p:cNvSpPr>
          <p:nvPr>
            <p:ph type="title"/>
          </p:nvPr>
        </p:nvSpPr>
        <p:spPr>
          <a:xfrm>
            <a:off x="468313" y="44450"/>
            <a:ext cx="8229600" cy="1143000"/>
          </a:xfrm>
        </p:spPr>
        <p:txBody>
          <a:bodyPr/>
          <a:lstStyle/>
          <a:p>
            <a:r>
              <a:rPr lang="pt-PT" altLang="en-US" sz="2800"/>
              <a:t>(</a:t>
            </a:r>
            <a:r>
              <a:rPr lang="pt-PT" altLang="en-US" sz="3200"/>
              <a:t>Continuação exercício das Comunicacoes e MBox do capitulo anterior)</a:t>
            </a:r>
          </a:p>
        </p:txBody>
      </p:sp>
      <p:sp>
        <p:nvSpPr>
          <p:cNvPr id="24579" name="Content Placeholder 2">
            <a:extLst>
              <a:ext uri="{FF2B5EF4-FFF2-40B4-BE49-F238E27FC236}">
                <a16:creationId xmlns:a16="http://schemas.microsoft.com/office/drawing/2014/main" id="{769FE494-B918-477E-8F6B-C2C4D50AD33C}"/>
              </a:ext>
            </a:extLst>
          </p:cNvPr>
          <p:cNvSpPr>
            <a:spLocks noGrp="1" noChangeArrowheads="1"/>
          </p:cNvSpPr>
          <p:nvPr>
            <p:ph idx="1"/>
          </p:nvPr>
        </p:nvSpPr>
        <p:spPr>
          <a:xfrm>
            <a:off x="457200" y="1330325"/>
            <a:ext cx="8229600" cy="5411788"/>
          </a:xfrm>
        </p:spPr>
        <p:txBody>
          <a:bodyPr/>
          <a:lstStyle/>
          <a:p>
            <a:r>
              <a:rPr lang="pt-PT" altLang="en-US" sz="2800"/>
              <a:t>Assumir uma subclasse de </a:t>
            </a:r>
            <a:r>
              <a:rPr lang="pt-PT" altLang="en-US" sz="2800" i="1">
                <a:latin typeface="Times New Roman" panose="02020603050405020304" pitchFamily="18" charset="0"/>
                <a:cs typeface="Times New Roman" panose="02020603050405020304" pitchFamily="18" charset="0"/>
              </a:rPr>
              <a:t>SMS</a:t>
            </a:r>
            <a:r>
              <a:rPr lang="pt-PT" altLang="en-US" sz="2800"/>
              <a:t> chamada </a:t>
            </a:r>
            <a:r>
              <a:rPr lang="pt-PT" altLang="en-US" sz="2800" i="1">
                <a:latin typeface="Times New Roman" panose="02020603050405020304" pitchFamily="18" charset="0"/>
                <a:cs typeface="Times New Roman" panose="02020603050405020304" pitchFamily="18" charset="0"/>
              </a:rPr>
              <a:t>Ring</a:t>
            </a:r>
            <a:r>
              <a:rPr lang="pt-PT" altLang="en-US" sz="2800"/>
              <a:t> que representa um toque no telemóvel que é  enviado como uma sms. Aqui </a:t>
            </a:r>
            <a:r>
              <a:rPr lang="pt-PT" altLang="en-US" sz="2800" i="1">
                <a:latin typeface="Times New Roman" panose="02020603050405020304" pitchFamily="18" charset="0"/>
                <a:cs typeface="Times New Roman" panose="02020603050405020304" pitchFamily="18" charset="0"/>
              </a:rPr>
              <a:t>valor()</a:t>
            </a:r>
            <a:r>
              <a:rPr lang="pt-PT" altLang="en-US" sz="2800"/>
              <a:t> é 10% da duração da comunicação e onde duração representa o tamanho do toque em bytes.</a:t>
            </a:r>
          </a:p>
          <a:p>
            <a:r>
              <a:rPr lang="pt-PT" altLang="en-US" sz="2800"/>
              <a:t>defina uma interface </a:t>
            </a:r>
            <a:r>
              <a:rPr lang="pt-PT" altLang="en-US" sz="2800" i="1">
                <a:latin typeface="Times New Roman" panose="02020603050405020304" pitchFamily="18" charset="0"/>
                <a:cs typeface="Times New Roman" panose="02020603050405020304" pitchFamily="18" charset="0"/>
              </a:rPr>
              <a:t>Audivel</a:t>
            </a:r>
            <a:r>
              <a:rPr lang="pt-PT" altLang="en-US" sz="2800"/>
              <a:t> que implementa o método </a:t>
            </a:r>
            <a:r>
              <a:rPr lang="pt-PT" altLang="en-US" sz="2800" i="1">
                <a:latin typeface="Times New Roman" panose="02020603050405020304" pitchFamily="18" charset="0"/>
                <a:cs typeface="Times New Roman" panose="02020603050405020304" pitchFamily="18" charset="0"/>
              </a:rPr>
              <a:t>frequencia()</a:t>
            </a:r>
            <a:r>
              <a:rPr lang="pt-PT" altLang="en-US" sz="2800"/>
              <a:t> para calcular frequência máxima em hertz de cada comunicação. As classes </a:t>
            </a:r>
            <a:r>
              <a:rPr lang="pt-PT" altLang="en-US" sz="2800" i="1">
                <a:latin typeface="Times New Roman" panose="02020603050405020304" pitchFamily="18" charset="0"/>
                <a:cs typeface="Times New Roman" panose="02020603050405020304" pitchFamily="18" charset="0"/>
              </a:rPr>
              <a:t>Voz</a:t>
            </a:r>
            <a:r>
              <a:rPr lang="pt-PT" altLang="en-US" sz="2800"/>
              <a:t> e </a:t>
            </a:r>
            <a:r>
              <a:rPr lang="pt-PT" altLang="en-US" sz="2800" i="1">
                <a:latin typeface="Times New Roman" panose="02020603050405020304" pitchFamily="18" charset="0"/>
                <a:cs typeface="Times New Roman" panose="02020603050405020304" pitchFamily="18" charset="0"/>
              </a:rPr>
              <a:t>Ring</a:t>
            </a:r>
            <a:r>
              <a:rPr lang="pt-PT" altLang="en-US" sz="2800"/>
              <a:t> implementam esta interface. Calcule o número de audíveis que existem numa </a:t>
            </a:r>
            <a:r>
              <a:rPr lang="pt-PT" altLang="en-US" sz="2800" i="1">
                <a:latin typeface="Times New Roman" panose="02020603050405020304" pitchFamily="18" charset="0"/>
                <a:cs typeface="Times New Roman" panose="02020603050405020304" pitchFamily="18" charset="0"/>
              </a:rPr>
              <a:t>Mbox </a:t>
            </a:r>
            <a:r>
              <a:rPr lang="pt-PT" altLang="en-US" sz="2800">
                <a:cs typeface="Times New Roman" panose="02020603050405020304" pitchFamily="18" charset="0"/>
              </a:rPr>
              <a:t>e a soma de frequências nessa mailbox.</a:t>
            </a:r>
            <a:endParaRPr lang="pt-PT" altLang="en-US" sz="2800"/>
          </a:p>
        </p:txBody>
      </p:sp>
      <p:sp>
        <p:nvSpPr>
          <p:cNvPr id="24580" name="Footer Placeholder 3">
            <a:extLst>
              <a:ext uri="{FF2B5EF4-FFF2-40B4-BE49-F238E27FC236}">
                <a16:creationId xmlns:a16="http://schemas.microsoft.com/office/drawing/2014/main" id="{AFC98AEE-0188-4E88-9F2C-B06AC11AE6E0}"/>
              </a:ext>
            </a:extLst>
          </p:cNvPr>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pt-PT" altLang="en-US" sz="1400"/>
              <a:t>Programação Orientada aos Objetos</a:t>
            </a:r>
          </a:p>
        </p:txBody>
      </p:sp>
      <p:sp>
        <p:nvSpPr>
          <p:cNvPr id="24581" name="Slide Number Placeholder 4">
            <a:extLst>
              <a:ext uri="{FF2B5EF4-FFF2-40B4-BE49-F238E27FC236}">
                <a16:creationId xmlns:a16="http://schemas.microsoft.com/office/drawing/2014/main" id="{7B7E6ED8-EF2D-4BE5-8D5C-19D7FFB1F2B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B33967F-6525-4F25-9394-C029273EE53C}" type="slidenum">
              <a:rPr lang="pt-PT" altLang="en-US" sz="1400" smtClean="0"/>
              <a:pPr>
                <a:spcBef>
                  <a:spcPct val="0"/>
                </a:spcBef>
                <a:buFontTx/>
                <a:buNone/>
              </a:pPr>
              <a:t>24</a:t>
            </a:fld>
            <a:endParaRPr lang="pt-PT" altLang="en-US" sz="1400"/>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13072</TotalTime>
  <Words>2894</Words>
  <Application>Microsoft Office PowerPoint</Application>
  <PresentationFormat>On-screen Show (4:3)</PresentationFormat>
  <Paragraphs>291</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Times New Roman</vt:lpstr>
      <vt:lpstr>Default Design</vt:lpstr>
      <vt:lpstr>PowerPoint Presentation</vt:lpstr>
      <vt:lpstr>Classes e Tipos</vt:lpstr>
      <vt:lpstr>Interfaces</vt:lpstr>
      <vt:lpstr>Interfaces (2)</vt:lpstr>
      <vt:lpstr>Interface (3)</vt:lpstr>
      <vt:lpstr>Definição de uma Interface</vt:lpstr>
      <vt:lpstr>Exemplos de Interfaces</vt:lpstr>
      <vt:lpstr>Hierarquias de Interfaces</vt:lpstr>
      <vt:lpstr>Implementação de Interfaces</vt:lpstr>
      <vt:lpstr>Implementações (cont)</vt:lpstr>
      <vt:lpstr>Interfaces: Sumário</vt:lpstr>
      <vt:lpstr>Classes Abstractas versus Interfaces</vt:lpstr>
      <vt:lpstr>Classes Abstractas versus Interfaces</vt:lpstr>
      <vt:lpstr>Classes Abstractas versus Interfaces</vt:lpstr>
      <vt:lpstr>Classes Abstractas versus Interfaces</vt:lpstr>
      <vt:lpstr>Interfaces: exemplo</vt:lpstr>
      <vt:lpstr>Interfaces Java1.7</vt:lpstr>
      <vt:lpstr>Interfaces Java1.7 (cont)</vt:lpstr>
      <vt:lpstr>Casos peculiares e interessantes</vt:lpstr>
      <vt:lpstr>Interfaces da API do Java</vt:lpstr>
      <vt:lpstr>Exercícios</vt:lpstr>
      <vt:lpstr>Exercício</vt:lpstr>
      <vt:lpstr>PowerPoint Presentation</vt:lpstr>
      <vt:lpstr>(Continuação exercício das Comunicacoes e MBox do capitulo anterior)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Métodos de Programação II (Mestrado Integrado em Engenharia de Comunicações)</dc:title>
  <dc:creator>pja</dc:creator>
  <cp:lastModifiedBy>Paulo Jorge Sousa Azevedo</cp:lastModifiedBy>
  <cp:revision>775</cp:revision>
  <dcterms:created xsi:type="dcterms:W3CDTF">2008-02-28T16:13:14Z</dcterms:created>
  <dcterms:modified xsi:type="dcterms:W3CDTF">2024-10-24T10:07:36Z</dcterms:modified>
</cp:coreProperties>
</file>