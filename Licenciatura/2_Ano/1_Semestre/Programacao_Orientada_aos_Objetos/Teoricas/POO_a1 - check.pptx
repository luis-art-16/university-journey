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72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6858000" type="screen4x3"/>
  <p:notesSz cx="6858000" cy="9144000"/>
  <p:defaultTextStyle>
    <a:defPPr>
      <a:defRPr lang="pt-P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4627" autoAdjust="0"/>
  </p:normalViewPr>
  <p:slideViewPr>
    <p:cSldViewPr>
      <p:cViewPr varScale="1">
        <p:scale>
          <a:sx n="84" d="100"/>
          <a:sy n="84" d="100"/>
        </p:scale>
        <p:origin x="142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noProof="0"/>
              <a:t>Click to edit Master text styles</a:t>
            </a:r>
          </a:p>
          <a:p>
            <a:pPr lvl="1"/>
            <a:r>
              <a:rPr lang="pt-PT" noProof="0"/>
              <a:t>Second level</a:t>
            </a:r>
          </a:p>
          <a:p>
            <a:pPr lvl="2"/>
            <a:r>
              <a:rPr lang="pt-PT" noProof="0"/>
              <a:t>Third level</a:t>
            </a:r>
          </a:p>
          <a:p>
            <a:pPr lvl="3"/>
            <a:r>
              <a:rPr lang="pt-PT" noProof="0"/>
              <a:t>Fourth level</a:t>
            </a:r>
          </a:p>
          <a:p>
            <a:pPr lvl="4"/>
            <a:r>
              <a:rPr lang="pt-PT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96483F2-0ED0-4490-B4D3-19BE5D809E30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5323143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6483F2-0ED0-4490-B4D3-19BE5D809E30}" type="slidenum">
              <a:rPr lang="pt-PT" altLang="en-US" smtClean="0"/>
              <a:pPr>
                <a:defRPr/>
              </a:pPr>
              <a:t>1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708811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PT"/>
              <a:t>Faça clique para editar o estilo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9D0D33-C375-431D-B5F5-1840A496EB87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58295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185B6F-38A0-4E14-AFFA-FFFFC1EB398A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205099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391207-6DB1-4430-9AA1-A0D4A1A671C5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106973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998DC7-D422-433F-B23A-D219CB0F99BC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265937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970FC2-FEDB-44C2-9E4E-665EECF459B4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399640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B188D-5202-4AE2-BED5-1B13BA83EFE7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854019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91FEC-400A-468B-B5FB-68285578DD75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485295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D21880-B3D7-4F1F-A962-891A74798801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78840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9AC207-9054-4550-B03C-493B6AC87004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70512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0CC449-2BBF-45FC-8754-A63D598D6D23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59095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27BF4E-ADF0-487A-B5E7-69A77C29C926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77949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PT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altLang="en-US"/>
              <a:t>Click to edit Master text styles</a:t>
            </a:r>
          </a:p>
          <a:p>
            <a:pPr lvl="1"/>
            <a:r>
              <a:rPr lang="pt-PT" altLang="en-US"/>
              <a:t>Second level</a:t>
            </a:r>
          </a:p>
          <a:p>
            <a:pPr lvl="2"/>
            <a:r>
              <a:rPr lang="pt-PT" altLang="en-US"/>
              <a:t>Third level</a:t>
            </a:r>
          </a:p>
          <a:p>
            <a:pPr lvl="3"/>
            <a:r>
              <a:rPr lang="pt-PT" altLang="en-US"/>
              <a:t>Fourth level</a:t>
            </a:r>
          </a:p>
          <a:p>
            <a:pPr lvl="4"/>
            <a:r>
              <a:rPr lang="pt-PT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68538" y="6578600"/>
            <a:ext cx="4248150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59563" y="6597650"/>
            <a:ext cx="2133600" cy="188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A7AC6162-629C-48F7-9DE2-73218E02692A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3075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DEF276-72A3-420A-AF0D-12960505D969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pt-PT" altLang="en-US" sz="1400"/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650" y="1341438"/>
            <a:ext cx="7772400" cy="1470025"/>
          </a:xfrm>
        </p:spPr>
        <p:txBody>
          <a:bodyPr/>
          <a:lstStyle/>
          <a:p>
            <a:pPr eaLnBrk="1" hangingPunct="1"/>
            <a:r>
              <a:rPr lang="pt-PT" altLang="en-US" sz="3600" dirty="0"/>
              <a:t>Programação Orientada aos Objetos</a:t>
            </a:r>
            <a:br>
              <a:rPr lang="pt-PT" altLang="en-US" sz="4000" dirty="0"/>
            </a:br>
            <a:r>
              <a:rPr lang="pt-PT" altLang="en-US" sz="2000" dirty="0"/>
              <a:t>(Licenciatura em Engenharia de Telecomunicações &amp; Informática</a:t>
            </a:r>
            <a:r>
              <a:rPr lang="pt-PT" altLang="en-US" sz="2000"/>
              <a:t>) </a:t>
            </a:r>
            <a:br>
              <a:rPr lang="pt-PT" altLang="en-US" sz="2000" dirty="0"/>
            </a:br>
            <a:r>
              <a:rPr lang="pt-PT" altLang="en-US" sz="2000" dirty="0"/>
              <a:t>2º Ano, 1º Semestre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pt-PT" altLang="en-US" sz="2800"/>
              <a:t>Paulo J. Azevedo</a:t>
            </a:r>
            <a:endParaRPr lang="pt-PT" altLang="en-US" sz="2400"/>
          </a:p>
          <a:p>
            <a:pPr eaLnBrk="1" hangingPunct="1"/>
            <a:r>
              <a:rPr lang="pt-PT" altLang="en-US" sz="2400"/>
              <a:t>pja@di.uminho.pt</a:t>
            </a:r>
          </a:p>
          <a:p>
            <a:pPr eaLnBrk="1" hangingPunct="1"/>
            <a:r>
              <a:rPr lang="pt-PT" altLang="en-US" sz="2000"/>
              <a:t>Departamento de Informática</a:t>
            </a:r>
          </a:p>
          <a:p>
            <a:pPr eaLnBrk="1" hangingPunct="1"/>
            <a:r>
              <a:rPr lang="pt-PT" altLang="en-US" sz="2000"/>
              <a:t>Universidade do Minho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4099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1728148-045A-4E73-811D-40FDF27E1C23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pt-PT" altLang="en-US" sz="1400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Objectivos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52562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400" dirty="0"/>
              <a:t>Introduzir o novo paradigma (disciplina) de programação orientado aos objetos.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400" dirty="0"/>
              <a:t>Programação pela definição de unidades computacionais representativas de entidades do mundo real (do problema a resolver).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400" dirty="0"/>
              <a:t>Programação desenvolve-se em torno dos </a:t>
            </a:r>
            <a:r>
              <a:rPr lang="pt-PT" altLang="en-US" sz="2400" i="1" dirty="0"/>
              <a:t>dados</a:t>
            </a:r>
            <a:r>
              <a:rPr lang="pt-PT" altLang="en-US" sz="2400" dirty="0"/>
              <a:t> em vez de se concentrar apenas nos </a:t>
            </a:r>
            <a:r>
              <a:rPr lang="pt-PT" altLang="en-US" sz="2400" i="1" dirty="0"/>
              <a:t>procedimentos</a:t>
            </a:r>
            <a:r>
              <a:rPr lang="pt-PT" altLang="en-US" sz="24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400" dirty="0"/>
              <a:t>Programar = definir objetos.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400" dirty="0"/>
              <a:t>Computação = interação entre objetos.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400" dirty="0"/>
              <a:t>Programa = conjunto de classes, são os </a:t>
            </a:r>
            <a:r>
              <a:rPr lang="pt-PT" altLang="en-US" sz="2400" i="1" dirty="0" err="1"/>
              <a:t>templates</a:t>
            </a:r>
            <a:r>
              <a:rPr lang="pt-PT" altLang="en-US" sz="2400" dirty="0"/>
              <a:t> dos nossos objetos.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400" dirty="0"/>
              <a:t>Programação orientada aos objetos em </a:t>
            </a:r>
            <a:r>
              <a:rPr lang="pt-PT" altLang="en-US" sz="2400" b="1" dirty="0">
                <a:latin typeface="Times New Roman" panose="02020603050405020304" pitchFamily="18" charset="0"/>
              </a:rPr>
              <a:t>JAVA (jdk1.7)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400" dirty="0"/>
              <a:t>Alguns conceitos de construções funcionais em </a:t>
            </a:r>
            <a:r>
              <a:rPr lang="pt-PT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JAVA8</a:t>
            </a:r>
            <a:r>
              <a:rPr lang="pt-PT" altLang="en-US" sz="2400" dirty="0"/>
              <a:t>!</a:t>
            </a:r>
            <a:endParaRPr lang="pt-PT" altLang="en-US" sz="24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pt-PT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5123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95BD052-D832-4429-B423-F846224C9DEA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pt-PT" altLang="en-US" sz="1400"/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Avaliação e Bibliografia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83357"/>
            <a:ext cx="8229600" cy="4525963"/>
          </a:xfrm>
        </p:spPr>
        <p:txBody>
          <a:bodyPr/>
          <a:lstStyle/>
          <a:p>
            <a:pPr eaLnBrk="1" hangingPunct="1">
              <a:defRPr/>
            </a:pPr>
            <a:r>
              <a:rPr lang="pt-PT" altLang="en-US" dirty="0"/>
              <a:t>Um teste teórico (ou exame)</a:t>
            </a:r>
          </a:p>
          <a:p>
            <a:pPr eaLnBrk="1" hangingPunct="1">
              <a:defRPr/>
            </a:pPr>
            <a:r>
              <a:rPr lang="pt-PT" altLang="en-US" dirty="0"/>
              <a:t>Um projeto prático (em grupo)</a:t>
            </a:r>
            <a:endParaRPr lang="pt-PT" altLang="en-US" sz="2400" dirty="0"/>
          </a:p>
          <a:p>
            <a:pPr eaLnBrk="1" hangingPunct="1">
              <a:defRPr/>
            </a:pPr>
            <a:r>
              <a:rPr lang="pt-PT" altLang="en-US" sz="2000" dirty="0"/>
              <a:t>Nota Final = 0.6 x </a:t>
            </a:r>
            <a:r>
              <a:rPr lang="pt-PT" altLang="en-US" sz="2000" dirty="0" err="1"/>
              <a:t>componente_teórica</a:t>
            </a:r>
            <a:r>
              <a:rPr lang="pt-PT" altLang="en-US" sz="2000" dirty="0"/>
              <a:t> + 0.4 x </a:t>
            </a:r>
            <a:r>
              <a:rPr lang="pt-PT" altLang="en-US" sz="2000" dirty="0" err="1"/>
              <a:t>componente_prática</a:t>
            </a:r>
            <a:endParaRPr lang="pt-PT" altLang="en-US" sz="2000" dirty="0"/>
          </a:p>
          <a:p>
            <a:pPr eaLnBrk="1" hangingPunct="1">
              <a:defRPr/>
            </a:pPr>
            <a:r>
              <a:rPr lang="pt-PT" altLang="en-US" sz="2000" dirty="0"/>
              <a:t>Créditos mínimos em ambas as componentes = 10 valores!</a:t>
            </a:r>
            <a:r>
              <a:rPr lang="pt-PT" altLang="zh-CN" sz="2000" dirty="0">
                <a:ea typeface="宋体" panose="02010600030101010101" pitchFamily="2" charset="-122"/>
              </a:rPr>
              <a:t> </a:t>
            </a:r>
          </a:p>
          <a:p>
            <a:pPr marL="0" indent="0" eaLnBrk="1" hangingPunct="1">
              <a:buNone/>
              <a:defRPr/>
            </a:pPr>
            <a:endParaRPr lang="pt-PT" altLang="zh-CN" sz="2000" dirty="0">
              <a:ea typeface="宋体" panose="02010600030101010101" pitchFamily="2" charset="-122"/>
            </a:endParaRPr>
          </a:p>
          <a:p>
            <a:pPr marL="0" indent="0" eaLnBrk="1" hangingPunct="1">
              <a:buNone/>
              <a:defRPr/>
            </a:pPr>
            <a:endParaRPr lang="pt-PT" altLang="zh-CN" sz="2000" dirty="0">
              <a:ea typeface="宋体" panose="02010600030101010101" pitchFamily="2" charset="-122"/>
            </a:endParaRPr>
          </a:p>
          <a:p>
            <a:pPr eaLnBrk="1" hangingPunct="1">
              <a:defRPr/>
            </a:pPr>
            <a:r>
              <a:rPr lang="pt-PT" altLang="zh-CN" sz="2000" dirty="0">
                <a:ea typeface="宋体" panose="02010600030101010101" pitchFamily="2" charset="-122"/>
              </a:rPr>
              <a:t>JAVA8, POO + construções funcionais, </a:t>
            </a:r>
          </a:p>
          <a:p>
            <a:pPr marL="0" indent="0" eaLnBrk="1" hangingPunct="1">
              <a:buFontTx/>
              <a:buNone/>
              <a:defRPr/>
            </a:pPr>
            <a:r>
              <a:rPr lang="pt-PT" altLang="zh-CN" sz="2000" dirty="0">
                <a:ea typeface="宋体" panose="02010600030101010101" pitchFamily="2" charset="-122"/>
              </a:rPr>
              <a:t>     F. Mário Martins, Editora FCA, Série Tecnologias de Informação</a:t>
            </a:r>
          </a:p>
          <a:p>
            <a:pPr eaLnBrk="1" hangingPunct="1">
              <a:defRPr/>
            </a:pPr>
            <a:r>
              <a:rPr lang="pt-PT" altLang="en-US" sz="2000" dirty="0"/>
              <a:t>Notas Teóricas POO</a:t>
            </a:r>
          </a:p>
          <a:p>
            <a:pPr eaLnBrk="1" hangingPunct="1">
              <a:buFontTx/>
              <a:buNone/>
              <a:defRPr/>
            </a:pPr>
            <a:r>
              <a:rPr lang="pt-PT" altLang="en-US" sz="2000" dirty="0"/>
              <a:t>     Paulo Azevedo </a:t>
            </a:r>
            <a:r>
              <a:rPr lang="pt-PT" altLang="en-US" sz="1600" dirty="0"/>
              <a:t>(estas notas que são apresentados nas aulas)</a:t>
            </a:r>
          </a:p>
          <a:p>
            <a:pPr eaLnBrk="1" hangingPunct="1">
              <a:defRPr/>
            </a:pPr>
            <a:r>
              <a:rPr lang="pt-PT" altLang="en-US" sz="2000" dirty="0"/>
              <a:t>Notas teóricas colocadas no </a:t>
            </a:r>
            <a:r>
              <a:rPr lang="pt-PT" altLang="en-US" sz="2000" dirty="0" err="1"/>
              <a:t>blackboard</a:t>
            </a:r>
            <a:r>
              <a:rPr lang="pt-PT" altLang="en-US" sz="2000" dirty="0"/>
              <a:t> (</a:t>
            </a:r>
            <a:r>
              <a:rPr lang="pt-PT" altLang="en-US" sz="2000" dirty="0" err="1"/>
              <a:t>elearning</a:t>
            </a:r>
            <a:r>
              <a:rPr lang="pt-PT" altLang="en-US" sz="2000" dirty="0"/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6147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66F1B1D-8A06-4657-8CB9-29AF291A9500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pt-PT" altLang="en-US" sz="1400"/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pPr eaLnBrk="1" hangingPunct="1"/>
            <a:r>
              <a:rPr lang="pt-PT" altLang="en-US" sz="2800"/>
              <a:t>Porquê programação orientada aos objectos ?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PT" altLang="en-US" sz="2400"/>
              <a:t>Modularidade</a:t>
            </a:r>
          </a:p>
          <a:p>
            <a:pPr eaLnBrk="1" hangingPunct="1"/>
            <a:r>
              <a:rPr lang="pt-PT" altLang="en-US" sz="2400"/>
              <a:t>Reutilização</a:t>
            </a:r>
          </a:p>
          <a:p>
            <a:pPr eaLnBrk="1" hangingPunct="1"/>
            <a:r>
              <a:rPr lang="pt-PT" altLang="en-US" sz="2400"/>
              <a:t>Abstracção (Tipos abstractos de Dados)</a:t>
            </a:r>
          </a:p>
          <a:p>
            <a:pPr eaLnBrk="1" hangingPunct="1"/>
            <a:endParaRPr lang="pt-PT" altLang="en-US" sz="2400"/>
          </a:p>
        </p:txBody>
      </p:sp>
      <p:pic>
        <p:nvPicPr>
          <p:cNvPr id="615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3644900"/>
            <a:ext cx="5343525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7171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8734527-710D-4B86-ABCA-C831F1823345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pt-PT" altLang="en-US" sz="1400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Módulos</a:t>
            </a:r>
          </a:p>
        </p:txBody>
      </p:sp>
      <p:pic>
        <p:nvPicPr>
          <p:cNvPr id="7173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43213" y="2924175"/>
            <a:ext cx="3498850" cy="3443288"/>
          </a:xfrm>
          <a:noFill/>
        </p:spPr>
      </p:pic>
      <p:sp>
        <p:nvSpPr>
          <p:cNvPr id="7174" name="Text Box 5"/>
          <p:cNvSpPr txBox="1">
            <a:spLocks noChangeArrowheads="1"/>
          </p:cNvSpPr>
          <p:nvPr/>
        </p:nvSpPr>
        <p:spPr bwMode="auto">
          <a:xfrm>
            <a:off x="663575" y="1431925"/>
            <a:ext cx="746442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PT" altLang="en-US" sz="2400"/>
              <a:t> Módulo como abstracção procedimental</a:t>
            </a:r>
          </a:p>
          <a:p>
            <a:pPr eaLnBrk="1" hangingPunct="1">
              <a:spcBef>
                <a:spcPct val="0"/>
              </a:spcBef>
            </a:pPr>
            <a:r>
              <a:rPr lang="pt-PT" altLang="en-US" sz="2400"/>
              <a:t> Programação continua orientada aos procedimentos</a:t>
            </a:r>
          </a:p>
          <a:p>
            <a:pPr eaLnBrk="1" hangingPunct="1">
              <a:spcBef>
                <a:spcPct val="0"/>
              </a:spcBef>
            </a:pPr>
            <a:r>
              <a:rPr lang="pt-PT" altLang="en-US" sz="2400"/>
              <a:t> O que fazer sobre a utilização dos dados?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8195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168ACB8-67F6-4283-A805-E292DC822247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pt-PT" altLang="en-US" sz="1400"/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Interdependência entre módulos</a:t>
            </a:r>
          </a:p>
        </p:txBody>
      </p:sp>
      <p:pic>
        <p:nvPicPr>
          <p:cNvPr id="8197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68538" y="3284538"/>
            <a:ext cx="4624387" cy="2598737"/>
          </a:xfrm>
          <a:noFill/>
        </p:spPr>
      </p:pic>
      <p:sp>
        <p:nvSpPr>
          <p:cNvPr id="8198" name="Text Box 5"/>
          <p:cNvSpPr txBox="1">
            <a:spLocks noChangeArrowheads="1"/>
          </p:cNvSpPr>
          <p:nvPr/>
        </p:nvSpPr>
        <p:spPr bwMode="auto">
          <a:xfrm>
            <a:off x="663575" y="1911350"/>
            <a:ext cx="7610475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PT" altLang="en-US" sz="2000"/>
              <a:t> Continua descurada a questão da privacidade dos dados!</a:t>
            </a:r>
          </a:p>
          <a:p>
            <a:pPr eaLnBrk="1" hangingPunct="1">
              <a:spcBef>
                <a:spcPct val="0"/>
              </a:spcBef>
            </a:pPr>
            <a:r>
              <a:rPr lang="pt-PT" altLang="en-US" sz="2000"/>
              <a:t> É necessário garantir a independência do módulo em relação ao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/>
              <a:t> contexto.</a:t>
            </a:r>
          </a:p>
          <a:p>
            <a:pPr eaLnBrk="1" hangingPunct="1">
              <a:spcBef>
                <a:spcPct val="0"/>
              </a:spcBef>
            </a:pPr>
            <a:r>
              <a:rPr lang="pt-PT" altLang="en-US" sz="2000"/>
              <a:t> Isto é, preservar a autonomia do módulo.</a:t>
            </a:r>
          </a:p>
        </p:txBody>
      </p:sp>
      <p:sp>
        <p:nvSpPr>
          <p:cNvPr id="8199" name="Text Box 6"/>
          <p:cNvSpPr txBox="1">
            <a:spLocks noChangeArrowheads="1"/>
          </p:cNvSpPr>
          <p:nvPr/>
        </p:nvSpPr>
        <p:spPr bwMode="auto">
          <a:xfrm>
            <a:off x="684213" y="5943600"/>
            <a:ext cx="4787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PT" altLang="en-US" sz="2000"/>
              <a:t> Necessidade da abstracção dos dados.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Porquê privacidade dos Dados?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6185"/>
            <a:ext cx="8229600" cy="604663"/>
          </a:xfrm>
        </p:spPr>
        <p:txBody>
          <a:bodyPr/>
          <a:lstStyle/>
          <a:p>
            <a:r>
              <a:rPr lang="pt-PT" sz="2400" dirty="0"/>
              <a:t>Exemplo usando linguagem 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185B6F-38A0-4E14-AFFA-FFFFC1EB398A}" type="slidenum">
              <a:rPr lang="pt-PT" altLang="en-US" smtClean="0"/>
              <a:pPr>
                <a:defRPr/>
              </a:pPr>
              <a:t>7</a:t>
            </a:fld>
            <a:endParaRPr lang="pt-PT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15616" y="2278027"/>
            <a:ext cx="5799986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um_array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 = {6,1,3,9,12,3,-1,8,22,3,0,-5,4}  // var global</a:t>
            </a:r>
          </a:p>
          <a:p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= 0;</a:t>
            </a: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…</a:t>
            </a: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…</a:t>
            </a: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um_array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…</a:t>
            </a: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fazer_algo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um_array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…</a:t>
            </a: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…</a:t>
            </a: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	x =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binarySearch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valor,um_array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4139953" y="4869160"/>
            <a:ext cx="1080119" cy="36004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220072" y="3147933"/>
            <a:ext cx="3520516" cy="2585323"/>
          </a:xfrm>
          <a:prstGeom prst="rect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fazer_algo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a[])</a:t>
            </a: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…</a:t>
            </a: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…		</a:t>
            </a: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…</a:t>
            </a: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…</a:t>
            </a: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…</a:t>
            </a: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…</a:t>
            </a: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0072" y="3140968"/>
            <a:ext cx="3520516" cy="2862322"/>
          </a:xfrm>
          <a:prstGeom prst="rect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fazer_algo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a[])</a:t>
            </a: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…</a:t>
            </a: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…		</a:t>
            </a: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SIZE =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(a)/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(a[0]);</a:t>
            </a: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a[0];</a:t>
            </a:r>
          </a:p>
          <a:p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a[0] = a[SIZE-1];</a:t>
            </a:r>
          </a:p>
          <a:p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a[SIZE-1] =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pt-PT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PT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6" name="Double Wave 15"/>
          <p:cNvSpPr/>
          <p:nvPr/>
        </p:nvSpPr>
        <p:spPr>
          <a:xfrm>
            <a:off x="1907704" y="5805264"/>
            <a:ext cx="3744416" cy="432048"/>
          </a:xfrm>
          <a:prstGeom prst="doubleWave">
            <a:avLst/>
          </a:prstGeom>
          <a:solidFill>
            <a:srgbClr val="FF0000">
              <a:alpha val="13000"/>
            </a:srgbClr>
          </a:solidFill>
          <a:ln>
            <a:solidFill>
              <a:schemeClr val="tx2">
                <a:alpha val="8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2" name="Straight Arrow Connector 11"/>
          <p:cNvCxnSpPr>
            <a:cxnSpLocks/>
            <a:endCxn id="9" idx="1"/>
          </p:cNvCxnSpPr>
          <p:nvPr/>
        </p:nvCxnSpPr>
        <p:spPr>
          <a:xfrm flipV="1">
            <a:off x="3779912" y="4440595"/>
            <a:ext cx="1440160" cy="6805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102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F16D8-BDA1-4EE8-A202-164BF199B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Boas práticas em programação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0C356-4E58-474A-B208-8B9260D5E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sz="2800" dirty="0"/>
              <a:t>definir funções pequenas (em #linhas) e com definições o mais abstrato possível;</a:t>
            </a:r>
          </a:p>
          <a:p>
            <a:r>
              <a:rPr lang="pt-PT" sz="2800" dirty="0"/>
              <a:t>uso de funções auxiliares com nomes significativos;</a:t>
            </a:r>
          </a:p>
          <a:p>
            <a:r>
              <a:rPr lang="pt-PT" sz="2800" dirty="0"/>
              <a:t>variáveis com nomes que indicam claramente o seu uso;</a:t>
            </a:r>
          </a:p>
          <a:p>
            <a:r>
              <a:rPr lang="pt-PT" sz="2800" dirty="0"/>
              <a:t>funções auxiliares para aceder a dados. </a:t>
            </a:r>
            <a:r>
              <a:rPr lang="pt-PT" sz="2800" i="1" dirty="0"/>
              <a:t>Este deve ser o ponto único de acesso aos dados (consulta, e mais importante atualização!)</a:t>
            </a:r>
          </a:p>
          <a:p>
            <a:endParaRPr lang="pt-PT" sz="2800" dirty="0"/>
          </a:p>
          <a:p>
            <a:endParaRPr lang="pt-P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E44C6E-459B-4C11-9EF2-CCD5A5A6A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CCBA35-34BC-4E66-8D1F-6FAE85859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185B6F-38A0-4E14-AFFA-FFFFC1EB398A}" type="slidenum">
              <a:rPr lang="pt-PT" altLang="en-US" smtClean="0"/>
              <a:pPr>
                <a:defRPr/>
              </a:pPr>
              <a:t>8</a:t>
            </a:fld>
            <a:endParaRPr lang="pt-PT" altLang="en-US"/>
          </a:p>
        </p:txBody>
      </p: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D39DD36D-80D4-449F-864D-69072C504F1D}"/>
              </a:ext>
            </a:extLst>
          </p:cNvPr>
          <p:cNvSpPr/>
          <p:nvPr/>
        </p:nvSpPr>
        <p:spPr>
          <a:xfrm>
            <a:off x="6084168" y="5805264"/>
            <a:ext cx="2592288" cy="1080120"/>
          </a:xfrm>
          <a:prstGeom prst="wedgeEllipseCallout">
            <a:avLst>
              <a:gd name="adj1" fmla="val -65555"/>
              <a:gd name="adj2" fmla="val -5314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/>
              <a:t>Porque é que isto é muito importante!?</a:t>
            </a:r>
          </a:p>
        </p:txBody>
      </p:sp>
    </p:spTree>
    <p:extLst>
      <p:ext uri="{BB962C8B-B14F-4D97-AF65-F5344CB8AC3E}">
        <p14:creationId xmlns:p14="http://schemas.microsoft.com/office/powerpoint/2010/main" val="842687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9219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AEC4F54-7A1D-4A17-A038-62179EF29C60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pt-PT" altLang="en-US" sz="1400"/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Abstracção e </a:t>
            </a:r>
            <a:r>
              <a:rPr lang="pt-PT" altLang="en-US" i="1"/>
              <a:t>Data Hiding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PT" altLang="en-US" sz="2400"/>
              <a:t>Módulo:</a:t>
            </a:r>
            <a:r>
              <a:rPr lang="pt-PT" altLang="en-US" sz="2000"/>
              <a:t> </a:t>
            </a:r>
          </a:p>
          <a:p>
            <a:pPr lvl="1" eaLnBrk="1" hangingPunct="1"/>
            <a:r>
              <a:rPr lang="pt-PT" altLang="en-US" sz="2000"/>
              <a:t>define uma estrutura de dados interna.</a:t>
            </a:r>
          </a:p>
          <a:p>
            <a:pPr lvl="1" eaLnBrk="1" hangingPunct="1"/>
            <a:r>
              <a:rPr lang="pt-PT" altLang="en-US" sz="2000"/>
              <a:t>com procedimentos que constituem o único código com acesso às suas variáveis internas.</a:t>
            </a:r>
          </a:p>
          <a:p>
            <a:pPr lvl="1" eaLnBrk="1" hangingPunct="1"/>
            <a:r>
              <a:rPr lang="pt-PT" altLang="en-US" sz="2000"/>
              <a:t>Estes procedimentos não acedem a outras variáveis que não façam parte do módulo.</a:t>
            </a:r>
          </a:p>
          <a:p>
            <a:pPr lvl="1" eaLnBrk="1" hangingPunct="1"/>
            <a:r>
              <a:rPr lang="pt-PT" altLang="en-US" sz="2000" i="1"/>
              <a:t>Data Hiding</a:t>
            </a:r>
            <a:r>
              <a:rPr lang="pt-PT" altLang="en-US" sz="2000"/>
              <a:t>: estrutura de dados local.</a:t>
            </a:r>
          </a:p>
          <a:p>
            <a:pPr lvl="1" eaLnBrk="1" hangingPunct="1"/>
            <a:r>
              <a:rPr lang="pt-PT" altLang="en-US" sz="2000"/>
              <a:t>Procedimentos: serviços disponibilizados.</a:t>
            </a:r>
          </a:p>
          <a:p>
            <a:pPr lvl="1" eaLnBrk="1" hangingPunct="1"/>
            <a:r>
              <a:rPr lang="pt-PT" altLang="en-US" sz="2000"/>
              <a:t>Temos, finalmente, abstracção de dados</a:t>
            </a:r>
          </a:p>
          <a:p>
            <a:pPr lvl="1" eaLnBrk="1" hangingPunct="1">
              <a:buFontTx/>
              <a:buNone/>
            </a:pPr>
            <a:r>
              <a:rPr lang="pt-PT" altLang="en-US" sz="2000"/>
              <a:t>em vez de abstracção de controlo</a:t>
            </a:r>
          </a:p>
        </p:txBody>
      </p:sp>
      <p:pic>
        <p:nvPicPr>
          <p:cNvPr id="922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863" y="3789363"/>
            <a:ext cx="2554287" cy="274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0243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FD5F16-555D-4EFF-9C8D-C83A6C75A2E6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pt-PT" altLang="en-US" sz="1400"/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Encapsulamento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PT" altLang="en-US" sz="2400"/>
              <a:t>Módulos são “cápsulas” de software</a:t>
            </a:r>
          </a:p>
          <a:p>
            <a:pPr eaLnBrk="1" hangingPunct="1"/>
            <a:r>
              <a:rPr lang="pt-PT" altLang="en-US" sz="2400"/>
              <a:t>Escondem (do exterior) detalhes dos dados e de implementação. </a:t>
            </a:r>
          </a:p>
          <a:p>
            <a:pPr eaLnBrk="1" hangingPunct="1"/>
            <a:r>
              <a:rPr lang="pt-PT" altLang="en-US" sz="2400"/>
              <a:t>Verdadeiramente reutilizáveis</a:t>
            </a:r>
          </a:p>
          <a:p>
            <a:pPr eaLnBrk="1" hangingPunct="1">
              <a:buFontTx/>
              <a:buNone/>
            </a:pPr>
            <a:r>
              <a:rPr lang="pt-PT" altLang="en-US" sz="2400"/>
              <a:t>    e autónomas. </a:t>
            </a:r>
          </a:p>
          <a:p>
            <a:pPr eaLnBrk="1" hangingPunct="1"/>
            <a:r>
              <a:rPr lang="pt-PT" altLang="en-US" sz="2400"/>
              <a:t>São abstracções de dados</a:t>
            </a:r>
          </a:p>
          <a:p>
            <a:pPr eaLnBrk="1" hangingPunct="1"/>
            <a:r>
              <a:rPr lang="pt-PT" altLang="en-US" sz="2400"/>
              <a:t>Cada módulo tem uma </a:t>
            </a:r>
            <a:r>
              <a:rPr lang="pt-PT" altLang="en-US" sz="2400" i="1"/>
              <a:t>interface</a:t>
            </a:r>
            <a:r>
              <a:rPr lang="pt-PT" altLang="en-US" sz="2400"/>
              <a:t>:</a:t>
            </a:r>
          </a:p>
          <a:p>
            <a:pPr eaLnBrk="1" hangingPunct="1">
              <a:buFontTx/>
              <a:buNone/>
            </a:pPr>
            <a:r>
              <a:rPr lang="pt-PT" altLang="en-US" sz="2400"/>
              <a:t>i.e. conjunto de métodos invocáveis</a:t>
            </a:r>
          </a:p>
          <a:p>
            <a:pPr eaLnBrk="1" hangingPunct="1">
              <a:buFontTx/>
              <a:buNone/>
            </a:pPr>
            <a:r>
              <a:rPr lang="pt-PT" altLang="en-US" sz="2400"/>
              <a:t>do exterior, e uma implementação.</a:t>
            </a:r>
          </a:p>
        </p:txBody>
      </p:sp>
      <p:pic>
        <p:nvPicPr>
          <p:cNvPr id="1024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5150" y="2781300"/>
            <a:ext cx="3498850" cy="355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1267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85DF710-45B1-4CBB-9A20-022622103D79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pt-PT" altLang="en-US" sz="1400"/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22337"/>
          </a:xfrm>
        </p:spPr>
        <p:txBody>
          <a:bodyPr/>
          <a:lstStyle/>
          <a:p>
            <a:pPr eaLnBrk="1" hangingPunct="1"/>
            <a:r>
              <a:rPr lang="pt-PT" altLang="en-US"/>
              <a:t>Objecto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5327650"/>
          </a:xfrm>
        </p:spPr>
        <p:txBody>
          <a:bodyPr/>
          <a:lstStyle/>
          <a:p>
            <a:pPr eaLnBrk="1" hangingPunct="1"/>
            <a:r>
              <a:rPr lang="pt-PT" altLang="en-US" sz="2400"/>
              <a:t>Unidade computacional básica na concepção de software.</a:t>
            </a:r>
          </a:p>
          <a:p>
            <a:pPr eaLnBrk="1" hangingPunct="1"/>
            <a:r>
              <a:rPr lang="pt-PT" altLang="en-US" sz="2400"/>
              <a:t>Concentra as propriedades anteriormente apresentadas, nomeadamente: </a:t>
            </a:r>
          </a:p>
          <a:p>
            <a:pPr lvl="1" eaLnBrk="1" hangingPunct="1"/>
            <a:r>
              <a:rPr lang="pt-PT" altLang="en-US" sz="2000"/>
              <a:t>Independência de contexto </a:t>
            </a:r>
            <a:r>
              <a:rPr lang="pt-PT" altLang="en-US" sz="1800">
                <a:latin typeface="Times New Roman" panose="02020603050405020304" pitchFamily="18" charset="0"/>
              </a:rPr>
              <a:t>(permite reutilização)</a:t>
            </a:r>
          </a:p>
          <a:p>
            <a:pPr lvl="1" eaLnBrk="1" hangingPunct="1"/>
            <a:r>
              <a:rPr lang="pt-PT" altLang="en-US" sz="2000"/>
              <a:t>Abstracção de dados </a:t>
            </a:r>
            <a:r>
              <a:rPr lang="pt-PT" altLang="en-US" sz="1800">
                <a:latin typeface="Times New Roman" panose="02020603050405020304" pitchFamily="18" charset="0"/>
              </a:rPr>
              <a:t>(garante abstracção)</a:t>
            </a:r>
          </a:p>
          <a:p>
            <a:pPr lvl="1" eaLnBrk="1" hangingPunct="1"/>
            <a:r>
              <a:rPr lang="pt-PT" altLang="en-US" sz="2000"/>
              <a:t>Encapsulamento </a:t>
            </a:r>
            <a:r>
              <a:rPr lang="pt-PT" altLang="en-US" sz="1800">
                <a:latin typeface="Times New Roman" panose="02020603050405020304" pitchFamily="18" charset="0"/>
              </a:rPr>
              <a:t>(garante protecção)</a:t>
            </a:r>
          </a:p>
          <a:p>
            <a:pPr lvl="1" eaLnBrk="1" hangingPunct="1"/>
            <a:r>
              <a:rPr lang="pt-PT" altLang="en-US" sz="2000"/>
              <a:t>Modularidade </a:t>
            </a:r>
            <a:r>
              <a:rPr lang="pt-PT" altLang="en-US" sz="1800">
                <a:latin typeface="Times New Roman" panose="02020603050405020304" pitchFamily="18" charset="0"/>
              </a:rPr>
              <a:t>(permite composição das partes)</a:t>
            </a:r>
          </a:p>
          <a:p>
            <a:pPr eaLnBrk="1" hangingPunct="1"/>
            <a:r>
              <a:rPr lang="pt-PT" altLang="en-US" sz="2400"/>
              <a:t>É a representação abstracta de uma entidade autónoma:</a:t>
            </a:r>
          </a:p>
          <a:p>
            <a:pPr lvl="1" eaLnBrk="1" hangingPunct="1"/>
            <a:r>
              <a:rPr lang="pt-PT" altLang="en-US" sz="2000"/>
              <a:t>Identidade única</a:t>
            </a:r>
          </a:p>
          <a:p>
            <a:pPr lvl="1" eaLnBrk="1" hangingPunct="1"/>
            <a:r>
              <a:rPr lang="pt-PT" altLang="en-US" sz="2000"/>
              <a:t>Conjunto de atributos que definem o </a:t>
            </a:r>
            <a:r>
              <a:rPr lang="pt-PT" altLang="en-US" sz="2000" i="1">
                <a:latin typeface="Times New Roman" panose="02020603050405020304" pitchFamily="18" charset="0"/>
              </a:rPr>
              <a:t>estado</a:t>
            </a:r>
            <a:r>
              <a:rPr lang="pt-PT" altLang="en-US" sz="2000"/>
              <a:t> do objecto</a:t>
            </a:r>
          </a:p>
          <a:p>
            <a:pPr lvl="1" eaLnBrk="1" hangingPunct="1"/>
            <a:r>
              <a:rPr lang="pt-PT" altLang="en-US" sz="2000"/>
              <a:t>Conjunto de operações (de uso interno e externo) que definem o </a:t>
            </a:r>
            <a:r>
              <a:rPr lang="pt-PT" altLang="en-US" sz="2000" i="1">
                <a:latin typeface="Times New Roman" panose="02020603050405020304" pitchFamily="18" charset="0"/>
              </a:rPr>
              <a:t>comportamento</a:t>
            </a:r>
            <a:r>
              <a:rPr lang="pt-PT" altLang="en-US" sz="2000"/>
              <a:t> do objecto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2291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A69EDCA-6C64-42FC-8FEB-440AE7EAF114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pt-PT" altLang="en-US" sz="1400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43000"/>
          </a:xfrm>
        </p:spPr>
        <p:txBody>
          <a:bodyPr/>
          <a:lstStyle/>
          <a:p>
            <a:pPr eaLnBrk="1" hangingPunct="1"/>
            <a:r>
              <a:rPr lang="pt-PT" altLang="en-US"/>
              <a:t>Encapsulamento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555750"/>
            <a:ext cx="5338762" cy="1152525"/>
          </a:xfrm>
        </p:spPr>
        <p:txBody>
          <a:bodyPr/>
          <a:lstStyle/>
          <a:p>
            <a:pPr eaLnBrk="1" hangingPunct="1"/>
            <a:r>
              <a:rPr lang="pt-PT" altLang="en-US" sz="2000"/>
              <a:t>Objecto como entidade estanque contendo uma estrutura de dados interna e privada.</a:t>
            </a:r>
          </a:p>
        </p:txBody>
      </p:sp>
      <p:pic>
        <p:nvPicPr>
          <p:cNvPr id="1229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0" y="1052513"/>
            <a:ext cx="2778125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3068638"/>
            <a:ext cx="2808288" cy="350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6" name="Text Box 6"/>
          <p:cNvSpPr txBox="1">
            <a:spLocks noChangeArrowheads="1"/>
          </p:cNvSpPr>
          <p:nvPr/>
        </p:nvSpPr>
        <p:spPr bwMode="auto">
          <a:xfrm>
            <a:off x="3348038" y="4581525"/>
            <a:ext cx="484505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PT" altLang="en-US" sz="1800"/>
              <a:t> </a:t>
            </a:r>
            <a:r>
              <a:rPr lang="pt-PT" altLang="en-US" sz="2000"/>
              <a:t>Exemplo de um objecto representativo de um número Complexo, apresentando-se a sua </a:t>
            </a:r>
            <a:r>
              <a:rPr lang="pt-PT" altLang="en-US" sz="2000" i="1"/>
              <a:t>estrutura</a:t>
            </a:r>
            <a:r>
              <a:rPr lang="pt-PT" altLang="en-US" sz="2000"/>
              <a:t> e </a:t>
            </a:r>
            <a:r>
              <a:rPr lang="pt-PT" altLang="en-US" sz="2000" i="1"/>
              <a:t>comportamento</a:t>
            </a:r>
            <a:r>
              <a:rPr lang="pt-PT" altLang="en-US" sz="2000"/>
              <a:t>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PT" altLang="en-US"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3315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874146-8B41-4209-96D8-D0DA87B103D8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pt-PT" altLang="en-US" sz="1400"/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Mensagens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pPr eaLnBrk="1" hangingPunct="1"/>
            <a:r>
              <a:rPr lang="pt-PT" altLang="en-US" sz="2000"/>
              <a:t>Em POO computação é obtida por interacção entre objectos através de </a:t>
            </a:r>
            <a:r>
              <a:rPr lang="pt-PT" altLang="en-US" sz="2000" i="1"/>
              <a:t>mensagens</a:t>
            </a:r>
            <a:r>
              <a:rPr lang="pt-PT" altLang="en-US" sz="2000"/>
              <a:t>.</a:t>
            </a:r>
          </a:p>
          <a:p>
            <a:pPr eaLnBrk="1" hangingPunct="1"/>
            <a:r>
              <a:rPr lang="pt-PT" altLang="en-US" sz="2000"/>
              <a:t>Interacção entre objectos através de mensagens resulta a computação e respectivas transições dos estados.</a:t>
            </a:r>
          </a:p>
          <a:p>
            <a:pPr eaLnBrk="1" hangingPunct="1"/>
            <a:endParaRPr lang="pt-PT" altLang="en-US" sz="2000"/>
          </a:p>
          <a:p>
            <a:pPr eaLnBrk="1" hangingPunct="1"/>
            <a:endParaRPr lang="pt-PT" altLang="en-US" sz="2000"/>
          </a:p>
          <a:p>
            <a:pPr eaLnBrk="1" hangingPunct="1"/>
            <a:endParaRPr lang="pt-PT" altLang="en-US" sz="2000"/>
          </a:p>
          <a:p>
            <a:pPr eaLnBrk="1" hangingPunct="1"/>
            <a:endParaRPr lang="pt-PT" altLang="en-US" sz="2000"/>
          </a:p>
          <a:p>
            <a:pPr eaLnBrk="1" hangingPunct="1"/>
            <a:endParaRPr lang="pt-PT" altLang="en-US" sz="2000"/>
          </a:p>
          <a:p>
            <a:pPr eaLnBrk="1" hangingPunct="1"/>
            <a:endParaRPr lang="pt-PT" altLang="en-US" sz="2000"/>
          </a:p>
          <a:p>
            <a:pPr eaLnBrk="1" hangingPunct="1"/>
            <a:endParaRPr lang="pt-PT" altLang="en-US" sz="2000"/>
          </a:p>
          <a:p>
            <a:pPr eaLnBrk="1" hangingPunct="1"/>
            <a:r>
              <a:rPr lang="pt-PT" altLang="en-US" sz="2000"/>
              <a:t>O objecto </a:t>
            </a:r>
            <a:r>
              <a:rPr lang="pt-PT" altLang="en-US" sz="2000">
                <a:latin typeface="Times New Roman" panose="02020603050405020304" pitchFamily="18" charset="0"/>
              </a:rPr>
              <a:t>A</a:t>
            </a:r>
            <a:r>
              <a:rPr lang="pt-PT" altLang="en-US" sz="2000"/>
              <a:t> envia uma mensagem a </a:t>
            </a:r>
            <a:r>
              <a:rPr lang="pt-PT" altLang="en-US" sz="2000">
                <a:latin typeface="Times New Roman" panose="02020603050405020304" pitchFamily="18" charset="0"/>
              </a:rPr>
              <a:t>B</a:t>
            </a:r>
            <a:r>
              <a:rPr lang="pt-PT" altLang="en-US" sz="2000"/>
              <a:t> durante a execução do seu método a1(). O objecto </a:t>
            </a:r>
            <a:r>
              <a:rPr lang="pt-PT" altLang="en-US" sz="2000">
                <a:latin typeface="Times New Roman" panose="02020603050405020304" pitchFamily="18" charset="0"/>
              </a:rPr>
              <a:t>B</a:t>
            </a:r>
            <a:r>
              <a:rPr lang="pt-PT" altLang="en-US" sz="2000"/>
              <a:t> executa o método b1(). </a:t>
            </a:r>
            <a:r>
              <a:rPr lang="pt-PT" altLang="en-US" sz="2000">
                <a:latin typeface="Times New Roman" panose="02020603050405020304" pitchFamily="18" charset="0"/>
              </a:rPr>
              <a:t>A</a:t>
            </a:r>
            <a:r>
              <a:rPr lang="pt-PT" altLang="en-US" sz="2000"/>
              <a:t> espera que </a:t>
            </a:r>
            <a:r>
              <a:rPr lang="pt-PT" altLang="en-US" sz="2000">
                <a:latin typeface="Times New Roman" panose="02020603050405020304" pitchFamily="18" charset="0"/>
              </a:rPr>
              <a:t>B</a:t>
            </a:r>
            <a:r>
              <a:rPr lang="pt-PT" altLang="en-US" sz="2000"/>
              <a:t> envie o resultado de b1() e só após a recepção deste resultado finaliza a execução do seu próprio método a1(). </a:t>
            </a:r>
          </a:p>
          <a:p>
            <a:pPr eaLnBrk="1" hangingPunct="1"/>
            <a:endParaRPr lang="pt-PT" altLang="en-US" sz="2000"/>
          </a:p>
        </p:txBody>
      </p:sp>
      <p:pic>
        <p:nvPicPr>
          <p:cNvPr id="1331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13" y="3009900"/>
            <a:ext cx="3859212" cy="200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4339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18C6A4-2CFE-483C-B2B1-45020BCDF577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pt-PT" altLang="en-US" sz="1400"/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Tipos de Mensagens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PT" altLang="en-US" dirty="0"/>
              <a:t>Alteração de estado sem retorno:</a:t>
            </a:r>
          </a:p>
          <a:p>
            <a:pPr lvl="1" eaLnBrk="1" hangingPunct="1"/>
            <a:r>
              <a:rPr lang="pt-PT" altLang="en-US" sz="2400" dirty="0" err="1"/>
              <a:t>receptor.mensagem</a:t>
            </a:r>
            <a:r>
              <a:rPr lang="pt-PT" altLang="en-US" sz="2400" dirty="0"/>
              <a:t>();</a:t>
            </a:r>
          </a:p>
          <a:p>
            <a:pPr lvl="1" eaLnBrk="1" hangingPunct="1"/>
            <a:r>
              <a:rPr lang="pt-PT" altLang="en-US" sz="2400" dirty="0" err="1"/>
              <a:t>receptor.mensagem</a:t>
            </a:r>
            <a:r>
              <a:rPr lang="pt-PT" altLang="en-US" sz="2400" dirty="0"/>
              <a:t>(a1,a2,…,</a:t>
            </a:r>
            <a:r>
              <a:rPr lang="pt-PT" altLang="en-US" sz="2400" dirty="0" err="1"/>
              <a:t>an</a:t>
            </a:r>
            <a:r>
              <a:rPr lang="pt-PT" altLang="en-US" sz="2400" dirty="0"/>
              <a:t>);</a:t>
            </a:r>
          </a:p>
          <a:p>
            <a:pPr lvl="1" eaLnBrk="1" hangingPunct="1">
              <a:buFontTx/>
              <a:buNone/>
            </a:pPr>
            <a:endParaRPr lang="pt-PT" altLang="en-US" sz="2400" dirty="0"/>
          </a:p>
          <a:p>
            <a:pPr lvl="1" eaLnBrk="1" hangingPunct="1">
              <a:buFontTx/>
              <a:buNone/>
            </a:pPr>
            <a:endParaRPr lang="pt-PT" altLang="en-US" sz="2400" dirty="0"/>
          </a:p>
          <a:p>
            <a:pPr eaLnBrk="1" hangingPunct="1"/>
            <a:r>
              <a:rPr lang="pt-PT" altLang="en-US" dirty="0"/>
              <a:t>Mensagens como interrogações:</a:t>
            </a:r>
          </a:p>
          <a:p>
            <a:pPr lvl="1" eaLnBrk="1" hangingPunct="1"/>
            <a:r>
              <a:rPr lang="pt-PT" altLang="en-US" sz="2400" dirty="0"/>
              <a:t>Resultado = </a:t>
            </a:r>
            <a:r>
              <a:rPr lang="pt-PT" altLang="en-US" sz="2400" dirty="0" err="1"/>
              <a:t>receptor.mensagem</a:t>
            </a:r>
            <a:r>
              <a:rPr lang="pt-PT" altLang="en-US" sz="2400" dirty="0"/>
              <a:t>();</a:t>
            </a:r>
          </a:p>
          <a:p>
            <a:pPr lvl="1" eaLnBrk="1" hangingPunct="1"/>
            <a:r>
              <a:rPr lang="pt-PT" altLang="en-US" sz="2400" dirty="0"/>
              <a:t>Resultado = </a:t>
            </a:r>
            <a:r>
              <a:rPr lang="pt-PT" altLang="en-US" sz="2400" dirty="0" err="1"/>
              <a:t>receptor.mensagem</a:t>
            </a:r>
            <a:r>
              <a:rPr lang="pt-PT" altLang="en-US" sz="2400" dirty="0"/>
              <a:t>(a1,a2,…,</a:t>
            </a:r>
            <a:r>
              <a:rPr lang="pt-PT" altLang="en-US" sz="2400" dirty="0" err="1"/>
              <a:t>an</a:t>
            </a:r>
            <a:r>
              <a:rPr lang="pt-PT" altLang="en-US" sz="2400" dirty="0"/>
              <a:t>);</a:t>
            </a:r>
          </a:p>
          <a:p>
            <a:pPr eaLnBrk="1" hangingPunct="1"/>
            <a:endParaRPr lang="pt-PT" alt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5363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EB38501-08A3-4A01-8EF1-7DB8142B7750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pt-PT" altLang="en-US" sz="1400"/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Exemplo</a:t>
            </a:r>
          </a:p>
        </p:txBody>
      </p:sp>
      <p:pic>
        <p:nvPicPr>
          <p:cNvPr id="15365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75388" y="1782763"/>
            <a:ext cx="2689225" cy="3375025"/>
          </a:xfrm>
          <a:noFill/>
        </p:spPr>
      </p:pic>
      <p:sp>
        <p:nvSpPr>
          <p:cNvPr id="15366" name="Text Box 5"/>
          <p:cNvSpPr txBox="1">
            <a:spLocks noChangeArrowheads="1"/>
          </p:cNvSpPr>
          <p:nvPr/>
        </p:nvSpPr>
        <p:spPr bwMode="auto">
          <a:xfrm>
            <a:off x="303213" y="1647825"/>
            <a:ext cx="3462807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PT" altLang="en-US" sz="2400" dirty="0">
                <a:solidFill>
                  <a:srgbClr val="FF0000"/>
                </a:solidFill>
              </a:rPr>
              <a:t> stack1 = new Stack();</a:t>
            </a:r>
          </a:p>
          <a:p>
            <a:pPr eaLnBrk="1" hangingPunct="1">
              <a:spcBef>
                <a:spcPct val="0"/>
              </a:spcBef>
            </a:pPr>
            <a:r>
              <a:rPr lang="pt-PT" altLang="en-US" sz="2400" dirty="0">
                <a:solidFill>
                  <a:srgbClr val="FF0000"/>
                </a:solidFill>
              </a:rPr>
              <a:t> int tam = stack1.size();</a:t>
            </a:r>
          </a:p>
          <a:p>
            <a:pPr eaLnBrk="1" hangingPunct="1">
              <a:spcBef>
                <a:spcPct val="0"/>
              </a:spcBef>
            </a:pPr>
            <a:r>
              <a:rPr lang="pt-PT" altLang="en-US" sz="2400" dirty="0">
                <a:solidFill>
                  <a:srgbClr val="FF0000"/>
                </a:solidFill>
              </a:rPr>
              <a:t> Elem = stack1.top();</a:t>
            </a:r>
          </a:p>
          <a:p>
            <a:pPr eaLnBrk="1" hangingPunct="1">
              <a:spcBef>
                <a:spcPct val="0"/>
              </a:spcBef>
            </a:pPr>
            <a:r>
              <a:rPr lang="pt-PT" altLang="en-US" sz="2400" dirty="0">
                <a:solidFill>
                  <a:srgbClr val="FF0000"/>
                </a:solidFill>
              </a:rPr>
              <a:t> stack1.push(12);</a:t>
            </a:r>
          </a:p>
        </p:txBody>
      </p:sp>
      <p:sp>
        <p:nvSpPr>
          <p:cNvPr id="15367" name="Text Box 6"/>
          <p:cNvSpPr txBox="1">
            <a:spLocks noChangeArrowheads="1"/>
          </p:cNvSpPr>
          <p:nvPr/>
        </p:nvSpPr>
        <p:spPr bwMode="auto">
          <a:xfrm>
            <a:off x="231775" y="3644900"/>
            <a:ext cx="6069013" cy="292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400"/>
              <a:t>A independência das mensagens em relação aos métodos permite um grau de abstracção interessante.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400"/>
              <a:t>Podemos ter um conjunto diferente de objectos a reconhecer a mesma mensagem mas a executar o seu próprio método (implementação)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6387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E11E98-E76F-4227-9480-CADFF0C7B4FF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pt-PT" altLang="en-US" sz="1400"/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Instâncias &amp; Classes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7815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400"/>
              <a:t>Para garantir que todos os objectos do mesmo tipo tenham a mesma </a:t>
            </a:r>
            <a:r>
              <a:rPr lang="pt-PT" altLang="en-US" sz="2400" i="1"/>
              <a:t>estrutura</a:t>
            </a:r>
            <a:r>
              <a:rPr lang="pt-PT" altLang="en-US" sz="2400"/>
              <a:t> e o mesmo </a:t>
            </a:r>
            <a:r>
              <a:rPr lang="pt-PT" altLang="en-US" sz="2400" i="1"/>
              <a:t>comportamento</a:t>
            </a:r>
            <a:r>
              <a:rPr lang="pt-PT" altLang="en-US" sz="2400"/>
              <a:t> recorremos a um objecto especial: </a:t>
            </a:r>
            <a:r>
              <a:rPr lang="pt-PT" altLang="en-US" sz="2400" b="1" i="1"/>
              <a:t>classes</a:t>
            </a:r>
          </a:p>
          <a:p>
            <a:pPr eaLnBrk="1" hangingPunct="1">
              <a:lnSpc>
                <a:spcPct val="90000"/>
              </a:lnSpc>
            </a:pPr>
            <a:endParaRPr lang="pt-PT" altLang="en-US" sz="2400" b="1" i="1"/>
          </a:p>
          <a:p>
            <a:pPr eaLnBrk="1" hangingPunct="1">
              <a:lnSpc>
                <a:spcPct val="90000"/>
              </a:lnSpc>
            </a:pPr>
            <a:r>
              <a:rPr lang="pt-PT" altLang="en-US" sz="2400"/>
              <a:t>Servem para: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2000"/>
              <a:t>Conter a estrutura e comportamento dos objectos do mesmo tipo,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2000"/>
              <a:t>Criar os respectivos objectos particulares (com o mesmo comportamento e estrutura).</a:t>
            </a:r>
          </a:p>
          <a:p>
            <a:pPr lvl="1" eaLnBrk="1" hangingPunct="1">
              <a:lnSpc>
                <a:spcPct val="90000"/>
              </a:lnSpc>
            </a:pPr>
            <a:endParaRPr lang="pt-PT" altLang="en-US" sz="1800"/>
          </a:p>
          <a:p>
            <a:pPr eaLnBrk="1" hangingPunct="1">
              <a:lnSpc>
                <a:spcPct val="90000"/>
              </a:lnSpc>
            </a:pPr>
            <a:r>
              <a:rPr lang="pt-PT" altLang="en-US" sz="2400"/>
              <a:t>Objectos são então </a:t>
            </a:r>
            <a:r>
              <a:rPr lang="pt-PT" altLang="en-US" sz="2400" i="1"/>
              <a:t>instâncias</a:t>
            </a:r>
            <a:r>
              <a:rPr lang="pt-PT" altLang="en-US" sz="2400"/>
              <a:t> de uma classe.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400"/>
              <a:t>A classe garante coerência entre objectos criados a partir de si.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Marcador de Posição do Rodapé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7411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646B3A0-4DB8-410B-8904-73D60602FB94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pt-PT" altLang="en-US" sz="1400"/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Exemplo</a:t>
            </a:r>
          </a:p>
        </p:txBody>
      </p:sp>
      <p:pic>
        <p:nvPicPr>
          <p:cNvPr id="17413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07075" y="1882775"/>
            <a:ext cx="2868613" cy="3959225"/>
          </a:xfrm>
          <a:noFill/>
        </p:spPr>
      </p:pic>
      <p:sp>
        <p:nvSpPr>
          <p:cNvPr id="17414" name="Text Box 5"/>
          <p:cNvSpPr txBox="1">
            <a:spLocks noChangeArrowheads="1"/>
          </p:cNvSpPr>
          <p:nvPr/>
        </p:nvSpPr>
        <p:spPr bwMode="auto">
          <a:xfrm>
            <a:off x="303213" y="1766888"/>
            <a:ext cx="3011487" cy="344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/>
              <a:t>Exemplo em JAVA: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PT" altLang="en-US" sz="20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/>
              <a:t>ponto1 = new Ponto2D();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/>
              <a:t>ponto2 = new Ponto2D();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PT" altLang="en-US" sz="20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/>
              <a:t>cx = ponto1.cx();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/>
              <a:t>cy = ponto1.cy();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/>
              <a:t>ponto1.incX(1);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/>
              <a:t>ponto1.incY(2);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PT" altLang="en-US" sz="20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/>
              <a:t>ponto2.incX(3);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17838</TotalTime>
  <Words>1150</Words>
  <Application>Microsoft Office PowerPoint</Application>
  <PresentationFormat>Apresentação no Ecrã (4:3)</PresentationFormat>
  <Paragraphs>198</Paragraphs>
  <Slides>17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17</vt:i4>
      </vt:variant>
    </vt:vector>
  </HeadingPairs>
  <TitlesOfParts>
    <vt:vector size="21" baseType="lpstr">
      <vt:lpstr>宋体</vt:lpstr>
      <vt:lpstr>Arial</vt:lpstr>
      <vt:lpstr>Times New Roman</vt:lpstr>
      <vt:lpstr>Default Design</vt:lpstr>
      <vt:lpstr>Programação Orientada aos Objetos (Licenciatura em Engenharia de Telecomunicações &amp; Informática)  2º Ano, 1º Semestre</vt:lpstr>
      <vt:lpstr>Objectivos</vt:lpstr>
      <vt:lpstr>Avaliação e Bibliografia</vt:lpstr>
      <vt:lpstr>Porquê programação orientada aos objectos ?</vt:lpstr>
      <vt:lpstr>Módulos</vt:lpstr>
      <vt:lpstr>Interdependência entre módulos</vt:lpstr>
      <vt:lpstr>Porquê privacidade dos Dados?</vt:lpstr>
      <vt:lpstr>Boas práticas em programação</vt:lpstr>
      <vt:lpstr>Abstracção e Data Hiding</vt:lpstr>
      <vt:lpstr>Encapsulamento</vt:lpstr>
      <vt:lpstr>Objecto</vt:lpstr>
      <vt:lpstr>Encapsulamento</vt:lpstr>
      <vt:lpstr>Mensagens</vt:lpstr>
      <vt:lpstr>Tipos de Mensagens</vt:lpstr>
      <vt:lpstr>Exemplo</vt:lpstr>
      <vt:lpstr>Instâncias &amp; Classes</vt:lpstr>
      <vt:lpstr>Exemplo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Métodos de Programação II (Mestrado Integrado em Engenharia de Comunicações)</dc:title>
  <dc:creator>pja</dc:creator>
  <cp:lastModifiedBy>Luís Pedro Cerqueira Baptista</cp:lastModifiedBy>
  <cp:revision>151</cp:revision>
  <dcterms:created xsi:type="dcterms:W3CDTF">2008-02-28T16:13:14Z</dcterms:created>
  <dcterms:modified xsi:type="dcterms:W3CDTF">2025-07-19T21:24:40Z</dcterms:modified>
</cp:coreProperties>
</file>