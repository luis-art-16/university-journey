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91" r:id="rId2"/>
    <p:sldId id="292" r:id="rId3"/>
    <p:sldId id="293" r:id="rId4"/>
    <p:sldId id="294" r:id="rId5"/>
    <p:sldId id="304" r:id="rId6"/>
    <p:sldId id="306" r:id="rId7"/>
    <p:sldId id="265" r:id="rId8"/>
    <p:sldId id="305" r:id="rId9"/>
    <p:sldId id="307" r:id="rId10"/>
    <p:sldId id="308" r:id="rId11"/>
    <p:sldId id="270" r:id="rId12"/>
    <p:sldId id="295" r:id="rId13"/>
    <p:sldId id="296" r:id="rId14"/>
    <p:sldId id="297" r:id="rId15"/>
    <p:sldId id="298" r:id="rId16"/>
    <p:sldId id="299" r:id="rId17"/>
    <p:sldId id="301" r:id="rId18"/>
    <p:sldId id="302" r:id="rId19"/>
    <p:sldId id="303" r:id="rId20"/>
    <p:sldId id="300" r:id="rId21"/>
  </p:sldIdLst>
  <p:sldSz cx="9144000" cy="6858000" type="screen4x3"/>
  <p:notesSz cx="6858000" cy="9144000"/>
  <p:defaultTextStyle>
    <a:defPPr>
      <a:defRPr lang="pt-PT"/>
    </a:defPPr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FF"/>
    <a:srgbClr val="3333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62" autoAdjust="0"/>
    <p:restoredTop sz="94627" autoAdjust="0"/>
  </p:normalViewPr>
  <p:slideViewPr>
    <p:cSldViewPr>
      <p:cViewPr varScale="1">
        <p:scale>
          <a:sx n="84" d="100"/>
          <a:sy n="84" d="100"/>
        </p:scale>
        <p:origin x="1570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458C4542-C664-4EC0-B254-B0780DF2990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BEC40CDE-3A52-4222-813D-A5BB332E03C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6A432493-D191-43AE-83AB-7F3C4338F7C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60679D8C-3BA0-440C-8325-9EF1E48BA02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PT" noProof="0"/>
              <a:t>Click to edit Master text styles</a:t>
            </a:r>
          </a:p>
          <a:p>
            <a:pPr lvl="1"/>
            <a:r>
              <a:rPr lang="pt-PT" noProof="0"/>
              <a:t>Second level</a:t>
            </a:r>
          </a:p>
          <a:p>
            <a:pPr lvl="2"/>
            <a:r>
              <a:rPr lang="pt-PT" noProof="0"/>
              <a:t>Third level</a:t>
            </a:r>
          </a:p>
          <a:p>
            <a:pPr lvl="3"/>
            <a:r>
              <a:rPr lang="pt-PT" noProof="0"/>
              <a:t>Fourth level</a:t>
            </a:r>
          </a:p>
          <a:p>
            <a:pPr lvl="4"/>
            <a:r>
              <a:rPr lang="pt-PT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A4BCBDFF-4BB5-4081-99C6-44FF18DA323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E0AEFFCF-C60E-4CB2-88C1-D1E7BC3AC8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mtClean="0"/>
            </a:lvl1pPr>
          </a:lstStyle>
          <a:p>
            <a:pPr>
              <a:defRPr/>
            </a:pPr>
            <a:fld id="{CEB58160-A773-4886-8637-7C88076CCE94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8321AC0-E4E0-4BB0-95DF-B2ACF2E453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413C0FF-42F7-41CE-AC07-DBC1BD2044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866C004-CEBE-4115-846B-D674EFB1FC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FE788D-D95B-4AC0-8961-E22E27ECD681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671789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0080C94-30A6-4B55-9FC6-1BFF94A73F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9D4E0D4-1B37-4194-81BF-F421EDAABBA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A299B28-71D7-4955-A759-D441E4762B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5B5EB8-9008-4C98-99B6-8237C7463490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655572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9293603-D962-4013-B046-0AD8151FB1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3037241-132B-42E0-BDA6-9F6209C6A8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BC5003E-8558-4D34-A062-8890769800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11E518-9E86-40F3-BA1B-92377AD3EB70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921164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85FA38-6048-48C5-B352-21F6ECB4BB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FCCBF9-D3E0-4219-ABA3-0EFC5916DC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FFADEE-B844-4874-A988-1FF0A15941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01D25B-7D21-457D-927F-6EFEE02C71B8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2892007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11F3A5E-16EC-4A31-B41D-8700E4E6A3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3634AC7-8AC6-4E2D-8F22-2547CFE13E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457ADF2-B075-4A9B-AA58-7682842479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FE680E-9F4D-45A5-ADC1-D888625DCB09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245711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ABB284A-5C5B-46FB-84C6-67D0C07C7A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936A8D2-624F-4F30-9271-FEB6E817C0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7469851-A43F-484B-975C-192EFE4950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B17D37-C0DD-40A7-BE9E-820508C7AFDE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384110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23C35B5-B9C2-431B-B25C-6E52EDF869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4774ED2-A761-4EE9-B8F0-A2E49E9E02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AFEDE6D-B73C-4269-BB1D-EFAA0944C4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67B1DE-ED0A-49F4-B4F4-B5474A6B2E8B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690785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79CF34-582C-4818-9E1C-9967003BD3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907D56-2AA0-4828-924F-DED305CEDC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565BEB-7C57-49E0-B33C-F2CC03A3547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61CD65-6468-45CD-A6B4-44AF78ECB9D6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12863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PT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162679-FE75-4D02-93FC-10B0C72A07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D27CD7-2C49-4BAA-A674-76C6985E3C6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74F8C1-E285-45A8-A4E0-35B8B0A26C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DFFA91-08AA-450B-9A15-802BA0078649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784503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2FACAB9-6AF8-4C20-893B-790BBBC900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9A1F604-3477-411F-80BC-7E10A6792F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08B70D0-CA6C-40DF-9636-B0412124DC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BE1EBB-E1C2-4E44-A230-5C323184A36A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2761589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BC9504A-F4CB-4279-9B9C-0114A1BBA8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9C24799-5FB6-4710-8D7B-6F028FBC7E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E7C054C-8E32-4496-8278-FC78139B1D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A3402C-8567-4473-B7E7-2FDE73DE411C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82178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7711B9D-3BEE-4871-9F11-903F3729EC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PT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20497CA-39EC-4039-8AF5-A6DF527B4E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PT" altLang="en-US"/>
              <a:t>Click to edit Master text styles</a:t>
            </a:r>
          </a:p>
          <a:p>
            <a:pPr lvl="1"/>
            <a:r>
              <a:rPr lang="pt-PT" altLang="en-US"/>
              <a:t>Second level</a:t>
            </a:r>
          </a:p>
          <a:p>
            <a:pPr lvl="2"/>
            <a:r>
              <a:rPr lang="pt-PT" altLang="en-US"/>
              <a:t>Third level</a:t>
            </a:r>
          </a:p>
          <a:p>
            <a:pPr lvl="3"/>
            <a:r>
              <a:rPr lang="pt-PT" altLang="en-US"/>
              <a:t>Fourth level</a:t>
            </a:r>
          </a:p>
          <a:p>
            <a:pPr lvl="4"/>
            <a:r>
              <a:rPr lang="pt-PT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C2D2602-F3F1-4D68-BCF3-84C78E46247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D6664E2-49BF-48AD-BD2B-F33F7B4357A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68538" y="6578600"/>
            <a:ext cx="4248150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DA8CA25-CB58-4929-A7B3-0085792E988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59563" y="6597650"/>
            <a:ext cx="2133600" cy="188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5EB9B888-0F78-4994-9E6E-1A25D8DB9CFE}" type="slidenum">
              <a:rPr lang="pt-PT" altLang="en-US"/>
              <a:pPr>
                <a:defRPr/>
              </a:pPr>
              <a:t>‹nº›</a:t>
            </a:fld>
            <a:endParaRPr lang="pt-PT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Footer Placeholder 4">
            <a:extLst>
              <a:ext uri="{FF2B5EF4-FFF2-40B4-BE49-F238E27FC236}">
                <a16:creationId xmlns:a16="http://schemas.microsoft.com/office/drawing/2014/main" id="{80DA4AFD-1B6C-4515-B7A4-E090CBF4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3075" name="Slide Number Placeholder 5">
            <a:extLst>
              <a:ext uri="{FF2B5EF4-FFF2-40B4-BE49-F238E27FC236}">
                <a16:creationId xmlns:a16="http://schemas.microsoft.com/office/drawing/2014/main" id="{6F72E180-9E1A-4825-9788-D6914EDC6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06F81C0-3138-4508-B426-A423EF6F132A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pt-PT" altLang="en-US" sz="1400"/>
          </a:p>
        </p:txBody>
      </p:sp>
      <p:sp>
        <p:nvSpPr>
          <p:cNvPr id="3076" name="Rectangle 2">
            <a:extLst>
              <a:ext uri="{FF2B5EF4-FFF2-40B4-BE49-F238E27FC236}">
                <a16:creationId xmlns:a16="http://schemas.microsoft.com/office/drawing/2014/main" id="{36654853-70B0-44F9-97DB-4E0F2AB0024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55650" y="1341438"/>
            <a:ext cx="7772400" cy="1470025"/>
          </a:xfrm>
        </p:spPr>
        <p:txBody>
          <a:bodyPr/>
          <a:lstStyle/>
          <a:p>
            <a:pPr eaLnBrk="1" hangingPunct="1"/>
            <a:r>
              <a:rPr lang="pt-PT" altLang="en-US" sz="3200"/>
              <a:t>Programação Orientada aos Objetos</a:t>
            </a:r>
            <a:br>
              <a:rPr lang="pt-PT" altLang="en-US" sz="4000"/>
            </a:br>
            <a:r>
              <a:rPr lang="pt-PT" altLang="en-US" sz="2000"/>
              <a:t>(Licenciatura em Engenharia de Telecomunicações &amp; Informática) </a:t>
            </a:r>
            <a:br>
              <a:rPr lang="pt-PT" altLang="en-US" sz="2000"/>
            </a:br>
            <a:r>
              <a:rPr lang="pt-PT" altLang="en-US" sz="2000"/>
              <a:t>2º Ano, 1º Semestre</a:t>
            </a:r>
          </a:p>
        </p:txBody>
      </p:sp>
      <p:sp>
        <p:nvSpPr>
          <p:cNvPr id="3077" name="Rectangle 3">
            <a:extLst>
              <a:ext uri="{FF2B5EF4-FFF2-40B4-BE49-F238E27FC236}">
                <a16:creationId xmlns:a16="http://schemas.microsoft.com/office/drawing/2014/main" id="{5AEF86B7-0D45-487D-818A-F0C71438E09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83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PT" altLang="en-US" sz="2400"/>
              <a:t>Correspondências chave </a:t>
            </a:r>
            <a:r>
              <a:rPr lang="pt-PT" altLang="en-US" sz="2400">
                <a:sym typeface="Wingdings" panose="05000000000000000000" pitchFamily="2" charset="2"/>
              </a:rPr>
              <a:t></a:t>
            </a:r>
            <a:r>
              <a:rPr lang="pt-PT" altLang="en-US" sz="2400"/>
              <a:t> valor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400"/>
              <a:t> (funções finitas usando maps)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4">
            <a:extLst>
              <a:ext uri="{FF2B5EF4-FFF2-40B4-BE49-F238E27FC236}">
                <a16:creationId xmlns:a16="http://schemas.microsoft.com/office/drawing/2014/main" id="{E038BE5B-B5E4-499E-8069-33530696C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4099" name="Slide Number Placeholder 5">
            <a:extLst>
              <a:ext uri="{FF2B5EF4-FFF2-40B4-BE49-F238E27FC236}">
                <a16:creationId xmlns:a16="http://schemas.microsoft.com/office/drawing/2014/main" id="{06C2F7D0-2DCA-4EAB-81C2-C3FCD5B5C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718392C-1EC6-4016-A345-4D642994C6A7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pt-PT" altLang="en-US" sz="1400"/>
          </a:p>
        </p:txBody>
      </p:sp>
      <p:sp>
        <p:nvSpPr>
          <p:cNvPr id="4100" name="Rectangle 2">
            <a:extLst>
              <a:ext uri="{FF2B5EF4-FFF2-40B4-BE49-F238E27FC236}">
                <a16:creationId xmlns:a16="http://schemas.microsoft.com/office/drawing/2014/main" id="{06285E56-867C-4E76-923E-6CD85771E2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0175"/>
            <a:ext cx="8229600" cy="706438"/>
          </a:xfrm>
        </p:spPr>
        <p:txBody>
          <a:bodyPr/>
          <a:lstStyle/>
          <a:p>
            <a:pPr eaLnBrk="1" hangingPunct="1"/>
            <a:r>
              <a:rPr lang="pt-PT" altLang="en-US" sz="4000"/>
              <a:t>Maps</a:t>
            </a:r>
          </a:p>
        </p:txBody>
      </p:sp>
      <p:sp>
        <p:nvSpPr>
          <p:cNvPr id="4101" name="Rectangle 3">
            <a:extLst>
              <a:ext uri="{FF2B5EF4-FFF2-40B4-BE49-F238E27FC236}">
                <a16:creationId xmlns:a16="http://schemas.microsoft.com/office/drawing/2014/main" id="{A299D2B3-71C9-45EC-92B7-6D898F1C0A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980728"/>
            <a:ext cx="8229600" cy="554389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PT" alt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pt-PT" altLang="en-US" sz="2400" dirty="0"/>
              <a:t> é um tipo abstrato de dado!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400" dirty="0"/>
              <a:t>Os </a:t>
            </a:r>
            <a:r>
              <a:rPr lang="pt-PT" altLang="en-US" sz="2400" i="1" dirty="0" err="1"/>
              <a:t>mappings</a:t>
            </a:r>
            <a:r>
              <a:rPr lang="pt-PT" altLang="en-US" sz="2400" dirty="0"/>
              <a:t>, que são correspondências unívocas um para um entre </a:t>
            </a:r>
            <a:r>
              <a:rPr lang="pt-PT" altLang="en-US" sz="2400" dirty="0" err="1"/>
              <a:t>objectos</a:t>
            </a:r>
            <a:r>
              <a:rPr lang="pt-PT" altLang="en-US" sz="2400" dirty="0"/>
              <a:t> (representando funções matemáticas finitas). Em geral correspondências do tipo </a:t>
            </a:r>
            <a:r>
              <a:rPr lang="pt-PT" altLang="en-US" sz="2400" i="1" dirty="0"/>
              <a:t>chave </a:t>
            </a:r>
            <a:r>
              <a:rPr lang="pt-PT" altLang="en-US" sz="2400" i="1" dirty="0">
                <a:sym typeface="Wingdings" panose="05000000000000000000" pitchFamily="2" charset="2"/>
              </a:rPr>
              <a:t></a:t>
            </a:r>
            <a:r>
              <a:rPr lang="pt-PT" altLang="en-US" sz="2400" i="1" dirty="0"/>
              <a:t> valor</a:t>
            </a:r>
            <a:r>
              <a:rPr lang="pt-PT" altLang="en-US" sz="2400" dirty="0"/>
              <a:t>, em que as chaves são o domínio e são um conjunto (logo, não havendo chaves em duplicado). A correspondência é apenas unívoca, porque a chaves diferentes pode ser feito corresponder o mesmo valor.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400" dirty="0"/>
              <a:t>São estruturas de dados ideais para representar informação de intensiva inserção e pesquisa mas com poucas (ou nenhumas) eliminações.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400" dirty="0"/>
              <a:t>Introduz a noção de chave única, conceito fundamental em computação: identificador de uma entidade e veículo de acesso a ela. Exemplos: nº de BI, nº de contribuinte, nº de aluno, são chaves únicas que estão associadas univocamente a grupos de dados particulares.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4">
            <a:extLst>
              <a:ext uri="{FF2B5EF4-FFF2-40B4-BE49-F238E27FC236}">
                <a16:creationId xmlns:a16="http://schemas.microsoft.com/office/drawing/2014/main" id="{96BBF538-5E6E-45CF-B5AD-0B5B16483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5123" name="Slide Number Placeholder 5">
            <a:extLst>
              <a:ext uri="{FF2B5EF4-FFF2-40B4-BE49-F238E27FC236}">
                <a16:creationId xmlns:a16="http://schemas.microsoft.com/office/drawing/2014/main" id="{4909DE8D-EA9C-4CFE-A110-7577D869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A5B572F-2772-4E4B-9494-0D1D5BBE149A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pt-PT" altLang="en-US" sz="1400"/>
          </a:p>
        </p:txBody>
      </p:sp>
      <p:sp>
        <p:nvSpPr>
          <p:cNvPr id="5124" name="Rectangle 2">
            <a:extLst>
              <a:ext uri="{FF2B5EF4-FFF2-40B4-BE49-F238E27FC236}">
                <a16:creationId xmlns:a16="http://schemas.microsoft.com/office/drawing/2014/main" id="{CE5C0770-E5FB-4ED5-846E-DA35BC7BEA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838" y="419100"/>
            <a:ext cx="3754437" cy="561975"/>
          </a:xfrm>
        </p:spPr>
        <p:txBody>
          <a:bodyPr/>
          <a:lstStyle/>
          <a:p>
            <a:pPr eaLnBrk="1" hangingPunct="1"/>
            <a:r>
              <a:rPr lang="pt-PT" altLang="en-US" sz="4000"/>
              <a:t>Maps</a:t>
            </a:r>
          </a:p>
        </p:txBody>
      </p:sp>
      <p:sp>
        <p:nvSpPr>
          <p:cNvPr id="5125" name="Rectangle 3">
            <a:extLst>
              <a:ext uri="{FF2B5EF4-FFF2-40B4-BE49-F238E27FC236}">
                <a16:creationId xmlns:a16="http://schemas.microsoft.com/office/drawing/2014/main" id="{F0499433-750E-4965-9964-56466C2CB3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3213100"/>
            <a:ext cx="8229600" cy="33845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PT" altLang="en-US" sz="2400" dirty="0"/>
              <a:t>Um </a:t>
            </a:r>
            <a:r>
              <a:rPr lang="pt-PT" altLang="en-US" sz="2400" i="1" dirty="0" err="1"/>
              <a:t>mapping</a:t>
            </a:r>
            <a:r>
              <a:rPr lang="pt-PT" altLang="en-US" sz="2400" dirty="0"/>
              <a:t> é a representação de uma função matemática que estabelece uma qualquer correspondência entre um conjunto de chaves (</a:t>
            </a:r>
            <a:r>
              <a:rPr lang="pt-PT" altLang="en-US" sz="2400" i="1" dirty="0" err="1"/>
              <a:t>keys</a:t>
            </a:r>
            <a:r>
              <a:rPr lang="pt-PT" altLang="en-US" sz="2400" dirty="0"/>
              <a:t>) e um grupo de valores (</a:t>
            </a:r>
            <a:r>
              <a:rPr lang="pt-PT" altLang="en-US" sz="2400" i="1" dirty="0" err="1"/>
              <a:t>values</a:t>
            </a:r>
            <a:r>
              <a:rPr lang="pt-PT" altLang="en-US" sz="2400" dirty="0"/>
              <a:t>).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400" dirty="0"/>
              <a:t>A procura de informação num </a:t>
            </a:r>
            <a:r>
              <a:rPr lang="pt-PT" altLang="en-US" sz="2400" i="1" dirty="0" err="1"/>
              <a:t>map</a:t>
            </a:r>
            <a:r>
              <a:rPr lang="pt-PT" altLang="en-US" sz="2400" dirty="0"/>
              <a:t> (dado uma chave) tem tempo de acesso constante, isto porque a chave traduz-se na posição onde está armazenada e consequentemente acesso direto ao valor. Tipicamente, a posição é obtida por aplicação de uma função de </a:t>
            </a:r>
            <a:r>
              <a:rPr lang="pt-PT" altLang="en-US" sz="2400" i="1" dirty="0" err="1"/>
              <a:t>hash</a:t>
            </a:r>
            <a:r>
              <a:rPr lang="pt-PT" altLang="en-US" sz="2400" dirty="0"/>
              <a:t> à própria chave.</a:t>
            </a:r>
          </a:p>
        </p:txBody>
      </p:sp>
      <p:pic>
        <p:nvPicPr>
          <p:cNvPr id="5126" name="Picture 4">
            <a:extLst>
              <a:ext uri="{FF2B5EF4-FFF2-40B4-BE49-F238E27FC236}">
                <a16:creationId xmlns:a16="http://schemas.microsoft.com/office/drawing/2014/main" id="{044F21D2-2BA8-44C9-9804-CEE62B4D2E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638" y="261938"/>
            <a:ext cx="3994150" cy="287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31AA4ED7-9090-41E3-89EF-21B5003C8250}"/>
              </a:ext>
            </a:extLst>
          </p:cNvPr>
          <p:cNvSpPr/>
          <p:nvPr/>
        </p:nvSpPr>
        <p:spPr>
          <a:xfrm>
            <a:off x="1332434" y="1844824"/>
            <a:ext cx="1872208" cy="1152128"/>
          </a:xfrm>
          <a:prstGeom prst="wedgeRoundRectCallout">
            <a:avLst>
              <a:gd name="adj1" fmla="val 106937"/>
              <a:gd name="adj2" fmla="val -8985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>
                <a:solidFill>
                  <a:schemeClr val="tx1"/>
                </a:solidFill>
              </a:rPr>
              <a:t>Tabelas de dispersão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4">
            <a:extLst>
              <a:ext uri="{FF2B5EF4-FFF2-40B4-BE49-F238E27FC236}">
                <a16:creationId xmlns:a16="http://schemas.microsoft.com/office/drawing/2014/main" id="{EB57DF1E-4E66-4F73-8A8F-D63C122E9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6147" name="Slide Number Placeholder 5">
            <a:extLst>
              <a:ext uri="{FF2B5EF4-FFF2-40B4-BE49-F238E27FC236}">
                <a16:creationId xmlns:a16="http://schemas.microsoft.com/office/drawing/2014/main" id="{BB12180E-5BC8-4EF7-9D48-08BE1CD95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083DC7B-501D-4E01-90CD-6952F193B177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pt-PT" altLang="en-US" sz="1400"/>
          </a:p>
        </p:txBody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199D6980-9083-4494-9279-B1C619A507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5413"/>
            <a:ext cx="8229600" cy="855662"/>
          </a:xfrm>
        </p:spPr>
        <p:txBody>
          <a:bodyPr/>
          <a:lstStyle/>
          <a:p>
            <a:pPr eaLnBrk="1" hangingPunct="1"/>
            <a:r>
              <a:rPr lang="pt-PT" altLang="en-US"/>
              <a:t>Maps  (2)</a:t>
            </a:r>
          </a:p>
        </p:txBody>
      </p:sp>
      <p:sp>
        <p:nvSpPr>
          <p:cNvPr id="6149" name="Rectangle 3">
            <a:extLst>
              <a:ext uri="{FF2B5EF4-FFF2-40B4-BE49-F238E27FC236}">
                <a16:creationId xmlns:a16="http://schemas.microsoft.com/office/drawing/2014/main" id="{2BD986EB-DD44-40F5-B3C4-44F34076A9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908050"/>
            <a:ext cx="8229600" cy="5689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pt-PT" altLang="en-US" sz="2800"/>
              <a:t>Qualquer </a:t>
            </a:r>
            <a:r>
              <a:rPr lang="pt-PT" altLang="en-US" sz="2800" i="1"/>
              <a:t>map</a:t>
            </a:r>
            <a:r>
              <a:rPr lang="pt-PT" altLang="en-US" sz="2800"/>
              <a:t> tem as seguintes propriedades: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pt-PT" altLang="en-US" sz="2800"/>
          </a:p>
          <a:p>
            <a:pPr lvl="1" eaLnBrk="1" hangingPunct="1">
              <a:lnSpc>
                <a:spcPct val="80000"/>
              </a:lnSpc>
            </a:pPr>
            <a:r>
              <a:rPr lang="pt-PT" altLang="en-US" sz="2000"/>
              <a:t> </a:t>
            </a:r>
            <a:r>
              <a:rPr lang="pt-PT" altLang="en-US" sz="2400"/>
              <a:t>São a correspondência entre uma chave e um valor (1 para 1);</a:t>
            </a:r>
          </a:p>
          <a:p>
            <a:pPr lvl="1" eaLnBrk="1" hangingPunct="1">
              <a:lnSpc>
                <a:spcPct val="80000"/>
              </a:lnSpc>
            </a:pPr>
            <a:r>
              <a:rPr lang="pt-PT" altLang="en-US" sz="2400"/>
              <a:t> As chaves são únicas e formam um conjunto; </a:t>
            </a:r>
          </a:p>
          <a:p>
            <a:pPr lvl="1" eaLnBrk="1" hangingPunct="1">
              <a:lnSpc>
                <a:spcPct val="80000"/>
              </a:lnSpc>
            </a:pPr>
            <a:r>
              <a:rPr lang="pt-PT" altLang="en-US" sz="2400"/>
              <a:t>os valores podem ser em duplicado, isto é, duas chaves distintas podem ter o mesmo valor (ex.: duas cidades distintas com a mesma população) mas o valor não é partilhado, pelo que são duas correspondências (designadas pares) distintas;</a:t>
            </a:r>
          </a:p>
          <a:p>
            <a:pPr lvl="1" eaLnBrk="1" hangingPunct="1">
              <a:lnSpc>
                <a:spcPct val="80000"/>
              </a:lnSpc>
            </a:pPr>
            <a:r>
              <a:rPr lang="pt-PT" altLang="en-US" sz="2400"/>
              <a:t> As remoções num </a:t>
            </a:r>
            <a:r>
              <a:rPr lang="pt-PT" altLang="en-US" sz="2400" i="1"/>
              <a:t>map</a:t>
            </a:r>
            <a:r>
              <a:rPr lang="pt-PT" altLang="en-US" sz="2400"/>
              <a:t> removem sempre pares chave </a:t>
            </a:r>
            <a:r>
              <a:rPr lang="pt-PT" altLang="en-US" sz="2400">
                <a:sym typeface="Wingdings" panose="05000000000000000000" pitchFamily="2" charset="2"/>
              </a:rPr>
              <a:t></a:t>
            </a:r>
            <a:r>
              <a:rPr lang="pt-PT" altLang="en-US" sz="2400"/>
              <a:t> valor e não apenas as chaves (muitas remoções podem provocar a necessidade de operações de </a:t>
            </a:r>
            <a:r>
              <a:rPr lang="pt-PT" altLang="en-US" sz="2400" i="1"/>
              <a:t>rehashing</a:t>
            </a:r>
            <a:r>
              <a:rPr lang="pt-PT" altLang="en-US" sz="2400"/>
              <a:t>, que são computacionalmente caras);</a:t>
            </a:r>
          </a:p>
          <a:p>
            <a:pPr lvl="1" eaLnBrk="1" hangingPunct="1">
              <a:lnSpc>
                <a:spcPct val="80000"/>
              </a:lnSpc>
            </a:pPr>
            <a:r>
              <a:rPr lang="pt-PT" altLang="en-US" sz="2400"/>
              <a:t> Não há qualquer ordem definida sobre chaves ou pares.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20C90-ED73-41CE-BA0C-9D4A4D23C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pt-PT" dirty="0" err="1"/>
              <a:t>Hashing</a:t>
            </a:r>
            <a:endParaRPr lang="pt-P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EA24F-CACF-45C6-8FBE-885AA671A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688632"/>
          </a:xfrm>
        </p:spPr>
        <p:txBody>
          <a:bodyPr/>
          <a:lstStyle/>
          <a:p>
            <a:r>
              <a:rPr lang="pt-PT" dirty="0">
                <a:sym typeface="Wingdings" panose="05000000000000000000" pitchFamily="2" charset="2"/>
              </a:rPr>
              <a:t>Problema: </a:t>
            </a:r>
            <a:r>
              <a:rPr lang="pt-PT" sz="2400" dirty="0">
                <a:sym typeface="Wingdings" panose="05000000000000000000" pitchFamily="2" charset="2"/>
              </a:rPr>
              <a:t>Queremos representar esta informação de uma forma </a:t>
            </a:r>
            <a:r>
              <a:rPr lang="pt-PT" sz="2400" dirty="0" err="1">
                <a:sym typeface="Wingdings" panose="05000000000000000000" pitchFamily="2" charset="2"/>
              </a:rPr>
              <a:t>óptima</a:t>
            </a:r>
            <a:r>
              <a:rPr lang="pt-PT" sz="2400" dirty="0">
                <a:sym typeface="Wingdings" panose="05000000000000000000" pitchFamily="2" charset="2"/>
              </a:rPr>
              <a:t> em termos de acesso i.e., dada uma chave, queremos ter um mecanismo que de uma forma fácil e eficiente obtém o valor (informação) associado.</a:t>
            </a:r>
          </a:p>
          <a:p>
            <a:r>
              <a:rPr lang="pt-PT" sz="2400" i="1" dirty="0" err="1"/>
              <a:t>Hashing</a:t>
            </a:r>
            <a:r>
              <a:rPr lang="pt-PT" sz="2400" dirty="0"/>
              <a:t> permite separar universo </a:t>
            </a:r>
            <a:r>
              <a:rPr lang="pt-PT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pt-PT" sz="2400" dirty="0"/>
              <a:t> das chaves do conjunto de índices do </a:t>
            </a:r>
            <a:r>
              <a:rPr lang="pt-PT" sz="2400" dirty="0" err="1"/>
              <a:t>array</a:t>
            </a:r>
            <a:r>
              <a:rPr lang="pt-PT" sz="2400" dirty="0"/>
              <a:t> onde é implementado.</a:t>
            </a:r>
          </a:p>
          <a:p>
            <a:endParaRPr lang="pt-PT" sz="2400" dirty="0"/>
          </a:p>
          <a:p>
            <a:r>
              <a:rPr lang="pt-PT" sz="2400" dirty="0"/>
              <a:t>Desenho da tabela é um compromisso entre espaço usado e tempo de acesso.</a:t>
            </a:r>
          </a:p>
          <a:p>
            <a:r>
              <a:rPr lang="pt-PT" sz="2000" dirty="0"/>
              <a:t>No extremo: se </a:t>
            </a:r>
            <a:r>
              <a:rPr lang="pt-PT" sz="2000" i="1" dirty="0"/>
              <a:t>tamanho</a:t>
            </a:r>
            <a:r>
              <a:rPr lang="pt-PT" sz="2000" dirty="0"/>
              <a:t> == #</a:t>
            </a:r>
            <a:r>
              <a:rPr lang="pt-P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pt-PT" sz="2000" dirty="0"/>
              <a:t> (</a:t>
            </a:r>
            <a:r>
              <a:rPr lang="pt-PT" sz="2000" i="1" dirty="0"/>
              <a:t>{universao possível das chaves})</a:t>
            </a:r>
            <a:r>
              <a:rPr lang="pt-PT" sz="2000" dirty="0"/>
              <a:t> então (teoricamente) não há colisões e as operações de inserção/consulta/remoção executam em tempo constante. Mas podemos desperdiçar muito espaço porque o tamanho efetivo da tabela pode ser &lt;&lt;&lt; </a:t>
            </a:r>
            <a:r>
              <a:rPr lang="pt-PT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pt-PT" sz="2000" dirty="0"/>
              <a:t> (universo das chaves).</a:t>
            </a:r>
            <a:endParaRPr lang="pt-PT" sz="2400" i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1DB203-9248-48D5-B4DF-951BF6197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F7AB6A-1DEA-4A26-B2D7-692CC6DA7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5B5EB8-9008-4C98-99B6-8237C7463490}" type="slidenum">
              <a:rPr lang="pt-PT" altLang="en-US" smtClean="0"/>
              <a:pPr>
                <a:defRPr/>
              </a:pPr>
              <a:t>5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25955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20C90-ED73-41CE-BA0C-9D4A4D23C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/>
          <a:lstStyle/>
          <a:p>
            <a:r>
              <a:rPr lang="pt-PT" dirty="0" err="1"/>
              <a:t>Hashing</a:t>
            </a:r>
            <a:endParaRPr lang="pt-P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AEA24F-CACF-45C6-8FBE-885AA671A0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836711"/>
                <a:ext cx="8784976" cy="5949851"/>
              </a:xfrm>
            </p:spPr>
            <p:txBody>
              <a:bodyPr/>
              <a:lstStyle/>
              <a:p>
                <a:r>
                  <a:rPr lang="pt-PT" dirty="0"/>
                  <a:t>Função de </a:t>
                </a:r>
                <a:r>
                  <a:rPr lang="pt-PT" dirty="0" err="1"/>
                  <a:t>hash</a:t>
                </a:r>
                <a:r>
                  <a:rPr lang="pt-PT" dirty="0"/>
                  <a:t>:</a:t>
                </a:r>
              </a:p>
              <a:p>
                <a:pPr lvl="1"/>
                <a:r>
                  <a:rPr lang="pt-PT" sz="2000" dirty="0"/>
                  <a:t>Ter uma função que dada uma chave retorna o índice do local onde está a informação associada.  e.g., h(17) =  2. </a:t>
                </a:r>
              </a:p>
              <a:p>
                <a:pPr lvl="1"/>
                <a:endParaRPr lang="pt-PT" sz="2000" dirty="0"/>
              </a:p>
              <a:p>
                <a:r>
                  <a:rPr lang="pt-PT" dirty="0"/>
                  <a:t>Exemplos de  funções de </a:t>
                </a:r>
                <a:r>
                  <a:rPr lang="pt-PT" dirty="0" err="1"/>
                  <a:t>hash</a:t>
                </a:r>
                <a:endParaRPr lang="pt-PT" sz="2000" strike="sngStrike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𝑠𝑖𝑧𝑒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% 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𝑠𝑖𝑧𝑒</m:t>
                    </m:r>
                  </m:oMath>
                </a14:m>
                <a:r>
                  <a:rPr lang="pt-PT" sz="2000" dirty="0"/>
                  <a:t>      (onde % é o operador de resto da divisão) e onde  </a:t>
                </a:r>
                <a:r>
                  <a:rPr lang="pt-PT" sz="2000" i="1" dirty="0">
                    <a:ea typeface="Cambria Math" panose="02040503050406030204" pitchFamily="18" charset="0"/>
                  </a:rPr>
                  <a:t>k </a:t>
                </a:r>
                <a:r>
                  <a:rPr lang="pt-PT" sz="2000" dirty="0"/>
                  <a:t> é a chave,  </a:t>
                </a:r>
                <a:r>
                  <a:rPr lang="pt-PT" sz="2000" i="1" dirty="0" err="1">
                    <a:ea typeface="Cambria Math" panose="02040503050406030204" pitchFamily="18" charset="0"/>
                  </a:rPr>
                  <a:t>size</a:t>
                </a:r>
                <a:r>
                  <a:rPr lang="pt-PT" sz="2000" dirty="0"/>
                  <a:t>  é o tamanho definido para a tabela. Pelas razões obvias  este valor deve ser um número primo (menos colisões)!</a:t>
                </a:r>
              </a:p>
              <a:p>
                <a:pPr lvl="1"/>
                <a:r>
                  <a:rPr lang="pt-PT" sz="2000" dirty="0">
                    <a:sym typeface="Wingdings" panose="05000000000000000000" pitchFamily="2" charset="2"/>
                  </a:rPr>
                  <a:t>função  </a:t>
                </a:r>
                <a:r>
                  <a:rPr lang="pt-PT" sz="2000" i="1" dirty="0">
                    <a:sym typeface="Wingdings" panose="05000000000000000000" pitchFamily="2" charset="2"/>
                  </a:rPr>
                  <a:t>h </a:t>
                </a:r>
                <a:r>
                  <a:rPr lang="pt-PT" sz="2000" dirty="0">
                    <a:sym typeface="Wingdings" panose="05000000000000000000" pitchFamily="2" charset="2"/>
                  </a:rPr>
                  <a:t> não injetiva! Logo haverá </a:t>
                </a:r>
                <a:r>
                  <a:rPr lang="pt-PT" sz="2000" u="sng" dirty="0">
                    <a:sym typeface="Wingdings" panose="05000000000000000000" pitchFamily="2" charset="2"/>
                  </a:rPr>
                  <a:t>colisões</a:t>
                </a:r>
                <a:r>
                  <a:rPr lang="pt-PT" sz="2000" dirty="0">
                    <a:sym typeface="Wingdings" panose="05000000000000000000" pitchFamily="2" charset="2"/>
                  </a:rPr>
                  <a:t>  i.e., função retorna mesmo índice para diferentes chaves.</a:t>
                </a:r>
                <a:endParaRPr lang="pt-PT" sz="2000" dirty="0"/>
              </a:p>
              <a:p>
                <a:r>
                  <a:rPr lang="pt-PT" dirty="0"/>
                  <a:t>Como resolver colisões?</a:t>
                </a:r>
              </a:p>
              <a:p>
                <a:pPr lvl="1"/>
                <a:r>
                  <a:rPr lang="pt-PT" dirty="0"/>
                  <a:t>Open </a:t>
                </a:r>
                <a:r>
                  <a:rPr lang="pt-PT" dirty="0" err="1"/>
                  <a:t>addressing</a:t>
                </a:r>
                <a:r>
                  <a:rPr lang="pt-PT" dirty="0"/>
                  <a:t>: </a:t>
                </a:r>
                <a:r>
                  <a:rPr lang="pt-PT" sz="2000" dirty="0" err="1"/>
                  <a:t>probing</a:t>
                </a:r>
                <a:r>
                  <a:rPr lang="pt-PT" sz="2000" dirty="0"/>
                  <a:t> na tabela</a:t>
                </a:r>
              </a:p>
              <a:p>
                <a:pPr lvl="1"/>
                <a:r>
                  <a:rPr lang="pt-PT" dirty="0" err="1"/>
                  <a:t>Closed</a:t>
                </a:r>
                <a:r>
                  <a:rPr lang="pt-PT" dirty="0"/>
                  <a:t> </a:t>
                </a:r>
                <a:r>
                  <a:rPr lang="pt-PT" dirty="0" err="1"/>
                  <a:t>addressing</a:t>
                </a:r>
                <a:r>
                  <a:rPr lang="pt-PT" dirty="0"/>
                  <a:t>: </a:t>
                </a:r>
                <a:r>
                  <a:rPr lang="pt-PT" sz="2000" dirty="0" err="1"/>
                  <a:t>chaining</a:t>
                </a:r>
                <a:r>
                  <a:rPr lang="pt-PT" sz="2000" dirty="0"/>
                  <a:t> em cada </a:t>
                </a:r>
                <a:r>
                  <a:rPr lang="pt-PT" sz="2000" dirty="0" err="1"/>
                  <a:t>bucket</a:t>
                </a:r>
                <a:r>
                  <a:rPr lang="pt-PT" sz="2000" dirty="0"/>
                  <a:t>!</a:t>
                </a:r>
                <a:endParaRPr lang="pt-PT" dirty="0"/>
              </a:p>
              <a:p>
                <a:endParaRPr lang="pt-PT" dirty="0"/>
              </a:p>
              <a:p>
                <a:endParaRPr lang="pt-PT" dirty="0"/>
              </a:p>
              <a:p>
                <a:endParaRPr lang="pt-PT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AEA24F-CACF-45C6-8FBE-885AA671A0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836711"/>
                <a:ext cx="8784976" cy="5949851"/>
              </a:xfrm>
              <a:blipFill>
                <a:blip r:embed="rId2"/>
                <a:stretch>
                  <a:fillRect l="-1596" t="-1332" r="-833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1DB203-9248-48D5-B4DF-951BF6197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F7AB6A-1DEA-4A26-B2D7-692CC6DA7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5B5EB8-9008-4C98-99B6-8237C7463490}" type="slidenum">
              <a:rPr lang="pt-PT" altLang="en-US" smtClean="0"/>
              <a:pPr>
                <a:defRPr/>
              </a:pPr>
              <a:t>6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821627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8F668-1BA3-43FF-8180-256FE647B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55" y="188640"/>
            <a:ext cx="8719117" cy="994172"/>
          </a:xfrm>
        </p:spPr>
        <p:txBody>
          <a:bodyPr/>
          <a:lstStyle/>
          <a:p>
            <a:r>
              <a:rPr lang="pt-PT" dirty="0"/>
              <a:t>Tabelas de </a:t>
            </a:r>
            <a:r>
              <a:rPr lang="pt-PT" dirty="0" err="1"/>
              <a:t>Hash</a:t>
            </a:r>
            <a:endParaRPr lang="pt-P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EB560-7153-4300-AC53-AF240FA7A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80728"/>
            <a:ext cx="7886700" cy="1476852"/>
          </a:xfrm>
        </p:spPr>
        <p:txBody>
          <a:bodyPr/>
          <a:lstStyle/>
          <a:p>
            <a:r>
              <a:rPr lang="pt-PT" dirty="0"/>
              <a:t>Como resolver colisões? (exemplo com as chaves k2 e k3)</a:t>
            </a:r>
          </a:p>
          <a:p>
            <a:r>
              <a:rPr lang="pt-PT" dirty="0" err="1"/>
              <a:t>closed</a:t>
            </a:r>
            <a:r>
              <a:rPr lang="pt-PT" dirty="0"/>
              <a:t> </a:t>
            </a:r>
            <a:r>
              <a:rPr lang="pt-PT" dirty="0" err="1"/>
              <a:t>addressing</a:t>
            </a:r>
            <a:r>
              <a:rPr lang="pt-PT" dirty="0"/>
              <a:t> (</a:t>
            </a:r>
            <a:r>
              <a:rPr lang="pt-PT" dirty="0" err="1"/>
              <a:t>chaining</a:t>
            </a:r>
            <a:r>
              <a:rPr lang="pt-PT" dirty="0"/>
              <a:t>)</a:t>
            </a:r>
          </a:p>
          <a:p>
            <a:pPr marL="342900" lvl="1" indent="0">
              <a:buNone/>
            </a:pPr>
            <a:endParaRPr lang="pt-P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0A23B5-4DB9-4AB4-9264-5F062B6C5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Programação Orientada aos Objetos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663697-CABD-4D42-B1C5-C4FAB902C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E1D46-D4E7-4858-A207-9EC8F3C40ACD}" type="slidenum">
              <a:rPr lang="pt-PT" smtClean="0"/>
              <a:t>7</a:t>
            </a:fld>
            <a:endParaRPr lang="pt-PT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DC100177-5BAF-401A-AFEF-8AC9B4F605EF}"/>
              </a:ext>
            </a:extLst>
          </p:cNvPr>
          <p:cNvSpPr/>
          <p:nvPr/>
        </p:nvSpPr>
        <p:spPr>
          <a:xfrm>
            <a:off x="512451" y="3451517"/>
            <a:ext cx="2401295" cy="209914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200" dirty="0">
                <a:solidFill>
                  <a:schemeClr val="accent2">
                    <a:lumMod val="75000"/>
                  </a:schemeClr>
                </a:solidFill>
              </a:rPr>
              <a:t>Universo de chaves U</a:t>
            </a:r>
          </a:p>
          <a:p>
            <a:endParaRPr lang="pt-PT" sz="1200" dirty="0"/>
          </a:p>
          <a:p>
            <a:endParaRPr lang="pt-PT" sz="1200" dirty="0"/>
          </a:p>
          <a:p>
            <a:endParaRPr lang="pt-PT" sz="1200" dirty="0"/>
          </a:p>
          <a:p>
            <a:endParaRPr lang="pt-PT" sz="1200" dirty="0"/>
          </a:p>
          <a:p>
            <a:endParaRPr lang="pt-PT" sz="1200" dirty="0"/>
          </a:p>
          <a:p>
            <a:endParaRPr lang="pt-PT" sz="1200" dirty="0"/>
          </a:p>
          <a:p>
            <a:endParaRPr lang="pt-PT" sz="1200" dirty="0"/>
          </a:p>
          <a:p>
            <a:endParaRPr lang="pt-PT" sz="1200" dirty="0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B03CD02A-4E28-46C8-8EAA-8C2F8CC60799}"/>
              </a:ext>
            </a:extLst>
          </p:cNvPr>
          <p:cNvSpPr/>
          <p:nvPr/>
        </p:nvSpPr>
        <p:spPr>
          <a:xfrm>
            <a:off x="887488" y="3977627"/>
            <a:ext cx="1628691" cy="140605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200" dirty="0">
                <a:solidFill>
                  <a:schemeClr val="accent2">
                    <a:lumMod val="75000"/>
                  </a:schemeClr>
                </a:solidFill>
              </a:rPr>
              <a:t>Chaves atuais K</a:t>
            </a:r>
          </a:p>
          <a:p>
            <a:endParaRPr lang="pt-PT" sz="1200" dirty="0"/>
          </a:p>
          <a:p>
            <a:endParaRPr lang="pt-PT" sz="1200" dirty="0"/>
          </a:p>
          <a:p>
            <a:endParaRPr lang="pt-PT" sz="1200" dirty="0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48E7EA13-7E76-4049-9C09-F4F9010E40E5}"/>
              </a:ext>
            </a:extLst>
          </p:cNvPr>
          <p:cNvSpPr/>
          <p:nvPr/>
        </p:nvSpPr>
        <p:spPr>
          <a:xfrm>
            <a:off x="4670984" y="3451517"/>
            <a:ext cx="585746" cy="23058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dirty="0"/>
              <a:t>/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283BC926-D649-4EF1-A1F3-4E1E4A31F514}"/>
              </a:ext>
            </a:extLst>
          </p:cNvPr>
          <p:cNvSpPr/>
          <p:nvPr/>
        </p:nvSpPr>
        <p:spPr>
          <a:xfrm>
            <a:off x="4672309" y="3699333"/>
            <a:ext cx="585746" cy="230587"/>
          </a:xfrm>
          <a:prstGeom prst="rect">
            <a:avLst/>
          </a:prstGeom>
          <a:solidFill>
            <a:srgbClr val="FFC00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PT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7D7EFEA8-69CF-4AE4-9CD5-B6BD7709FBC2}"/>
              </a:ext>
            </a:extLst>
          </p:cNvPr>
          <p:cNvSpPr/>
          <p:nvPr/>
        </p:nvSpPr>
        <p:spPr>
          <a:xfrm>
            <a:off x="4673636" y="3947150"/>
            <a:ext cx="585746" cy="23058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dirty="0"/>
              <a:t>/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4F32FC26-DEF7-4852-B678-91B8C92145C5}"/>
              </a:ext>
            </a:extLst>
          </p:cNvPr>
          <p:cNvSpPr/>
          <p:nvPr/>
        </p:nvSpPr>
        <p:spPr>
          <a:xfrm>
            <a:off x="4674960" y="4187013"/>
            <a:ext cx="585746" cy="23058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dirty="0"/>
              <a:t>/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ABC5D693-15C4-4A16-AA0E-7936EACB4749}"/>
              </a:ext>
            </a:extLst>
          </p:cNvPr>
          <p:cNvSpPr/>
          <p:nvPr/>
        </p:nvSpPr>
        <p:spPr>
          <a:xfrm>
            <a:off x="4676285" y="4434830"/>
            <a:ext cx="585746" cy="230587"/>
          </a:xfrm>
          <a:prstGeom prst="rect">
            <a:avLst/>
          </a:prstGeom>
          <a:solidFill>
            <a:srgbClr val="FFC00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PT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C2E6DF43-7EFF-481F-853F-CF5E9023DC87}"/>
              </a:ext>
            </a:extLst>
          </p:cNvPr>
          <p:cNvSpPr/>
          <p:nvPr/>
        </p:nvSpPr>
        <p:spPr>
          <a:xfrm>
            <a:off x="4677611" y="4682646"/>
            <a:ext cx="585746" cy="230587"/>
          </a:xfrm>
          <a:prstGeom prst="rect">
            <a:avLst/>
          </a:prstGeom>
          <a:solidFill>
            <a:srgbClr val="FFC00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PT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61C91136-2BE7-4230-A40A-868177F0B7C6}"/>
              </a:ext>
            </a:extLst>
          </p:cNvPr>
          <p:cNvSpPr/>
          <p:nvPr/>
        </p:nvSpPr>
        <p:spPr>
          <a:xfrm>
            <a:off x="4678937" y="4938415"/>
            <a:ext cx="585746" cy="23058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dirty="0"/>
              <a:t>/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4CCDAED6-392A-4FD0-8171-8B66DB2E9946}"/>
              </a:ext>
            </a:extLst>
          </p:cNvPr>
          <p:cNvSpPr/>
          <p:nvPr/>
        </p:nvSpPr>
        <p:spPr>
          <a:xfrm>
            <a:off x="4680263" y="5194183"/>
            <a:ext cx="585746" cy="23058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dirty="0"/>
              <a:t>/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21B820BF-0DA5-4EAA-B525-5C8B4D09DBE3}"/>
              </a:ext>
            </a:extLst>
          </p:cNvPr>
          <p:cNvSpPr/>
          <p:nvPr/>
        </p:nvSpPr>
        <p:spPr>
          <a:xfrm>
            <a:off x="4681588" y="5449950"/>
            <a:ext cx="585746" cy="23058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dirty="0"/>
              <a:t>/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C70C9E53-809E-4038-9729-1347C1A06164}"/>
              </a:ext>
            </a:extLst>
          </p:cNvPr>
          <p:cNvSpPr/>
          <p:nvPr/>
        </p:nvSpPr>
        <p:spPr>
          <a:xfrm>
            <a:off x="4674963" y="5697764"/>
            <a:ext cx="585746" cy="23058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dirty="0"/>
              <a:t>/</a:t>
            </a:r>
          </a:p>
        </p:txBody>
      </p:sp>
      <p:sp>
        <p:nvSpPr>
          <p:cNvPr id="121" name="TextBox 17">
            <a:extLst>
              <a:ext uri="{FF2B5EF4-FFF2-40B4-BE49-F238E27FC236}">
                <a16:creationId xmlns:a16="http://schemas.microsoft.com/office/drawing/2014/main" id="{3F49B2F4-10E2-4B67-A363-EA7A97D58B96}"/>
              </a:ext>
            </a:extLst>
          </p:cNvPr>
          <p:cNvSpPr txBox="1"/>
          <p:nvPr/>
        </p:nvSpPr>
        <p:spPr>
          <a:xfrm>
            <a:off x="1442754" y="4556746"/>
            <a:ext cx="357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 dirty="0"/>
              <a:t>k1</a:t>
            </a:r>
          </a:p>
        </p:txBody>
      </p:sp>
      <p:sp>
        <p:nvSpPr>
          <p:cNvPr id="122" name="TextBox 18">
            <a:extLst>
              <a:ext uri="{FF2B5EF4-FFF2-40B4-BE49-F238E27FC236}">
                <a16:creationId xmlns:a16="http://schemas.microsoft.com/office/drawing/2014/main" id="{1FA4473F-D09B-4E56-94D4-E92549193487}"/>
              </a:ext>
            </a:extLst>
          </p:cNvPr>
          <p:cNvSpPr txBox="1"/>
          <p:nvPr/>
        </p:nvSpPr>
        <p:spPr>
          <a:xfrm>
            <a:off x="1849596" y="4844322"/>
            <a:ext cx="357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 dirty="0"/>
              <a:t>k2</a:t>
            </a:r>
          </a:p>
        </p:txBody>
      </p:sp>
      <p:sp>
        <p:nvSpPr>
          <p:cNvPr id="123" name="TextBox 19">
            <a:extLst>
              <a:ext uri="{FF2B5EF4-FFF2-40B4-BE49-F238E27FC236}">
                <a16:creationId xmlns:a16="http://schemas.microsoft.com/office/drawing/2014/main" id="{8413CB2F-8012-41DC-86E5-C40B63D4B56C}"/>
              </a:ext>
            </a:extLst>
          </p:cNvPr>
          <p:cNvSpPr txBox="1"/>
          <p:nvPr/>
        </p:nvSpPr>
        <p:spPr>
          <a:xfrm>
            <a:off x="1493111" y="5100085"/>
            <a:ext cx="357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 dirty="0"/>
              <a:t>k3</a:t>
            </a:r>
          </a:p>
        </p:txBody>
      </p:sp>
      <p:sp>
        <p:nvSpPr>
          <p:cNvPr id="124" name="TextBox 20">
            <a:extLst>
              <a:ext uri="{FF2B5EF4-FFF2-40B4-BE49-F238E27FC236}">
                <a16:creationId xmlns:a16="http://schemas.microsoft.com/office/drawing/2014/main" id="{970B1C0F-68F5-4021-BFAE-32347B4FD74B}"/>
              </a:ext>
            </a:extLst>
          </p:cNvPr>
          <p:cNvSpPr txBox="1"/>
          <p:nvPr/>
        </p:nvSpPr>
        <p:spPr>
          <a:xfrm>
            <a:off x="2143793" y="4399049"/>
            <a:ext cx="357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 dirty="0"/>
              <a:t>k4</a:t>
            </a: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CEA990B1-1093-4BF5-B9C3-269FDC20494C}"/>
              </a:ext>
            </a:extLst>
          </p:cNvPr>
          <p:cNvCxnSpPr>
            <a:cxnSpLocks/>
            <a:endCxn id="112" idx="1"/>
          </p:cNvCxnSpPr>
          <p:nvPr/>
        </p:nvCxnSpPr>
        <p:spPr>
          <a:xfrm flipV="1">
            <a:off x="2355810" y="3814627"/>
            <a:ext cx="2316499" cy="7555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2E4A397B-FFD6-478C-8213-6CC640887F99}"/>
              </a:ext>
            </a:extLst>
          </p:cNvPr>
          <p:cNvCxnSpPr>
            <a:cxnSpLocks/>
            <a:endCxn id="115" idx="1"/>
          </p:cNvCxnSpPr>
          <p:nvPr/>
        </p:nvCxnSpPr>
        <p:spPr>
          <a:xfrm flipV="1">
            <a:off x="1646425" y="4550124"/>
            <a:ext cx="3029860" cy="1832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72ACA5D8-6A3C-452C-9F7B-9BF1EF24886E}"/>
              </a:ext>
            </a:extLst>
          </p:cNvPr>
          <p:cNvCxnSpPr>
            <a:cxnSpLocks/>
            <a:endCxn id="116" idx="1"/>
          </p:cNvCxnSpPr>
          <p:nvPr/>
        </p:nvCxnSpPr>
        <p:spPr>
          <a:xfrm flipV="1">
            <a:off x="2036451" y="4797940"/>
            <a:ext cx="2641160" cy="221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E4A356AE-EE80-4512-8F8B-32612DCE337C}"/>
              </a:ext>
            </a:extLst>
          </p:cNvPr>
          <p:cNvCxnSpPr>
            <a:endCxn id="116" idx="1"/>
          </p:cNvCxnSpPr>
          <p:nvPr/>
        </p:nvCxnSpPr>
        <p:spPr>
          <a:xfrm flipV="1">
            <a:off x="1713098" y="4884961"/>
            <a:ext cx="2957886" cy="383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29">
            <a:extLst>
              <a:ext uri="{FF2B5EF4-FFF2-40B4-BE49-F238E27FC236}">
                <a16:creationId xmlns:a16="http://schemas.microsoft.com/office/drawing/2014/main" id="{3B6AF56E-7F8A-4F7D-9BA8-F964B30FD1D8}"/>
              </a:ext>
            </a:extLst>
          </p:cNvPr>
          <p:cNvSpPr txBox="1"/>
          <p:nvPr/>
        </p:nvSpPr>
        <p:spPr>
          <a:xfrm>
            <a:off x="5195770" y="3451515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000" dirty="0"/>
              <a:t>0</a:t>
            </a:r>
          </a:p>
        </p:txBody>
      </p:sp>
      <p:sp>
        <p:nvSpPr>
          <p:cNvPr id="130" name="TextBox 33">
            <a:extLst>
              <a:ext uri="{FF2B5EF4-FFF2-40B4-BE49-F238E27FC236}">
                <a16:creationId xmlns:a16="http://schemas.microsoft.com/office/drawing/2014/main" id="{710F87B2-4E6D-4EBB-B05F-71E08DEE1A39}"/>
              </a:ext>
            </a:extLst>
          </p:cNvPr>
          <p:cNvSpPr txBox="1"/>
          <p:nvPr/>
        </p:nvSpPr>
        <p:spPr>
          <a:xfrm>
            <a:off x="5197097" y="5703059"/>
            <a:ext cx="3914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000" dirty="0"/>
              <a:t>m-1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8338A4C4-4EFF-4257-A3AB-D6DE8B730F5A}"/>
              </a:ext>
            </a:extLst>
          </p:cNvPr>
          <p:cNvSpPr/>
          <p:nvPr/>
        </p:nvSpPr>
        <p:spPr>
          <a:xfrm>
            <a:off x="7016619" y="3578737"/>
            <a:ext cx="583097" cy="3511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PT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4791983A-5DFF-4F1A-B248-BB9547B72FB9}"/>
              </a:ext>
            </a:extLst>
          </p:cNvPr>
          <p:cNvCxnSpPr/>
          <p:nvPr/>
        </p:nvCxnSpPr>
        <p:spPr>
          <a:xfrm>
            <a:off x="7147348" y="3562835"/>
            <a:ext cx="0" cy="3651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2DBE5385-3096-4773-876A-8BCF8D5F6140}"/>
              </a:ext>
            </a:extLst>
          </p:cNvPr>
          <p:cNvCxnSpPr/>
          <p:nvPr/>
        </p:nvCxnSpPr>
        <p:spPr>
          <a:xfrm>
            <a:off x="7450823" y="3572111"/>
            <a:ext cx="0" cy="3651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CBA3076-8E30-4A32-8E4A-2CA38F66DAC1}"/>
              </a:ext>
            </a:extLst>
          </p:cNvPr>
          <p:cNvSpPr/>
          <p:nvPr/>
        </p:nvSpPr>
        <p:spPr>
          <a:xfrm>
            <a:off x="7041798" y="4247973"/>
            <a:ext cx="583097" cy="3511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PT"/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211F7518-2554-4473-83B7-CCE81779A7DD}"/>
              </a:ext>
            </a:extLst>
          </p:cNvPr>
          <p:cNvCxnSpPr/>
          <p:nvPr/>
        </p:nvCxnSpPr>
        <p:spPr>
          <a:xfrm>
            <a:off x="7172527" y="4232071"/>
            <a:ext cx="0" cy="3651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95966361-135C-4313-B586-33E210E7A853}"/>
              </a:ext>
            </a:extLst>
          </p:cNvPr>
          <p:cNvCxnSpPr/>
          <p:nvPr/>
        </p:nvCxnSpPr>
        <p:spPr>
          <a:xfrm>
            <a:off x="7476002" y="4241347"/>
            <a:ext cx="0" cy="3651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7" name="Rectangle 136">
            <a:extLst>
              <a:ext uri="{FF2B5EF4-FFF2-40B4-BE49-F238E27FC236}">
                <a16:creationId xmlns:a16="http://schemas.microsoft.com/office/drawing/2014/main" id="{8BADAF22-77C6-4F63-95D4-8C077FD1EBC1}"/>
              </a:ext>
            </a:extLst>
          </p:cNvPr>
          <p:cNvSpPr/>
          <p:nvPr/>
        </p:nvSpPr>
        <p:spPr>
          <a:xfrm>
            <a:off x="7059025" y="4726377"/>
            <a:ext cx="583097" cy="3511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PT"/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05742540-EB62-4FED-A0A0-78D5C4CBF3FC}"/>
              </a:ext>
            </a:extLst>
          </p:cNvPr>
          <p:cNvCxnSpPr/>
          <p:nvPr/>
        </p:nvCxnSpPr>
        <p:spPr>
          <a:xfrm>
            <a:off x="7189754" y="4710475"/>
            <a:ext cx="0" cy="3651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B15BEA6B-898B-4826-8AA6-3E38B385183C}"/>
              </a:ext>
            </a:extLst>
          </p:cNvPr>
          <p:cNvCxnSpPr/>
          <p:nvPr/>
        </p:nvCxnSpPr>
        <p:spPr>
          <a:xfrm>
            <a:off x="7493229" y="4719751"/>
            <a:ext cx="0" cy="3651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0" name="Rectangle 139">
            <a:extLst>
              <a:ext uri="{FF2B5EF4-FFF2-40B4-BE49-F238E27FC236}">
                <a16:creationId xmlns:a16="http://schemas.microsoft.com/office/drawing/2014/main" id="{5A09C043-CFB7-4A5B-8A04-821B2CF0D7EC}"/>
              </a:ext>
            </a:extLst>
          </p:cNvPr>
          <p:cNvSpPr/>
          <p:nvPr/>
        </p:nvSpPr>
        <p:spPr>
          <a:xfrm>
            <a:off x="7982699" y="4727702"/>
            <a:ext cx="583097" cy="3511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PT"/>
          </a:p>
        </p:txBody>
      </p: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1CFEC5B9-908C-4734-A1A1-6B111E2D0440}"/>
              </a:ext>
            </a:extLst>
          </p:cNvPr>
          <p:cNvCxnSpPr/>
          <p:nvPr/>
        </p:nvCxnSpPr>
        <p:spPr>
          <a:xfrm>
            <a:off x="8113428" y="4711800"/>
            <a:ext cx="0" cy="3651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BEBCBDE5-A7AF-4201-9A58-02528669032D}"/>
              </a:ext>
            </a:extLst>
          </p:cNvPr>
          <p:cNvCxnSpPr/>
          <p:nvPr/>
        </p:nvCxnSpPr>
        <p:spPr>
          <a:xfrm>
            <a:off x="8416903" y="4721076"/>
            <a:ext cx="0" cy="3651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3" name="TextBox 27">
            <a:extLst>
              <a:ext uri="{FF2B5EF4-FFF2-40B4-BE49-F238E27FC236}">
                <a16:creationId xmlns:a16="http://schemas.microsoft.com/office/drawing/2014/main" id="{EE013D52-CE6B-4D84-9C72-733C35621D93}"/>
              </a:ext>
            </a:extLst>
          </p:cNvPr>
          <p:cNvSpPr txBox="1"/>
          <p:nvPr/>
        </p:nvSpPr>
        <p:spPr>
          <a:xfrm>
            <a:off x="6955657" y="3576088"/>
            <a:ext cx="2632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600" dirty="0"/>
              <a:t>/</a:t>
            </a:r>
          </a:p>
        </p:txBody>
      </p:sp>
      <p:sp>
        <p:nvSpPr>
          <p:cNvPr id="144" name="TextBox 44">
            <a:extLst>
              <a:ext uri="{FF2B5EF4-FFF2-40B4-BE49-F238E27FC236}">
                <a16:creationId xmlns:a16="http://schemas.microsoft.com/office/drawing/2014/main" id="{3ABF1D27-2BDC-4903-AEB9-0B7DC42A8985}"/>
              </a:ext>
            </a:extLst>
          </p:cNvPr>
          <p:cNvSpPr txBox="1"/>
          <p:nvPr/>
        </p:nvSpPr>
        <p:spPr>
          <a:xfrm>
            <a:off x="7386351" y="3577412"/>
            <a:ext cx="2632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600" dirty="0"/>
              <a:t>/</a:t>
            </a:r>
          </a:p>
        </p:txBody>
      </p:sp>
      <p:sp>
        <p:nvSpPr>
          <p:cNvPr id="145" name="TextBox 45">
            <a:extLst>
              <a:ext uri="{FF2B5EF4-FFF2-40B4-BE49-F238E27FC236}">
                <a16:creationId xmlns:a16="http://schemas.microsoft.com/office/drawing/2014/main" id="{F512BC99-4701-4FA5-980D-974ACACFDDE9}"/>
              </a:ext>
            </a:extLst>
          </p:cNvPr>
          <p:cNvSpPr txBox="1"/>
          <p:nvPr/>
        </p:nvSpPr>
        <p:spPr>
          <a:xfrm>
            <a:off x="6982156" y="4238699"/>
            <a:ext cx="2632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600" dirty="0"/>
              <a:t>/</a:t>
            </a:r>
          </a:p>
        </p:txBody>
      </p:sp>
      <p:sp>
        <p:nvSpPr>
          <p:cNvPr id="146" name="TextBox 46">
            <a:extLst>
              <a:ext uri="{FF2B5EF4-FFF2-40B4-BE49-F238E27FC236}">
                <a16:creationId xmlns:a16="http://schemas.microsoft.com/office/drawing/2014/main" id="{7ED3FB81-75BC-4972-8698-7FC71970671D}"/>
              </a:ext>
            </a:extLst>
          </p:cNvPr>
          <p:cNvSpPr txBox="1"/>
          <p:nvPr/>
        </p:nvSpPr>
        <p:spPr>
          <a:xfrm>
            <a:off x="6999384" y="4717103"/>
            <a:ext cx="2632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600" dirty="0"/>
              <a:t>/</a:t>
            </a:r>
          </a:p>
        </p:txBody>
      </p:sp>
      <p:sp>
        <p:nvSpPr>
          <p:cNvPr id="147" name="TextBox 47">
            <a:extLst>
              <a:ext uri="{FF2B5EF4-FFF2-40B4-BE49-F238E27FC236}">
                <a16:creationId xmlns:a16="http://schemas.microsoft.com/office/drawing/2014/main" id="{AE49ECF5-8824-491D-A8F4-0864C95EDF3A}"/>
              </a:ext>
            </a:extLst>
          </p:cNvPr>
          <p:cNvSpPr txBox="1"/>
          <p:nvPr/>
        </p:nvSpPr>
        <p:spPr>
          <a:xfrm>
            <a:off x="8368336" y="4726378"/>
            <a:ext cx="2632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600" dirty="0"/>
              <a:t>/</a:t>
            </a:r>
          </a:p>
        </p:txBody>
      </p:sp>
      <p:sp>
        <p:nvSpPr>
          <p:cNvPr id="148" name="TextBox 48">
            <a:extLst>
              <a:ext uri="{FF2B5EF4-FFF2-40B4-BE49-F238E27FC236}">
                <a16:creationId xmlns:a16="http://schemas.microsoft.com/office/drawing/2014/main" id="{D7783A85-6C0B-4542-81ED-BCB4790018CA}"/>
              </a:ext>
            </a:extLst>
          </p:cNvPr>
          <p:cNvSpPr txBox="1"/>
          <p:nvPr/>
        </p:nvSpPr>
        <p:spPr>
          <a:xfrm>
            <a:off x="7415501" y="4250623"/>
            <a:ext cx="2632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600" dirty="0"/>
              <a:t>/</a:t>
            </a:r>
          </a:p>
        </p:txBody>
      </p:sp>
      <p:sp>
        <p:nvSpPr>
          <p:cNvPr id="149" name="TextBox 30">
            <a:extLst>
              <a:ext uri="{FF2B5EF4-FFF2-40B4-BE49-F238E27FC236}">
                <a16:creationId xmlns:a16="http://schemas.microsoft.com/office/drawing/2014/main" id="{8EBD64B3-FFCC-47AF-9D7F-45B776052BE6}"/>
              </a:ext>
            </a:extLst>
          </p:cNvPr>
          <p:cNvSpPr txBox="1"/>
          <p:nvPr/>
        </p:nvSpPr>
        <p:spPr>
          <a:xfrm>
            <a:off x="7169018" y="3651624"/>
            <a:ext cx="3080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000" dirty="0"/>
              <a:t>k4</a:t>
            </a:r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4F4CD628-27C0-4C37-AD3A-93DCFF503218}"/>
              </a:ext>
            </a:extLst>
          </p:cNvPr>
          <p:cNvCxnSpPr>
            <a:endCxn id="143" idx="1"/>
          </p:cNvCxnSpPr>
          <p:nvPr/>
        </p:nvCxnSpPr>
        <p:spPr>
          <a:xfrm flipV="1">
            <a:off x="4989036" y="3745365"/>
            <a:ext cx="1966621" cy="692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31">
            <a:extLst>
              <a:ext uri="{FF2B5EF4-FFF2-40B4-BE49-F238E27FC236}">
                <a16:creationId xmlns:a16="http://schemas.microsoft.com/office/drawing/2014/main" id="{83260E83-59B6-442F-808F-62A2A046CBB6}"/>
              </a:ext>
            </a:extLst>
          </p:cNvPr>
          <p:cNvSpPr txBox="1"/>
          <p:nvPr/>
        </p:nvSpPr>
        <p:spPr>
          <a:xfrm>
            <a:off x="7146490" y="4304960"/>
            <a:ext cx="3080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000" dirty="0"/>
              <a:t>k1</a:t>
            </a:r>
          </a:p>
        </p:txBody>
      </p: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EFEC25E4-769A-4C8C-B1D3-585B83A28C69}"/>
              </a:ext>
            </a:extLst>
          </p:cNvPr>
          <p:cNvCxnSpPr>
            <a:cxnSpLocks/>
            <a:stCxn id="115" idx="2"/>
            <a:endCxn id="145" idx="1"/>
          </p:cNvCxnSpPr>
          <p:nvPr/>
        </p:nvCxnSpPr>
        <p:spPr>
          <a:xfrm flipV="1">
            <a:off x="4969158" y="4487069"/>
            <a:ext cx="2012998" cy="992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82361DB3-EBD1-4814-9857-7AD3751CA90B}"/>
              </a:ext>
            </a:extLst>
          </p:cNvPr>
          <p:cNvCxnSpPr>
            <a:cxnSpLocks/>
          </p:cNvCxnSpPr>
          <p:nvPr/>
        </p:nvCxnSpPr>
        <p:spPr>
          <a:xfrm>
            <a:off x="4970484" y="4805394"/>
            <a:ext cx="2058853" cy="53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TextBox 57">
            <a:extLst>
              <a:ext uri="{FF2B5EF4-FFF2-40B4-BE49-F238E27FC236}">
                <a16:creationId xmlns:a16="http://schemas.microsoft.com/office/drawing/2014/main" id="{2D46A0C7-6AB0-4E02-9482-7928542EC9AD}"/>
              </a:ext>
            </a:extLst>
          </p:cNvPr>
          <p:cNvSpPr txBox="1"/>
          <p:nvPr/>
        </p:nvSpPr>
        <p:spPr>
          <a:xfrm>
            <a:off x="7187571" y="4783364"/>
            <a:ext cx="3080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000" dirty="0"/>
              <a:t>k2</a:t>
            </a:r>
          </a:p>
        </p:txBody>
      </p:sp>
      <p:sp>
        <p:nvSpPr>
          <p:cNvPr id="155" name="TextBox 58">
            <a:extLst>
              <a:ext uri="{FF2B5EF4-FFF2-40B4-BE49-F238E27FC236}">
                <a16:creationId xmlns:a16="http://schemas.microsoft.com/office/drawing/2014/main" id="{00C70D2E-758F-4198-BAC2-4CB5C15CBC8A}"/>
              </a:ext>
            </a:extLst>
          </p:cNvPr>
          <p:cNvSpPr txBox="1"/>
          <p:nvPr/>
        </p:nvSpPr>
        <p:spPr>
          <a:xfrm>
            <a:off x="8127152" y="4784687"/>
            <a:ext cx="3080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000" dirty="0"/>
              <a:t>k3</a:t>
            </a:r>
          </a:p>
        </p:txBody>
      </p: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A9F479E3-85A9-41CB-BC9E-661FD19D2578}"/>
              </a:ext>
            </a:extLst>
          </p:cNvPr>
          <p:cNvCxnSpPr>
            <a:cxnSpLocks/>
          </p:cNvCxnSpPr>
          <p:nvPr/>
        </p:nvCxnSpPr>
        <p:spPr>
          <a:xfrm>
            <a:off x="7599716" y="4844322"/>
            <a:ext cx="3829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F6081196-7F0B-4B6F-A403-CED5000F7514}"/>
              </a:ext>
            </a:extLst>
          </p:cNvPr>
          <p:cNvCxnSpPr>
            <a:cxnSpLocks/>
          </p:cNvCxnSpPr>
          <p:nvPr/>
        </p:nvCxnSpPr>
        <p:spPr>
          <a:xfrm flipH="1">
            <a:off x="7634167" y="4982366"/>
            <a:ext cx="412140" cy="64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122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20C90-ED73-41CE-BA0C-9D4A4D23C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Hashing</a:t>
            </a:r>
            <a:r>
              <a:rPr lang="pt-PT" dirty="0"/>
              <a:t> em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EA24F-CACF-45C6-8FBE-885AA671A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59"/>
            <a:ext cx="8229600" cy="3672409"/>
          </a:xfrm>
        </p:spPr>
        <p:txBody>
          <a:bodyPr/>
          <a:lstStyle/>
          <a:p>
            <a:pPr marL="0" indent="0">
              <a:buNone/>
            </a:pPr>
            <a:r>
              <a:rPr lang="pt-PT" dirty="0" err="1"/>
              <a:t>Closed</a:t>
            </a:r>
            <a:r>
              <a:rPr lang="pt-PT" dirty="0"/>
              <a:t> </a:t>
            </a:r>
            <a:r>
              <a:rPr lang="pt-PT" dirty="0" err="1"/>
              <a:t>addressing</a:t>
            </a:r>
            <a:r>
              <a:rPr lang="pt-PT" dirty="0"/>
              <a:t> (</a:t>
            </a:r>
            <a:r>
              <a:rPr lang="pt-PT" dirty="0" err="1"/>
              <a:t>chaining</a:t>
            </a:r>
            <a:r>
              <a:rPr lang="pt-PT" dirty="0"/>
              <a:t>): </a:t>
            </a:r>
            <a:r>
              <a:rPr lang="pt-PT" sz="2000" dirty="0"/>
              <a:t>colisões resolvidas por procura num lista ligada associada a cada </a:t>
            </a:r>
            <a:r>
              <a:rPr lang="pt-PT" sz="2000" dirty="0" err="1"/>
              <a:t>bucket</a:t>
            </a:r>
            <a:r>
              <a:rPr lang="pt-PT" sz="2000" dirty="0"/>
              <a:t> (célula da tabela de </a:t>
            </a:r>
            <a:r>
              <a:rPr lang="pt-PT" sz="2000" dirty="0" err="1"/>
              <a:t>hash</a:t>
            </a:r>
            <a:r>
              <a:rPr lang="pt-PT" sz="2000" dirty="0"/>
              <a:t>). Implica procura e a perda da complexidade de fator constante. </a:t>
            </a:r>
            <a:r>
              <a:rPr lang="pt-PT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HashMap</a:t>
            </a:r>
            <a:r>
              <a:rPr lang="pt-PT" sz="2000" dirty="0"/>
              <a:t> implementada usando este método.</a:t>
            </a:r>
          </a:p>
          <a:p>
            <a:pPr marL="0" indent="0">
              <a:buNone/>
            </a:pPr>
            <a:endParaRPr lang="pt-PT" dirty="0"/>
          </a:p>
          <a:p>
            <a:r>
              <a:rPr lang="pt-PT" sz="2400" dirty="0"/>
              <a:t>Implementação JAVA usa método </a:t>
            </a:r>
            <a:r>
              <a:rPr lang="pt-PT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hashCode</a:t>
            </a:r>
            <a:r>
              <a:rPr lang="pt-PT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pt-PT" sz="2400" dirty="0"/>
              <a:t> </a:t>
            </a:r>
            <a:r>
              <a:rPr lang="pt-PT" sz="2400" dirty="0">
                <a:sym typeface="Wingdings" panose="05000000000000000000" pitchFamily="2" charset="2"/>
              </a:rPr>
              <a:t> 32 bits </a:t>
            </a:r>
            <a:r>
              <a:rPr lang="pt-PT" sz="2400" dirty="0" err="1">
                <a:sym typeface="Wingdings" panose="05000000000000000000" pitchFamily="2" charset="2"/>
              </a:rPr>
              <a:t>keys</a:t>
            </a:r>
            <a:r>
              <a:rPr lang="pt-PT" sz="2400" dirty="0">
                <a:sym typeface="Wingdings" panose="05000000000000000000" pitchFamily="2" charset="2"/>
              </a:rPr>
              <a:t> seguido de </a:t>
            </a:r>
            <a:r>
              <a:rPr lang="pt-PT" sz="2400" dirty="0"/>
              <a:t>uma segunda função de </a:t>
            </a:r>
            <a:r>
              <a:rPr lang="pt-PT" sz="2400" dirty="0" err="1"/>
              <a:t>hash</a:t>
            </a:r>
            <a:r>
              <a:rPr lang="pt-PT" sz="2400" dirty="0"/>
              <a:t>() para evitar colisões frequentes derivadas de ineficientes definições (funções) em </a:t>
            </a:r>
            <a:r>
              <a:rPr lang="pt-PT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hashCode</a:t>
            </a:r>
            <a:r>
              <a:rPr lang="pt-PT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pt-PT" sz="2400" dirty="0"/>
              <a:t>.</a:t>
            </a:r>
            <a:endParaRPr lang="pt-P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1DB203-9248-48D5-B4DF-951BF6197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F7AB6A-1DEA-4A26-B2D7-692CC6DA7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5B5EB8-9008-4C98-99B6-8237C7463490}" type="slidenum">
              <a:rPr lang="pt-PT" altLang="en-US" smtClean="0"/>
              <a:pPr>
                <a:defRPr/>
              </a:pPr>
              <a:t>8</a:t>
            </a:fld>
            <a:endParaRPr lang="pt-PT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04A844-D489-42F5-BDEF-AC8F9EECDECD}"/>
              </a:ext>
            </a:extLst>
          </p:cNvPr>
          <p:cNvSpPr txBox="1"/>
          <p:nvPr/>
        </p:nvSpPr>
        <p:spPr>
          <a:xfrm>
            <a:off x="2053389" y="5013176"/>
            <a:ext cx="4318811" cy="1569660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int hash(int h) </a:t>
            </a: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// This function ensures that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hashCodes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differ only by</a:t>
            </a: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constant multiples at each bit position have a bounded</a:t>
            </a: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number of collisions (approximately 8 at default load factor).  </a:t>
            </a: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//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notar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</a:t>
            </a:r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XOR,    </a:t>
            </a:r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unsigned right shift</a:t>
            </a: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h ^= (h &gt;&gt;&gt; 20) ^ (h &gt;&gt;&gt; 12);</a:t>
            </a: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h ^ (h &gt;&gt;&gt; 7) ^ (h &gt;&gt;&gt; 4);</a:t>
            </a: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241159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EA24F-CACF-45C6-8FBE-885AA671A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59"/>
            <a:ext cx="8229600" cy="5040561"/>
          </a:xfrm>
        </p:spPr>
        <p:txBody>
          <a:bodyPr/>
          <a:lstStyle/>
          <a:p>
            <a:pPr marL="0" indent="0">
              <a:buNone/>
            </a:pPr>
            <a:r>
              <a:rPr lang="pt-PT" dirty="0"/>
              <a:t>Open </a:t>
            </a:r>
            <a:r>
              <a:rPr lang="pt-PT" dirty="0" err="1"/>
              <a:t>addressing</a:t>
            </a:r>
            <a:r>
              <a:rPr lang="pt-PT" dirty="0"/>
              <a:t> (</a:t>
            </a:r>
            <a:r>
              <a:rPr lang="pt-PT" dirty="0" err="1"/>
              <a:t>probing</a:t>
            </a:r>
            <a:r>
              <a:rPr lang="pt-PT" dirty="0"/>
              <a:t>):</a:t>
            </a: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400" dirty="0"/>
              <a:t>resolução de colisões por </a:t>
            </a:r>
            <a:r>
              <a:rPr lang="pt-PT" sz="2400" i="1" dirty="0" err="1"/>
              <a:t>probing</a:t>
            </a:r>
            <a:r>
              <a:rPr lang="pt-PT" sz="2400" dirty="0"/>
              <a:t> i.e., uma segunda chave é inserida noutra posição do </a:t>
            </a:r>
            <a:r>
              <a:rPr lang="pt-PT" sz="2400" dirty="0" err="1"/>
              <a:t>array</a:t>
            </a:r>
            <a:r>
              <a:rPr lang="pt-PT" sz="2400" dirty="0"/>
              <a:t> por um método reproduzível.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400" dirty="0"/>
              <a:t>O método mais popular é o </a:t>
            </a:r>
            <a:r>
              <a:rPr lang="pt-PT" sz="2400" i="1" dirty="0"/>
              <a:t>linear </a:t>
            </a:r>
            <a:r>
              <a:rPr lang="pt-PT" sz="2400" i="1" dirty="0" err="1"/>
              <a:t>probing</a:t>
            </a:r>
            <a:r>
              <a:rPr lang="pt-PT" sz="240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sz="2400" dirty="0"/>
              <a:t>colisão resolvida por inserção na posição seguinte do </a:t>
            </a:r>
            <a:r>
              <a:rPr lang="pt-PT" sz="2400" dirty="0" err="1"/>
              <a:t>array</a:t>
            </a:r>
            <a:r>
              <a:rPr lang="pt-PT" sz="2400" dirty="0"/>
              <a:t> (assumindo circularidade)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sz="2400" dirty="0"/>
              <a:t>quando a segunda chave obtém um endereço (índice) já ocupado procura nas posições seguintes na tabela a próxima posição livre!</a:t>
            </a:r>
            <a:endParaRPr lang="pt-P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1DB203-9248-48D5-B4DF-951BF6197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F7AB6A-1DEA-4A26-B2D7-692CC6DA7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5B5EB8-9008-4C98-99B6-8237C7463490}" type="slidenum">
              <a:rPr lang="pt-PT" altLang="en-US" smtClean="0"/>
              <a:pPr>
                <a:defRPr/>
              </a:pPr>
              <a:t>9</a:t>
            </a:fld>
            <a:endParaRPr lang="pt-PT" alt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822F574-B57D-45CB-BD7F-40F27B5D9BDB}"/>
              </a:ext>
            </a:extLst>
          </p:cNvPr>
          <p:cNvSpPr txBox="1">
            <a:spLocks/>
          </p:cNvSpPr>
          <p:nvPr/>
        </p:nvSpPr>
        <p:spPr bwMode="auto">
          <a:xfrm>
            <a:off x="101355" y="58564"/>
            <a:ext cx="8719117" cy="994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pt-PT" kern="0" dirty="0"/>
              <a:t>Tabelas de </a:t>
            </a:r>
            <a:r>
              <a:rPr lang="pt-PT" kern="0" dirty="0" err="1"/>
              <a:t>Hash</a:t>
            </a:r>
            <a:endParaRPr lang="pt-PT" kern="0" dirty="0"/>
          </a:p>
        </p:txBody>
      </p:sp>
    </p:spTree>
    <p:extLst>
      <p:ext uri="{BB962C8B-B14F-4D97-AF65-F5344CB8AC3E}">
        <p14:creationId xmlns:p14="http://schemas.microsoft.com/office/powerpoint/2010/main" val="302194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EA24F-CACF-45C6-8FBE-885AA671A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856" y="1268760"/>
            <a:ext cx="8229600" cy="1836205"/>
          </a:xfrm>
        </p:spPr>
        <p:txBody>
          <a:bodyPr/>
          <a:lstStyle/>
          <a:p>
            <a:pPr marL="0" indent="0">
              <a:buNone/>
            </a:pPr>
            <a:r>
              <a:rPr lang="pt-PT" dirty="0"/>
              <a:t>Open </a:t>
            </a:r>
            <a:r>
              <a:rPr lang="pt-PT" dirty="0" err="1"/>
              <a:t>addressing</a:t>
            </a:r>
            <a:r>
              <a:rPr lang="pt-PT" dirty="0"/>
              <a:t> (</a:t>
            </a:r>
            <a:r>
              <a:rPr lang="pt-PT" dirty="0" err="1"/>
              <a:t>probing</a:t>
            </a:r>
            <a:r>
              <a:rPr lang="pt-PT" dirty="0"/>
              <a:t>):</a:t>
            </a: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400" dirty="0"/>
              <a:t>resolução de colisões por </a:t>
            </a:r>
            <a:r>
              <a:rPr lang="pt-PT" sz="2400" i="1" dirty="0" err="1"/>
              <a:t>probing</a:t>
            </a:r>
            <a:r>
              <a:rPr lang="pt-PT" sz="2400" dirty="0"/>
              <a:t> i.e., uma segunda chave é inserida noutra posição do </a:t>
            </a:r>
            <a:r>
              <a:rPr lang="pt-PT" sz="2400" dirty="0" err="1"/>
              <a:t>array</a:t>
            </a:r>
            <a:r>
              <a:rPr lang="pt-PT" sz="2400" dirty="0"/>
              <a:t> por um método reproduzível.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1DB203-9248-48D5-B4DF-951BF6197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PT"/>
              <a:t>Programação Orientada aos Objetos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F7AB6A-1DEA-4A26-B2D7-692CC6DA7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5B5EB8-9008-4C98-99B6-8237C7463490}" type="slidenum">
              <a:rPr lang="pt-PT" altLang="en-US" smtClean="0"/>
              <a:pPr>
                <a:defRPr/>
              </a:pPr>
              <a:t>10</a:t>
            </a:fld>
            <a:endParaRPr lang="pt-PT" alt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822F574-B57D-45CB-BD7F-40F27B5D9BDB}"/>
              </a:ext>
            </a:extLst>
          </p:cNvPr>
          <p:cNvSpPr txBox="1">
            <a:spLocks/>
          </p:cNvSpPr>
          <p:nvPr/>
        </p:nvSpPr>
        <p:spPr bwMode="auto">
          <a:xfrm>
            <a:off x="101355" y="58564"/>
            <a:ext cx="8719117" cy="994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pt-PT" kern="0" dirty="0"/>
              <a:t>Tabelas de </a:t>
            </a:r>
            <a:r>
              <a:rPr lang="pt-PT" kern="0" dirty="0" err="1"/>
              <a:t>Hash</a:t>
            </a:r>
            <a:endParaRPr lang="pt-PT" kern="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F521558-FDA5-4EEE-90AE-5D01ADD491C2}"/>
              </a:ext>
            </a:extLst>
          </p:cNvPr>
          <p:cNvSpPr/>
          <p:nvPr/>
        </p:nvSpPr>
        <p:spPr>
          <a:xfrm>
            <a:off x="1717482" y="3451517"/>
            <a:ext cx="2401295" cy="209914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200" dirty="0">
                <a:solidFill>
                  <a:schemeClr val="accent2">
                    <a:lumMod val="75000"/>
                  </a:schemeClr>
                </a:solidFill>
              </a:rPr>
              <a:t>Universo de chaves U</a:t>
            </a:r>
          </a:p>
          <a:p>
            <a:endParaRPr lang="pt-PT" sz="1200" dirty="0"/>
          </a:p>
          <a:p>
            <a:endParaRPr lang="pt-PT" sz="1200" dirty="0"/>
          </a:p>
          <a:p>
            <a:endParaRPr lang="pt-PT" sz="1200" dirty="0"/>
          </a:p>
          <a:p>
            <a:endParaRPr lang="pt-PT" sz="1200" dirty="0"/>
          </a:p>
          <a:p>
            <a:endParaRPr lang="pt-PT" sz="1200" dirty="0"/>
          </a:p>
          <a:p>
            <a:endParaRPr lang="pt-PT" sz="1200" dirty="0"/>
          </a:p>
          <a:p>
            <a:endParaRPr lang="pt-PT" sz="1200" dirty="0"/>
          </a:p>
          <a:p>
            <a:endParaRPr lang="pt-PT" sz="12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6A54FFF-56A2-4C0C-9CEB-5F7CC237F6DF}"/>
              </a:ext>
            </a:extLst>
          </p:cNvPr>
          <p:cNvSpPr/>
          <p:nvPr/>
        </p:nvSpPr>
        <p:spPr>
          <a:xfrm>
            <a:off x="2092519" y="3977627"/>
            <a:ext cx="1628691" cy="140605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200" dirty="0">
                <a:solidFill>
                  <a:schemeClr val="accent2">
                    <a:lumMod val="75000"/>
                  </a:schemeClr>
                </a:solidFill>
              </a:rPr>
              <a:t>Chaves atuais K</a:t>
            </a:r>
          </a:p>
          <a:p>
            <a:endParaRPr lang="pt-PT" sz="1200" dirty="0"/>
          </a:p>
          <a:p>
            <a:endParaRPr lang="pt-PT" sz="1200" dirty="0"/>
          </a:p>
          <a:p>
            <a:endParaRPr lang="pt-PT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B0AFC2-5C2E-4E21-ABBF-F888F6128CF0}"/>
              </a:ext>
            </a:extLst>
          </p:cNvPr>
          <p:cNvSpPr/>
          <p:nvPr/>
        </p:nvSpPr>
        <p:spPr>
          <a:xfrm>
            <a:off x="5876015" y="3451517"/>
            <a:ext cx="585746" cy="23058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449FF0-CC52-4F12-B273-F3E2CB65D235}"/>
              </a:ext>
            </a:extLst>
          </p:cNvPr>
          <p:cNvSpPr/>
          <p:nvPr/>
        </p:nvSpPr>
        <p:spPr>
          <a:xfrm>
            <a:off x="5877340" y="3699333"/>
            <a:ext cx="585746" cy="230587"/>
          </a:xfrm>
          <a:prstGeom prst="rect">
            <a:avLst/>
          </a:prstGeom>
          <a:solidFill>
            <a:srgbClr val="FFC00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EC5DD6-4BFF-444B-9928-828AB5085EA1}"/>
              </a:ext>
            </a:extLst>
          </p:cNvPr>
          <p:cNvSpPr/>
          <p:nvPr/>
        </p:nvSpPr>
        <p:spPr>
          <a:xfrm>
            <a:off x="5878667" y="3947150"/>
            <a:ext cx="585746" cy="23058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6322E3-3962-4564-9125-3A18A91B0661}"/>
              </a:ext>
            </a:extLst>
          </p:cNvPr>
          <p:cNvSpPr/>
          <p:nvPr/>
        </p:nvSpPr>
        <p:spPr>
          <a:xfrm>
            <a:off x="5879991" y="4187013"/>
            <a:ext cx="585746" cy="23058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26CDF3-0F97-41E1-971B-AA2148246940}"/>
              </a:ext>
            </a:extLst>
          </p:cNvPr>
          <p:cNvSpPr/>
          <p:nvPr/>
        </p:nvSpPr>
        <p:spPr>
          <a:xfrm>
            <a:off x="5881316" y="4434830"/>
            <a:ext cx="585746" cy="230587"/>
          </a:xfrm>
          <a:prstGeom prst="rect">
            <a:avLst/>
          </a:prstGeom>
          <a:solidFill>
            <a:srgbClr val="FFC00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8D9609-73AC-4687-879D-70F3F51ED99F}"/>
              </a:ext>
            </a:extLst>
          </p:cNvPr>
          <p:cNvSpPr/>
          <p:nvPr/>
        </p:nvSpPr>
        <p:spPr>
          <a:xfrm>
            <a:off x="5882642" y="4682646"/>
            <a:ext cx="585746" cy="230587"/>
          </a:xfrm>
          <a:prstGeom prst="rect">
            <a:avLst/>
          </a:prstGeom>
          <a:solidFill>
            <a:srgbClr val="FFC00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22633D-F534-4255-8C96-19295611FF5D}"/>
              </a:ext>
            </a:extLst>
          </p:cNvPr>
          <p:cNvSpPr/>
          <p:nvPr/>
        </p:nvSpPr>
        <p:spPr>
          <a:xfrm>
            <a:off x="5883968" y="4938415"/>
            <a:ext cx="585746" cy="23058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212377-2B59-4348-BACC-5FCBC3AB2E51}"/>
              </a:ext>
            </a:extLst>
          </p:cNvPr>
          <p:cNvSpPr/>
          <p:nvPr/>
        </p:nvSpPr>
        <p:spPr>
          <a:xfrm>
            <a:off x="5885294" y="5194183"/>
            <a:ext cx="585746" cy="23058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DC250F-2315-4EE6-B098-3E68ED636250}"/>
              </a:ext>
            </a:extLst>
          </p:cNvPr>
          <p:cNvSpPr/>
          <p:nvPr/>
        </p:nvSpPr>
        <p:spPr>
          <a:xfrm>
            <a:off x="5886619" y="5449950"/>
            <a:ext cx="585746" cy="23058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876A5F-F64C-49A3-9330-C2C8465DF1C7}"/>
              </a:ext>
            </a:extLst>
          </p:cNvPr>
          <p:cNvSpPr/>
          <p:nvPr/>
        </p:nvSpPr>
        <p:spPr>
          <a:xfrm>
            <a:off x="5879994" y="5697764"/>
            <a:ext cx="585746" cy="23058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DB4248-0F76-4289-8F46-C23B39568DE8}"/>
              </a:ext>
            </a:extLst>
          </p:cNvPr>
          <p:cNvSpPr txBox="1"/>
          <p:nvPr/>
        </p:nvSpPr>
        <p:spPr>
          <a:xfrm>
            <a:off x="2647785" y="4556746"/>
            <a:ext cx="357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/>
              <a:t>k1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51A8A2-A34D-4DAD-8A48-AC7A4F509C49}"/>
              </a:ext>
            </a:extLst>
          </p:cNvPr>
          <p:cNvSpPr txBox="1"/>
          <p:nvPr/>
        </p:nvSpPr>
        <p:spPr>
          <a:xfrm>
            <a:off x="3054627" y="4844322"/>
            <a:ext cx="357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/>
              <a:t>k2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AB3076-C5AD-4146-87BC-E46D316639D9}"/>
              </a:ext>
            </a:extLst>
          </p:cNvPr>
          <p:cNvSpPr txBox="1"/>
          <p:nvPr/>
        </p:nvSpPr>
        <p:spPr>
          <a:xfrm>
            <a:off x="2698142" y="5100085"/>
            <a:ext cx="357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/>
              <a:t>k3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E8F06A8-E473-44F1-84DE-9049B612A77C}"/>
              </a:ext>
            </a:extLst>
          </p:cNvPr>
          <p:cNvSpPr txBox="1"/>
          <p:nvPr/>
        </p:nvSpPr>
        <p:spPr>
          <a:xfrm>
            <a:off x="3348824" y="4399049"/>
            <a:ext cx="357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/>
              <a:t>k4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70573EA-BBB1-42C4-9463-5437EC877186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3560841" y="3814627"/>
            <a:ext cx="2316499" cy="7555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F7AC2C5-DAFE-4721-933F-B315B1284E8E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2851456" y="4550124"/>
            <a:ext cx="3029860" cy="1832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134DF92-BA0F-4E10-8149-747605401609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3241482" y="4797940"/>
            <a:ext cx="2641160" cy="221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5B14F93-07C4-49AF-937B-8B4BE104BFE9}"/>
              </a:ext>
            </a:extLst>
          </p:cNvPr>
          <p:cNvCxnSpPr>
            <a:endCxn id="14" idx="1"/>
          </p:cNvCxnSpPr>
          <p:nvPr/>
        </p:nvCxnSpPr>
        <p:spPr>
          <a:xfrm flipV="1">
            <a:off x="2918129" y="4884961"/>
            <a:ext cx="2957886" cy="383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243CBF5-AEF2-4939-86A7-595B300DDFEC}"/>
              </a:ext>
            </a:extLst>
          </p:cNvPr>
          <p:cNvSpPr txBox="1"/>
          <p:nvPr/>
        </p:nvSpPr>
        <p:spPr>
          <a:xfrm>
            <a:off x="6400801" y="3451515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/>
              <a:t>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2ECF82-B75C-4287-88E7-017CFF1F9EE4}"/>
              </a:ext>
            </a:extLst>
          </p:cNvPr>
          <p:cNvSpPr txBox="1"/>
          <p:nvPr/>
        </p:nvSpPr>
        <p:spPr>
          <a:xfrm>
            <a:off x="6402126" y="3699331"/>
            <a:ext cx="4523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/>
              <a:t>h(k4)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E7BBC0-EE6C-4F61-B2DE-17F2CBAE995D}"/>
              </a:ext>
            </a:extLst>
          </p:cNvPr>
          <p:cNvSpPr txBox="1"/>
          <p:nvPr/>
        </p:nvSpPr>
        <p:spPr>
          <a:xfrm>
            <a:off x="6395500" y="4448081"/>
            <a:ext cx="4523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/>
              <a:t>h(k1)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F28D692-7B3A-4DB7-9666-68073018915F}"/>
              </a:ext>
            </a:extLst>
          </p:cNvPr>
          <p:cNvSpPr txBox="1"/>
          <p:nvPr/>
        </p:nvSpPr>
        <p:spPr>
          <a:xfrm>
            <a:off x="6404777" y="4672042"/>
            <a:ext cx="7841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/>
              <a:t>h(k2)=h(k3)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0AB0AA4-98D4-4924-AE89-E5B6BFB1F6B0}"/>
              </a:ext>
            </a:extLst>
          </p:cNvPr>
          <p:cNvSpPr txBox="1"/>
          <p:nvPr/>
        </p:nvSpPr>
        <p:spPr>
          <a:xfrm>
            <a:off x="6402128" y="5703059"/>
            <a:ext cx="3914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/>
              <a:t>m-1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CCD518EA-4401-4DFC-8E5E-9F92BB47ED15}"/>
              </a:ext>
            </a:extLst>
          </p:cNvPr>
          <p:cNvSpPr txBox="1">
            <a:spLocks/>
          </p:cNvSpPr>
          <p:nvPr/>
        </p:nvSpPr>
        <p:spPr bwMode="auto">
          <a:xfrm>
            <a:off x="14790" y="5516695"/>
            <a:ext cx="4485202" cy="1296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pt-PT" sz="1400" kern="0" dirty="0"/>
              <a:t>Como resolver colisões? </a:t>
            </a:r>
          </a:p>
          <a:p>
            <a:pPr marL="0" indent="0">
              <a:buFontTx/>
              <a:buNone/>
            </a:pPr>
            <a:r>
              <a:rPr lang="pt-PT" sz="1400" kern="0" dirty="0"/>
              <a:t>	(exemplo com as chaves k2 e k3)</a:t>
            </a:r>
          </a:p>
          <a:p>
            <a:r>
              <a:rPr lang="pt-PT" sz="1400" kern="0" dirty="0"/>
              <a:t>open </a:t>
            </a:r>
            <a:r>
              <a:rPr lang="pt-PT" sz="1400" kern="0" dirty="0" err="1"/>
              <a:t>addressing</a:t>
            </a:r>
            <a:r>
              <a:rPr lang="pt-PT" sz="1400" kern="0" dirty="0"/>
              <a:t>: </a:t>
            </a:r>
          </a:p>
          <a:p>
            <a:pPr lvl="1"/>
            <a:r>
              <a:rPr lang="pt-PT" sz="1400" kern="0" dirty="0" err="1"/>
              <a:t>array</a:t>
            </a:r>
            <a:r>
              <a:rPr lang="pt-PT" sz="1400" kern="0" dirty="0"/>
              <a:t> de [0,1, …, size-1] de pares (</a:t>
            </a:r>
            <a:r>
              <a:rPr lang="pt-PT" sz="1400" kern="0" dirty="0" err="1"/>
              <a:t>k,valor</a:t>
            </a:r>
            <a:r>
              <a:rPr lang="pt-PT" sz="1400" kern="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51429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85142-BCA5-4FBB-89D5-6F586491D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815" y="58564"/>
            <a:ext cx="3585703" cy="994172"/>
          </a:xfrm>
        </p:spPr>
        <p:txBody>
          <a:bodyPr/>
          <a:lstStyle/>
          <a:p>
            <a:r>
              <a:rPr lang="pt-PT" dirty="0" err="1"/>
              <a:t>Probing</a:t>
            </a:r>
            <a:endParaRPr lang="pt-P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F01B9-B0F3-48A7-8978-555A6A4E8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5696" y="1107717"/>
            <a:ext cx="4115855" cy="1494848"/>
          </a:xfrm>
        </p:spPr>
        <p:txBody>
          <a:bodyPr>
            <a:normAutofit fontScale="47500" lnSpcReduction="20000"/>
          </a:bodyPr>
          <a:lstStyle/>
          <a:p>
            <a:r>
              <a:rPr lang="pt-PT" dirty="0"/>
              <a:t>h(k1) = p    </a:t>
            </a:r>
          </a:p>
          <a:p>
            <a:r>
              <a:rPr lang="pt-PT" dirty="0"/>
              <a:t>e depois     h(k2) = p</a:t>
            </a:r>
          </a:p>
          <a:p>
            <a:r>
              <a:rPr lang="pt-PT" dirty="0"/>
              <a:t>seguido de h(k3) = p</a:t>
            </a:r>
          </a:p>
          <a:p>
            <a:r>
              <a:rPr lang="pt-PT" dirty="0"/>
              <a:t>notar circularidade 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(p + 1) %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pt-PT" dirty="0"/>
              <a:t> ,   </a:t>
            </a:r>
          </a:p>
          <a:p>
            <a:pPr marL="0" indent="0">
              <a:buNone/>
            </a:pPr>
            <a:r>
              <a:rPr lang="pt-PT" dirty="0"/>
              <a:t>logo sucessor de posição size-1 é 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D56E1-C456-4FA9-B843-DE632141D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E1D46-D4E7-4858-A207-9EC8F3C40ACD}" type="slidenum">
              <a:rPr lang="pt-PT" smtClean="0"/>
              <a:t>11</a:t>
            </a:fld>
            <a:endParaRPr lang="pt-P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43558B-2EF9-4A14-A4F9-F5AB8AA10B56}"/>
              </a:ext>
            </a:extLst>
          </p:cNvPr>
          <p:cNvSpPr/>
          <p:nvPr/>
        </p:nvSpPr>
        <p:spPr>
          <a:xfrm>
            <a:off x="912413" y="3701828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 dirty="0"/>
              <a:t>(-1,_)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72889A-1501-4FC7-BC97-83558F03A3FE}"/>
              </a:ext>
            </a:extLst>
          </p:cNvPr>
          <p:cNvSpPr/>
          <p:nvPr/>
        </p:nvSpPr>
        <p:spPr>
          <a:xfrm>
            <a:off x="913408" y="3977143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/>
              <a:t>(-1,_)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87EC03-D294-4752-A7D1-A254FF45BEF9}"/>
              </a:ext>
            </a:extLst>
          </p:cNvPr>
          <p:cNvSpPr/>
          <p:nvPr/>
        </p:nvSpPr>
        <p:spPr>
          <a:xfrm>
            <a:off x="914401" y="4252456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/>
              <a:t>(-1,_)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1AF374-434F-4AFE-8D22-5930E5D0FF6D}"/>
              </a:ext>
            </a:extLst>
          </p:cNvPr>
          <p:cNvSpPr/>
          <p:nvPr/>
        </p:nvSpPr>
        <p:spPr>
          <a:xfrm>
            <a:off x="915394" y="4521806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/>
              <a:t>(-1,_)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657DDB-CEE9-485D-9155-F86244279651}"/>
              </a:ext>
            </a:extLst>
          </p:cNvPr>
          <p:cNvSpPr/>
          <p:nvPr/>
        </p:nvSpPr>
        <p:spPr>
          <a:xfrm>
            <a:off x="910424" y="4791159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/>
              <a:t>(-1,_)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5D1C1A-A17B-44B4-BE38-099C487B8812}"/>
              </a:ext>
            </a:extLst>
          </p:cNvPr>
          <p:cNvSpPr/>
          <p:nvPr/>
        </p:nvSpPr>
        <p:spPr>
          <a:xfrm>
            <a:off x="911419" y="5066473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/>
              <a:t>(-1,_)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D944EF-F1E7-4E90-B35B-D2398D033417}"/>
              </a:ext>
            </a:extLst>
          </p:cNvPr>
          <p:cNvSpPr/>
          <p:nvPr/>
        </p:nvSpPr>
        <p:spPr>
          <a:xfrm>
            <a:off x="912412" y="5341787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/>
              <a:t>(-1,_)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12ADBC-0D6B-46B3-9F88-D20478A22E5F}"/>
              </a:ext>
            </a:extLst>
          </p:cNvPr>
          <p:cNvSpPr/>
          <p:nvPr/>
        </p:nvSpPr>
        <p:spPr>
          <a:xfrm>
            <a:off x="913408" y="5617103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/>
              <a:t>(-1,_)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DE276F-0704-45E4-B7E0-228993ABFD4F}"/>
              </a:ext>
            </a:extLst>
          </p:cNvPr>
          <p:cNvSpPr/>
          <p:nvPr/>
        </p:nvSpPr>
        <p:spPr>
          <a:xfrm>
            <a:off x="913406" y="2879864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 dirty="0"/>
              <a:t>(-1,_)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FC755B2-9A02-45D5-9992-9B35EA22F964}"/>
              </a:ext>
            </a:extLst>
          </p:cNvPr>
          <p:cNvSpPr/>
          <p:nvPr/>
        </p:nvSpPr>
        <p:spPr>
          <a:xfrm>
            <a:off x="914401" y="3155179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/>
              <a:t>(-1,_)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981D7A-676B-4205-AFF9-39B36535F93C}"/>
              </a:ext>
            </a:extLst>
          </p:cNvPr>
          <p:cNvSpPr/>
          <p:nvPr/>
        </p:nvSpPr>
        <p:spPr>
          <a:xfrm>
            <a:off x="915394" y="3430492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/>
              <a:t>(-1,_)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D86E652-5B4E-4C72-A4DB-2C8DF7FFC38B}"/>
              </a:ext>
            </a:extLst>
          </p:cNvPr>
          <p:cNvSpPr/>
          <p:nvPr/>
        </p:nvSpPr>
        <p:spPr>
          <a:xfrm>
            <a:off x="2976770" y="3702821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 dirty="0"/>
              <a:t>(-1,_)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6F83A6-34D9-45E3-88FF-5EA063E40001}"/>
              </a:ext>
            </a:extLst>
          </p:cNvPr>
          <p:cNvSpPr/>
          <p:nvPr/>
        </p:nvSpPr>
        <p:spPr>
          <a:xfrm>
            <a:off x="2977765" y="3978136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/>
              <a:t>(-1,_)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CDE28E-1EEE-4583-96E1-67F581AA6C3F}"/>
              </a:ext>
            </a:extLst>
          </p:cNvPr>
          <p:cNvSpPr/>
          <p:nvPr/>
        </p:nvSpPr>
        <p:spPr>
          <a:xfrm>
            <a:off x="2978758" y="4253449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/>
              <a:t>(-1,_)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FCAD035-06BA-4D6B-AB5E-C6D4ECCDCA5C}"/>
              </a:ext>
            </a:extLst>
          </p:cNvPr>
          <p:cNvSpPr/>
          <p:nvPr/>
        </p:nvSpPr>
        <p:spPr>
          <a:xfrm>
            <a:off x="2979751" y="4522799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/>
              <a:t>(-1,_)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C2E205-11E8-4F8D-AB6B-7FADD975E51D}"/>
              </a:ext>
            </a:extLst>
          </p:cNvPr>
          <p:cNvSpPr/>
          <p:nvPr/>
        </p:nvSpPr>
        <p:spPr>
          <a:xfrm>
            <a:off x="2974781" y="4792152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/>
              <a:t>(-1,_)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F56C06C-D46A-461C-824B-FF65C3B7D4CE}"/>
              </a:ext>
            </a:extLst>
          </p:cNvPr>
          <p:cNvSpPr/>
          <p:nvPr/>
        </p:nvSpPr>
        <p:spPr>
          <a:xfrm>
            <a:off x="2975776" y="5067466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/>
              <a:t>(-1,_)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FEED3E9-5A7F-4877-ACD2-A6752B38C7FE}"/>
              </a:ext>
            </a:extLst>
          </p:cNvPr>
          <p:cNvSpPr/>
          <p:nvPr/>
        </p:nvSpPr>
        <p:spPr>
          <a:xfrm>
            <a:off x="2976769" y="5342780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 dirty="0">
                <a:solidFill>
                  <a:srgbClr val="FF0000"/>
                </a:solidFill>
              </a:rPr>
              <a:t>(k1,v1)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9E6AAFB-34D5-497C-996E-4DBA3532D5FF}"/>
              </a:ext>
            </a:extLst>
          </p:cNvPr>
          <p:cNvSpPr/>
          <p:nvPr/>
        </p:nvSpPr>
        <p:spPr>
          <a:xfrm>
            <a:off x="2977765" y="5618096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/>
              <a:t>(-1,_)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98DCBB2-BAFE-4D8B-9817-7DA7E1B73157}"/>
              </a:ext>
            </a:extLst>
          </p:cNvPr>
          <p:cNvSpPr/>
          <p:nvPr/>
        </p:nvSpPr>
        <p:spPr>
          <a:xfrm>
            <a:off x="2977763" y="2880857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 dirty="0"/>
              <a:t>(-1,_)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A0A7B3-FD8E-4642-8EBD-986376329F78}"/>
              </a:ext>
            </a:extLst>
          </p:cNvPr>
          <p:cNvSpPr/>
          <p:nvPr/>
        </p:nvSpPr>
        <p:spPr>
          <a:xfrm>
            <a:off x="2978758" y="3156172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/>
              <a:t>(-1,_)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131DF7-BD46-4BE8-9BB4-2758B467F637}"/>
              </a:ext>
            </a:extLst>
          </p:cNvPr>
          <p:cNvSpPr/>
          <p:nvPr/>
        </p:nvSpPr>
        <p:spPr>
          <a:xfrm>
            <a:off x="2979751" y="3431485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/>
              <a:t>(-1,_)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4697BC2-6204-43CB-B263-5E89706C2CE3}"/>
              </a:ext>
            </a:extLst>
          </p:cNvPr>
          <p:cNvSpPr/>
          <p:nvPr/>
        </p:nvSpPr>
        <p:spPr>
          <a:xfrm>
            <a:off x="4605794" y="3703815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 dirty="0"/>
              <a:t>(-1,_)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C7317C3-A823-48D3-A15A-2FD3F801A159}"/>
              </a:ext>
            </a:extLst>
          </p:cNvPr>
          <p:cNvSpPr/>
          <p:nvPr/>
        </p:nvSpPr>
        <p:spPr>
          <a:xfrm>
            <a:off x="4606789" y="3979130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/>
              <a:t>(-1,_)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E07E80A-3CE7-445D-8D0C-7438AD70203D}"/>
              </a:ext>
            </a:extLst>
          </p:cNvPr>
          <p:cNvSpPr/>
          <p:nvPr/>
        </p:nvSpPr>
        <p:spPr>
          <a:xfrm>
            <a:off x="4607782" y="4254443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/>
              <a:t>(-1,_)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F835B7E-9164-4760-943B-DE5B051AF84B}"/>
              </a:ext>
            </a:extLst>
          </p:cNvPr>
          <p:cNvSpPr/>
          <p:nvPr/>
        </p:nvSpPr>
        <p:spPr>
          <a:xfrm>
            <a:off x="4608775" y="4523793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/>
              <a:t>(-1,_)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CD54A0E-AE39-4225-B622-E5ECEB47CBBA}"/>
              </a:ext>
            </a:extLst>
          </p:cNvPr>
          <p:cNvSpPr/>
          <p:nvPr/>
        </p:nvSpPr>
        <p:spPr>
          <a:xfrm>
            <a:off x="4603805" y="4793146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/>
              <a:t>(-1,_)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81A6A26-B10B-4516-B8A1-993725D59342}"/>
              </a:ext>
            </a:extLst>
          </p:cNvPr>
          <p:cNvSpPr/>
          <p:nvPr/>
        </p:nvSpPr>
        <p:spPr>
          <a:xfrm>
            <a:off x="4604800" y="5068460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/>
              <a:t>(-1,_)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AB11A64-FFB6-45EA-8195-D696F499966E}"/>
              </a:ext>
            </a:extLst>
          </p:cNvPr>
          <p:cNvSpPr/>
          <p:nvPr/>
        </p:nvSpPr>
        <p:spPr>
          <a:xfrm>
            <a:off x="4605793" y="5343774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 dirty="0"/>
              <a:t>(k1,v1)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954D8D5-6858-4034-91F5-B876CAAD3B34}"/>
              </a:ext>
            </a:extLst>
          </p:cNvPr>
          <p:cNvSpPr/>
          <p:nvPr/>
        </p:nvSpPr>
        <p:spPr>
          <a:xfrm>
            <a:off x="4606789" y="5619090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 dirty="0">
                <a:solidFill>
                  <a:srgbClr val="FF0000"/>
                </a:solidFill>
              </a:rPr>
              <a:t>(k2,v2)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FD80312-1BBE-433F-9560-11A855B85AEE}"/>
              </a:ext>
            </a:extLst>
          </p:cNvPr>
          <p:cNvSpPr/>
          <p:nvPr/>
        </p:nvSpPr>
        <p:spPr>
          <a:xfrm>
            <a:off x="4606787" y="2881851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 dirty="0"/>
              <a:t>(-1,_)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03DA4F8-FA69-4E50-9163-B4B2BA5F91EB}"/>
              </a:ext>
            </a:extLst>
          </p:cNvPr>
          <p:cNvSpPr/>
          <p:nvPr/>
        </p:nvSpPr>
        <p:spPr>
          <a:xfrm>
            <a:off x="4607782" y="3157166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/>
              <a:t>(-1,_)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4AF891C-3350-468E-9BBF-3D7C8C24469C}"/>
              </a:ext>
            </a:extLst>
          </p:cNvPr>
          <p:cNvSpPr/>
          <p:nvPr/>
        </p:nvSpPr>
        <p:spPr>
          <a:xfrm>
            <a:off x="4608775" y="3432479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/>
              <a:t>(-1,_)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CAD9FF1-1775-4649-A6D1-904F76300315}"/>
              </a:ext>
            </a:extLst>
          </p:cNvPr>
          <p:cNvSpPr/>
          <p:nvPr/>
        </p:nvSpPr>
        <p:spPr>
          <a:xfrm>
            <a:off x="6443539" y="3698846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 dirty="0"/>
              <a:t>(-1,_)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C1912BF-EA5A-4354-B795-341D9E9862AF}"/>
              </a:ext>
            </a:extLst>
          </p:cNvPr>
          <p:cNvSpPr/>
          <p:nvPr/>
        </p:nvSpPr>
        <p:spPr>
          <a:xfrm>
            <a:off x="6444533" y="3974161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/>
              <a:t>(-1,_)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E9F8AE0-035C-4CBE-ABD2-339F8DC1917B}"/>
              </a:ext>
            </a:extLst>
          </p:cNvPr>
          <p:cNvSpPr/>
          <p:nvPr/>
        </p:nvSpPr>
        <p:spPr>
          <a:xfrm>
            <a:off x="6445526" y="4249474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/>
              <a:t>(-1,_)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0FD6A3D-C755-476B-8F6F-52ECA42FA8E3}"/>
              </a:ext>
            </a:extLst>
          </p:cNvPr>
          <p:cNvSpPr/>
          <p:nvPr/>
        </p:nvSpPr>
        <p:spPr>
          <a:xfrm>
            <a:off x="6446520" y="4518824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/>
              <a:t>(-1,_)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0067346-F16C-4944-AB38-EAF8FE7EAFB3}"/>
              </a:ext>
            </a:extLst>
          </p:cNvPr>
          <p:cNvSpPr/>
          <p:nvPr/>
        </p:nvSpPr>
        <p:spPr>
          <a:xfrm>
            <a:off x="6441550" y="4788177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/>
              <a:t>(-1,_)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403DC6E-F71A-4DA2-A2BD-F41E0CFB0E76}"/>
              </a:ext>
            </a:extLst>
          </p:cNvPr>
          <p:cNvSpPr/>
          <p:nvPr/>
        </p:nvSpPr>
        <p:spPr>
          <a:xfrm>
            <a:off x="6442544" y="5063491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/>
              <a:t>(-1,_)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8A62607-CE4D-4CE1-ACD9-DCFB37855F5A}"/>
              </a:ext>
            </a:extLst>
          </p:cNvPr>
          <p:cNvSpPr/>
          <p:nvPr/>
        </p:nvSpPr>
        <p:spPr>
          <a:xfrm>
            <a:off x="6443538" y="5338805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 dirty="0"/>
              <a:t>(k1,v1)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8F3FC62-54FF-4F47-9B7C-5366DF44E5F0}"/>
              </a:ext>
            </a:extLst>
          </p:cNvPr>
          <p:cNvSpPr/>
          <p:nvPr/>
        </p:nvSpPr>
        <p:spPr>
          <a:xfrm>
            <a:off x="6444533" y="5614121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 dirty="0"/>
              <a:t>(k2,v2)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448539B-7D55-4258-9E25-BB96F4368732}"/>
              </a:ext>
            </a:extLst>
          </p:cNvPr>
          <p:cNvSpPr/>
          <p:nvPr/>
        </p:nvSpPr>
        <p:spPr>
          <a:xfrm>
            <a:off x="6444532" y="2876882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 dirty="0"/>
              <a:t>(-1,_)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6E2A5D8-D7EF-4294-B362-D7054CA6D249}"/>
              </a:ext>
            </a:extLst>
          </p:cNvPr>
          <p:cNvSpPr/>
          <p:nvPr/>
        </p:nvSpPr>
        <p:spPr>
          <a:xfrm>
            <a:off x="6445526" y="3152197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/>
              <a:t>(-1,_)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CBF122E-5258-432E-BFC4-1EA5866F29FC}"/>
              </a:ext>
            </a:extLst>
          </p:cNvPr>
          <p:cNvSpPr/>
          <p:nvPr/>
        </p:nvSpPr>
        <p:spPr>
          <a:xfrm>
            <a:off x="6446519" y="3427510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/>
              <a:t>(-1,_)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C249E9D-F66B-4382-B505-B3830FF738FF}"/>
              </a:ext>
            </a:extLst>
          </p:cNvPr>
          <p:cNvSpPr/>
          <p:nvPr/>
        </p:nvSpPr>
        <p:spPr>
          <a:xfrm>
            <a:off x="8221649" y="3705802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 dirty="0"/>
              <a:t>(-1,_)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ABA4643-DD88-4449-B1C5-1B3EC8DDCBFC}"/>
              </a:ext>
            </a:extLst>
          </p:cNvPr>
          <p:cNvSpPr/>
          <p:nvPr/>
        </p:nvSpPr>
        <p:spPr>
          <a:xfrm>
            <a:off x="8222644" y="3981117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/>
              <a:t>(-1,_)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01F271E-F327-49E3-840E-5CF89BF45A50}"/>
              </a:ext>
            </a:extLst>
          </p:cNvPr>
          <p:cNvSpPr/>
          <p:nvPr/>
        </p:nvSpPr>
        <p:spPr>
          <a:xfrm>
            <a:off x="8223637" y="4256430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/>
              <a:t>(-1,_)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CA1C824-F6DB-4CAE-B80B-3E44C423A247}"/>
              </a:ext>
            </a:extLst>
          </p:cNvPr>
          <p:cNvSpPr/>
          <p:nvPr/>
        </p:nvSpPr>
        <p:spPr>
          <a:xfrm>
            <a:off x="8224630" y="4525780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/>
              <a:t>(-1,_)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1F76268-730B-44F1-B744-2F683D32F92D}"/>
              </a:ext>
            </a:extLst>
          </p:cNvPr>
          <p:cNvSpPr/>
          <p:nvPr/>
        </p:nvSpPr>
        <p:spPr>
          <a:xfrm>
            <a:off x="8219660" y="4795134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/>
              <a:t>(-1,_)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EE399C2-91B9-4564-BBC2-B31A423B3DCC}"/>
              </a:ext>
            </a:extLst>
          </p:cNvPr>
          <p:cNvSpPr/>
          <p:nvPr/>
        </p:nvSpPr>
        <p:spPr>
          <a:xfrm>
            <a:off x="8220655" y="5070447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/>
              <a:t>(-1,_)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E6AA722-19B2-4212-9ACF-217D8579841B}"/>
              </a:ext>
            </a:extLst>
          </p:cNvPr>
          <p:cNvSpPr/>
          <p:nvPr/>
        </p:nvSpPr>
        <p:spPr>
          <a:xfrm>
            <a:off x="8221648" y="5345761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 dirty="0"/>
              <a:t>(k1,v1)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B4568A4-F512-4DC7-812C-EF88A9258DCC}"/>
              </a:ext>
            </a:extLst>
          </p:cNvPr>
          <p:cNvSpPr/>
          <p:nvPr/>
        </p:nvSpPr>
        <p:spPr>
          <a:xfrm>
            <a:off x="8222644" y="5621077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 dirty="0"/>
              <a:t>(k2,v2)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FE96FB6-E14C-47A2-8523-944BD8055B8E}"/>
              </a:ext>
            </a:extLst>
          </p:cNvPr>
          <p:cNvSpPr/>
          <p:nvPr/>
        </p:nvSpPr>
        <p:spPr>
          <a:xfrm>
            <a:off x="8222642" y="2883838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 dirty="0">
                <a:solidFill>
                  <a:srgbClr val="FF0000"/>
                </a:solidFill>
              </a:rPr>
              <a:t>(k3,v3)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1BC9E91-A688-4C99-9F1E-3A203447DFE4}"/>
              </a:ext>
            </a:extLst>
          </p:cNvPr>
          <p:cNvSpPr/>
          <p:nvPr/>
        </p:nvSpPr>
        <p:spPr>
          <a:xfrm>
            <a:off x="8223637" y="3159153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/>
              <a:t>(-1,_)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3A4C08D-06C7-4D8A-9701-1B4427D30162}"/>
              </a:ext>
            </a:extLst>
          </p:cNvPr>
          <p:cNvSpPr/>
          <p:nvPr/>
        </p:nvSpPr>
        <p:spPr>
          <a:xfrm>
            <a:off x="8224630" y="3434466"/>
            <a:ext cx="620201" cy="26239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900"/>
              <a:t>(-1,_)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A6EE768-5469-4C51-BD33-C3135BF3008B}"/>
              </a:ext>
            </a:extLst>
          </p:cNvPr>
          <p:cNvSpPr txBox="1"/>
          <p:nvPr/>
        </p:nvSpPr>
        <p:spPr>
          <a:xfrm>
            <a:off x="2743198" y="5335823"/>
            <a:ext cx="2487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900" i="1" dirty="0"/>
              <a:t>p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61ABB95-CE64-4A77-9481-5241D209B37F}"/>
              </a:ext>
            </a:extLst>
          </p:cNvPr>
          <p:cNvSpPr txBox="1"/>
          <p:nvPr/>
        </p:nvSpPr>
        <p:spPr>
          <a:xfrm>
            <a:off x="6220900" y="5342779"/>
            <a:ext cx="2487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900" i="1" dirty="0"/>
              <a:t>p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CED24F7-DEB2-48A9-BD81-292291542B89}"/>
              </a:ext>
            </a:extLst>
          </p:cNvPr>
          <p:cNvSpPr txBox="1"/>
          <p:nvPr/>
        </p:nvSpPr>
        <p:spPr>
          <a:xfrm>
            <a:off x="4206239" y="5606165"/>
            <a:ext cx="3802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900" i="1" dirty="0"/>
              <a:t>p+1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613D8B3-B21E-455C-B7AC-7AB2992EB60D}"/>
              </a:ext>
            </a:extLst>
          </p:cNvPr>
          <p:cNvSpPr txBox="1"/>
          <p:nvPr/>
        </p:nvSpPr>
        <p:spPr>
          <a:xfrm>
            <a:off x="6055910" y="5607160"/>
            <a:ext cx="3802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900" i="1" dirty="0"/>
              <a:t>p+1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B8BF43B-229F-43DF-A803-F637C5AEC42E}"/>
              </a:ext>
            </a:extLst>
          </p:cNvPr>
          <p:cNvSpPr txBox="1"/>
          <p:nvPr/>
        </p:nvSpPr>
        <p:spPr>
          <a:xfrm>
            <a:off x="4379178" y="5337809"/>
            <a:ext cx="2487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900" i="1" dirty="0"/>
              <a:t>p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431D387-BDA1-4524-A97C-A7987C3777FF}"/>
              </a:ext>
            </a:extLst>
          </p:cNvPr>
          <p:cNvSpPr txBox="1"/>
          <p:nvPr/>
        </p:nvSpPr>
        <p:spPr>
          <a:xfrm>
            <a:off x="7993047" y="5343772"/>
            <a:ext cx="2487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900" i="1" dirty="0"/>
              <a:t>p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D432F12-659B-4A34-9942-AE42C3E9A54C}"/>
              </a:ext>
            </a:extLst>
          </p:cNvPr>
          <p:cNvSpPr txBox="1"/>
          <p:nvPr/>
        </p:nvSpPr>
        <p:spPr>
          <a:xfrm>
            <a:off x="7828057" y="5608153"/>
            <a:ext cx="3802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900" i="1" dirty="0"/>
              <a:t>p+1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E046A01-6F28-4FE3-8B59-6D61A7C1BB28}"/>
              </a:ext>
            </a:extLst>
          </p:cNvPr>
          <p:cNvSpPr txBox="1"/>
          <p:nvPr/>
        </p:nvSpPr>
        <p:spPr>
          <a:xfrm>
            <a:off x="7823086" y="2871911"/>
            <a:ext cx="3802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900" i="1" dirty="0"/>
              <a:t>p+2</a:t>
            </a:r>
          </a:p>
        </p:txBody>
      </p:sp>
      <p:sp>
        <p:nvSpPr>
          <p:cNvPr id="69" name="Arrow: Right 68">
            <a:extLst>
              <a:ext uri="{FF2B5EF4-FFF2-40B4-BE49-F238E27FC236}">
                <a16:creationId xmlns:a16="http://schemas.microsoft.com/office/drawing/2014/main" id="{CE28BFC6-7119-4222-9627-978FEB9BAFEB}"/>
              </a:ext>
            </a:extLst>
          </p:cNvPr>
          <p:cNvSpPr/>
          <p:nvPr/>
        </p:nvSpPr>
        <p:spPr>
          <a:xfrm>
            <a:off x="1890422" y="4268359"/>
            <a:ext cx="709655" cy="524786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endParaRPr lang="pt-PT" sz="900" b="1">
              <a:ln/>
              <a:solidFill>
                <a:schemeClr val="accent4"/>
              </a:solidFill>
            </a:endParaRPr>
          </a:p>
        </p:txBody>
      </p:sp>
      <p:sp>
        <p:nvSpPr>
          <p:cNvPr id="70" name="Arrow: Right 69">
            <a:extLst>
              <a:ext uri="{FF2B5EF4-FFF2-40B4-BE49-F238E27FC236}">
                <a16:creationId xmlns:a16="http://schemas.microsoft.com/office/drawing/2014/main" id="{89D0B209-E835-46E6-A22A-AC09E2731607}"/>
              </a:ext>
            </a:extLst>
          </p:cNvPr>
          <p:cNvSpPr/>
          <p:nvPr/>
        </p:nvSpPr>
        <p:spPr>
          <a:xfrm>
            <a:off x="3918006" y="4254442"/>
            <a:ext cx="294197" cy="536717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 sz="900"/>
          </a:p>
        </p:txBody>
      </p:sp>
      <p:sp>
        <p:nvSpPr>
          <p:cNvPr id="71" name="Arrow: Right 70">
            <a:extLst>
              <a:ext uri="{FF2B5EF4-FFF2-40B4-BE49-F238E27FC236}">
                <a16:creationId xmlns:a16="http://schemas.microsoft.com/office/drawing/2014/main" id="{F1C2AC16-A4B4-4EE6-8A3B-F72696D51124}"/>
              </a:ext>
            </a:extLst>
          </p:cNvPr>
          <p:cNvSpPr/>
          <p:nvPr/>
        </p:nvSpPr>
        <p:spPr>
          <a:xfrm>
            <a:off x="5500314" y="4218663"/>
            <a:ext cx="620201" cy="598339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 sz="900"/>
          </a:p>
        </p:txBody>
      </p:sp>
      <p:sp>
        <p:nvSpPr>
          <p:cNvPr id="72" name="Arrow: Right 71">
            <a:extLst>
              <a:ext uri="{FF2B5EF4-FFF2-40B4-BE49-F238E27FC236}">
                <a16:creationId xmlns:a16="http://schemas.microsoft.com/office/drawing/2014/main" id="{AF1C99A8-A0F3-4EE6-9281-D4C970276216}"/>
              </a:ext>
            </a:extLst>
          </p:cNvPr>
          <p:cNvSpPr/>
          <p:nvPr/>
        </p:nvSpPr>
        <p:spPr>
          <a:xfrm>
            <a:off x="7302276" y="4230589"/>
            <a:ext cx="620201" cy="557742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 sz="900"/>
          </a:p>
        </p:txBody>
      </p:sp>
      <p:sp>
        <p:nvSpPr>
          <p:cNvPr id="73" name="Speech Bubble: Rectangle with Corners Rounded 72">
            <a:extLst>
              <a:ext uri="{FF2B5EF4-FFF2-40B4-BE49-F238E27FC236}">
                <a16:creationId xmlns:a16="http://schemas.microsoft.com/office/drawing/2014/main" id="{4E5D5993-5B3C-450C-A93C-D5558017FA2B}"/>
              </a:ext>
            </a:extLst>
          </p:cNvPr>
          <p:cNvSpPr/>
          <p:nvPr/>
        </p:nvSpPr>
        <p:spPr>
          <a:xfrm>
            <a:off x="6822219" y="1107717"/>
            <a:ext cx="1800971" cy="1201184"/>
          </a:xfrm>
          <a:prstGeom prst="wedgeRoundRectCallout">
            <a:avLst>
              <a:gd name="adj1" fmla="val 45724"/>
              <a:gd name="adj2" fmla="val 8931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050" dirty="0">
                <a:solidFill>
                  <a:schemeClr val="tx1"/>
                </a:solidFill>
              </a:rPr>
              <a:t>operação de consulta deve reproduzir a mesma sequência de </a:t>
            </a:r>
            <a:r>
              <a:rPr lang="pt-PT" sz="1050" dirty="0" err="1">
                <a:solidFill>
                  <a:schemeClr val="tx1"/>
                </a:solidFill>
              </a:rPr>
              <a:t>probes</a:t>
            </a:r>
            <a:r>
              <a:rPr lang="pt-PT" sz="1050" dirty="0">
                <a:solidFill>
                  <a:schemeClr val="tx1"/>
                </a:solidFill>
              </a:rPr>
              <a:t>! Critério de paragem?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676D2C-20CD-4CFC-9F8A-19A330E69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Programação Orientada aos Objetos</a:t>
            </a:r>
          </a:p>
        </p:txBody>
      </p:sp>
    </p:spTree>
    <p:extLst>
      <p:ext uri="{BB962C8B-B14F-4D97-AF65-F5344CB8AC3E}">
        <p14:creationId xmlns:p14="http://schemas.microsoft.com/office/powerpoint/2010/main" val="3619361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4">
            <a:extLst>
              <a:ext uri="{FF2B5EF4-FFF2-40B4-BE49-F238E27FC236}">
                <a16:creationId xmlns:a16="http://schemas.microsoft.com/office/drawing/2014/main" id="{154D21C4-C7A8-4498-8E66-26F4BBB96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7171" name="Slide Number Placeholder 5">
            <a:extLst>
              <a:ext uri="{FF2B5EF4-FFF2-40B4-BE49-F238E27FC236}">
                <a16:creationId xmlns:a16="http://schemas.microsoft.com/office/drawing/2014/main" id="{CB587CA2-020C-4B21-98C7-F37123C51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0C8FC69-DC5E-446C-8272-2C3AEB234679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pt-PT" altLang="en-US" sz="1400"/>
          </a:p>
        </p:txBody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0F1113FF-6684-4B35-B927-73CAB8F9D8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144463"/>
            <a:ext cx="8229600" cy="981075"/>
          </a:xfrm>
        </p:spPr>
        <p:txBody>
          <a:bodyPr/>
          <a:lstStyle/>
          <a:p>
            <a:pPr eaLnBrk="1" hangingPunct="1"/>
            <a:r>
              <a:rPr lang="pt-PT" altLang="en-US"/>
              <a:t>Classes map do Java1.8</a:t>
            </a:r>
          </a:p>
        </p:txBody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B33C0F10-4400-4A11-8058-893D1EC8C5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8577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pt-PT" altLang="en-US" sz="2800"/>
              <a:t>Existem actualmente cinco implementações gerais de </a:t>
            </a:r>
            <a:r>
              <a:rPr lang="pt-PT" altLang="en-US" sz="2800">
                <a:solidFill>
                  <a:srgbClr val="3366FF"/>
                </a:solidFill>
                <a:latin typeface="Times New Roman" panose="02020603050405020304" pitchFamily="18" charset="0"/>
              </a:rPr>
              <a:t>Map&lt;K,V&gt;</a:t>
            </a:r>
            <a:r>
              <a:rPr lang="pt-PT" altLang="en-US" sz="2800"/>
              <a:t>, designadamente: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pt-PT" altLang="en-US" sz="2800"/>
          </a:p>
          <a:p>
            <a:pPr lvl="1" eaLnBrk="1" hangingPunct="1">
              <a:lnSpc>
                <a:spcPct val="80000"/>
              </a:lnSpc>
            </a:pPr>
            <a:r>
              <a:rPr lang="pt-PT" altLang="en-US" sz="2400"/>
              <a:t> </a:t>
            </a:r>
            <a:r>
              <a:rPr lang="pt-PT" altLang="en-US" sz="2400">
                <a:solidFill>
                  <a:srgbClr val="3366FF"/>
                </a:solidFill>
                <a:latin typeface="Times New Roman" panose="02020603050405020304" pitchFamily="18" charset="0"/>
              </a:rPr>
              <a:t>HashMap&lt;K,V&gt;</a:t>
            </a:r>
            <a:r>
              <a:rPr lang="pt-PT" altLang="en-US" sz="2400"/>
              <a:t> (baseada em tabela de hash);</a:t>
            </a:r>
          </a:p>
          <a:p>
            <a:pPr lvl="1" eaLnBrk="1" hangingPunct="1">
              <a:lnSpc>
                <a:spcPct val="80000"/>
              </a:lnSpc>
            </a:pPr>
            <a:r>
              <a:rPr lang="pt-PT" altLang="en-US" sz="2400"/>
              <a:t> </a:t>
            </a:r>
            <a:r>
              <a:rPr lang="pt-PT" altLang="en-US" sz="2400">
                <a:solidFill>
                  <a:srgbClr val="3366FF"/>
                </a:solidFill>
                <a:latin typeface="Times New Roman" panose="02020603050405020304" pitchFamily="18" charset="0"/>
              </a:rPr>
              <a:t>LinkedHashMap&lt;K,V&gt;</a:t>
            </a:r>
            <a:r>
              <a:rPr lang="pt-PT" altLang="en-US" sz="2400"/>
              <a:t> (tabela de hash e lista ligada);</a:t>
            </a:r>
          </a:p>
          <a:p>
            <a:pPr lvl="1" eaLnBrk="1" hangingPunct="1">
              <a:lnSpc>
                <a:spcPct val="80000"/>
              </a:lnSpc>
            </a:pPr>
            <a:r>
              <a:rPr lang="pt-PT" altLang="en-US" sz="2400"/>
              <a:t> </a:t>
            </a:r>
            <a:r>
              <a:rPr lang="pt-PT" altLang="en-US" sz="2400">
                <a:solidFill>
                  <a:srgbClr val="3366FF"/>
                </a:solidFill>
                <a:latin typeface="Times New Roman" panose="02020603050405020304" pitchFamily="18" charset="0"/>
              </a:rPr>
              <a:t>TreeMap&lt;K,V&gt;</a:t>
            </a:r>
            <a:r>
              <a:rPr lang="pt-PT" altLang="en-US" sz="2400"/>
              <a:t> (árvore balanceada para ordenação das chaves);</a:t>
            </a:r>
          </a:p>
          <a:p>
            <a:pPr lvl="1" eaLnBrk="1" hangingPunct="1">
              <a:lnSpc>
                <a:spcPct val="80000"/>
              </a:lnSpc>
            </a:pPr>
            <a:r>
              <a:rPr lang="pt-PT" altLang="en-US" sz="2400"/>
              <a:t> </a:t>
            </a:r>
            <a:r>
              <a:rPr lang="pt-PT" altLang="en-US" sz="2400">
                <a:solidFill>
                  <a:srgbClr val="3366FF"/>
                </a:solidFill>
                <a:latin typeface="Times New Roman" panose="02020603050405020304" pitchFamily="18" charset="0"/>
              </a:rPr>
              <a:t>EnumMap&lt;K,V&gt;</a:t>
            </a:r>
            <a:r>
              <a:rPr lang="pt-PT" altLang="en-US" sz="2400"/>
              <a:t> (representação bit-based para tipos enumerados)</a:t>
            </a:r>
          </a:p>
          <a:p>
            <a:pPr lvl="1" eaLnBrk="1" hangingPunct="1">
              <a:lnSpc>
                <a:spcPct val="80000"/>
              </a:lnSpc>
            </a:pPr>
            <a:r>
              <a:rPr lang="pt-PT" altLang="en-US" sz="2400"/>
              <a:t> </a:t>
            </a:r>
            <a:r>
              <a:rPr lang="pt-PT" altLang="en-US" sz="2400">
                <a:solidFill>
                  <a:srgbClr val="3366FF"/>
                </a:solidFill>
                <a:latin typeface="Times New Roman" panose="02020603050405020304" pitchFamily="18" charset="0"/>
              </a:rPr>
              <a:t>Hashtable&lt;K,V&gt;</a:t>
            </a:r>
            <a:r>
              <a:rPr lang="pt-PT" altLang="en-US" sz="2400"/>
              <a:t> (baseada em tabela de hash, para concorrência).</a:t>
            </a:r>
          </a:p>
          <a:p>
            <a:pPr eaLnBrk="1" hangingPunct="1">
              <a:lnSpc>
                <a:spcPct val="80000"/>
              </a:lnSpc>
            </a:pPr>
            <a:r>
              <a:rPr lang="pt-PT" altLang="en-US" sz="2800"/>
              <a:t>Vamos ver em mais detalhe as classes </a:t>
            </a:r>
            <a:r>
              <a:rPr lang="pt-PT" altLang="en-US" sz="2800">
                <a:solidFill>
                  <a:srgbClr val="3366FF"/>
                </a:solidFill>
                <a:latin typeface="Times New Roman" panose="02020603050405020304" pitchFamily="18" charset="0"/>
              </a:rPr>
              <a:t>HashMap&lt;K,V&gt; </a:t>
            </a:r>
            <a:r>
              <a:rPr lang="pt-PT" altLang="en-US" sz="2800"/>
              <a:t>e</a:t>
            </a:r>
            <a:r>
              <a:rPr lang="pt-PT" altLang="en-US" sz="2800">
                <a:solidFill>
                  <a:srgbClr val="3366FF"/>
                </a:solidFill>
                <a:latin typeface="Times New Roman" panose="02020603050405020304" pitchFamily="18" charset="0"/>
              </a:rPr>
              <a:t> TreeMap&lt;K,V&gt;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4">
            <a:extLst>
              <a:ext uri="{FF2B5EF4-FFF2-40B4-BE49-F238E27FC236}">
                <a16:creationId xmlns:a16="http://schemas.microsoft.com/office/drawing/2014/main" id="{F159246C-6662-4A4E-9F9C-DFC441F7C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8195" name="Slide Number Placeholder 5">
            <a:extLst>
              <a:ext uri="{FF2B5EF4-FFF2-40B4-BE49-F238E27FC236}">
                <a16:creationId xmlns:a16="http://schemas.microsoft.com/office/drawing/2014/main" id="{04F2F9E7-3B25-4632-8338-7C87E8B1A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B70335-2D9C-4403-9638-19ACAD8B1BD9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pt-PT" altLang="en-US" sz="1400"/>
          </a:p>
        </p:txBody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9EF68B02-2A26-485F-8D14-964A482AEC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43000"/>
          </a:xfrm>
        </p:spPr>
        <p:txBody>
          <a:bodyPr/>
          <a:lstStyle/>
          <a:p>
            <a:pPr eaLnBrk="1" hangingPunct="1"/>
            <a:r>
              <a:rPr lang="pt-PT" altLang="en-US"/>
              <a:t>HashMap&lt;K,V&gt;</a:t>
            </a:r>
          </a:p>
        </p:txBody>
      </p:sp>
      <p:sp>
        <p:nvSpPr>
          <p:cNvPr id="8197" name="Rectangle 3">
            <a:extLst>
              <a:ext uri="{FF2B5EF4-FFF2-40B4-BE49-F238E27FC236}">
                <a16:creationId xmlns:a16="http://schemas.microsoft.com/office/drawing/2014/main" id="{8A985457-E82D-499D-BD98-2509A0712D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244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PT" altLang="en-US" sz="2000" dirty="0"/>
              <a:t>A classe </a:t>
            </a:r>
            <a:r>
              <a:rPr lang="pt-PT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HashMap</a:t>
            </a:r>
            <a:r>
              <a:rPr lang="pt-PT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&lt;K,V&gt;</a:t>
            </a:r>
            <a:r>
              <a:rPr lang="pt-PT" altLang="en-US" sz="2000" dirty="0"/>
              <a:t> corresponde a uma implementação de </a:t>
            </a:r>
            <a:r>
              <a:rPr lang="pt-PT" altLang="en-US" sz="2000" dirty="0" err="1"/>
              <a:t>maps</a:t>
            </a:r>
            <a:r>
              <a:rPr lang="pt-PT" altLang="en-US" sz="2000" dirty="0"/>
              <a:t> numa tabela de </a:t>
            </a:r>
            <a:r>
              <a:rPr lang="pt-PT" altLang="en-US" sz="2000" dirty="0" err="1"/>
              <a:t>hash</a:t>
            </a:r>
            <a:r>
              <a:rPr lang="pt-PT" altLang="en-US" sz="2000" dirty="0"/>
              <a:t>, com </a:t>
            </a:r>
            <a:r>
              <a:rPr lang="pt-PT" altLang="en-US" sz="2000" dirty="0" err="1"/>
              <a:t>optimizações</a:t>
            </a:r>
            <a:r>
              <a:rPr lang="pt-PT" altLang="en-US" sz="2000" dirty="0"/>
              <a:t> automáticas de espaço e carga. Faz uso  de algoritmos sofisticados para associar de forma eficaz chaves a valores (via </a:t>
            </a:r>
            <a:r>
              <a:rPr lang="pt-PT" altLang="en-US" sz="2000" i="1" dirty="0" err="1"/>
              <a:t>closed</a:t>
            </a:r>
            <a:r>
              <a:rPr lang="pt-PT" altLang="en-US" sz="2000" i="1" dirty="0"/>
              <a:t> </a:t>
            </a:r>
            <a:r>
              <a:rPr lang="pt-PT" altLang="en-US" sz="2000" i="1" dirty="0" err="1"/>
              <a:t>addressing</a:t>
            </a:r>
            <a:r>
              <a:rPr lang="pt-PT" altLang="en-US" sz="2000" dirty="0"/>
              <a:t>).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000" dirty="0"/>
              <a:t>Numa tabela de </a:t>
            </a:r>
            <a:r>
              <a:rPr lang="pt-PT" altLang="en-US" sz="2000" dirty="0" err="1"/>
              <a:t>hash</a:t>
            </a:r>
            <a:r>
              <a:rPr lang="pt-PT" altLang="en-US" sz="2000" dirty="0"/>
              <a:t> implementa-se uma </a:t>
            </a:r>
            <a:r>
              <a:rPr lang="pt-PT" altLang="en-US" sz="2000" i="1" dirty="0"/>
              <a:t>função de </a:t>
            </a:r>
            <a:r>
              <a:rPr lang="pt-PT" altLang="en-US" sz="2000" i="1" dirty="0" err="1"/>
              <a:t>hash</a:t>
            </a:r>
            <a:r>
              <a:rPr lang="pt-PT" altLang="en-US" sz="2000" dirty="0"/>
              <a:t> para traduzir a chave numa posição de memória na lista de chaves. Esta depende do tipo de dado representativo das chaves.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000" dirty="0"/>
              <a:t>Na </a:t>
            </a:r>
            <a:r>
              <a:rPr lang="pt-PT" altLang="en-US" sz="2000" dirty="0" err="1">
                <a:latin typeface="Times New Roman" panose="02020603050405020304" pitchFamily="18" charset="0"/>
              </a:rPr>
              <a:t>HashMap</a:t>
            </a:r>
            <a:r>
              <a:rPr lang="pt-PT" altLang="en-US" sz="2000" dirty="0"/>
              <a:t> a função de </a:t>
            </a:r>
            <a:r>
              <a:rPr lang="pt-PT" altLang="en-US" sz="2000" dirty="0" err="1"/>
              <a:t>hash</a:t>
            </a:r>
            <a:r>
              <a:rPr lang="pt-PT" altLang="en-US" sz="2000" dirty="0"/>
              <a:t> é implementada no método </a:t>
            </a:r>
            <a:r>
              <a:rPr lang="pt-PT" altLang="en-US" sz="2000" dirty="0" err="1">
                <a:latin typeface="Times New Roman" panose="02020603050405020304" pitchFamily="18" charset="0"/>
              </a:rPr>
              <a:t>hashCode</a:t>
            </a:r>
            <a:r>
              <a:rPr lang="pt-PT" altLang="en-US" sz="2000" dirty="0">
                <a:latin typeface="Times New Roman" panose="02020603050405020304" pitchFamily="18" charset="0"/>
              </a:rPr>
              <a:t>() </a:t>
            </a:r>
            <a:r>
              <a:rPr lang="pt-PT" altLang="en-US" sz="2000" dirty="0"/>
              <a:t>da classe representativa da chave e.g., </a:t>
            </a:r>
            <a:r>
              <a:rPr lang="pt-PT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PT" altLang="en-US" sz="2000" dirty="0"/>
              <a:t>, </a:t>
            </a:r>
            <a:r>
              <a:rPr lang="pt-PT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Integer</a:t>
            </a:r>
            <a:r>
              <a:rPr lang="pt-PT" altLang="en-US" sz="2000" dirty="0"/>
              <a:t>, etc.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000" dirty="0"/>
              <a:t>Construtores: </a:t>
            </a:r>
            <a:r>
              <a:rPr lang="pt-PT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HashMap</a:t>
            </a:r>
            <a:r>
              <a:rPr lang="pt-PT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pt-PT" altLang="en-US" sz="2000" dirty="0"/>
              <a:t>;  e   </a:t>
            </a:r>
            <a:r>
              <a:rPr lang="pt-PT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HashMap</a:t>
            </a:r>
            <a:r>
              <a:rPr lang="pt-PT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PT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pt-PT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&lt;K,V&gt; m)</a:t>
            </a:r>
            <a:r>
              <a:rPr lang="pt-PT" altLang="en-US" sz="2000" dirty="0"/>
              <a:t>;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000" dirty="0"/>
              <a:t>O método que permite inserir pares </a:t>
            </a:r>
            <a:r>
              <a:rPr lang="pt-PT" altLang="en-US" sz="2000" dirty="0" err="1"/>
              <a:t>chave</a:t>
            </a:r>
            <a:r>
              <a:rPr lang="pt-PT" altLang="en-US" sz="2000" dirty="0" err="1">
                <a:sym typeface="Wingdings" panose="05000000000000000000" pitchFamily="2" charset="2"/>
              </a:rPr>
              <a:t></a:t>
            </a:r>
            <a:r>
              <a:rPr lang="pt-PT" altLang="en-US" sz="2000" dirty="0" err="1"/>
              <a:t>valor</a:t>
            </a:r>
            <a:r>
              <a:rPr lang="pt-PT" altLang="en-US" sz="2000" dirty="0"/>
              <a:t> num </a:t>
            </a:r>
            <a:r>
              <a:rPr lang="pt-PT" altLang="en-US" sz="2000" dirty="0" err="1"/>
              <a:t>hashmap</a:t>
            </a:r>
            <a:r>
              <a:rPr lang="pt-PT" altLang="en-US" sz="2000" dirty="0"/>
              <a:t> é o método  </a:t>
            </a:r>
            <a:r>
              <a:rPr lang="pt-PT" altLang="en-US" sz="2000" dirty="0" err="1">
                <a:latin typeface="Times New Roman" panose="02020603050405020304" pitchFamily="18" charset="0"/>
              </a:rPr>
              <a:t>put</a:t>
            </a:r>
            <a:r>
              <a:rPr lang="pt-PT" altLang="en-US" sz="2000" dirty="0">
                <a:latin typeface="Times New Roman" panose="02020603050405020304" pitchFamily="18" charset="0"/>
              </a:rPr>
              <a:t>(</a:t>
            </a:r>
            <a:r>
              <a:rPr lang="pt-PT" altLang="en-US" sz="2000" dirty="0" err="1">
                <a:latin typeface="Times New Roman" panose="02020603050405020304" pitchFamily="18" charset="0"/>
              </a:rPr>
              <a:t>k,v</a:t>
            </a:r>
            <a:r>
              <a:rPr lang="pt-PT" altLang="en-US" sz="2000" dirty="0">
                <a:latin typeface="Times New Roman" panose="02020603050405020304" pitchFamily="18" charset="0"/>
              </a:rPr>
              <a:t>)</a:t>
            </a:r>
            <a:r>
              <a:rPr lang="pt-PT" altLang="en-US" sz="2000" dirty="0"/>
              <a:t>.  Dada uma chave </a:t>
            </a:r>
            <a:r>
              <a:rPr lang="pt-PT" altLang="en-US" sz="2000" dirty="0">
                <a:latin typeface="Times New Roman" panose="02020603050405020304" pitchFamily="18" charset="0"/>
              </a:rPr>
              <a:t>k</a:t>
            </a:r>
            <a:r>
              <a:rPr lang="pt-PT" altLang="en-US" sz="2000" dirty="0"/>
              <a:t> de tipo </a:t>
            </a:r>
            <a:r>
              <a:rPr lang="pt-PT" altLang="en-US" sz="2000" dirty="0">
                <a:latin typeface="Times New Roman" panose="02020603050405020304" pitchFamily="18" charset="0"/>
              </a:rPr>
              <a:t>K</a:t>
            </a:r>
            <a:r>
              <a:rPr lang="pt-PT" altLang="en-US" sz="2000" dirty="0"/>
              <a:t> e um valor </a:t>
            </a:r>
            <a:r>
              <a:rPr lang="pt-PT" altLang="en-US" sz="2000" dirty="0">
                <a:latin typeface="Times New Roman" panose="02020603050405020304" pitchFamily="18" charset="0"/>
              </a:rPr>
              <a:t>v</a:t>
            </a:r>
            <a:r>
              <a:rPr lang="pt-PT" altLang="en-US" sz="2000" dirty="0"/>
              <a:t> de tipo </a:t>
            </a:r>
            <a:r>
              <a:rPr lang="pt-PT" altLang="en-US" sz="2000" dirty="0">
                <a:latin typeface="Times New Roman" panose="02020603050405020304" pitchFamily="18" charset="0"/>
              </a:rPr>
              <a:t>V</a:t>
            </a:r>
            <a:r>
              <a:rPr lang="pt-PT" altLang="en-US" sz="2000" dirty="0"/>
              <a:t>, insere o par no </a:t>
            </a:r>
            <a:r>
              <a:rPr lang="pt-PT" altLang="en-US" sz="2000" dirty="0" err="1"/>
              <a:t>map</a:t>
            </a:r>
            <a:r>
              <a:rPr lang="pt-PT" altLang="en-US" sz="2000" dirty="0"/>
              <a:t> </a:t>
            </a:r>
            <a:r>
              <a:rPr lang="pt-PT" altLang="en-US" sz="2000" dirty="0" err="1"/>
              <a:t>receptor</a:t>
            </a:r>
            <a:r>
              <a:rPr lang="pt-PT" altLang="en-US" sz="2000" dirty="0"/>
              <a:t>. 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000" dirty="0"/>
              <a:t>O método  </a:t>
            </a:r>
            <a:r>
              <a:rPr lang="pt-PT" altLang="en-US" sz="2000" dirty="0">
                <a:latin typeface="Times New Roman" panose="02020603050405020304" pitchFamily="18" charset="0"/>
              </a:rPr>
              <a:t>V </a:t>
            </a:r>
            <a:r>
              <a:rPr lang="pt-PT" altLang="en-US" sz="2000" dirty="0" err="1">
                <a:latin typeface="Times New Roman" panose="02020603050405020304" pitchFamily="18" charset="0"/>
              </a:rPr>
              <a:t>get</a:t>
            </a:r>
            <a:r>
              <a:rPr lang="pt-PT" altLang="en-US" sz="2000" dirty="0">
                <a:latin typeface="Times New Roman" panose="02020603050405020304" pitchFamily="18" charset="0"/>
              </a:rPr>
              <a:t>(</a:t>
            </a:r>
            <a:r>
              <a:rPr lang="pt-PT" altLang="en-US" sz="2000" dirty="0" err="1">
                <a:latin typeface="Times New Roman" panose="02020603050405020304" pitchFamily="18" charset="0"/>
              </a:rPr>
              <a:t>Object</a:t>
            </a:r>
            <a:r>
              <a:rPr lang="pt-PT" altLang="en-US" sz="2000" dirty="0">
                <a:latin typeface="Times New Roman" panose="02020603050405020304" pitchFamily="18" charset="0"/>
              </a:rPr>
              <a:t> </a:t>
            </a:r>
            <a:r>
              <a:rPr lang="pt-PT" altLang="en-US" sz="2000" dirty="0" err="1">
                <a:latin typeface="Times New Roman" panose="02020603050405020304" pitchFamily="18" charset="0"/>
              </a:rPr>
              <a:t>key</a:t>
            </a:r>
            <a:r>
              <a:rPr lang="pt-PT" altLang="en-US" sz="2000" dirty="0">
                <a:latin typeface="Times New Roman" panose="02020603050405020304" pitchFamily="18" charset="0"/>
              </a:rPr>
              <a:t>)</a:t>
            </a:r>
            <a:r>
              <a:rPr lang="pt-PT" altLang="en-US" sz="2000" dirty="0"/>
              <a:t>  devolve o valor associado à chave dada como parâmetro, ou </a:t>
            </a:r>
            <a:r>
              <a:rPr lang="pt-PT" altLang="en-US" sz="2000" dirty="0" err="1">
                <a:latin typeface="Times New Roman" panose="02020603050405020304" pitchFamily="18" charset="0"/>
              </a:rPr>
              <a:t>null</a:t>
            </a:r>
            <a:r>
              <a:rPr lang="pt-PT" altLang="en-US" sz="2000" dirty="0"/>
              <a:t> se a chave não existir.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4">
            <a:extLst>
              <a:ext uri="{FF2B5EF4-FFF2-40B4-BE49-F238E27FC236}">
                <a16:creationId xmlns:a16="http://schemas.microsoft.com/office/drawing/2014/main" id="{33B3CDB3-E029-409F-B7F6-BD4880FE3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9219" name="Slide Number Placeholder 5">
            <a:extLst>
              <a:ext uri="{FF2B5EF4-FFF2-40B4-BE49-F238E27FC236}">
                <a16:creationId xmlns:a16="http://schemas.microsoft.com/office/drawing/2014/main" id="{442D6D1F-7989-4AA4-BCB3-D3793B8E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DE426E0-5450-48CA-8A71-87D997F8A635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pt-PT" altLang="en-US" sz="1400"/>
          </a:p>
        </p:txBody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A66D3D08-19FA-4668-8925-5788D45A79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850900"/>
          </a:xfrm>
        </p:spPr>
        <p:txBody>
          <a:bodyPr/>
          <a:lstStyle/>
          <a:p>
            <a:pPr eaLnBrk="1" hangingPunct="1"/>
            <a:r>
              <a:rPr lang="pt-PT" altLang="en-US"/>
              <a:t>HashMap&lt;K,V&gt;  (cont)</a:t>
            </a:r>
          </a:p>
        </p:txBody>
      </p:sp>
      <p:sp>
        <p:nvSpPr>
          <p:cNvPr id="9221" name="Rectangle 3">
            <a:extLst>
              <a:ext uri="{FF2B5EF4-FFF2-40B4-BE49-F238E27FC236}">
                <a16:creationId xmlns:a16="http://schemas.microsoft.com/office/drawing/2014/main" id="{C7745AD8-F203-4FE8-B71E-FE52C2B895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54737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PT" altLang="en-US" sz="2400" dirty="0"/>
              <a:t>O método </a:t>
            </a:r>
            <a:r>
              <a:rPr lang="pt-PT" altLang="en-US" sz="2400" dirty="0" err="1">
                <a:latin typeface="Times New Roman" panose="02020603050405020304" pitchFamily="18" charset="0"/>
              </a:rPr>
              <a:t>containsKey</a:t>
            </a:r>
            <a:r>
              <a:rPr lang="pt-PT" altLang="en-US" sz="2400" dirty="0">
                <a:latin typeface="Times New Roman" panose="02020603050405020304" pitchFamily="18" charset="0"/>
              </a:rPr>
              <a:t>(</a:t>
            </a:r>
            <a:r>
              <a:rPr lang="pt-PT" altLang="en-US" sz="2400" dirty="0" err="1">
                <a:latin typeface="Times New Roman" panose="02020603050405020304" pitchFamily="18" charset="0"/>
              </a:rPr>
              <a:t>Object</a:t>
            </a:r>
            <a:r>
              <a:rPr lang="pt-PT" altLang="en-US" sz="2400" dirty="0">
                <a:latin typeface="Times New Roman" panose="02020603050405020304" pitchFamily="18" charset="0"/>
              </a:rPr>
              <a:t> k)</a:t>
            </a:r>
            <a:r>
              <a:rPr lang="pt-PT" altLang="en-US" sz="2400" dirty="0"/>
              <a:t> devolve </a:t>
            </a:r>
            <a:r>
              <a:rPr lang="pt-PT" altLang="en-US" sz="2400" dirty="0" err="1">
                <a:latin typeface="Times New Roman" panose="02020603050405020304" pitchFamily="18" charset="0"/>
              </a:rPr>
              <a:t>true</a:t>
            </a:r>
            <a:r>
              <a:rPr lang="pt-PT" altLang="en-US" sz="2400" dirty="0"/>
              <a:t> se o </a:t>
            </a:r>
            <a:r>
              <a:rPr lang="pt-PT" altLang="en-US" sz="2400" dirty="0" err="1"/>
              <a:t>map</a:t>
            </a:r>
            <a:r>
              <a:rPr lang="pt-PT" altLang="en-US" sz="2400" dirty="0"/>
              <a:t> </a:t>
            </a:r>
            <a:r>
              <a:rPr lang="pt-PT" altLang="en-US" sz="2400" dirty="0" err="1"/>
              <a:t>receptor</a:t>
            </a:r>
            <a:r>
              <a:rPr lang="pt-PT" altLang="en-US" sz="2400" dirty="0"/>
              <a:t> tem o </a:t>
            </a:r>
            <a:r>
              <a:rPr lang="pt-PT" altLang="en-US" sz="2400" dirty="0" err="1"/>
              <a:t>objecto</a:t>
            </a:r>
            <a:r>
              <a:rPr lang="pt-PT" altLang="en-US" sz="2400" dirty="0"/>
              <a:t> </a:t>
            </a:r>
            <a:r>
              <a:rPr lang="pt-PT" altLang="en-US" sz="2400" dirty="0">
                <a:latin typeface="Times New Roman" panose="02020603050405020304" pitchFamily="18" charset="0"/>
              </a:rPr>
              <a:t>k</a:t>
            </a:r>
            <a:r>
              <a:rPr lang="pt-PT" altLang="en-US" sz="2400" dirty="0"/>
              <a:t> como chave e se tal chave esta associada a algum valor.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400" dirty="0"/>
              <a:t>O método </a:t>
            </a:r>
            <a:r>
              <a:rPr lang="pt-PT" altLang="en-US" sz="2400" dirty="0" err="1">
                <a:latin typeface="Times New Roman" panose="02020603050405020304" pitchFamily="18" charset="0"/>
              </a:rPr>
              <a:t>containsValue</a:t>
            </a:r>
            <a:r>
              <a:rPr lang="pt-PT" altLang="en-US" sz="2400" dirty="0">
                <a:latin typeface="Times New Roman" panose="02020603050405020304" pitchFamily="18" charset="0"/>
              </a:rPr>
              <a:t>(</a:t>
            </a:r>
            <a:r>
              <a:rPr lang="pt-PT" altLang="en-US" sz="2400" dirty="0" err="1">
                <a:latin typeface="Times New Roman" panose="02020603050405020304" pitchFamily="18" charset="0"/>
              </a:rPr>
              <a:t>Object</a:t>
            </a:r>
            <a:r>
              <a:rPr lang="pt-PT" altLang="en-US" sz="2400" dirty="0">
                <a:latin typeface="Times New Roman" panose="02020603050405020304" pitchFamily="18" charset="0"/>
              </a:rPr>
              <a:t> v)</a:t>
            </a:r>
            <a:r>
              <a:rPr lang="pt-PT" altLang="en-US" sz="2400" dirty="0"/>
              <a:t> devolve o valor </a:t>
            </a:r>
            <a:r>
              <a:rPr lang="pt-PT" altLang="en-US" sz="2400" dirty="0" err="1">
                <a:latin typeface="Times New Roman" panose="02020603050405020304" pitchFamily="18" charset="0"/>
              </a:rPr>
              <a:t>true</a:t>
            </a:r>
            <a:r>
              <a:rPr lang="pt-PT" altLang="en-US" sz="2400" dirty="0"/>
              <a:t> se esse valor esta associado a alguma chave.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400" dirty="0"/>
              <a:t>Temos disponíveis os seguintes </a:t>
            </a:r>
            <a:r>
              <a:rPr lang="pt-PT" altLang="en-US" sz="2400" i="1" dirty="0" err="1"/>
              <a:t>iteradores</a:t>
            </a:r>
            <a:r>
              <a:rPr lang="pt-PT" altLang="en-US" sz="2400" dirty="0"/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pt-PT" altLang="en-US" sz="2400" dirty="0"/>
              <a:t> </a:t>
            </a:r>
            <a:r>
              <a:rPr lang="pt-PT" altLang="en-US" sz="2000" dirty="0" err="1">
                <a:latin typeface="Times New Roman" panose="02020603050405020304" pitchFamily="18" charset="0"/>
              </a:rPr>
              <a:t>keySet</a:t>
            </a:r>
            <a:r>
              <a:rPr lang="pt-PT" altLang="en-US" sz="2000" dirty="0">
                <a:latin typeface="Times New Roman" panose="02020603050405020304" pitchFamily="18" charset="0"/>
              </a:rPr>
              <a:t>()</a:t>
            </a:r>
            <a:r>
              <a:rPr lang="pt-PT" altLang="en-US" sz="2000" dirty="0"/>
              <a:t> que devolve uma “visão” sob a forma ou tipo de um </a:t>
            </a:r>
            <a:r>
              <a:rPr lang="pt-PT" altLang="en-US" sz="2000" dirty="0">
                <a:latin typeface="Times New Roman" panose="02020603050405020304" pitchFamily="18" charset="0"/>
              </a:rPr>
              <a:t>Set&lt;K&gt;</a:t>
            </a:r>
            <a:r>
              <a:rPr lang="pt-PT" altLang="en-US" sz="2000" dirty="0"/>
              <a:t> das chaves do </a:t>
            </a:r>
            <a:r>
              <a:rPr lang="pt-PT" altLang="en-US" sz="2000" dirty="0" err="1"/>
              <a:t>map</a:t>
            </a:r>
            <a:r>
              <a:rPr lang="pt-PT" altLang="en-US" sz="2000" dirty="0"/>
              <a:t> </a:t>
            </a:r>
            <a:r>
              <a:rPr lang="pt-PT" altLang="en-US" sz="2000" dirty="0" err="1"/>
              <a:t>receptor</a:t>
            </a:r>
            <a:r>
              <a:rPr lang="pt-PT" altLang="en-US" sz="2000" dirty="0"/>
              <a:t>, permitindo que, através de um </a:t>
            </a:r>
            <a:r>
              <a:rPr lang="pt-PT" altLang="en-US" sz="2000" dirty="0" err="1">
                <a:latin typeface="Times New Roman" panose="02020603050405020304" pitchFamily="18" charset="0"/>
              </a:rPr>
              <a:t>foreach</a:t>
            </a:r>
            <a:r>
              <a:rPr lang="pt-PT" altLang="en-US" sz="2000" dirty="0"/>
              <a:t> estas possam ser de imediato iteradas(enumeradas);</a:t>
            </a:r>
          </a:p>
          <a:p>
            <a:pPr lvl="1" eaLnBrk="1" hangingPunct="1">
              <a:lnSpc>
                <a:spcPct val="90000"/>
              </a:lnSpc>
            </a:pPr>
            <a:r>
              <a:rPr lang="pt-PT" altLang="en-US" sz="2000" dirty="0"/>
              <a:t> o método </a:t>
            </a:r>
            <a:r>
              <a:rPr lang="pt-PT" altLang="en-US" sz="2000" dirty="0" err="1">
                <a:latin typeface="Times New Roman" panose="02020603050405020304" pitchFamily="18" charset="0"/>
              </a:rPr>
              <a:t>values</a:t>
            </a:r>
            <a:r>
              <a:rPr lang="pt-PT" altLang="en-US" sz="2000" dirty="0">
                <a:latin typeface="Times New Roman" panose="02020603050405020304" pitchFamily="18" charset="0"/>
              </a:rPr>
              <a:t>()</a:t>
            </a:r>
            <a:r>
              <a:rPr lang="pt-PT" altLang="en-US" sz="2000" dirty="0"/>
              <a:t> devolve uma “visão” </a:t>
            </a:r>
            <a:r>
              <a:rPr lang="pt-PT" altLang="en-US" sz="2000" dirty="0" err="1">
                <a:latin typeface="Times New Roman" panose="02020603050405020304" pitchFamily="18" charset="0"/>
              </a:rPr>
              <a:t>Collection</a:t>
            </a:r>
            <a:r>
              <a:rPr lang="pt-PT" altLang="en-US" sz="2000" dirty="0">
                <a:latin typeface="Times New Roman" panose="02020603050405020304" pitchFamily="18" charset="0"/>
              </a:rPr>
              <a:t>&lt;V&gt;</a:t>
            </a:r>
            <a:r>
              <a:rPr lang="pt-PT" altLang="en-US" sz="2000" dirty="0"/>
              <a:t> sobre os valores (pois estes podem estar em duplicado), que também pode ser iterada de imediato.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pt-PT" altLang="en-US" sz="2000" dirty="0"/>
          </a:p>
          <a:p>
            <a:pPr eaLnBrk="1" hangingPunct="1">
              <a:lnSpc>
                <a:spcPct val="90000"/>
              </a:lnSpc>
            </a:pPr>
            <a:r>
              <a:rPr lang="pt-PT" altLang="en-US" sz="2400" dirty="0"/>
              <a:t>O método </a:t>
            </a:r>
            <a:r>
              <a:rPr lang="pt-PT" altLang="en-US" sz="2400" dirty="0">
                <a:latin typeface="Times New Roman" panose="02020603050405020304" pitchFamily="18" charset="0"/>
              </a:rPr>
              <a:t>remove(</a:t>
            </a:r>
            <a:r>
              <a:rPr lang="pt-PT" altLang="en-US" sz="2400" dirty="0" err="1">
                <a:latin typeface="Times New Roman" panose="02020603050405020304" pitchFamily="18" charset="0"/>
              </a:rPr>
              <a:t>Object</a:t>
            </a:r>
            <a:r>
              <a:rPr lang="pt-PT" altLang="en-US" sz="2400" dirty="0">
                <a:latin typeface="Times New Roman" panose="02020603050405020304" pitchFamily="18" charset="0"/>
              </a:rPr>
              <a:t> k)</a:t>
            </a:r>
            <a:r>
              <a:rPr lang="pt-PT" altLang="en-US" sz="2400" dirty="0"/>
              <a:t> remove a associação que tem </a:t>
            </a:r>
            <a:r>
              <a:rPr lang="pt-PT" altLang="en-US" sz="2400" dirty="0">
                <a:latin typeface="Times New Roman" panose="02020603050405020304" pitchFamily="18" charset="0"/>
              </a:rPr>
              <a:t>k</a:t>
            </a:r>
            <a:r>
              <a:rPr lang="pt-PT" altLang="en-US" sz="2400" dirty="0"/>
              <a:t> por chave deste </a:t>
            </a:r>
            <a:r>
              <a:rPr lang="pt-PT" altLang="en-US" sz="2400" dirty="0" err="1"/>
              <a:t>map</a:t>
            </a:r>
            <a:r>
              <a:rPr lang="pt-PT" altLang="en-US" sz="2400" dirty="0"/>
              <a:t>, devolvendo o valor associado a </a:t>
            </a:r>
            <a:r>
              <a:rPr lang="pt-PT" altLang="en-US" sz="2400" dirty="0">
                <a:latin typeface="Times New Roman" panose="02020603050405020304" pitchFamily="18" charset="0"/>
              </a:rPr>
              <a:t>k</a:t>
            </a:r>
            <a:r>
              <a:rPr lang="pt-PT" altLang="en-US" sz="2400" dirty="0"/>
              <a:t>, caso </a:t>
            </a:r>
            <a:r>
              <a:rPr lang="pt-PT" altLang="en-US" sz="2400" dirty="0">
                <a:latin typeface="Times New Roman" panose="02020603050405020304" pitchFamily="18" charset="0"/>
              </a:rPr>
              <a:t>k</a:t>
            </a:r>
            <a:r>
              <a:rPr lang="pt-PT" altLang="en-US" sz="2400" dirty="0"/>
              <a:t> exista, ou </a:t>
            </a:r>
            <a:r>
              <a:rPr lang="pt-PT" altLang="en-US" sz="2400" dirty="0" err="1">
                <a:latin typeface="Times New Roman" panose="02020603050405020304" pitchFamily="18" charset="0"/>
              </a:rPr>
              <a:t>null</a:t>
            </a:r>
            <a:r>
              <a:rPr lang="pt-PT" altLang="en-US" sz="2400" dirty="0"/>
              <a:t>, no caso contrário.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4">
            <a:extLst>
              <a:ext uri="{FF2B5EF4-FFF2-40B4-BE49-F238E27FC236}">
                <a16:creationId xmlns:a16="http://schemas.microsoft.com/office/drawing/2014/main" id="{C94FC38B-6401-4A18-A151-6614BB5EE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0243" name="Slide Number Placeholder 5">
            <a:extLst>
              <a:ext uri="{FF2B5EF4-FFF2-40B4-BE49-F238E27FC236}">
                <a16:creationId xmlns:a16="http://schemas.microsoft.com/office/drawing/2014/main" id="{5D4E78D1-97A9-4706-8AEB-C5788ABF9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44D3FB9-9487-44D1-B8B1-0A801C77A68E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pt-PT" altLang="en-US" sz="1400"/>
          </a:p>
        </p:txBody>
      </p:sp>
      <p:sp>
        <p:nvSpPr>
          <p:cNvPr id="10244" name="Rectangle 2">
            <a:extLst>
              <a:ext uri="{FF2B5EF4-FFF2-40B4-BE49-F238E27FC236}">
                <a16:creationId xmlns:a16="http://schemas.microsoft.com/office/drawing/2014/main" id="{A8AD5B71-3FCF-4B97-AB7F-58EF59DBF0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en-US"/>
              <a:t>Funções de </a:t>
            </a:r>
            <a:r>
              <a:rPr lang="pt-PT" altLang="en-US" i="1"/>
              <a:t>hash</a:t>
            </a:r>
            <a:r>
              <a:rPr lang="pt-PT" altLang="en-US"/>
              <a:t> via </a:t>
            </a:r>
            <a:r>
              <a:rPr lang="pt-PT" altLang="en-US">
                <a:latin typeface="Times New Roman" panose="02020603050405020304" pitchFamily="18" charset="0"/>
              </a:rPr>
              <a:t>hashCode()</a:t>
            </a:r>
          </a:p>
        </p:txBody>
      </p:sp>
      <p:sp>
        <p:nvSpPr>
          <p:cNvPr id="10245" name="Rectangle 3">
            <a:extLst>
              <a:ext uri="{FF2B5EF4-FFF2-40B4-BE49-F238E27FC236}">
                <a16:creationId xmlns:a16="http://schemas.microsoft.com/office/drawing/2014/main" id="{5C364F60-C50F-404F-BE18-71172A2AE9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12875"/>
            <a:ext cx="8229600" cy="506888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PT" altLang="en-US" sz="2400"/>
              <a:t>O método </a:t>
            </a:r>
            <a:r>
              <a:rPr lang="pt-PT" altLang="en-US" sz="2400">
                <a:latin typeface="Times New Roman" panose="02020603050405020304" pitchFamily="18" charset="0"/>
              </a:rPr>
              <a:t>hashCode()</a:t>
            </a:r>
            <a:r>
              <a:rPr lang="pt-PT" altLang="en-US" sz="2400"/>
              <a:t> é herdade do Object e deve ser redefinido nas classes das nossas chaves.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000"/>
              <a:t>Propriedade de unicidade dos códigos: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PT" altLang="en-US" sz="2000"/>
              <a:t>             Se x.equals(y) == true então x.hashCode() == y.hashCode()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400"/>
              <a:t>Exemplo de hashCode() da classe String:</a:t>
            </a:r>
          </a:p>
          <a:p>
            <a:pPr eaLnBrk="1" hangingPunct="1">
              <a:lnSpc>
                <a:spcPct val="90000"/>
              </a:lnSpc>
            </a:pPr>
            <a:endParaRPr lang="pt-PT" altLang="en-US" sz="2400"/>
          </a:p>
          <a:p>
            <a:pPr lvl="1" eaLnBrk="1" hangingPunct="1">
              <a:lnSpc>
                <a:spcPct val="90000"/>
              </a:lnSpc>
            </a:pPr>
            <a:r>
              <a:rPr lang="pt-PT" altLang="en-US" sz="2400"/>
              <a:t>s[0]*31^(n-1) + s[1]*31^(n-2) + ... + s[n-1]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pt-PT" altLang="en-US" sz="2400"/>
          </a:p>
          <a:p>
            <a:pPr eaLnBrk="1" hangingPunct="1">
              <a:lnSpc>
                <a:spcPct val="90000"/>
              </a:lnSpc>
            </a:pPr>
            <a:r>
              <a:rPr lang="pt-PT" altLang="en-US" sz="2400"/>
              <a:t>Onde s[i] é o caracter da posição </a:t>
            </a:r>
            <a:r>
              <a:rPr lang="pt-PT" altLang="en-US" sz="2400" i="1"/>
              <a:t>i</a:t>
            </a:r>
            <a:r>
              <a:rPr lang="pt-PT" altLang="en-US" sz="2400"/>
              <a:t> na String, n é o tamanho da String, e ^  indica exponenciação. (O valor da função de hash para uma String vazia é zero.) </a:t>
            </a:r>
          </a:p>
          <a:p>
            <a:pPr eaLnBrk="1" hangingPunct="1">
              <a:lnSpc>
                <a:spcPct val="90000"/>
              </a:lnSpc>
            </a:pPr>
            <a:endParaRPr lang="pt-PT" altLang="en-US" sz="2400"/>
          </a:p>
          <a:p>
            <a:pPr eaLnBrk="1" hangingPunct="1">
              <a:lnSpc>
                <a:spcPct val="90000"/>
              </a:lnSpc>
            </a:pPr>
            <a:r>
              <a:rPr lang="pt-PT" altLang="en-US" sz="2400"/>
              <a:t>O valor retornado é o endereço da chave.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4">
            <a:extLst>
              <a:ext uri="{FF2B5EF4-FFF2-40B4-BE49-F238E27FC236}">
                <a16:creationId xmlns:a16="http://schemas.microsoft.com/office/drawing/2014/main" id="{20316888-A676-45E2-A843-72602EC72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1267" name="Slide Number Placeholder 5">
            <a:extLst>
              <a:ext uri="{FF2B5EF4-FFF2-40B4-BE49-F238E27FC236}">
                <a16:creationId xmlns:a16="http://schemas.microsoft.com/office/drawing/2014/main" id="{1127C7E6-E480-40A6-B6B5-361933D2B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82F9054-2BD5-40A8-82E6-12525C048AB9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pt-PT" altLang="en-US" sz="1400"/>
          </a:p>
        </p:txBody>
      </p:sp>
      <p:sp>
        <p:nvSpPr>
          <p:cNvPr id="11268" name="Rectangle 2">
            <a:extLst>
              <a:ext uri="{FF2B5EF4-FFF2-40B4-BE49-F238E27FC236}">
                <a16:creationId xmlns:a16="http://schemas.microsoft.com/office/drawing/2014/main" id="{FCF33521-7B64-4558-AF66-308A1AE66C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706437"/>
          </a:xfrm>
        </p:spPr>
        <p:txBody>
          <a:bodyPr/>
          <a:lstStyle/>
          <a:p>
            <a:pPr eaLnBrk="1" hangingPunct="1"/>
            <a:r>
              <a:rPr lang="pt-PT" altLang="en-US" sz="4000">
                <a:latin typeface="Times New Roman" panose="02020603050405020304" pitchFamily="18" charset="0"/>
              </a:rPr>
              <a:t>hashCode() </a:t>
            </a:r>
            <a:r>
              <a:rPr lang="pt-PT" altLang="en-US" sz="4000"/>
              <a:t>de</a:t>
            </a:r>
            <a:r>
              <a:rPr lang="pt-PT" altLang="en-US" sz="4000">
                <a:latin typeface="Times New Roman" panose="02020603050405020304" pitchFamily="18" charset="0"/>
              </a:rPr>
              <a:t> Integer, Double</a:t>
            </a:r>
            <a:r>
              <a:rPr lang="pt-PT" altLang="en-US" sz="4000"/>
              <a:t>, etc</a:t>
            </a:r>
          </a:p>
        </p:txBody>
      </p:sp>
      <p:sp>
        <p:nvSpPr>
          <p:cNvPr id="11269" name="Rectangle 3">
            <a:extLst>
              <a:ext uri="{FF2B5EF4-FFF2-40B4-BE49-F238E27FC236}">
                <a16:creationId xmlns:a16="http://schemas.microsoft.com/office/drawing/2014/main" id="{47C35FE7-700B-4B2C-8918-F92A23D412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881063"/>
            <a:ext cx="8229600" cy="5716587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pt-PT" altLang="en-US" sz="2400"/>
              <a:t>Exemplo de hashCode() da classe:</a:t>
            </a:r>
          </a:p>
          <a:p>
            <a:pPr lvl="1" eaLnBrk="1" hangingPunct="1">
              <a:lnSpc>
                <a:spcPct val="80000"/>
              </a:lnSpc>
            </a:pPr>
            <a:r>
              <a:rPr lang="pt-PT" altLang="en-US" sz="1800"/>
              <a:t> </a:t>
            </a:r>
            <a:r>
              <a:rPr lang="pt-PT" altLang="en-US" sz="2000"/>
              <a:t>Integer: valor inteiro correspondente.</a:t>
            </a:r>
          </a:p>
          <a:p>
            <a:pPr lvl="1" eaLnBrk="1" hangingPunct="1">
              <a:lnSpc>
                <a:spcPct val="80000"/>
              </a:lnSpc>
            </a:pPr>
            <a:r>
              <a:rPr lang="pt-PT" altLang="en-US" sz="2000"/>
              <a:t> Double: (int) (v ^ (v &gt;&gt;&gt;32))  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pt-PT" altLang="en-US" sz="2000"/>
              <a:t>	 sendo v = Double.doubleToLongBits(this.doubleValue());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pt-PT" altLang="en-US" sz="2000"/>
          </a:p>
          <a:p>
            <a:pPr eaLnBrk="1" hangingPunct="1">
              <a:lnSpc>
                <a:spcPct val="80000"/>
              </a:lnSpc>
            </a:pPr>
            <a:r>
              <a:rPr lang="pt-PT" altLang="en-US" sz="2400"/>
              <a:t>Modificação de chaves: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pt-PT" altLang="en-US" sz="2400"/>
          </a:p>
          <a:p>
            <a:pPr lvl="1" eaLnBrk="1" hangingPunct="1">
              <a:lnSpc>
                <a:spcPct val="80000"/>
              </a:lnSpc>
            </a:pPr>
            <a:r>
              <a:rPr lang="pt-PT" altLang="en-US" sz="2000"/>
              <a:t>Não se deve alterar valores de chaves mantendo-as na sua localização original, pois esta localização pode não corresponder à localização que lhes seria atribuída pela função de </a:t>
            </a:r>
            <a:r>
              <a:rPr lang="pt-PT" altLang="en-US" sz="2000" i="1"/>
              <a:t>hash</a:t>
            </a:r>
            <a:r>
              <a:rPr lang="pt-PT" altLang="en-US" sz="2000"/>
              <a:t>. A solução correcta será, nestes casos, obter a chave, fazer o seu </a:t>
            </a:r>
            <a:r>
              <a:rPr lang="pt-PT" altLang="en-US" sz="2000">
                <a:latin typeface="Times New Roman" panose="02020603050405020304" pitchFamily="18" charset="0"/>
              </a:rPr>
              <a:t>clone()</a:t>
            </a:r>
            <a:r>
              <a:rPr lang="pt-PT" altLang="en-US" sz="2000"/>
              <a:t>, fazer </a:t>
            </a:r>
            <a:r>
              <a:rPr lang="pt-PT" altLang="en-US" sz="2000">
                <a:latin typeface="Times New Roman" panose="02020603050405020304" pitchFamily="18" charset="0"/>
              </a:rPr>
              <a:t>get()</a:t>
            </a:r>
            <a:r>
              <a:rPr lang="pt-PT" altLang="en-US" sz="2000"/>
              <a:t> do respectivo valor, alterar de seguida a cópia da chave, remover a chave antiga e inserir a nova associação, tal como se mostra no código seguinte:</a:t>
            </a:r>
          </a:p>
          <a:p>
            <a:pPr lvl="1" eaLnBrk="1" hangingPunct="1">
              <a:lnSpc>
                <a:spcPct val="80000"/>
              </a:lnSpc>
            </a:pPr>
            <a:endParaRPr lang="pt-PT" altLang="en-US" sz="2000"/>
          </a:p>
          <a:p>
            <a:pPr lvl="3" eaLnBrk="1" hangingPunct="1">
              <a:lnSpc>
                <a:spcPct val="80000"/>
              </a:lnSpc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Ponto ponto = pontoChave.clone(); // copia a chave</a:t>
            </a:r>
          </a:p>
          <a:p>
            <a:pPr lvl="3" eaLnBrk="1" hangingPunct="1">
              <a:lnSpc>
                <a:spcPct val="80000"/>
              </a:lnSpc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Integer val = planoEsp.get(ponto); // busca valor</a:t>
            </a:r>
          </a:p>
          <a:p>
            <a:pPr lvl="3" eaLnBrk="1" hangingPunct="1">
              <a:lnSpc>
                <a:spcPct val="80000"/>
              </a:lnSpc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ponto.desloca(x, y); // altera chave</a:t>
            </a:r>
          </a:p>
          <a:p>
            <a:pPr lvl="3" eaLnBrk="1" hangingPunct="1">
              <a:lnSpc>
                <a:spcPct val="80000"/>
              </a:lnSpc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planoEsp.remove(pontoChave); // remove antiga</a:t>
            </a:r>
          </a:p>
          <a:p>
            <a:pPr lvl="3" eaLnBrk="1" hangingPunct="1">
              <a:lnSpc>
                <a:spcPct val="80000"/>
              </a:lnSpc>
              <a:buFontTx/>
              <a:buNone/>
            </a:pPr>
            <a:r>
              <a:rPr lang="pt-PT" altLang="en-US" sz="1800">
                <a:latin typeface="Times New Roman" panose="02020603050405020304" pitchFamily="18" charset="0"/>
              </a:rPr>
              <a:t>planoEsp.put(ponto, val); // insere novo par</a:t>
            </a:r>
          </a:p>
        </p:txBody>
      </p:sp>
      <p:sp>
        <p:nvSpPr>
          <p:cNvPr id="11270" name="AutoShape 4">
            <a:extLst>
              <a:ext uri="{FF2B5EF4-FFF2-40B4-BE49-F238E27FC236}">
                <a16:creationId xmlns:a16="http://schemas.microsoft.com/office/drawing/2014/main" id="{8690AC8A-E9C2-4E08-A3A8-1332E1F1D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836613"/>
            <a:ext cx="2520950" cy="792162"/>
          </a:xfrm>
          <a:prstGeom prst="wedgeRectCallout">
            <a:avLst>
              <a:gd name="adj1" fmla="val -86588"/>
              <a:gd name="adj2" fmla="val -2114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PT" altLang="en-US" sz="1200"/>
              <a:t>Conclusão: Devemos usar chaves que são objectos de classes com hashCode() bem definidos ou composição destes objectos.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4">
            <a:extLst>
              <a:ext uri="{FF2B5EF4-FFF2-40B4-BE49-F238E27FC236}">
                <a16:creationId xmlns:a16="http://schemas.microsoft.com/office/drawing/2014/main" id="{9EDF4468-FA51-4A84-B9F2-46B4E6558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2291" name="Slide Number Placeholder 5">
            <a:extLst>
              <a:ext uri="{FF2B5EF4-FFF2-40B4-BE49-F238E27FC236}">
                <a16:creationId xmlns:a16="http://schemas.microsoft.com/office/drawing/2014/main" id="{0F9A3376-0211-4DDC-9712-DA4DC8877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646F943-9328-417D-A531-B059D2A90F3B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pt-PT" altLang="en-US" sz="1400"/>
          </a:p>
        </p:txBody>
      </p:sp>
      <p:sp>
        <p:nvSpPr>
          <p:cNvPr id="12292" name="Rectangle 2">
            <a:extLst>
              <a:ext uri="{FF2B5EF4-FFF2-40B4-BE49-F238E27FC236}">
                <a16:creationId xmlns:a16="http://schemas.microsoft.com/office/drawing/2014/main" id="{96770677-F234-4886-A421-2D8EBB0640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538" y="419100"/>
            <a:ext cx="4102100" cy="777875"/>
          </a:xfrm>
        </p:spPr>
        <p:txBody>
          <a:bodyPr/>
          <a:lstStyle/>
          <a:p>
            <a:pPr eaLnBrk="1" hangingPunct="1"/>
            <a:r>
              <a:rPr lang="pt-PT" altLang="en-US">
                <a:latin typeface="Times New Roman" panose="02020603050405020304" pitchFamily="18" charset="0"/>
              </a:rPr>
              <a:t>TreeMap&lt;K,V&gt;</a:t>
            </a:r>
          </a:p>
        </p:txBody>
      </p:sp>
      <p:sp>
        <p:nvSpPr>
          <p:cNvPr id="12293" name="Rectangle 3">
            <a:extLst>
              <a:ext uri="{FF2B5EF4-FFF2-40B4-BE49-F238E27FC236}">
                <a16:creationId xmlns:a16="http://schemas.microsoft.com/office/drawing/2014/main" id="{9954BB21-E94A-460C-8CBB-C8F3479705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2852738"/>
            <a:ext cx="8229600" cy="3844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PT" altLang="en-US" sz="2400"/>
              <a:t>A classe </a:t>
            </a:r>
            <a:r>
              <a:rPr lang="pt-PT" altLang="en-US" sz="2400">
                <a:latin typeface="Times New Roman" panose="02020603050405020304" pitchFamily="18" charset="0"/>
              </a:rPr>
              <a:t>TreeMap&lt;K,V&gt;</a:t>
            </a:r>
            <a:r>
              <a:rPr lang="pt-PT" altLang="en-US" sz="2400"/>
              <a:t> é usada exactamente da mesma forma que um </a:t>
            </a:r>
            <a:r>
              <a:rPr lang="pt-PT" altLang="en-US" sz="2400" i="1"/>
              <a:t>hashmap</a:t>
            </a:r>
            <a:r>
              <a:rPr lang="pt-PT" altLang="en-US" sz="2400"/>
              <a:t> mas possui a vantagem de manter os pares chave</a:t>
            </a:r>
            <a:r>
              <a:rPr lang="pt-PT" altLang="en-US" sz="2400">
                <a:sym typeface="Wingdings" panose="05000000000000000000" pitchFamily="2" charset="2"/>
              </a:rPr>
              <a:t></a:t>
            </a:r>
            <a:r>
              <a:rPr lang="pt-PT" altLang="en-US" sz="2400"/>
              <a:t>valor guardados pela ordem crescente das suas chaves, ordem essa predefinida ou não em função do tipo das chaves.</a:t>
            </a:r>
          </a:p>
          <a:p>
            <a:pPr eaLnBrk="1" hangingPunct="1">
              <a:lnSpc>
                <a:spcPct val="90000"/>
              </a:lnSpc>
            </a:pPr>
            <a:r>
              <a:rPr lang="pt-PT" altLang="en-US" sz="2400"/>
              <a:t>As chaves de tipos mais comuns, como </a:t>
            </a:r>
            <a:r>
              <a:rPr lang="pt-PT" altLang="en-US" sz="2400">
                <a:latin typeface="Times New Roman" panose="02020603050405020304" pitchFamily="18" charset="0"/>
              </a:rPr>
              <a:t>String</a:t>
            </a:r>
            <a:r>
              <a:rPr lang="pt-PT" altLang="en-US" sz="2400"/>
              <a:t> e </a:t>
            </a:r>
            <a:r>
              <a:rPr lang="pt-PT" altLang="en-US" sz="2400">
                <a:latin typeface="Times New Roman" panose="02020603050405020304" pitchFamily="18" charset="0"/>
              </a:rPr>
              <a:t>Integer</a:t>
            </a:r>
            <a:r>
              <a:rPr lang="pt-PT" altLang="en-US" sz="2400"/>
              <a:t>, são ordenadas segundo a sua “ordem natural”. Para outros tipos mais complexos, em especial classes definidas pelo utilizador, este deverá fornecer o método de comparação de chaves como parâmetro do construtor </a:t>
            </a:r>
            <a:r>
              <a:rPr lang="pt-PT" altLang="en-US" sz="2400">
                <a:latin typeface="Times New Roman" panose="02020603050405020304" pitchFamily="18" charset="0"/>
              </a:rPr>
              <a:t>TreeMap&lt;K,V&gt;(Comparator&lt;? super K&gt; c)</a:t>
            </a:r>
            <a:r>
              <a:rPr lang="pt-PT" altLang="en-US" sz="2400"/>
              <a:t>.</a:t>
            </a:r>
          </a:p>
        </p:txBody>
      </p:sp>
      <p:pic>
        <p:nvPicPr>
          <p:cNvPr id="12294" name="Picture 4">
            <a:extLst>
              <a:ext uri="{FF2B5EF4-FFF2-40B4-BE49-F238E27FC236}">
                <a16:creationId xmlns:a16="http://schemas.microsoft.com/office/drawing/2014/main" id="{DDCF8196-152A-44BA-BCA2-BD4A73070B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5913" y="485775"/>
            <a:ext cx="4983162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4">
            <a:extLst>
              <a:ext uri="{FF2B5EF4-FFF2-40B4-BE49-F238E27FC236}">
                <a16:creationId xmlns:a16="http://schemas.microsoft.com/office/drawing/2014/main" id="{C3372A7F-25ED-45E0-AA6B-EB527A6FF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3315" name="Slide Number Placeholder 5">
            <a:extLst>
              <a:ext uri="{FF2B5EF4-FFF2-40B4-BE49-F238E27FC236}">
                <a16:creationId xmlns:a16="http://schemas.microsoft.com/office/drawing/2014/main" id="{01A2CA50-7F5E-4303-81B9-DC3A31CF5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6C883CD-FD52-4290-BB07-3BD3DFB4BEDD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pt-PT" altLang="en-US" sz="1400"/>
          </a:p>
        </p:txBody>
      </p:sp>
      <p:sp>
        <p:nvSpPr>
          <p:cNvPr id="13316" name="Rectangle 2">
            <a:extLst>
              <a:ext uri="{FF2B5EF4-FFF2-40B4-BE49-F238E27FC236}">
                <a16:creationId xmlns:a16="http://schemas.microsoft.com/office/drawing/2014/main" id="{B706A59D-0CA4-48F9-A08A-8EB3A046B5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850900"/>
          </a:xfrm>
        </p:spPr>
        <p:txBody>
          <a:bodyPr/>
          <a:lstStyle/>
          <a:p>
            <a:pPr eaLnBrk="1" hangingPunct="1"/>
            <a:r>
              <a:rPr lang="pt-PT" altLang="en-US"/>
              <a:t>Uso do interface </a:t>
            </a:r>
            <a:r>
              <a:rPr lang="pt-PT" altLang="en-US">
                <a:latin typeface="Times New Roman" panose="02020603050405020304" pitchFamily="18" charset="0"/>
              </a:rPr>
              <a:t>Comparator&lt;K&gt;</a:t>
            </a:r>
          </a:p>
        </p:txBody>
      </p:sp>
      <p:sp>
        <p:nvSpPr>
          <p:cNvPr id="13317" name="Rectangle 3">
            <a:extLst>
              <a:ext uri="{FF2B5EF4-FFF2-40B4-BE49-F238E27FC236}">
                <a16:creationId xmlns:a16="http://schemas.microsoft.com/office/drawing/2014/main" id="{74163CB5-D313-4537-A80B-F08FEA16DB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54006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PT" altLang="en-US" sz="2400"/>
              <a:t>Exemplo de um ponto que implementa </a:t>
            </a:r>
            <a:r>
              <a:rPr lang="pt-PT" altLang="en-US" sz="2400">
                <a:latin typeface="Times New Roman" panose="02020603050405020304" pitchFamily="18" charset="0"/>
              </a:rPr>
              <a:t>Comparator&lt;K&gt;</a:t>
            </a:r>
            <a:r>
              <a:rPr lang="pt-PT" altLang="en-US" sz="2400"/>
              <a:t>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import java.util.Comparator;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import java.io.Serializable;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public class PontoComp implements Comparator&lt;Ponto&gt;, Serializable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{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public int compare(Ponto p1, Ponto p2)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   {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	if( p1.getX() &lt; p2.getX() ) return -1;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	if( p1.getX() &gt; p2.getX() ) return 1;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	if( p1.getY() &lt; p2.getY() ) return -1;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	else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	    if(p1.getY() &gt; p2.getY()) return 1;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		   else return 0;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   }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pt-PT" altLang="en-US" sz="200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13318" name="AutoShape 5">
            <a:extLst>
              <a:ext uri="{FF2B5EF4-FFF2-40B4-BE49-F238E27FC236}">
                <a16:creationId xmlns:a16="http://schemas.microsoft.com/office/drawing/2014/main" id="{EA348C6F-FDE4-4AEF-8015-5670359BF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3141663"/>
            <a:ext cx="3924300" cy="1366837"/>
          </a:xfrm>
          <a:prstGeom prst="wedgeRectCallout">
            <a:avLst>
              <a:gd name="adj1" fmla="val -31815"/>
              <a:gd name="adj2" fmla="val -9703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800"/>
              <a:t>Criação de um TreeMap de PontoComp usando Comparator</a:t>
            </a:r>
            <a:r>
              <a:rPr lang="pt-PT" altLang="en-US" sz="1200"/>
              <a:t>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400">
                <a:latin typeface="Times New Roman" panose="02020603050405020304" pitchFamily="18" charset="0"/>
              </a:rPr>
              <a:t>TreeMap&lt;Ponto, Integer&gt; planoEsp =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PT" altLang="en-US" sz="1400">
                <a:latin typeface="Times New Roman" panose="02020603050405020304" pitchFamily="18" charset="0"/>
              </a:rPr>
              <a:t>new TreeMap&lt;Ponto, Integer&gt;(new PontoComp());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B09C010B-8C7E-40B2-B96B-22C16F5FC6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7563" y="115888"/>
            <a:ext cx="7283450" cy="1301750"/>
          </a:xfrm>
        </p:spPr>
        <p:txBody>
          <a:bodyPr/>
          <a:lstStyle/>
          <a:p>
            <a:pPr algn="l"/>
            <a:r>
              <a:rPr lang="pt-PT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Comparator&lt;K&gt;</a:t>
            </a:r>
            <a:r>
              <a:rPr lang="pt-PT" altLang="en-US"/>
              <a:t> via </a:t>
            </a:r>
            <a:br>
              <a:rPr lang="pt-PT" altLang="en-US"/>
            </a:br>
            <a:r>
              <a:rPr lang="pt-PT" altLang="en-US"/>
              <a:t>construções funcionais (1.8)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537E1-1B9E-4A2D-8CE7-6D504A60F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525963"/>
          </a:xfrm>
        </p:spPr>
        <p:txBody>
          <a:bodyPr/>
          <a:lstStyle/>
          <a:p>
            <a:pPr>
              <a:defRPr/>
            </a:pPr>
            <a:r>
              <a:rPr lang="pt-PT" sz="2800" dirty="0"/>
              <a:t>Como visto anteriormente podemos definir no parâmetro de </a:t>
            </a:r>
            <a:r>
              <a:rPr lang="pt-P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TreeMap</a:t>
            </a:r>
            <a:r>
              <a:rPr lang="pt-PT" sz="2800" dirty="0"/>
              <a:t> a definição da função lambda que expressa a ordem. </a:t>
            </a:r>
            <a:r>
              <a:rPr lang="pt-PT" sz="2800" dirty="0" err="1"/>
              <a:t>e.g</a:t>
            </a:r>
            <a:r>
              <a:rPr lang="pt-PT" sz="2800" dirty="0"/>
              <a:t>:</a:t>
            </a:r>
            <a:r>
              <a:rPr lang="pt-PT" dirty="0"/>
              <a:t> </a:t>
            </a:r>
            <a:r>
              <a:rPr lang="pt-PT" sz="2000" dirty="0"/>
              <a:t>(assumir que em Ponto existe um método (</a:t>
            </a:r>
            <a:r>
              <a:rPr lang="pt-P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getDistOrigem</a:t>
            </a: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pt-PT" sz="2000" dirty="0"/>
              <a:t>) que calcula a distância desse ponto à origem!)</a:t>
            </a:r>
          </a:p>
          <a:p>
            <a:pPr>
              <a:defRPr/>
            </a:pPr>
            <a:endParaRPr lang="pt-PT" dirty="0"/>
          </a:p>
          <a:p>
            <a:pPr marL="0" indent="0">
              <a:buFontTx/>
              <a:buNone/>
              <a:defRPr/>
            </a:pP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PT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TreeMap</a:t>
            </a:r>
            <a:r>
              <a:rPr lang="pt-PT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pt-PT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Ponto,Integer</a:t>
            </a:r>
            <a:r>
              <a:rPr lang="pt-PT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lista = </a:t>
            </a:r>
          </a:p>
          <a:p>
            <a:pPr marL="0" indent="0">
              <a:buFontTx/>
              <a:buNone/>
              <a:defRPr/>
            </a:pPr>
            <a:r>
              <a:rPr lang="pt-PT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	</a:t>
            </a:r>
            <a:r>
              <a:rPr lang="pt-PT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pt-PT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TreeMap</a:t>
            </a:r>
            <a:r>
              <a:rPr lang="pt-PT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pt-PT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Ponto,Integer</a:t>
            </a:r>
            <a:r>
              <a:rPr lang="pt-PT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&gt;( (p1,p2)  -&gt;</a:t>
            </a:r>
          </a:p>
          <a:p>
            <a:pPr marL="0" indent="0">
              <a:buFontTx/>
              <a:buNone/>
              <a:defRPr/>
            </a:pPr>
            <a:r>
              <a:rPr lang="pt-PT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	p1.getDistOrigem() – p2.getDistOrigem() );</a:t>
            </a:r>
          </a:p>
        </p:txBody>
      </p:sp>
      <p:sp>
        <p:nvSpPr>
          <p:cNvPr id="14340" name="Footer Placeholder 3">
            <a:extLst>
              <a:ext uri="{FF2B5EF4-FFF2-40B4-BE49-F238E27FC236}">
                <a16:creationId xmlns:a16="http://schemas.microsoft.com/office/drawing/2014/main" id="{FA5AFBCC-E638-4BB4-A52F-2FE476FAE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4341" name="Slide Number Placeholder 4">
            <a:extLst>
              <a:ext uri="{FF2B5EF4-FFF2-40B4-BE49-F238E27FC236}">
                <a16:creationId xmlns:a16="http://schemas.microsoft.com/office/drawing/2014/main" id="{9FD80677-13DD-42DC-BE59-C62C4CCA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810BF0E-9F8A-4D58-BE27-4568AA94A317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pt-PT" altLang="en-US" sz="1400"/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45DD5062-79EB-4ECA-9C9F-BA5F31A7C515}"/>
              </a:ext>
            </a:extLst>
          </p:cNvPr>
          <p:cNvSpPr/>
          <p:nvPr/>
        </p:nvSpPr>
        <p:spPr>
          <a:xfrm>
            <a:off x="7308304" y="3573016"/>
            <a:ext cx="1484859" cy="648072"/>
          </a:xfrm>
          <a:prstGeom prst="wedgeRoundRectCallout">
            <a:avLst>
              <a:gd name="adj1" fmla="val -99459"/>
              <a:gd name="adj2" fmla="val 14816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função tem de devolver um inteiro!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03F582-E31D-44E1-A7D4-2F932B713BB6}"/>
              </a:ext>
            </a:extLst>
          </p:cNvPr>
          <p:cNvSpPr txBox="1"/>
          <p:nvPr/>
        </p:nvSpPr>
        <p:spPr>
          <a:xfrm>
            <a:off x="2195736" y="6032321"/>
            <a:ext cx="39036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esta expressão pode ter de ser convertida para inteiro!</a:t>
            </a: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C9960C15-23A7-46AE-B156-D60CFE1FCFE1}"/>
              </a:ext>
            </a:extLst>
          </p:cNvPr>
          <p:cNvSpPr/>
          <p:nvPr/>
        </p:nvSpPr>
        <p:spPr>
          <a:xfrm rot="16200000">
            <a:off x="3892093" y="3559931"/>
            <a:ext cx="548976" cy="451775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4">
            <a:extLst>
              <a:ext uri="{FF2B5EF4-FFF2-40B4-BE49-F238E27FC236}">
                <a16:creationId xmlns:a16="http://schemas.microsoft.com/office/drawing/2014/main" id="{B357272C-B13D-4318-9AE0-2FE094E9B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PT" altLang="en-US" sz="1400"/>
              <a:t>Programação Orientada aos Objetos</a:t>
            </a:r>
          </a:p>
        </p:txBody>
      </p:sp>
      <p:sp>
        <p:nvSpPr>
          <p:cNvPr id="15363" name="Slide Number Placeholder 5">
            <a:extLst>
              <a:ext uri="{FF2B5EF4-FFF2-40B4-BE49-F238E27FC236}">
                <a16:creationId xmlns:a16="http://schemas.microsoft.com/office/drawing/2014/main" id="{C9CA6986-7716-4971-8FDF-C746D1577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2F4F7FF-6C91-4F3B-B91F-8F58AA96EE0A}" type="slidenum">
              <a:rPr lang="pt-PT" altLang="en-US" sz="140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pt-PT" altLang="en-US" sz="1400"/>
          </a:p>
        </p:txBody>
      </p:sp>
      <p:sp>
        <p:nvSpPr>
          <p:cNvPr id="15364" name="Rectangle 2">
            <a:extLst>
              <a:ext uri="{FF2B5EF4-FFF2-40B4-BE49-F238E27FC236}">
                <a16:creationId xmlns:a16="http://schemas.microsoft.com/office/drawing/2014/main" id="{621542C2-8F38-4566-A330-95087D4B76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5413"/>
            <a:ext cx="8229600" cy="566737"/>
          </a:xfrm>
        </p:spPr>
        <p:txBody>
          <a:bodyPr/>
          <a:lstStyle/>
          <a:p>
            <a:pPr eaLnBrk="1" hangingPunct="1"/>
            <a:r>
              <a:rPr lang="pt-PT" altLang="en-US" sz="4000"/>
              <a:t>Exercícios</a:t>
            </a:r>
          </a:p>
        </p:txBody>
      </p:sp>
      <p:sp>
        <p:nvSpPr>
          <p:cNvPr id="15365" name="Rectangle 3">
            <a:extLst>
              <a:ext uri="{FF2B5EF4-FFF2-40B4-BE49-F238E27FC236}">
                <a16:creationId xmlns:a16="http://schemas.microsoft.com/office/drawing/2014/main" id="{60C9AB54-67BE-4FAF-A9A9-0EC9199429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836613"/>
            <a:ext cx="8229600" cy="59499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pt-PT" altLang="en-US" sz="2000"/>
              <a:t>Alterar a classe GereEstufas por forma a guardar as estufas na forma de um map (correspondência código </a:t>
            </a:r>
            <a:r>
              <a:rPr lang="pt-PT" altLang="en-US" sz="2000">
                <a:sym typeface="Wingdings" panose="05000000000000000000" pitchFamily="2" charset="2"/>
              </a:rPr>
              <a:t> info de Estufa).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pt-PT" altLang="en-US" sz="2000">
              <a:sym typeface="Wingdings" panose="05000000000000000000" pitchFamily="2" charset="2"/>
            </a:endParaRPr>
          </a:p>
          <a:p>
            <a:pPr eaLnBrk="1" hangingPunct="1">
              <a:lnSpc>
                <a:spcPct val="80000"/>
              </a:lnSpc>
            </a:pPr>
            <a:r>
              <a:rPr lang="pt-PT" altLang="en-US" sz="2000">
                <a:sym typeface="Wingdings" panose="05000000000000000000" pitchFamily="2" charset="2"/>
              </a:rPr>
              <a:t>Cada e-mail recebido numa dada conta de mail é guardado contendo o endereço de quem o enviou, a data de envio, a data de recepção, o assunto e o texto do mail (não se consideram anexos, etc.). Crie uma classe MailMap que associe a cada endereço de envio todos os mails recebidos (cf. classe Mail) e implemente as seguintes operações: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pt-PT" altLang="en-US" sz="2000">
              <a:sym typeface="Wingdings" panose="05000000000000000000" pitchFamily="2" charset="2"/>
            </a:endParaRPr>
          </a:p>
          <a:p>
            <a:pPr lvl="1" eaLnBrk="1" hangingPunct="1">
              <a:lnSpc>
                <a:spcPct val="80000"/>
              </a:lnSpc>
            </a:pPr>
            <a:r>
              <a:rPr lang="pt-PT" altLang="en-US" sz="1600">
                <a:sym typeface="Wingdings" panose="05000000000000000000" pitchFamily="2" charset="2"/>
              </a:rPr>
              <a:t>Determinar o total de endereços a partir dos quais se recebeu mail;</a:t>
            </a:r>
          </a:p>
          <a:p>
            <a:pPr lvl="1" eaLnBrk="1" hangingPunct="1">
              <a:lnSpc>
                <a:spcPct val="80000"/>
              </a:lnSpc>
            </a:pPr>
            <a:r>
              <a:rPr lang="pt-PT" altLang="en-US" sz="1600">
                <a:sym typeface="Wingdings" panose="05000000000000000000" pitchFamily="2" charset="2"/>
              </a:rPr>
              <a:t>Guardar um novo mail recebido;</a:t>
            </a:r>
          </a:p>
          <a:p>
            <a:pPr lvl="1" eaLnBrk="1" hangingPunct="1">
              <a:lnSpc>
                <a:spcPct val="80000"/>
              </a:lnSpc>
            </a:pPr>
            <a:r>
              <a:rPr lang="pt-PT" altLang="en-US" sz="1600">
                <a:sym typeface="Wingdings" panose="05000000000000000000" pitchFamily="2" charset="2"/>
              </a:rPr>
              <a:t>Determinar quantos mails têm por origem um dado endereço;</a:t>
            </a:r>
          </a:p>
          <a:p>
            <a:pPr lvl="1" eaLnBrk="1" hangingPunct="1">
              <a:lnSpc>
                <a:spcPct val="80000"/>
              </a:lnSpc>
            </a:pPr>
            <a:r>
              <a:rPr lang="pt-PT" altLang="en-US" sz="1600">
                <a:sym typeface="Wingdings" panose="05000000000000000000" pitchFamily="2" charset="2"/>
              </a:rPr>
              <a:t>Criar uma lista com todos os endereços que enviaram mails contendo no seu assunto uma lista de palavras dada como parâmetro;</a:t>
            </a:r>
          </a:p>
          <a:p>
            <a:pPr lvl="1" eaLnBrk="1" hangingPunct="1">
              <a:lnSpc>
                <a:spcPct val="80000"/>
              </a:lnSpc>
            </a:pPr>
            <a:r>
              <a:rPr lang="pt-PT" altLang="en-US" sz="1600">
                <a:sym typeface="Wingdings" panose="05000000000000000000" pitchFamily="2" charset="2"/>
              </a:rPr>
              <a:t>O mesmo que a questão anterior, mas criando um conjunto contendo os mails;</a:t>
            </a:r>
          </a:p>
          <a:p>
            <a:pPr lvl="1" eaLnBrk="1" hangingPunct="1">
              <a:lnSpc>
                <a:spcPct val="80000"/>
              </a:lnSpc>
            </a:pPr>
            <a:r>
              <a:rPr lang="pt-PT" altLang="en-US" sz="1600">
                <a:sym typeface="Wingdings" panose="05000000000000000000" pitchFamily="2" charset="2"/>
              </a:rPr>
              <a:t>Eliminar todos os e-mails recebidos antes de uma data que é dada como parâmetro;</a:t>
            </a:r>
          </a:p>
          <a:p>
            <a:pPr lvl="1" eaLnBrk="1" hangingPunct="1">
              <a:lnSpc>
                <a:spcPct val="80000"/>
              </a:lnSpc>
            </a:pPr>
            <a:r>
              <a:rPr lang="pt-PT" altLang="en-US" sz="1600">
                <a:sym typeface="Wingdings" panose="05000000000000000000" pitchFamily="2" charset="2"/>
              </a:rPr>
              <a:t>Criar uma lista dos endereços que hoje enviaram mails;</a:t>
            </a:r>
          </a:p>
          <a:p>
            <a:pPr lvl="1" eaLnBrk="1" hangingPunct="1">
              <a:lnSpc>
                <a:spcPct val="80000"/>
              </a:lnSpc>
            </a:pPr>
            <a:r>
              <a:rPr lang="pt-PT" altLang="en-US" sz="1600">
                <a:sym typeface="Wingdings" panose="05000000000000000000" pitchFamily="2" charset="2"/>
              </a:rPr>
              <a:t>Dada uma lista de palavras, eliminar todos os mails de um dado endereço que no seu assunto contenham uma qualquer destas (anti-spam);</a:t>
            </a:r>
          </a:p>
          <a:p>
            <a:pPr lvl="1" eaLnBrk="1" hangingPunct="1">
              <a:lnSpc>
                <a:spcPct val="80000"/>
              </a:lnSpc>
            </a:pPr>
            <a:r>
              <a:rPr lang="pt-PT" altLang="en-US" sz="1600">
                <a:sym typeface="Wingdings" panose="05000000000000000000" pitchFamily="2" charset="2"/>
              </a:rPr>
              <a:t>Eliminar todos os mails de um dado endereço anteriores a uma data dada;</a:t>
            </a:r>
          </a:p>
          <a:p>
            <a:pPr lvl="1" eaLnBrk="1" hangingPunct="1">
              <a:lnSpc>
                <a:spcPct val="80000"/>
              </a:lnSpc>
            </a:pPr>
            <a:r>
              <a:rPr lang="pt-PT" altLang="en-US" sz="1600">
                <a:sym typeface="Wingdings" panose="05000000000000000000" pitchFamily="2" charset="2"/>
              </a:rPr>
              <a:t>Criar uma listagem com todos os endereços de mail oriundos de Portugal;</a:t>
            </a:r>
            <a:endParaRPr lang="pt-PT" altLang="en-US" sz="16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22016</TotalTime>
  <Words>2816</Words>
  <Application>Microsoft Office PowerPoint</Application>
  <PresentationFormat>Apresentação no Ecrã (4:3)</PresentationFormat>
  <Paragraphs>322</Paragraphs>
  <Slides>20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20</vt:i4>
      </vt:variant>
    </vt:vector>
  </HeadingPairs>
  <TitlesOfParts>
    <vt:vector size="25" baseType="lpstr">
      <vt:lpstr>Arial</vt:lpstr>
      <vt:lpstr>Cambria Math</vt:lpstr>
      <vt:lpstr>Times New Roman</vt:lpstr>
      <vt:lpstr>Wingdings</vt:lpstr>
      <vt:lpstr>Default Design</vt:lpstr>
      <vt:lpstr>Programação Orientada aos Objetos (Licenciatura em Engenharia de Telecomunicações &amp; Informática)  2º Ano, 1º Semestre</vt:lpstr>
      <vt:lpstr>Maps</vt:lpstr>
      <vt:lpstr>Maps</vt:lpstr>
      <vt:lpstr>Maps  (2)</vt:lpstr>
      <vt:lpstr>Hashing</vt:lpstr>
      <vt:lpstr>Hashing</vt:lpstr>
      <vt:lpstr>Tabelas de Hash</vt:lpstr>
      <vt:lpstr>Hashing em JAVA</vt:lpstr>
      <vt:lpstr>Apresentação do PowerPoint</vt:lpstr>
      <vt:lpstr>Apresentação do PowerPoint</vt:lpstr>
      <vt:lpstr>Probing</vt:lpstr>
      <vt:lpstr>Classes map do Java1.8</vt:lpstr>
      <vt:lpstr>HashMap&lt;K,V&gt;</vt:lpstr>
      <vt:lpstr>HashMap&lt;K,V&gt;  (cont)</vt:lpstr>
      <vt:lpstr>Funções de hash via hashCode()</vt:lpstr>
      <vt:lpstr>hashCode() de Integer, Double, etc</vt:lpstr>
      <vt:lpstr>TreeMap&lt;K,V&gt;</vt:lpstr>
      <vt:lpstr>Uso do interface Comparator&lt;K&gt;</vt:lpstr>
      <vt:lpstr>Comparator&lt;K&gt; via  construções funcionais (1.8)</vt:lpstr>
      <vt:lpstr>Exercícios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Métodos de Programação II (Mestrado Integrado em Engenharia de Comunicações)</dc:title>
  <dc:creator>pja</dc:creator>
  <cp:lastModifiedBy>Luís Pedro Cerqueira Baptista</cp:lastModifiedBy>
  <cp:revision>1320</cp:revision>
  <dcterms:created xsi:type="dcterms:W3CDTF">2008-02-28T16:13:14Z</dcterms:created>
  <dcterms:modified xsi:type="dcterms:W3CDTF">2025-07-19T21:26:25Z</dcterms:modified>
</cp:coreProperties>
</file>