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4" r:id="rId4"/>
    <p:sldId id="275" r:id="rId5"/>
    <p:sldId id="276" r:id="rId6"/>
    <p:sldId id="277" r:id="rId7"/>
    <p:sldId id="281" r:id="rId8"/>
    <p:sldId id="278" r:id="rId9"/>
    <p:sldId id="279" r:id="rId10"/>
    <p:sldId id="280" r:id="rId11"/>
    <p:sldId id="273" r:id="rId12"/>
    <p:sldId id="282" r:id="rId13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72" autoAdjust="0"/>
    <p:restoredTop sz="94627" autoAdjust="0"/>
  </p:normalViewPr>
  <p:slideViewPr>
    <p:cSldViewPr>
      <p:cViewPr varScale="1">
        <p:scale>
          <a:sx n="84" d="100"/>
          <a:sy n="84" d="100"/>
        </p:scale>
        <p:origin x="15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BF8D94B-3DF8-41F0-9E15-1B73DCF7BB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F3E6745-C758-44AA-95AD-91E04556B7D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BA75AFA-1726-435F-922A-A7EDB10634B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FD0268F-9C46-42BA-9993-B2077CCF251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01767FDD-55C5-46C3-B20D-25ED3A55DB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10A671E-C106-4223-9C20-91A2FDE867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961E7EE-B323-4C5D-8E12-EF9958EA8997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PT"/>
              <a:t>Faça clique para editar o estilo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EC15DB-ADEF-4B6F-8501-953436B5D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A2C9FF-AC75-46EE-B374-8D9984799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9EFA71-0161-402B-88F4-0C2777F64C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1D354-8E8A-4791-9CAE-D32A96A56F3A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884037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9C820C-9D70-4C9C-9C55-6029756287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2AD852-269F-4904-AA22-9F3D980903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59533E-AA8E-4287-8C86-5ABC1BE1B3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31921-4B84-4C70-AD40-F6EECE037552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563972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9D1F4C-E517-4DED-A5C9-ABFC50F954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6B5DCF-4F43-42C6-ADC9-17C632A1E8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34FAEE-7A35-41EC-A39B-C4CD1AEEC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D8A61-1D85-4958-A2A8-F4EF049DE354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48974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A5B242-DF54-450C-BE49-9870E0084D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3816BB-F7AF-4182-BE23-D71E07A6B8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D45901-833D-444A-8714-AC89FDB97B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0492B8-BB47-4F7E-B640-532678CBE1E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69529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CA42B6F-E8C0-478C-B5CA-D4D87C5795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B4D200C-DE18-443B-BBB5-8C97AD3A94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F3A4799-86E3-4D71-866F-0BEC0B770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876C1-9308-46E7-B4AE-1182D50F64E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0953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144A37E-AF53-40A7-B677-C1A341D2D8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E0A27D7-A78E-45A4-8E47-B3355B0660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DD30850-2DA6-49D1-9D41-7A7A43F39D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3D89B-B4B3-4CDD-B802-FEF45A89B869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242554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965F563-8FC0-4C5C-ABB7-3A642CDC26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F6667F0-0EB8-440F-B29D-4E131C8B51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09E02E-281A-490E-9F4E-1EC89B918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47F86-6AA7-40FC-8377-F3DF547CF764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59679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FC0B10-31F8-479D-81E7-DECA81203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4D31E-D3F4-41FC-AFFA-F3BF18874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CBD003-3E37-4D1D-B69C-DC80D3CAB2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D0BF0-BEB7-41B4-B8BB-8D079C2BF681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355655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7FA5B-6FA5-4AE2-BCCF-A06C74352E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9B29B-7684-46A4-B207-F1395403E7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A030A-A5A5-4B41-88B3-BB3C4B2115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7D721-32A0-490C-9445-7B37DB0C2F8B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91189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DCE746-3240-476C-88CA-1670F69CCC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3B16EB-E20B-4C32-B768-56ACD2BF2E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4FC496-9E4D-407A-8B48-42657A6F1B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B4A7A-F174-46BE-94A1-3491C927A674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631524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2F1BF0-EEBA-43A5-A69C-5F4FFE8BD7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1C2A48-D768-4344-A5D5-A8780923B0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5182F5-E058-45AF-ADAF-45D66A0821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A6028-91D1-481B-9673-B92A8C733397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73864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140A63-6CA2-4369-939B-00699E5DB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3F151C2-51D9-45F6-965F-1CC6EA815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text styles</a:t>
            </a:r>
          </a:p>
          <a:p>
            <a:pPr lvl="1"/>
            <a:r>
              <a:rPr lang="pt-PT" altLang="en-US"/>
              <a:t>Second level</a:t>
            </a:r>
          </a:p>
          <a:p>
            <a:pPr lvl="2"/>
            <a:r>
              <a:rPr lang="pt-PT" altLang="en-US"/>
              <a:t>Third level</a:t>
            </a:r>
          </a:p>
          <a:p>
            <a:pPr lvl="3"/>
            <a:r>
              <a:rPr lang="pt-PT" altLang="en-US"/>
              <a:t>Fourth level</a:t>
            </a:r>
          </a:p>
          <a:p>
            <a:pPr lvl="4"/>
            <a:r>
              <a:rPr lang="pt-PT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B6E9B9-368C-4893-BF84-D8F3F6982A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15E3C0D-121D-48EA-B1EF-47B9346D7B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78600"/>
            <a:ext cx="42481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BF89ECD-71B9-4CDF-9B09-89B086AAD8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597650"/>
            <a:ext cx="2133600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DF7E00D-6531-40B2-9B9E-C15A1C8D494F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Posição do Rodapé 4">
            <a:extLst>
              <a:ext uri="{FF2B5EF4-FFF2-40B4-BE49-F238E27FC236}">
                <a16:creationId xmlns:a16="http://schemas.microsoft.com/office/drawing/2014/main" id="{E116989E-3744-45FF-9A6E-9D022CBB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5" name="Marcador de Posição do Número do Diapositivo 5">
            <a:extLst>
              <a:ext uri="{FF2B5EF4-FFF2-40B4-BE49-F238E27FC236}">
                <a16:creationId xmlns:a16="http://schemas.microsoft.com/office/drawing/2014/main" id="{FAF94192-87FD-436A-9AA2-2B3A2C02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07A54E-E7C1-466E-9AD0-5544FDFC1EB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en-US" sz="1400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76D944B9-4DD3-4945-8ED9-6FE71DCB64C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341438"/>
            <a:ext cx="7772400" cy="1470025"/>
          </a:xfrm>
        </p:spPr>
        <p:txBody>
          <a:bodyPr/>
          <a:lstStyle/>
          <a:p>
            <a:pPr eaLnBrk="1" hangingPunct="1"/>
            <a:r>
              <a:rPr lang="pt-PT" altLang="en-US" sz="3600"/>
              <a:t>Programação Orientada aos Objetos</a:t>
            </a:r>
            <a:br>
              <a:rPr lang="pt-PT" altLang="en-US" sz="4000"/>
            </a:br>
            <a:r>
              <a:rPr lang="pt-PT" altLang="en-US" sz="2000"/>
              <a:t>(Licenciatura em Engenharia de Telecomunicações &amp; Informática) </a:t>
            </a:r>
            <a:br>
              <a:rPr lang="pt-PT" altLang="en-US" sz="2000"/>
            </a:br>
            <a:r>
              <a:rPr lang="pt-PT" altLang="en-US" sz="2000"/>
              <a:t>2º Ano, 1º Semestre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6C5BDA56-273C-4A4D-896C-8A03CCC9AC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982663"/>
          </a:xfrm>
        </p:spPr>
        <p:txBody>
          <a:bodyPr/>
          <a:lstStyle/>
          <a:p>
            <a:pPr eaLnBrk="1" hangingPunct="1"/>
            <a:r>
              <a:rPr lang="pt-PT" altLang="en-US" sz="2800"/>
              <a:t>Elementos de Classe, class wrappers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Posição do Rodapé 4">
            <a:extLst>
              <a:ext uri="{FF2B5EF4-FFF2-40B4-BE49-F238E27FC236}">
                <a16:creationId xmlns:a16="http://schemas.microsoft.com/office/drawing/2014/main" id="{6C688987-F0FE-48C3-B9DC-0B9408AD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4099" name="Marcador de Posição do Número do Diapositivo 5">
            <a:extLst>
              <a:ext uri="{FF2B5EF4-FFF2-40B4-BE49-F238E27FC236}">
                <a16:creationId xmlns:a16="http://schemas.microsoft.com/office/drawing/2014/main" id="{A0AE7494-6628-43A9-B536-A2A22663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17D80F-1B67-4D03-AEEC-FE058B2D212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en-US" sz="14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11EEB1E1-C82F-4178-9226-D7653C37F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Classes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BA46F5A3-DB3E-4095-9577-69F4F0D3B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125538"/>
            <a:ext cx="4968875" cy="49672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000" i="1"/>
              <a:t>Classes</a:t>
            </a:r>
            <a:r>
              <a:rPr lang="pt-PT" altLang="en-US" sz="2000"/>
              <a:t>: podem ser vistas como objectos especiais. Isto é, podemos enviar mensagens às classes e fazer uso das suas variáveis (de classe).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Estas facilidades fornecem um mecanismo de </a:t>
            </a:r>
            <a:r>
              <a:rPr lang="pt-PT" altLang="en-US" sz="2000" i="1"/>
              <a:t>broadcasting, </a:t>
            </a:r>
            <a:r>
              <a:rPr lang="pt-PT" altLang="en-US" sz="2000"/>
              <a:t>comunicação com todas as instâncias da classe.</a:t>
            </a:r>
            <a:r>
              <a:rPr lang="pt-PT" altLang="en-US" sz="2000" i="1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Na definição de classe aparece agora espaço para a definição de variáveis e métodos de classe.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Todas as instâncias têm acesso à estrutura privada da classe.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As variáveis e métodos de classe existem sempre, mesmo quando não existem instâncias dessa classe!</a:t>
            </a:r>
          </a:p>
        </p:txBody>
      </p:sp>
      <p:pic>
        <p:nvPicPr>
          <p:cNvPr id="4102" name="Picture 5">
            <a:extLst>
              <a:ext uri="{FF2B5EF4-FFF2-40B4-BE49-F238E27FC236}">
                <a16:creationId xmlns:a16="http://schemas.microsoft.com/office/drawing/2014/main" id="{6B67C3A7-7214-4DB2-9E8B-241D8EBAA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1773238"/>
            <a:ext cx="2598738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Posição do Rodapé 4">
            <a:extLst>
              <a:ext uri="{FF2B5EF4-FFF2-40B4-BE49-F238E27FC236}">
                <a16:creationId xmlns:a16="http://schemas.microsoft.com/office/drawing/2014/main" id="{C81820F8-EB6C-4B09-AC26-7F204B6F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5123" name="Marcador de Posição do Número do Diapositivo 5">
            <a:extLst>
              <a:ext uri="{FF2B5EF4-FFF2-40B4-BE49-F238E27FC236}">
                <a16:creationId xmlns:a16="http://schemas.microsoft.com/office/drawing/2014/main" id="{A6FAA0A7-2552-4787-BE13-7507A75E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C4C704-621C-4A77-B832-EE49E7487C0B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en-US" sz="14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C6F01DB6-FFEE-4F8D-8415-40F59B5CA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Classes como Objectos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0758465A-8461-458A-9DE1-2CAF0E5F7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/>
              <a:t>Variáveis de classe: visíveis a todas as instâncias da classe,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/>
              <a:t>Métodos de classe: são activados por mensagens enviadas </a:t>
            </a:r>
            <a:r>
              <a:rPr lang="pt-PT" altLang="en-US" u="sng"/>
              <a:t>à classe</a:t>
            </a:r>
            <a:r>
              <a:rPr lang="pt-PT" altLang="en-US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/>
              <a:t>Podemos manter os mesmos princípios de encapsulamento: há métodos de classe para aceder às variáveis de classe.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/>
              <a:t>A keyword </a:t>
            </a:r>
            <a:r>
              <a:rPr lang="pt-PT" altLang="en-US" b="1">
                <a:latin typeface="Times New Roman" panose="02020603050405020304" pitchFamily="18" charset="0"/>
              </a:rPr>
              <a:t>static</a:t>
            </a:r>
            <a:r>
              <a:rPr lang="pt-PT" altLang="en-US"/>
              <a:t> é usada para declarar os elementos particulares da classe.</a:t>
            </a:r>
            <a:endParaRPr lang="pt-PT" altLang="en-US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Posição do Rodapé 4">
            <a:extLst>
              <a:ext uri="{FF2B5EF4-FFF2-40B4-BE49-F238E27FC236}">
                <a16:creationId xmlns:a16="http://schemas.microsoft.com/office/drawing/2014/main" id="{9D4FCE28-FDE4-4F2B-B866-7739DC05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6147" name="Marcador de Posição do Número do Diapositivo 5">
            <a:extLst>
              <a:ext uri="{FF2B5EF4-FFF2-40B4-BE49-F238E27FC236}">
                <a16:creationId xmlns:a16="http://schemas.microsoft.com/office/drawing/2014/main" id="{7F3633D7-A332-4861-BCE7-D52BE878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E7A058-90E9-408A-8947-6A7B443C885A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en-US" sz="14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52ED911D-00E2-42F0-989B-3C2352551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Variáveis de classe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09721A9E-AB71-4B0E-B0C3-D4262F647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Constantes específicas de uma classe. Não é razoável ter uma constante repetida em todas as instâncias de uma classe!</a:t>
            </a:r>
          </a:p>
          <a:p>
            <a:pPr eaLnBrk="1" hangingPunct="1"/>
            <a:r>
              <a:rPr lang="pt-PT" altLang="en-US"/>
              <a:t>Exemplo: valor de </a:t>
            </a:r>
            <a:r>
              <a:rPr lang="el-GR" altLang="en-US">
                <a:cs typeface="Arial" panose="020B0604020202020204" pitchFamily="34" charset="0"/>
              </a:rPr>
              <a:t>π</a:t>
            </a:r>
            <a:r>
              <a:rPr lang="pt-PT" altLang="en-US">
                <a:cs typeface="Arial" panose="020B0604020202020204" pitchFamily="34" charset="0"/>
              </a:rPr>
              <a:t> na classe Circulo.</a:t>
            </a:r>
          </a:p>
          <a:p>
            <a:pPr eaLnBrk="1" hangingPunct="1"/>
            <a:endParaRPr lang="pt-PT" altLang="en-US">
              <a:cs typeface="Arial" panose="020B0604020202020204" pitchFamily="34" charset="0"/>
            </a:endParaRPr>
          </a:p>
          <a:p>
            <a:pPr eaLnBrk="1" hangingPunct="1"/>
            <a:r>
              <a:rPr lang="pt-PT" altLang="en-US">
                <a:cs typeface="Arial" panose="020B0604020202020204" pitchFamily="34" charset="0"/>
              </a:rPr>
              <a:t>Exemplo clássico: contador de instâncias criadas para uma determinada classe.</a:t>
            </a:r>
            <a:endParaRPr lang="el-GR" altLang="en-US" b="1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Posição do Rodapé 4">
            <a:extLst>
              <a:ext uri="{FF2B5EF4-FFF2-40B4-BE49-F238E27FC236}">
                <a16:creationId xmlns:a16="http://schemas.microsoft.com/office/drawing/2014/main" id="{1DE68160-2BF6-40A4-A24B-024B9F0B0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7171" name="Marcador de Posição do Número do Diapositivo 5">
            <a:extLst>
              <a:ext uri="{FF2B5EF4-FFF2-40B4-BE49-F238E27FC236}">
                <a16:creationId xmlns:a16="http://schemas.microsoft.com/office/drawing/2014/main" id="{4E724F68-717B-4C09-B9A0-F94E6E6F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44E66A-93E9-44AF-A643-1B778DA1FF12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en-US" sz="14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9660BEED-3A9E-40E4-9643-C32CDA096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Exemplo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992ABD3C-DF64-4C1C-B48A-7DE754F93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56165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public class Circulo</a:t>
            </a: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private </a:t>
            </a:r>
            <a:r>
              <a:rPr lang="pt-PT" altLang="en-US" sz="2000" b="1">
                <a:latin typeface="Times New Roman" panose="02020603050405020304" pitchFamily="18" charset="0"/>
              </a:rPr>
              <a:t>static</a:t>
            </a:r>
            <a:r>
              <a:rPr lang="pt-PT" altLang="en-US" sz="2000">
                <a:latin typeface="Times New Roman" panose="02020603050405020304" pitchFamily="18" charset="0"/>
              </a:rPr>
              <a:t> int num = 0;</a:t>
            </a:r>
          </a:p>
          <a:p>
            <a:pPr eaLnBrk="1" hangingPunct="1"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public </a:t>
            </a:r>
            <a:r>
              <a:rPr lang="pt-PT" altLang="en-US" sz="2000" b="1">
                <a:latin typeface="Times New Roman" panose="02020603050405020304" pitchFamily="18" charset="0"/>
              </a:rPr>
              <a:t>static</a:t>
            </a:r>
            <a:r>
              <a:rPr lang="pt-PT" altLang="en-US" sz="2000">
                <a:latin typeface="Times New Roman" panose="02020603050405020304" pitchFamily="18" charset="0"/>
              </a:rPr>
              <a:t> int getnum()</a:t>
            </a: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{ return num;}</a:t>
            </a:r>
          </a:p>
          <a:p>
            <a:pPr eaLnBrk="1" hangingPunct="1"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//constructor</a:t>
            </a: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Circulo(double x, double y, double r)</a:t>
            </a: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{ this.centro = new Ponto(x,y); this.raio = r; num++;}</a:t>
            </a:r>
          </a:p>
          <a:p>
            <a:pPr eaLnBrk="1" hangingPunct="1"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// usar os métodos de classe enviando uma msg à própria classe.</a:t>
            </a:r>
          </a:p>
          <a:p>
            <a:pPr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System.out.println(“Número de Circulos=“+Circulo.getnum());</a:t>
            </a:r>
          </a:p>
        </p:txBody>
      </p:sp>
      <p:sp>
        <p:nvSpPr>
          <p:cNvPr id="7174" name="AutoShape 4">
            <a:extLst>
              <a:ext uri="{FF2B5EF4-FFF2-40B4-BE49-F238E27FC236}">
                <a16:creationId xmlns:a16="http://schemas.microsoft.com/office/drawing/2014/main" id="{24EEB72A-C35E-405B-95F2-D13959FA8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1268413"/>
            <a:ext cx="1800225" cy="503237"/>
          </a:xfrm>
          <a:prstGeom prst="wedgeRoundRectCallout">
            <a:avLst>
              <a:gd name="adj1" fmla="val -89505"/>
              <a:gd name="adj2" fmla="val 6671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400"/>
              <a:t>Variável contador</a:t>
            </a:r>
          </a:p>
        </p:txBody>
      </p:sp>
      <p:sp>
        <p:nvSpPr>
          <p:cNvPr id="7175" name="AutoShape 5">
            <a:extLst>
              <a:ext uri="{FF2B5EF4-FFF2-40B4-BE49-F238E27FC236}">
                <a16:creationId xmlns:a16="http://schemas.microsoft.com/office/drawing/2014/main" id="{02A99803-CB5E-4A8B-85FE-8D4072157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060575"/>
            <a:ext cx="2016125" cy="504825"/>
          </a:xfrm>
          <a:prstGeom prst="wedgeRoundRectCallout">
            <a:avLst>
              <a:gd name="adj1" fmla="val -73856"/>
              <a:gd name="adj2" fmla="val 6069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400"/>
              <a:t>Método de classe de acesso ao contador</a:t>
            </a:r>
          </a:p>
        </p:txBody>
      </p:sp>
      <p:sp>
        <p:nvSpPr>
          <p:cNvPr id="7176" name="AutoShape 6">
            <a:extLst>
              <a:ext uri="{FF2B5EF4-FFF2-40B4-BE49-F238E27FC236}">
                <a16:creationId xmlns:a16="http://schemas.microsoft.com/office/drawing/2014/main" id="{99602C12-ED85-4457-8B21-F8279B895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924175"/>
            <a:ext cx="2879725" cy="720725"/>
          </a:xfrm>
          <a:prstGeom prst="wedgeRoundRectCallout">
            <a:avLst>
              <a:gd name="adj1" fmla="val -51324"/>
              <a:gd name="adj2" fmla="val 14361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400"/>
              <a:t>Neste constructor incrementa-se o contador sempre que se o invoca!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Posição do Rodapé 4">
            <a:extLst>
              <a:ext uri="{FF2B5EF4-FFF2-40B4-BE49-F238E27FC236}">
                <a16:creationId xmlns:a16="http://schemas.microsoft.com/office/drawing/2014/main" id="{6283AC08-A459-4305-9E50-AFB2CF54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8195" name="Marcador de Posição do Número do Diapositivo 5">
            <a:extLst>
              <a:ext uri="{FF2B5EF4-FFF2-40B4-BE49-F238E27FC236}">
                <a16:creationId xmlns:a16="http://schemas.microsoft.com/office/drawing/2014/main" id="{F3C86170-0EAC-484E-8346-FEA8774A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472C13-CC3B-4137-B78C-069332D29C9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en-US" sz="1400"/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4A385170-AAAD-42AD-BADE-23CAC9972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Outros exemplos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2BE1089E-C1B0-43FD-B2C1-646FA777B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4721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Métodos de classe que funcionam como inicializadores: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public class ex1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static int a[] = new int[100];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static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{	double x;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for(int i=0;i &lt; 100; i++;x+=i)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	a[i] = x;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// Use de outras classes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double a = Math.pow(raio,2);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int x = Integer.MAX_VALUE;  // constante da classe Integer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Marcador de Posição do Rodapé 4">
            <a:extLst>
              <a:ext uri="{FF2B5EF4-FFF2-40B4-BE49-F238E27FC236}">
                <a16:creationId xmlns:a16="http://schemas.microsoft.com/office/drawing/2014/main" id="{46B97F4F-62C5-4579-A467-963AE476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9219" name="Marcador de Posição do Número do Diapositivo 5">
            <a:extLst>
              <a:ext uri="{FF2B5EF4-FFF2-40B4-BE49-F238E27FC236}">
                <a16:creationId xmlns:a16="http://schemas.microsoft.com/office/drawing/2014/main" id="{C3E0E6B3-9077-4B57-9184-D0E2D578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7F4571-296A-4DDC-ADF6-555CA18CB93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PT" altLang="en-US" sz="14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1E3DDFA4-9458-4D39-B818-A9ABA6213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Classes sem instâncias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3799025A-38F6-4727-9BEA-D22308D8A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Class </a:t>
            </a:r>
            <a:r>
              <a:rPr lang="pt-PT" altLang="en-US" b="1">
                <a:latin typeface="Times New Roman" panose="02020603050405020304" pitchFamily="18" charset="0"/>
              </a:rPr>
              <a:t>Arrays</a:t>
            </a:r>
          </a:p>
          <a:p>
            <a:pPr lvl="1" eaLnBrk="1" hangingPunct="1"/>
            <a:r>
              <a:rPr lang="pt-PT" altLang="en-US" sz="2400">
                <a:latin typeface="Times New Roman" panose="02020603050405020304" pitchFamily="18" charset="0"/>
              </a:rPr>
              <a:t>int a[] = {3,6,1,2,0,9,7,8,4};</a:t>
            </a:r>
          </a:p>
          <a:p>
            <a:pPr lvl="1" eaLnBrk="1" hangingPunct="1"/>
            <a:r>
              <a:rPr lang="pt-PT" altLang="en-US" sz="2400">
                <a:latin typeface="Times New Roman" panose="02020603050405020304" pitchFamily="18" charset="0"/>
              </a:rPr>
              <a:t>Arrays.sort(a); Arrays.binarySearch(a,2);</a:t>
            </a:r>
          </a:p>
          <a:p>
            <a:pPr lvl="1" eaLnBrk="1" hangingPunct="1"/>
            <a:endParaRPr lang="pt-PT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pt-PT" altLang="en-US" sz="2800"/>
              <a:t>Class</a:t>
            </a:r>
            <a:r>
              <a:rPr lang="pt-PT" altLang="en-US" sz="2800">
                <a:latin typeface="Times New Roman" panose="02020603050405020304" pitchFamily="18" charset="0"/>
              </a:rPr>
              <a:t> </a:t>
            </a:r>
            <a:r>
              <a:rPr lang="pt-PT" altLang="en-US" sz="2800" b="1">
                <a:latin typeface="Times New Roman" panose="02020603050405020304" pitchFamily="18" charset="0"/>
              </a:rPr>
              <a:t>Math</a:t>
            </a:r>
          </a:p>
          <a:p>
            <a:pPr lvl="1" eaLnBrk="1" hangingPunct="1"/>
            <a:r>
              <a:rPr lang="pt-PT" altLang="en-US" sz="2400">
                <a:latin typeface="Times New Roman" panose="02020603050405020304" pitchFamily="18" charset="0"/>
              </a:rPr>
              <a:t>Double d =Math.sqrt(2.3); d = Math.pow(d,2);</a:t>
            </a:r>
          </a:p>
          <a:p>
            <a:pPr lvl="1" eaLnBrk="1" hangingPunct="1"/>
            <a:r>
              <a:rPr lang="pt-PT" altLang="en-US" sz="2400">
                <a:latin typeface="Times New Roman" panose="02020603050405020304" pitchFamily="18" charset="0"/>
              </a:rPr>
              <a:t>d = Math.log(d);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Marcador de Posição do Rodapé 4">
            <a:extLst>
              <a:ext uri="{FF2B5EF4-FFF2-40B4-BE49-F238E27FC236}">
                <a16:creationId xmlns:a16="http://schemas.microsoft.com/office/drawing/2014/main" id="{CAC5A2D4-9A02-48F9-97AE-AA591576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0243" name="Marcador de Posição do Número do Diapositivo 5">
            <a:extLst>
              <a:ext uri="{FF2B5EF4-FFF2-40B4-BE49-F238E27FC236}">
                <a16:creationId xmlns:a16="http://schemas.microsoft.com/office/drawing/2014/main" id="{129E1E4E-8984-4261-B468-AB4B300B1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0F485C-250A-4ED9-BD86-123EC2EAE3F6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PT" altLang="en-US" sz="140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E332B597-7D86-42BA-BBC9-5FBF19E10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Class Wrappers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3B980A37-FC7A-4845-B751-851462800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400"/>
              <a:t>O java contém classes que são imagens dos tipos primitivos</a:t>
            </a:r>
          </a:p>
          <a:p>
            <a:pPr eaLnBrk="1" hangingPunct="1"/>
            <a:r>
              <a:rPr lang="pt-PT" altLang="en-US" sz="2400"/>
              <a:t>Exemplos: </a:t>
            </a:r>
          </a:p>
          <a:p>
            <a:pPr lvl="1" eaLnBrk="1" hangingPunct="1"/>
            <a:r>
              <a:rPr lang="pt-PT" altLang="en-US" sz="2400"/>
              <a:t>Integer   </a:t>
            </a:r>
            <a:r>
              <a:rPr lang="pt-PT" altLang="en-US" sz="2400">
                <a:sym typeface="Wingdings" panose="05000000000000000000" pitchFamily="2" charset="2"/>
              </a:rPr>
              <a:t> int</a:t>
            </a:r>
          </a:p>
          <a:p>
            <a:pPr lvl="1" eaLnBrk="1" hangingPunct="1"/>
            <a:r>
              <a:rPr lang="pt-PT" altLang="en-US" sz="2400">
                <a:sym typeface="Wingdings" panose="05000000000000000000" pitchFamily="2" charset="2"/>
              </a:rPr>
              <a:t>Double    double</a:t>
            </a:r>
          </a:p>
          <a:p>
            <a:pPr lvl="1" eaLnBrk="1" hangingPunct="1"/>
            <a:r>
              <a:rPr lang="pt-PT" altLang="en-US" sz="2400">
                <a:sym typeface="Wingdings" panose="05000000000000000000" pitchFamily="2" charset="2"/>
              </a:rPr>
              <a:t>Long 	   long</a:t>
            </a:r>
          </a:p>
          <a:p>
            <a:pPr lvl="1" eaLnBrk="1" hangingPunct="1"/>
            <a:r>
              <a:rPr lang="pt-PT" altLang="en-US" sz="2400">
                <a:sym typeface="Wingdings" panose="05000000000000000000" pitchFamily="2" charset="2"/>
              </a:rPr>
              <a:t> etc.</a:t>
            </a:r>
          </a:p>
          <a:p>
            <a:pPr eaLnBrk="1" hangingPunct="1"/>
            <a:r>
              <a:rPr lang="pt-PT" altLang="en-US" sz="2400"/>
              <a:t>Produzem objectos imutáveis.</a:t>
            </a:r>
          </a:p>
          <a:p>
            <a:pPr eaLnBrk="1" hangingPunct="1"/>
            <a:r>
              <a:rPr lang="pt-PT" altLang="en-US" sz="2400"/>
              <a:t>São wrappers porque “embrulham” os tipos primitivos em objectos.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Posição do Rodapé 4">
            <a:extLst>
              <a:ext uri="{FF2B5EF4-FFF2-40B4-BE49-F238E27FC236}">
                <a16:creationId xmlns:a16="http://schemas.microsoft.com/office/drawing/2014/main" id="{DAEC1DF4-1630-4E96-B13E-5A6A050BA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1267" name="Marcador de Posição do Número do Diapositivo 5">
            <a:extLst>
              <a:ext uri="{FF2B5EF4-FFF2-40B4-BE49-F238E27FC236}">
                <a16:creationId xmlns:a16="http://schemas.microsoft.com/office/drawing/2014/main" id="{E57364DB-1D3E-44D3-8AA5-54FE0FAB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761033-AF3D-4573-8706-4C308DAEA5D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en-US" sz="14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2FF493A4-59C4-47C8-9A82-687319BEF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Class Wrappers (cont)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E0984D1D-6CCA-4876-A195-87D26848C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2988"/>
          </a:xfrm>
        </p:spPr>
        <p:txBody>
          <a:bodyPr/>
          <a:lstStyle/>
          <a:p>
            <a:pPr eaLnBrk="1" hangingPunct="1"/>
            <a:r>
              <a:rPr lang="pt-PT" altLang="en-US" sz="2400"/>
              <a:t>Possuem sempre constantes de classe que especificam o valor max e min. Exemplo </a:t>
            </a:r>
            <a:r>
              <a:rPr lang="pt-PT" altLang="en-US" sz="2000">
                <a:latin typeface="Times New Roman" panose="02020603050405020304" pitchFamily="18" charset="0"/>
              </a:rPr>
              <a:t>Integer.MIN_VALUE</a:t>
            </a:r>
          </a:p>
          <a:p>
            <a:pPr eaLnBrk="1" hangingPunct="1"/>
            <a:r>
              <a:rPr lang="pt-PT" altLang="en-US" sz="2400"/>
              <a:t>Servem para conversão de Strings em valores numéricos:</a:t>
            </a:r>
          </a:p>
          <a:p>
            <a:pPr lvl="1" eaLnBrk="1" hangingPunct="1"/>
            <a:r>
              <a:rPr lang="pt-PT" altLang="en-US" sz="2000"/>
              <a:t>String s=“8”;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int i = Integer.parseInt(s);  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ou  String s = “12.45”; double d = new Double(s);</a:t>
            </a:r>
            <a:endParaRPr lang="pt-PT" altLang="en-US" sz="2000"/>
          </a:p>
          <a:p>
            <a:pPr eaLnBrk="1" hangingPunct="1"/>
            <a:r>
              <a:rPr lang="pt-PT" altLang="en-US" sz="2400"/>
              <a:t>Há o processamento automático do boxing e unboxing entre os dois níveis: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Integer i = new Integer(12); int x = i;</a:t>
            </a:r>
          </a:p>
          <a:p>
            <a:pPr lvl="1" eaLnBrk="1" hangingPunct="1"/>
            <a:r>
              <a:rPr lang="pt-PT" altLang="en-US" sz="2000">
                <a:latin typeface="Times New Roman" panose="02020603050405020304" pitchFamily="18" charset="0"/>
              </a:rPr>
              <a:t>Double d = new Double(3.14); int x = d.intValue();</a:t>
            </a:r>
          </a:p>
          <a:p>
            <a:pPr lvl="1" eaLnBrk="1" hangingPunct="1"/>
            <a:endParaRPr lang="pt-PT" altLang="en-US" sz="2000">
              <a:latin typeface="Times New Roman" panose="02020603050405020304" pitchFamily="18" charset="0"/>
            </a:endParaRPr>
          </a:p>
          <a:p>
            <a:pPr lvl="1" eaLnBrk="1" hangingPunct="1"/>
            <a:endParaRPr lang="pt-PT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Posição do Rodapé 4">
            <a:extLst>
              <a:ext uri="{FF2B5EF4-FFF2-40B4-BE49-F238E27FC236}">
                <a16:creationId xmlns:a16="http://schemas.microsoft.com/office/drawing/2014/main" id="{6EA3076E-2463-48AE-850B-D188D5C0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2291" name="Marcador de Posição do Número do Diapositivo 5">
            <a:extLst>
              <a:ext uri="{FF2B5EF4-FFF2-40B4-BE49-F238E27FC236}">
                <a16:creationId xmlns:a16="http://schemas.microsoft.com/office/drawing/2014/main" id="{E1E0F618-55BF-4B96-A174-DCA804CC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C68E7C-B482-47E6-9477-378A06189F44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en-US" sz="1400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C3AF0CBF-4450-4BEA-BD6E-358F20376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Arrays de Objectos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87485E05-5927-42E2-B7F8-4BB82B597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29600" cy="54721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800" dirty="0"/>
              <a:t>Podemos </a:t>
            </a:r>
            <a:r>
              <a:rPr lang="pt-PT" altLang="en-US" sz="2800" dirty="0">
                <a:solidFill>
                  <a:srgbClr val="FF0000"/>
                </a:solidFill>
              </a:rPr>
              <a:t>representar </a:t>
            </a:r>
            <a:r>
              <a:rPr lang="pt-PT" altLang="en-US" sz="2800" dirty="0" err="1">
                <a:solidFill>
                  <a:srgbClr val="FF0000"/>
                </a:solidFill>
              </a:rPr>
              <a:t>colecções</a:t>
            </a:r>
            <a:r>
              <a:rPr lang="pt-PT" altLang="en-US" sz="2800" dirty="0">
                <a:solidFill>
                  <a:srgbClr val="FF0000"/>
                </a:solidFill>
              </a:rPr>
              <a:t> de </a:t>
            </a:r>
            <a:r>
              <a:rPr lang="pt-PT" altLang="en-US" sz="2800" dirty="0" err="1">
                <a:solidFill>
                  <a:srgbClr val="FF0000"/>
                </a:solidFill>
              </a:rPr>
              <a:t>objectos</a:t>
            </a:r>
            <a:r>
              <a:rPr lang="pt-PT" altLang="en-US" sz="2800" dirty="0">
                <a:solidFill>
                  <a:srgbClr val="FF0000"/>
                </a:solidFill>
              </a:rPr>
              <a:t> usando arrays</a:t>
            </a:r>
            <a:r>
              <a:rPr lang="pt-PT" altLang="en-US" sz="2800" dirty="0"/>
              <a:t>. Exemplo:</a:t>
            </a:r>
          </a:p>
          <a:p>
            <a:pPr eaLnBrk="1" hangingPunct="1">
              <a:lnSpc>
                <a:spcPct val="90000"/>
              </a:lnSpc>
            </a:pPr>
            <a:endParaRPr lang="pt-PT" altLang="en-US" sz="2800" dirty="0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Circulo c[] = new Circulo[10];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c[0] = new Circulo(0,0,10);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c[1] = new Circulo(1,6,18);  ….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encontra circulo com maior área.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double max = c[0].area(); Circulo m = null;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for(Circulo x:c)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	    double temp =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x.area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();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if(temp&gt; max)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max = temp; m = x;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endParaRPr lang="pt-PT" altLang="en-US" dirty="0">
              <a:latin typeface="Times New Roman" panose="02020603050405020304" pitchFamily="18" charset="0"/>
            </a:endParaRPr>
          </a:p>
        </p:txBody>
      </p:sp>
      <p:sp>
        <p:nvSpPr>
          <p:cNvPr id="12294" name="AutoShape 4">
            <a:extLst>
              <a:ext uri="{FF2B5EF4-FFF2-40B4-BE49-F238E27FC236}">
                <a16:creationId xmlns:a16="http://schemas.microsoft.com/office/drawing/2014/main" id="{CC058C92-30EE-46BF-9912-85D548EEE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797425"/>
            <a:ext cx="1944688" cy="647700"/>
          </a:xfrm>
          <a:prstGeom prst="wedgeRoundRectCallout">
            <a:avLst>
              <a:gd name="adj1" fmla="val -97347"/>
              <a:gd name="adj2" fmla="val 7426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A var </a:t>
            </a:r>
            <a:r>
              <a:rPr lang="pt-PT" altLang="en-US" sz="1200" b="1"/>
              <a:t>m</a:t>
            </a:r>
            <a:r>
              <a:rPr lang="pt-PT" altLang="en-US" sz="1200"/>
              <a:t> vai conter a referência para o circulo de maior área.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Posição do Rodapé 4">
            <a:extLst>
              <a:ext uri="{FF2B5EF4-FFF2-40B4-BE49-F238E27FC236}">
                <a16:creationId xmlns:a16="http://schemas.microsoft.com/office/drawing/2014/main" id="{9ABF8CF5-5162-41CB-8FA6-06F05A7C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3315" name="Marcador de Posição do Número do Diapositivo 5">
            <a:extLst>
              <a:ext uri="{FF2B5EF4-FFF2-40B4-BE49-F238E27FC236}">
                <a16:creationId xmlns:a16="http://schemas.microsoft.com/office/drawing/2014/main" id="{93395ECD-8FFB-44F2-99EF-5E471031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1E5A67-8524-44F6-962D-017D304C59D8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PT" altLang="en-US" sz="14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56CB40F3-6DE2-41DA-AC77-37C9ABEAB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Exercícios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0448E2F1-1DF7-4C26-9287-6099311AB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29600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80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Definir a classe </a:t>
            </a:r>
            <a:r>
              <a:rPr lang="pt-PT" altLang="en-US" sz="2400" b="1"/>
              <a:t>Conta</a:t>
            </a:r>
            <a:r>
              <a:rPr lang="pt-PT" altLang="en-US" sz="2400"/>
              <a:t> Bancária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Um conta é representada por um: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Titular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Número da conta e saldo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Uma lista de movimentos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Criar várias contas. Criar classe </a:t>
            </a:r>
            <a:r>
              <a:rPr lang="pt-PT" altLang="en-US" sz="2400" b="1"/>
              <a:t>Banco</a:t>
            </a:r>
            <a:r>
              <a:rPr lang="pt-PT" altLang="en-US" sz="2400"/>
              <a:t>. Esta classe guarda todas as contas num array.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400" b="1"/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Implementar métodos para débitos e créditos de valores.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Deve ser possível contabilizar o número de contas bem como o montante de capital depositado no banco (total de saldos das contas).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Implementar um método para debitar despesas bancárias em todas as contas.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91CE-74B6-40BA-AD45-27B9C74E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com </a:t>
            </a:r>
            <a:r>
              <a:rPr lang="pt-PT" dirty="0" err="1"/>
              <a:t>wrappers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750EF-BD94-4BA1-92E0-C3A4B7AE8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Defina uma classe com duas vars de instância que são um </a:t>
            </a:r>
            <a:r>
              <a:rPr lang="pt-PT" dirty="0" err="1"/>
              <a:t>array</a:t>
            </a:r>
            <a:r>
              <a:rPr lang="pt-PT" dirty="0"/>
              <a:t> de </a:t>
            </a:r>
            <a:r>
              <a:rPr lang="pt-PT" dirty="0" err="1"/>
              <a:t>doubles</a:t>
            </a:r>
            <a:r>
              <a:rPr lang="pt-PT" dirty="0"/>
              <a:t> e outro de inteiros. Nessa classe escreva um método (eventualmente </a:t>
            </a:r>
            <a:r>
              <a:rPr lang="pt-PT"/>
              <a:t>um construtor)  </a:t>
            </a:r>
            <a:r>
              <a:rPr lang="pt-PT" dirty="0"/>
              <a:t>que dado uma </a:t>
            </a:r>
            <a:r>
              <a:rPr lang="pt-PT" dirty="0" err="1"/>
              <a:t>String</a:t>
            </a:r>
            <a:r>
              <a:rPr lang="pt-PT" dirty="0"/>
              <a:t> (um texto com uma sequência de números) preenche os </a:t>
            </a:r>
            <a:r>
              <a:rPr lang="pt-PT" dirty="0" err="1"/>
              <a:t>arrays</a:t>
            </a:r>
            <a:r>
              <a:rPr lang="pt-PT" dirty="0"/>
              <a:t> com esses valores. Nota: </a:t>
            </a:r>
            <a:r>
              <a:rPr lang="pt-PT" dirty="0" err="1"/>
              <a:t>user</a:t>
            </a:r>
            <a:r>
              <a:rPr lang="pt-PT" dirty="0"/>
              <a:t> a classe </a:t>
            </a:r>
            <a:r>
              <a:rPr lang="pt-P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StringTokenizer</a:t>
            </a:r>
            <a:r>
              <a:rPr lang="pt-PT" dirty="0"/>
              <a:t> e os diferentes métodos disponíveis na classe </a:t>
            </a:r>
            <a:r>
              <a:rPr lang="pt-P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PT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3331A-D2E2-4E27-91C5-8BE5ED565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B9B28-786E-4E7D-BB18-F92CAD6B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931921-4B84-4C70-AD40-F6EECE037552}" type="slidenum">
              <a:rPr lang="pt-PT" altLang="en-US" smtClean="0"/>
              <a:pPr>
                <a:defRPr/>
              </a:pPr>
              <a:t>12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4862883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4932</TotalTime>
  <Words>952</Words>
  <Application>Microsoft Office PowerPoint</Application>
  <PresentationFormat>Apresentação no Ecrã (4:3)</PresentationFormat>
  <Paragraphs>133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Wingdings</vt:lpstr>
      <vt:lpstr>Default Design</vt:lpstr>
      <vt:lpstr>Programação Orientada aos Objetos (Licenciatura em Engenharia de Telecomunicações &amp; Informática)  2º Ano, 1º Semestre</vt:lpstr>
      <vt:lpstr>Classes</vt:lpstr>
      <vt:lpstr>Classes como Objectos</vt:lpstr>
      <vt:lpstr>Variáveis de classe</vt:lpstr>
      <vt:lpstr>Exemplo</vt:lpstr>
      <vt:lpstr>Outros exemplos</vt:lpstr>
      <vt:lpstr>Classes sem instâncias</vt:lpstr>
      <vt:lpstr>Class Wrappers</vt:lpstr>
      <vt:lpstr>Class Wrappers (cont)</vt:lpstr>
      <vt:lpstr>Arrays de Objectos</vt:lpstr>
      <vt:lpstr>Exercícios</vt:lpstr>
      <vt:lpstr>Exercício com wrappers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Programação II (Mestrado Integrado em Engenharia de Comunicações)</dc:title>
  <dc:creator>pja</dc:creator>
  <cp:lastModifiedBy>Luís Pedro Cerqueira Baptista</cp:lastModifiedBy>
  <cp:revision>357</cp:revision>
  <dcterms:created xsi:type="dcterms:W3CDTF">2008-02-28T16:13:14Z</dcterms:created>
  <dcterms:modified xsi:type="dcterms:W3CDTF">2025-07-19T21:24:32Z</dcterms:modified>
</cp:coreProperties>
</file>