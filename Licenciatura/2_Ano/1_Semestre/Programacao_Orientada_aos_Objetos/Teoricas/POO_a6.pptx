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8" r:id="rId4"/>
    <p:sldId id="289" r:id="rId5"/>
    <p:sldId id="290" r:id="rId6"/>
    <p:sldId id="291" r:id="rId7"/>
    <p:sldId id="292" r:id="rId8"/>
    <p:sldId id="294" r:id="rId9"/>
    <p:sldId id="293" r:id="rId10"/>
    <p:sldId id="295" r:id="rId11"/>
    <p:sldId id="302" r:id="rId12"/>
    <p:sldId id="296" r:id="rId13"/>
    <p:sldId id="298" r:id="rId14"/>
    <p:sldId id="299" r:id="rId15"/>
    <p:sldId id="284" r:id="rId16"/>
    <p:sldId id="297" r:id="rId17"/>
    <p:sldId id="300" r:id="rId18"/>
    <p:sldId id="301" r:id="rId19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72" autoAdjust="0"/>
    <p:restoredTop sz="94627" autoAdjust="0"/>
  </p:normalViewPr>
  <p:slideViewPr>
    <p:cSldViewPr>
      <p:cViewPr varScale="1">
        <p:scale>
          <a:sx n="78" d="100"/>
          <a:sy n="78" d="100"/>
        </p:scale>
        <p:origin x="105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E4847D4-7C7E-41AF-B0C5-2550CB3836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1E57912-E9B9-470A-8957-80B4977CB5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9239493-24EA-480D-A8A4-ABB879963B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8D295AF-47AB-4CD4-AE76-C452A608416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8541273-19E1-4B8D-99A0-A70B7B6C9A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D58AA4F-3632-48B7-B74E-FD432DCA5D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FC6BE24-D76F-49B3-A03B-B5EF50662FD6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FEC79B-9321-474C-99AD-9DEA363563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8F5A7F-69E6-460D-A2D2-F7B643230B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5A2A05-45C3-49FC-BE56-8334243F0E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BDF5B-C7E2-4B3C-8732-E5E64E095429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04436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1FEE52-88E0-4969-B1E1-877151DE6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8B1FD7-B31F-425A-A97E-DC358901A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16717A-3153-498F-91FE-00EBE31BF7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113E0-E331-4BBD-9070-E5BA63113594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530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BA8E91-F066-4743-9F2C-D0F4D37AD4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3757CA-7907-4547-9DD0-18A5CECEA6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901D30-5905-43BC-B6C9-2870E9A858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FD5BF-95C7-4B68-BC13-0A80DB09A988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4425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94BC2-7801-43FC-85C4-67ED82EECC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0AD53-02C2-40B1-8647-D5A97DB15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59716-F294-45A4-B518-7D781999C3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2D89A4-3247-4197-A234-59971519312E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76579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A0AECA-210D-49C3-BFFC-F8FC681AC0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5FB006-6480-4F58-879A-3293064D38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C01D7E7-ED3E-4F75-9A2B-D12B28A9F2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278EFE-64B9-4376-B3EC-17A1A74DBDBD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856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67A0CDE-5EF4-422F-A56D-EB494A63B8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358678A-E71F-43D2-84A5-65FE37D57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E3072C-FEC9-4821-A7E6-E13A4BC70B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10FCA-E7EA-407C-BB8C-43CCA6823E25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71480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4B03A98-3C38-4FB2-B845-7929C1A4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82A91DE-F894-4AC0-9C65-4ECC1E4DEE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47A20F-445B-4E4A-AB04-ACF4241245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E2E2B-5B7B-4742-89FB-8600726B449F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03883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32EE9-2140-49F9-AF11-836D5FD0B6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01C2A-D37D-48B9-A219-89C4EFB387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B811C-9BD0-425F-8A1E-E71B423D1A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502D3-32E6-4E9C-8E18-E3689A5494F8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0000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4F8A8-D6A7-4D97-913B-F149EC441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887C5-4F82-4B34-87A5-8D873F1299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98DE3-1A1A-4746-A06A-3F6BF2449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F86A1-1B77-4AFA-8225-BF66D52DFC19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00651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65509B-EE0B-42B8-929A-BB60255EF2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D14E39-699D-433C-8450-90F41EDA94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B9BB5E-D1A7-4728-BE53-81DC521699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7FF7D-BC54-4373-AEFD-F73086A73A32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47613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3349DC-ECC6-40FC-869C-A687AE343B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D55FC2-6BE2-4912-8433-B441B4B43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C07C24-D9E4-4EEB-BC56-8B0C06FCB6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14BC2-1249-479D-8108-8A43C7D0A123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786745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8B4161-2A39-4891-822F-73684B8D8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9A1F8D-8619-4BFA-9816-D8B3865D5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B67901D-A68A-42E7-8B64-E06EB256FD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65E1E8-1100-49DD-9206-CCDDD0374C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C6F14BE-A7AB-4EB7-9397-4AF617D65D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72231986-80D8-40A0-B373-590A9BEBF770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Posição do Rodapé 4">
            <a:extLst>
              <a:ext uri="{FF2B5EF4-FFF2-40B4-BE49-F238E27FC236}">
                <a16:creationId xmlns:a16="http://schemas.microsoft.com/office/drawing/2014/main" id="{13331A5D-C88C-4617-B469-F6D100DE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Marcador de Posição do Número do Diapositivo 5">
            <a:extLst>
              <a:ext uri="{FF2B5EF4-FFF2-40B4-BE49-F238E27FC236}">
                <a16:creationId xmlns:a16="http://schemas.microsoft.com/office/drawing/2014/main" id="{BAA237CB-594B-4787-9286-7560E966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E77107-17ED-4ECF-8D89-CE48CE9FA9A1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50AC1054-758F-4150-9B46-52B86407EB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600" dirty="0"/>
              <a:t>Programação Orientada aos Objetos </a:t>
            </a:r>
            <a:br>
              <a:rPr lang="pt-PT" altLang="en-US" sz="4000" dirty="0"/>
            </a:br>
            <a:r>
              <a:rPr lang="pt-PT" altLang="en-US" sz="2000" dirty="0"/>
              <a:t>(Licenciatura em Engenharia de Telecomunicações &amp; Informática) </a:t>
            </a:r>
            <a:br>
              <a:rPr lang="pt-PT" altLang="en-US" sz="2000" dirty="0"/>
            </a:br>
            <a:r>
              <a:rPr lang="pt-PT" altLang="en-US" sz="2000" dirty="0"/>
              <a:t>2º Ano, 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F914F0A7-2D1F-45D6-9EA7-0A19BE3636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82663"/>
          </a:xfrm>
        </p:spPr>
        <p:txBody>
          <a:bodyPr/>
          <a:lstStyle/>
          <a:p>
            <a:pPr eaLnBrk="1" hangingPunct="1"/>
            <a:r>
              <a:rPr lang="pt-PT" altLang="en-US"/>
              <a:t>Classes Abstractas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Posição do Rodapé 4">
            <a:extLst>
              <a:ext uri="{FF2B5EF4-FFF2-40B4-BE49-F238E27FC236}">
                <a16:creationId xmlns:a16="http://schemas.microsoft.com/office/drawing/2014/main" id="{94711C1B-BEB2-46AB-B942-C912D258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Marcador de Posição do Número do Diapositivo 5">
            <a:extLst>
              <a:ext uri="{FF2B5EF4-FFF2-40B4-BE49-F238E27FC236}">
                <a16:creationId xmlns:a16="http://schemas.microsoft.com/office/drawing/2014/main" id="{198B89C2-B4F3-4CD9-B9ED-0F75D099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DA75CB-16B6-42FD-B17C-AAAED80639DB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45E4CEDE-2950-48AC-96FC-7AC2C7196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3533"/>
            <a:ext cx="8229600" cy="865187"/>
          </a:xfrm>
        </p:spPr>
        <p:txBody>
          <a:bodyPr/>
          <a:lstStyle/>
          <a:p>
            <a:pPr eaLnBrk="1" hangingPunct="1"/>
            <a:r>
              <a:rPr lang="pt-PT" altLang="en-US" sz="4000" dirty="0"/>
              <a:t>Definições da </a:t>
            </a:r>
            <a:r>
              <a:rPr lang="pt-PT" altLang="en-US" sz="4000" dirty="0" err="1"/>
              <a:t>SuperClasse</a:t>
            </a:r>
            <a:endParaRPr lang="pt-PT" altLang="en-US" sz="4000" dirty="0"/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66A4AE9F-E142-4F6E-930B-1CAE979C4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908050"/>
            <a:ext cx="9036050" cy="2952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800"/>
              <a:t>Muitas vezes torna-se difícil definir o interface que constitui a API da superclasse.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Há necessidade de certos métodos existirem na superclasse pelo simples facto de esperarmos ter todos os objetos das suas subclasses a responderem ao protocolo definido pelo conjunto destes métodos.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Exemplo: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AAA882C6-3418-4F47-AEBD-2BA9125BE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3640138"/>
            <a:ext cx="55689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3" name="Text Box 7">
            <a:extLst>
              <a:ext uri="{FF2B5EF4-FFF2-40B4-BE49-F238E27FC236}">
                <a16:creationId xmlns:a16="http://schemas.microsoft.com/office/drawing/2014/main" id="{A724EB9C-8693-4113-B6BD-25A47D080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478463"/>
            <a:ext cx="90360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Sabemos que as subclasses de </a:t>
            </a:r>
            <a:r>
              <a:rPr lang="pt-PT" altLang="en-US" sz="1800">
                <a:latin typeface="Times New Roman" panose="02020603050405020304" pitchFamily="18" charset="0"/>
              </a:rPr>
              <a:t>FORMA</a:t>
            </a:r>
            <a:r>
              <a:rPr lang="pt-PT" altLang="en-US" sz="1800"/>
              <a:t> tem de responder às interrogações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aos métodos </a:t>
            </a:r>
            <a:r>
              <a:rPr lang="pt-PT" altLang="en-US" sz="1800">
                <a:latin typeface="Times New Roman" panose="02020603050405020304" pitchFamily="18" charset="0"/>
              </a:rPr>
              <a:t>area()</a:t>
            </a:r>
            <a:r>
              <a:rPr lang="pt-PT" altLang="en-US" sz="1800"/>
              <a:t> e </a:t>
            </a:r>
            <a:r>
              <a:rPr lang="pt-PT" altLang="en-US" sz="1800">
                <a:latin typeface="Times New Roman" panose="02020603050405020304" pitchFamily="18" charset="0"/>
              </a:rPr>
              <a:t>perimetro()</a:t>
            </a:r>
            <a:r>
              <a:rPr lang="pt-PT" altLang="en-US" sz="1800"/>
              <a:t>. Cada subclasse terá a sua implementação especifica.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Mas o que escrever sobre estes métodos na superclasse </a:t>
            </a:r>
            <a:r>
              <a:rPr lang="pt-PT" altLang="en-US" sz="1800">
                <a:latin typeface="Times New Roman" panose="02020603050405020304" pitchFamily="18" charset="0"/>
              </a:rPr>
              <a:t>FORMA</a:t>
            </a:r>
            <a:r>
              <a:rPr lang="pt-PT" altLang="en-US" sz="1800"/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Posição do Rodapé 4">
            <a:extLst>
              <a:ext uri="{FF2B5EF4-FFF2-40B4-BE49-F238E27FC236}">
                <a16:creationId xmlns:a16="http://schemas.microsoft.com/office/drawing/2014/main" id="{9B5E7216-11DF-451F-858B-A331494F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Marcador de Posição do Número do Diapositivo 5">
            <a:extLst>
              <a:ext uri="{FF2B5EF4-FFF2-40B4-BE49-F238E27FC236}">
                <a16:creationId xmlns:a16="http://schemas.microsoft.com/office/drawing/2014/main" id="{DC52F1DE-BA64-402F-A3B9-5692485A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FDB877-E1B3-4B7A-97DF-774EB942ECE0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55228F70-470F-49BA-9919-C2635793B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 dirty="0" err="1"/>
              <a:t>SuperClasses</a:t>
            </a:r>
            <a:r>
              <a:rPr lang="pt-PT" altLang="en-US" dirty="0"/>
              <a:t> (2)</a:t>
            </a:r>
          </a:p>
        </p:txBody>
      </p:sp>
      <p:sp>
        <p:nvSpPr>
          <p:cNvPr id="5125" name="Text Box 6">
            <a:extLst>
              <a:ext uri="{FF2B5EF4-FFF2-40B4-BE49-F238E27FC236}">
                <a16:creationId xmlns:a16="http://schemas.microsoft.com/office/drawing/2014/main" id="{492CBE37-5374-45EE-BB75-C80012A1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335088"/>
            <a:ext cx="8607425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/>
              <a:t> Na hierarquia anterior temos a certeza  que todos os objectos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qualquer classe responde a </a:t>
            </a:r>
            <a:r>
              <a:rPr lang="pt-PT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area()</a:t>
            </a:r>
            <a:r>
              <a:rPr lang="pt-PT" altLang="en-US" sz="2000"/>
              <a:t> e a </a:t>
            </a:r>
            <a:r>
              <a:rPr lang="pt-PT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perimetro()</a:t>
            </a:r>
            <a:r>
              <a:rPr lang="pt-PT" altLang="en-US" sz="200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A certeza vem do facto de </a:t>
            </a:r>
            <a:r>
              <a:rPr lang="pt-PT" altLang="en-US" sz="2000">
                <a:latin typeface="Times New Roman" panose="02020603050405020304" pitchFamily="18" charset="0"/>
              </a:rPr>
              <a:t>FORMA</a:t>
            </a:r>
            <a:r>
              <a:rPr lang="pt-PT" altLang="en-US" sz="2000"/>
              <a:t> implementar estes métodos. Assim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por herança ou por redefinição qualquer objecto desta hierarquia responde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aos métodos em questão.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Uma dúvida surge: o que escrever na classe </a:t>
            </a:r>
            <a:r>
              <a:rPr lang="pt-PT" altLang="en-US" sz="2000">
                <a:latin typeface="Times New Roman" panose="02020603050405020304" pitchFamily="18" charset="0"/>
              </a:rPr>
              <a:t>FORMA, </a:t>
            </a:r>
            <a:r>
              <a:rPr lang="pt-PT" altLang="en-US" sz="2000"/>
              <a:t>por forma a que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seja útil e reutilizável por todas as suas actuais e futuras subclasses.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Uma possível solução: escrever algo “dummy” que a primeira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coisa a fazer pelo programador da subclasse é reescrever o método.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Exemplo:</a:t>
            </a:r>
          </a:p>
          <a:p>
            <a:pPr eaLnBrk="1" hangingPunct="1">
              <a:spcBef>
                <a:spcPct val="0"/>
              </a:spcBef>
            </a:pPr>
            <a:endParaRPr lang="pt-PT" altLang="en-US" sz="2000"/>
          </a:p>
          <a:p>
            <a:pPr eaLnBrk="1" hangingPunct="1">
              <a:spcBef>
                <a:spcPct val="0"/>
              </a:spcBef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	</a:t>
            </a:r>
            <a:r>
              <a:rPr lang="pt-PT" altLang="en-US" sz="1800">
                <a:latin typeface="Times New Roman" panose="02020603050405020304" pitchFamily="18" charset="0"/>
              </a:rPr>
              <a:t>public double area() { return Double.MIN_VALUE;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public double perimetro() { return Double.MAX_VALUE;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Uma solução: deixar as definições propositadamente </a:t>
            </a:r>
            <a:r>
              <a:rPr lang="pt-PT" altLang="en-US" sz="2000" u="sng"/>
              <a:t>incompletas</a:t>
            </a:r>
            <a:r>
              <a:rPr lang="pt-PT" altLang="en-US" sz="200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Posição do Rodapé 4">
            <a:extLst>
              <a:ext uri="{FF2B5EF4-FFF2-40B4-BE49-F238E27FC236}">
                <a16:creationId xmlns:a16="http://schemas.microsoft.com/office/drawing/2014/main" id="{35E10D6A-C045-44F8-A5D9-6F8B7077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Marcador de Posição do Número do Diapositivo 5">
            <a:extLst>
              <a:ext uri="{FF2B5EF4-FFF2-40B4-BE49-F238E27FC236}">
                <a16:creationId xmlns:a16="http://schemas.microsoft.com/office/drawing/2014/main" id="{B5294C99-231B-4B07-A59A-747F9341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0ADE3E-E979-4931-8396-9BDC055C5451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2DF6165C-E960-49B7-B361-5269EA9F5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854968"/>
          </a:xfrm>
        </p:spPr>
        <p:txBody>
          <a:bodyPr/>
          <a:lstStyle/>
          <a:p>
            <a:pPr eaLnBrk="1" hangingPunct="1"/>
            <a:r>
              <a:rPr lang="pt-PT" altLang="en-US" dirty="0"/>
              <a:t>Classes </a:t>
            </a:r>
            <a:r>
              <a:rPr lang="pt-PT" altLang="en-US" dirty="0" err="1"/>
              <a:t>Abstractas</a:t>
            </a:r>
            <a:endParaRPr lang="pt-PT" altLang="en-US" dirty="0"/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1272FA86-E517-4444-87F7-741A72248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 i="1" dirty="0"/>
              <a:t>Classes </a:t>
            </a:r>
            <a:r>
              <a:rPr lang="pt-PT" altLang="en-US" sz="2000" i="1" dirty="0" err="1"/>
              <a:t>Abstractas</a:t>
            </a:r>
            <a:r>
              <a:rPr lang="pt-PT" altLang="en-US" sz="2000" dirty="0"/>
              <a:t> são exatamente todas as classes nas quais pelo menos um ou mesmo todos os métodos de instância não se encontram implementados, mas tão só declarados sintaticamente (daí serem designados como </a:t>
            </a:r>
            <a:r>
              <a:rPr lang="pt-PT" altLang="en-US" sz="2000" i="1" dirty="0"/>
              <a:t>métodos </a:t>
            </a:r>
            <a:r>
              <a:rPr lang="pt-PT" altLang="en-US" sz="2000" i="1" dirty="0" err="1"/>
              <a:t>abstractos</a:t>
            </a:r>
            <a:r>
              <a:rPr lang="pt-PT" altLang="en-US" sz="2000" dirty="0"/>
              <a:t> ou virtuais).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No nosso exemplo, FORMA deve definir sintaticamente os métodos que as suas subclasses devem implementar.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Exemplo: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abstract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class</a:t>
            </a:r>
            <a:r>
              <a:rPr lang="pt-PT" altLang="en-US" sz="1800" dirty="0">
                <a:latin typeface="Times New Roman" panose="02020603050405020304" pitchFamily="18" charset="0"/>
              </a:rPr>
              <a:t> Forma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// definição dos métodos…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abstract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area</a:t>
            </a:r>
            <a:r>
              <a:rPr lang="pt-PT" altLang="en-US" sz="1800" dirty="0">
                <a:latin typeface="Times New Roman" panose="02020603050405020304" pitchFamily="18" charset="0"/>
              </a:rPr>
              <a:t>();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abstract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perimetro</a:t>
            </a:r>
            <a:r>
              <a:rPr lang="pt-PT" altLang="en-US" sz="1800" dirty="0">
                <a:latin typeface="Times New Roman" panose="02020603050405020304" pitchFamily="18" charset="0"/>
              </a:rPr>
              <a:t>();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Para uma classe poder ser considerada </a:t>
            </a:r>
            <a:r>
              <a:rPr lang="pt-PT" altLang="en-US" sz="2000" dirty="0" err="1"/>
              <a:t>abstracta</a:t>
            </a:r>
            <a:r>
              <a:rPr lang="pt-PT" altLang="en-US" sz="2000" dirty="0"/>
              <a:t> basta não implementar um método.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Uma classe </a:t>
            </a:r>
            <a:r>
              <a:rPr lang="pt-PT" altLang="en-US" sz="2000" dirty="0" err="1"/>
              <a:t>abstracta</a:t>
            </a:r>
            <a:r>
              <a:rPr lang="pt-PT" altLang="en-US" sz="2000" dirty="0"/>
              <a:t> não tem instâncias.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Posição do Rodapé 4">
            <a:extLst>
              <a:ext uri="{FF2B5EF4-FFF2-40B4-BE49-F238E27FC236}">
                <a16:creationId xmlns:a16="http://schemas.microsoft.com/office/drawing/2014/main" id="{5A964B2B-BCFA-4FD4-A403-F12905AB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Marcador de Posição do Número do Diapositivo 5">
            <a:extLst>
              <a:ext uri="{FF2B5EF4-FFF2-40B4-BE49-F238E27FC236}">
                <a16:creationId xmlns:a16="http://schemas.microsoft.com/office/drawing/2014/main" id="{95F3C184-4A4C-405E-9340-3A03F93D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5E5628-1A50-4DC2-9949-6DC711A2EB4C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C47A0AA8-9D13-4919-A561-51F3EB3BC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892002"/>
          </a:xfrm>
        </p:spPr>
        <p:txBody>
          <a:bodyPr/>
          <a:lstStyle/>
          <a:p>
            <a:pPr eaLnBrk="1" hangingPunct="1"/>
            <a:r>
              <a:rPr lang="pt-PT" altLang="en-US" dirty="0"/>
              <a:t>Classes </a:t>
            </a:r>
            <a:r>
              <a:rPr lang="pt-PT" altLang="en-US" dirty="0" err="1"/>
              <a:t>Abstractas</a:t>
            </a:r>
            <a:r>
              <a:rPr lang="pt-PT" altLang="en-US" dirty="0"/>
              <a:t> (2)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4F99D3C7-2D9B-48D9-B6A4-687EFB357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708275"/>
            <a:ext cx="8713788" cy="39608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/>
              <a:t>Uma classe abstracta é também (sobretudo) um </a:t>
            </a:r>
            <a:r>
              <a:rPr lang="pt-PT" altLang="en-US" sz="2000" i="1"/>
              <a:t>tipo</a:t>
            </a:r>
            <a:r>
              <a:rPr lang="pt-PT" altLang="en-US" sz="20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Assim a expressão:</a:t>
            </a:r>
            <a:r>
              <a:rPr lang="pt-PT" altLang="en-US" sz="1800"/>
              <a:t>     </a:t>
            </a:r>
            <a:r>
              <a:rPr lang="pt-PT" altLang="en-US" sz="1800">
                <a:latin typeface="Times New Roman" panose="02020603050405020304" pitchFamily="18" charset="0"/>
              </a:rPr>
              <a:t>Forma f = new Triangulo();    </a:t>
            </a:r>
            <a:r>
              <a:rPr lang="pt-PT" altLang="en-US" sz="2000"/>
              <a:t> continua a ser válida!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As subclasses de uma classe abstracta herdam o compromisso (obrigação) de implementar os métodos abstractos. Ou seja, a superclasse delega na subclasse a sua implementação.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Mas podemos ter uma hierarquia com várias classes abstractas. No entanto, pelo menos as classes folhas têm de implementar os métodos abstractos herdados.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Numa classe 100% abstracta, todas as suas subclasses respondem ao mesmo protocolo i.e. falam a mesma linguagem que foi herdada.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Uma classe 100% abstracta pode ser vista como uma especificação meramente sintáctica (ou seja, uma assinatura de um tipo de dados),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>
              <a:latin typeface="Times New Roman" panose="02020603050405020304" pitchFamily="18" charset="0"/>
            </a:endParaRPr>
          </a:p>
        </p:txBody>
      </p:sp>
      <p:pic>
        <p:nvPicPr>
          <p:cNvPr id="7174" name="Picture 4">
            <a:extLst>
              <a:ext uri="{FF2B5EF4-FFF2-40B4-BE49-F238E27FC236}">
                <a16:creationId xmlns:a16="http://schemas.microsoft.com/office/drawing/2014/main" id="{A93D1593-F3C7-4CA8-BA51-19C7D77E6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338" y="1125538"/>
            <a:ext cx="4757737" cy="151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AutoShape 5">
            <a:extLst>
              <a:ext uri="{FF2B5EF4-FFF2-40B4-BE49-F238E27FC236}">
                <a16:creationId xmlns:a16="http://schemas.microsoft.com/office/drawing/2014/main" id="{98CED58E-3565-4FA9-B30D-0114ED50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341438"/>
            <a:ext cx="1584325" cy="431800"/>
          </a:xfrm>
          <a:prstGeom prst="wedgeRoundRectCallout">
            <a:avLst>
              <a:gd name="adj1" fmla="val -110319"/>
              <a:gd name="adj2" fmla="val -1654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É sobretudo um tipo!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Posição do Rodapé 4">
            <a:extLst>
              <a:ext uri="{FF2B5EF4-FFF2-40B4-BE49-F238E27FC236}">
                <a16:creationId xmlns:a16="http://schemas.microsoft.com/office/drawing/2014/main" id="{6920C7D7-8036-489A-923B-ECAF0618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Marcador de Posição do Número do Diapositivo 5">
            <a:extLst>
              <a:ext uri="{FF2B5EF4-FFF2-40B4-BE49-F238E27FC236}">
                <a16:creationId xmlns:a16="http://schemas.microsoft.com/office/drawing/2014/main" id="{8407D867-CF2B-47A8-A308-CFC7F23A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6B4126-BAF3-451D-97F9-98AC9ED5952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807B0612-DBDA-400F-BE64-9679C1E19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864096"/>
          </a:xfrm>
        </p:spPr>
        <p:txBody>
          <a:bodyPr/>
          <a:lstStyle/>
          <a:p>
            <a:pPr eaLnBrk="1" hangingPunct="1"/>
            <a:r>
              <a:rPr lang="pt-PT" altLang="en-US" dirty="0"/>
              <a:t>Classes </a:t>
            </a:r>
            <a:r>
              <a:rPr lang="pt-PT" altLang="en-US" dirty="0" err="1"/>
              <a:t>Abstractas</a:t>
            </a:r>
            <a:r>
              <a:rPr lang="pt-PT" altLang="en-US" dirty="0"/>
              <a:t>: resumo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C726F513-3CD2-4B67-B57E-4BED43CF6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800"/>
              <a:t>Funções das Classes Abstractas:</a:t>
            </a:r>
          </a:p>
          <a:p>
            <a:pPr eaLnBrk="1" hangingPunct="1"/>
            <a:endParaRPr lang="pt-PT" altLang="en-US" sz="2800"/>
          </a:p>
          <a:p>
            <a:pPr lvl="1" eaLnBrk="1" hangingPunct="1"/>
            <a:r>
              <a:rPr lang="pt-PT" altLang="en-US" sz="2000"/>
              <a:t>Escrever especificações sintácticas para as quais múltiplas implementações são possíveis, de momento ou no futuro;</a:t>
            </a:r>
          </a:p>
          <a:p>
            <a:pPr lvl="1" eaLnBrk="1" hangingPunct="1"/>
            <a:r>
              <a:rPr lang="pt-PT" altLang="en-US" sz="2000"/>
              <a:t>Normalizar a “linguagem” (API) a partir de certos pontos da hierarquia;</a:t>
            </a:r>
          </a:p>
          <a:p>
            <a:pPr lvl="1" eaLnBrk="1" hangingPunct="1"/>
            <a:r>
              <a:rPr lang="pt-PT" altLang="en-US" sz="2000"/>
              <a:t>Introduzir flexibilidade e generalidade no código desenvolvido;</a:t>
            </a:r>
          </a:p>
          <a:p>
            <a:pPr lvl="1" eaLnBrk="1" hangingPunct="1"/>
            <a:r>
              <a:rPr lang="pt-PT" altLang="en-US" sz="2000"/>
              <a:t>Tirar todo o partido do polimorfismo (via princípio da substituição);</a:t>
            </a:r>
          </a:p>
          <a:p>
            <a:pPr lvl="1" eaLnBrk="1" hangingPunct="1"/>
            <a:r>
              <a:rPr lang="pt-PT" altLang="en-US" sz="2000"/>
              <a:t>Realizar classificações mais claras de subclasses.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Marcador de Posição do Rodapé 4">
            <a:extLst>
              <a:ext uri="{FF2B5EF4-FFF2-40B4-BE49-F238E27FC236}">
                <a16:creationId xmlns:a16="http://schemas.microsoft.com/office/drawing/2014/main" id="{35756952-DB17-4C09-85DA-573ADC00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Marcador de Posição do Número do Diapositivo 5">
            <a:extLst>
              <a:ext uri="{FF2B5EF4-FFF2-40B4-BE49-F238E27FC236}">
                <a16:creationId xmlns:a16="http://schemas.microsoft.com/office/drawing/2014/main" id="{4687F2F1-5C2E-45C1-9EBA-E05EE347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911F9-408C-44FF-8DFC-8BBBEF3C311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807CD3EE-AC43-4044-AB9B-BB25AA4A3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8837"/>
            <a:ext cx="8229600" cy="777875"/>
          </a:xfrm>
        </p:spPr>
        <p:txBody>
          <a:bodyPr/>
          <a:lstStyle/>
          <a:p>
            <a:pPr eaLnBrk="1" hangingPunct="1"/>
            <a:r>
              <a:rPr lang="pt-PT" altLang="en-US" sz="4000" dirty="0"/>
              <a:t>Concretização do exemplo FORMA</a:t>
            </a:r>
          </a:p>
        </p:txBody>
      </p:sp>
      <p:sp>
        <p:nvSpPr>
          <p:cNvPr id="9221" name="AutoShape 4">
            <a:extLst>
              <a:ext uri="{FF2B5EF4-FFF2-40B4-BE49-F238E27FC236}">
                <a16:creationId xmlns:a16="http://schemas.microsoft.com/office/drawing/2014/main" id="{F336A3CD-6755-421F-AA09-D1ADAB7F7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981075"/>
            <a:ext cx="3889375" cy="1800225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accent1"/>
              </a:solidFill>
            </a:endParaRPr>
          </a:p>
        </p:txBody>
      </p:sp>
      <p:sp>
        <p:nvSpPr>
          <p:cNvPr id="9222" name="Text Box 5">
            <a:extLst>
              <a:ext uri="{FF2B5EF4-FFF2-40B4-BE49-F238E27FC236}">
                <a16:creationId xmlns:a16="http://schemas.microsoft.com/office/drawing/2014/main" id="{445642F5-F3D2-40B5-A676-68D2CB432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1125538"/>
            <a:ext cx="4052888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public abstract class Forma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{  // Classe abstracta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   public abstract double area();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   public abstract double perimetro();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}</a:t>
            </a: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E1F8B297-08DA-4738-8BD8-348FBC8F7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73463"/>
            <a:ext cx="32035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1FD582CE-D5DE-46B0-9B81-FA41431B3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" y="3557588"/>
            <a:ext cx="32591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class Circulo extends Forma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{ // variáveis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private double raio;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// construtores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public Circulo() { raio = 1.0;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public Circulo(double r)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{ raio = (r &lt;= 0.0 ? 1.0 : r);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// métodos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public double area() { return PI*raio*raio;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public double perimetro() { return 2*PI*raio;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public double raio() { return raio;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}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7D3270E4-0B89-4339-A6EB-B78FE0CFA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429000"/>
            <a:ext cx="3382963" cy="2447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6" name="Text Box 11">
            <a:extLst>
              <a:ext uri="{FF2B5EF4-FFF2-40B4-BE49-F238E27FC236}">
                <a16:creationId xmlns:a16="http://schemas.microsoft.com/office/drawing/2014/main" id="{68C01D95-C0FA-4D6D-8513-0455529F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411538"/>
            <a:ext cx="3489325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class Rectangulo extends Forma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// variáveis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private double comp, larg;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// construtores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Rectangulo() { comp = 0.0; larg = 0.0;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Rectangulo(double c, double l)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{ comp = c; larg = l;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// métodos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double area() { return comp*larg;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double perimetro() { return 2*(comp+larg);}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double largura() { return larg;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double comprimento() { return comp;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}</a:t>
            </a:r>
          </a:p>
        </p:txBody>
      </p:sp>
      <p:sp>
        <p:nvSpPr>
          <p:cNvPr id="9227" name="Rectangle 12">
            <a:extLst>
              <a:ext uri="{FF2B5EF4-FFF2-40B4-BE49-F238E27FC236}">
                <a16:creationId xmlns:a16="http://schemas.microsoft.com/office/drawing/2014/main" id="{5C878D65-87E1-4CB1-A219-9EAD1505F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349500"/>
            <a:ext cx="2592388" cy="43195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8" name="Text Box 14">
            <a:extLst>
              <a:ext uri="{FF2B5EF4-FFF2-40B4-BE49-F238E27FC236}">
                <a16:creationId xmlns:a16="http://schemas.microsoft.com/office/drawing/2014/main" id="{EE39F57E-45A1-4759-91B8-F7EA98337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2306638"/>
            <a:ext cx="2767012" cy="429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public class Triangulo extends Forma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/* altura tirada a meio da base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// variáveis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private double base, altura;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// construtores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Triangulo()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base = 0.0; altura = 0.0;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Triangulo(double b, double 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base = b; altura = a;}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// métodos de instância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double area()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return base*altura/2;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double perimetro()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return base + (2*this.hipotenusa());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double base()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return base;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double altura()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return altura;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public double hipotenusa()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{ return sqrt(pow(base/2, 2.0) +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             pow(altura, 2.0)) 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}</a:t>
            </a:r>
          </a:p>
        </p:txBody>
      </p:sp>
      <p:sp>
        <p:nvSpPr>
          <p:cNvPr id="9229" name="Line 17">
            <a:extLst>
              <a:ext uri="{FF2B5EF4-FFF2-40B4-BE49-F238E27FC236}">
                <a16:creationId xmlns:a16="http://schemas.microsoft.com/office/drawing/2014/main" id="{A451EAE6-8E25-4D48-A805-15A83CA3BC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3713" y="314166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9230" name="Line 18">
            <a:extLst>
              <a:ext uri="{FF2B5EF4-FFF2-40B4-BE49-F238E27FC236}">
                <a16:creationId xmlns:a16="http://schemas.microsoft.com/office/drawing/2014/main" id="{372E2FC8-4D13-4800-8DA1-6ED26B036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1416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9231" name="Line 19">
            <a:extLst>
              <a:ext uri="{FF2B5EF4-FFF2-40B4-BE49-F238E27FC236}">
                <a16:creationId xmlns:a16="http://schemas.microsoft.com/office/drawing/2014/main" id="{42F70143-83D0-48E9-A9A5-A602CFE1E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18446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9232" name="Line 20">
            <a:extLst>
              <a:ext uri="{FF2B5EF4-FFF2-40B4-BE49-F238E27FC236}">
                <a16:creationId xmlns:a16="http://schemas.microsoft.com/office/drawing/2014/main" id="{6C7BE982-ABFA-4ECD-B2A2-CC324A1CB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0650" y="184467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9233" name="Line 21">
            <a:extLst>
              <a:ext uri="{FF2B5EF4-FFF2-40B4-BE49-F238E27FC236}">
                <a16:creationId xmlns:a16="http://schemas.microsoft.com/office/drawing/2014/main" id="{7B813932-5FE6-414F-B868-A1C65FA406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27813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9234" name="Line 22">
            <a:extLst>
              <a:ext uri="{FF2B5EF4-FFF2-40B4-BE49-F238E27FC236}">
                <a16:creationId xmlns:a16="http://schemas.microsoft.com/office/drawing/2014/main" id="{59810E8B-D9AE-44D1-AAB0-34BAB74E1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27813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9235" name="Text Box 23">
            <a:extLst>
              <a:ext uri="{FF2B5EF4-FFF2-40B4-BE49-F238E27FC236}">
                <a16:creationId xmlns:a16="http://schemas.microsoft.com/office/drawing/2014/main" id="{DCA83616-EFE1-4C78-BA3F-17DFC3813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284538"/>
            <a:ext cx="122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b="1"/>
              <a:t>CIRCULO</a:t>
            </a:r>
          </a:p>
        </p:txBody>
      </p:sp>
      <p:sp>
        <p:nvSpPr>
          <p:cNvPr id="9236" name="Text Box 24">
            <a:extLst>
              <a:ext uri="{FF2B5EF4-FFF2-40B4-BE49-F238E27FC236}">
                <a16:creationId xmlns:a16="http://schemas.microsoft.com/office/drawing/2014/main" id="{C05F26DD-FCE2-455B-BB68-BBF1389C1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3160713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b="1"/>
              <a:t>RECTANGULO</a:t>
            </a:r>
          </a:p>
        </p:txBody>
      </p:sp>
      <p:sp>
        <p:nvSpPr>
          <p:cNvPr id="9237" name="Text Box 25">
            <a:extLst>
              <a:ext uri="{FF2B5EF4-FFF2-40B4-BE49-F238E27FC236}">
                <a16:creationId xmlns:a16="http://schemas.microsoft.com/office/drawing/2014/main" id="{5CBCE6E6-829B-4C48-A12E-ADFEB499A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900" y="2081213"/>
            <a:ext cx="154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 b="1"/>
              <a:t>TRIANGULO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Marcador de Posição do Rodapé 4">
            <a:extLst>
              <a:ext uri="{FF2B5EF4-FFF2-40B4-BE49-F238E27FC236}">
                <a16:creationId xmlns:a16="http://schemas.microsoft.com/office/drawing/2014/main" id="{A56C6642-64F1-4E74-929D-97DFC2CCC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Marcador de Posição do Número do Diapositivo 5">
            <a:extLst>
              <a:ext uri="{FF2B5EF4-FFF2-40B4-BE49-F238E27FC236}">
                <a16:creationId xmlns:a16="http://schemas.microsoft.com/office/drawing/2014/main" id="{9A74AF10-6315-4455-899C-05F8D49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61D2B7-0C55-4807-B053-375C5CD0DF6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5E1F7E29-6026-422F-B491-0B35CF919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864096"/>
          </a:xfrm>
        </p:spPr>
        <p:txBody>
          <a:bodyPr/>
          <a:lstStyle/>
          <a:p>
            <a:pPr eaLnBrk="1" hangingPunct="1"/>
            <a:r>
              <a:rPr lang="pt-PT" altLang="en-US" sz="3600" dirty="0"/>
              <a:t>Métodos específicos das subclasses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6EB9CEB9-A786-4503-BF30-8FDD9DA35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400"/>
              <a:t>Numa colecção de objectos FORMA como comunicar com as métodos específicos de rectangulo?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Forma f = new Rectangulo(4.0, 6.0);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int b = f.comprimento(); </a:t>
            </a:r>
          </a:p>
          <a:p>
            <a:pPr eaLnBrk="1" hangingPunct="1"/>
            <a:r>
              <a:rPr lang="pt-PT" altLang="en-US" sz="2400"/>
              <a:t>No entanto, podemos usar mecanismos de </a:t>
            </a:r>
            <a:r>
              <a:rPr lang="pt-PT" altLang="en-US" sz="2400" i="1"/>
              <a:t>casting</a:t>
            </a:r>
            <a:r>
              <a:rPr lang="pt-PT" altLang="en-US" sz="2400"/>
              <a:t> para comunicar com Rectangulos: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if(f  instanceof  Rectangulo) // testa tipo dinâmico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int b = ((Rectangulo)f).comprimento();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else</a:t>
            </a:r>
          </a:p>
          <a:p>
            <a:pPr lvl="2" eaLnBrk="1" hangingPunct="1"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. . . . .</a:t>
            </a:r>
          </a:p>
        </p:txBody>
      </p:sp>
      <p:sp>
        <p:nvSpPr>
          <p:cNvPr id="10246" name="AutoShape 4">
            <a:extLst>
              <a:ext uri="{FF2B5EF4-FFF2-40B4-BE49-F238E27FC236}">
                <a16:creationId xmlns:a16="http://schemas.microsoft.com/office/drawing/2014/main" id="{11FD37B6-17B7-4ECA-810B-AEF691E8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2493963"/>
            <a:ext cx="2376488" cy="647700"/>
          </a:xfrm>
          <a:prstGeom prst="wedgeRectCallout">
            <a:avLst>
              <a:gd name="adj1" fmla="val -137574"/>
              <a:gd name="adj2" fmla="val 25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Erro de compilação!!!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Posição do Rodapé 4">
            <a:extLst>
              <a:ext uri="{FF2B5EF4-FFF2-40B4-BE49-F238E27FC236}">
                <a16:creationId xmlns:a16="http://schemas.microsoft.com/office/drawing/2014/main" id="{7C59E4FC-0D92-4459-9099-121EF3A3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Marcador de Posição do Número do Diapositivo 5">
            <a:extLst>
              <a:ext uri="{FF2B5EF4-FFF2-40B4-BE49-F238E27FC236}">
                <a16:creationId xmlns:a16="http://schemas.microsoft.com/office/drawing/2014/main" id="{9E051685-AD5A-4015-B657-CF5A4136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98547A-F360-48CF-BA35-4D35331C41B1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5DB86D46-E8AE-4EB3-8E81-68529A877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777875"/>
          </a:xfrm>
        </p:spPr>
        <p:txBody>
          <a:bodyPr/>
          <a:lstStyle/>
          <a:p>
            <a:pPr eaLnBrk="1" hangingPunct="1"/>
            <a:r>
              <a:rPr lang="pt-PT" altLang="en-US" sz="3200" dirty="0"/>
              <a:t>Classes </a:t>
            </a:r>
            <a:r>
              <a:rPr lang="pt-PT" altLang="en-US" sz="3200" dirty="0" err="1"/>
              <a:t>abstractas</a:t>
            </a:r>
            <a:r>
              <a:rPr lang="pt-PT" altLang="en-US" sz="3200" dirty="0"/>
              <a:t> e Variáveis de instância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4347D0F8-3870-40EB-A4DF-E6E6E6E3B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36838"/>
            <a:ext cx="8229600" cy="39608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/>
              <a:t>Pode haver necessidade de definir na classe abstracta atributos comuns às suas subclasses.</a:t>
            </a:r>
          </a:p>
          <a:p>
            <a:pPr eaLnBrk="1" hangingPunct="1">
              <a:lnSpc>
                <a:spcPct val="80000"/>
              </a:lnSpc>
            </a:pPr>
            <a:endParaRPr lang="pt-PT" altLang="en-US" sz="2000"/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public abstract class ItemMulti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{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// variáveis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private String titulo;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private String data;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private String obs;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// métodos para redefinição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  public abstract double duracao();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}</a:t>
            </a:r>
            <a:endParaRPr lang="pt-PT" altLang="en-US" sz="1600"/>
          </a:p>
          <a:p>
            <a:pPr eaLnBrk="1" hangingPunct="1">
              <a:lnSpc>
                <a:spcPct val="80000"/>
              </a:lnSpc>
            </a:pPr>
            <a:endParaRPr lang="pt-PT" altLang="en-US" sz="2000"/>
          </a:p>
        </p:txBody>
      </p:sp>
      <p:pic>
        <p:nvPicPr>
          <p:cNvPr id="11270" name="Picture 4">
            <a:extLst>
              <a:ext uri="{FF2B5EF4-FFF2-40B4-BE49-F238E27FC236}">
                <a16:creationId xmlns:a16="http://schemas.microsoft.com/office/drawing/2014/main" id="{796B9DB4-A25E-4944-B65E-C1CDBC4EF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92150"/>
            <a:ext cx="5029200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AutoShape 5">
            <a:extLst>
              <a:ext uri="{FF2B5EF4-FFF2-40B4-BE49-F238E27FC236}">
                <a16:creationId xmlns:a16="http://schemas.microsoft.com/office/drawing/2014/main" id="{41413547-0E1F-4BB2-9980-B76DE3B8A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429000"/>
            <a:ext cx="4211637" cy="1439863"/>
          </a:xfrm>
          <a:prstGeom prst="wedgeRoundRectCallout">
            <a:avLst>
              <a:gd name="adj1" fmla="val -74880"/>
              <a:gd name="adj2" fmla="val 6587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Falta definir um constructor para esta classe abstracta, onde se inicializa as suas variáveis de instância!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public ItemMulti(String tit, String dat, String com)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     { titulo = tit; data = dat; obs = com;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Posição do Rodapé 4">
            <a:extLst>
              <a:ext uri="{FF2B5EF4-FFF2-40B4-BE49-F238E27FC236}">
                <a16:creationId xmlns:a16="http://schemas.microsoft.com/office/drawing/2014/main" id="{7312BA23-B7A2-41E3-A95A-2F039F99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Marcador de Posição do Número do Diapositivo 5">
            <a:extLst>
              <a:ext uri="{FF2B5EF4-FFF2-40B4-BE49-F238E27FC236}">
                <a16:creationId xmlns:a16="http://schemas.microsoft.com/office/drawing/2014/main" id="{D2112C35-8873-452C-9F4C-5CEC3CA8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B09FDD-15A1-4564-8442-26A4691D49C9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7F7BB671-1C70-4519-AF94-B7807B834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777875"/>
          </a:xfrm>
        </p:spPr>
        <p:txBody>
          <a:bodyPr/>
          <a:lstStyle/>
          <a:p>
            <a:pPr eaLnBrk="1" hangingPunct="1"/>
            <a:r>
              <a:rPr lang="pt-PT" altLang="en-US" dirty="0" err="1"/>
              <a:t>Cont</a:t>
            </a:r>
            <a:r>
              <a:rPr lang="pt-PT" altLang="en-US" dirty="0"/>
              <a:t>()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4AAF27BE-0FB3-4F31-8FBA-8AFF54DDB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400"/>
              <a:t>Embora não seja possível criar instâncias de uma classe abstracta faz sentido estas terem construtores (para inicializar as suas variáveis de instância)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public class Hi8 extends ItemMulti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{ // Variáveis de Instância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private int minutos;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private double ocupacao;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private int gravacoes;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// Construtores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public Hi8(String titulo, String data, String obs,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                 int min, double ocup, int gravc) 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{ </a:t>
            </a:r>
            <a:r>
              <a:rPr lang="pt-PT" altLang="en-US" b="1">
                <a:latin typeface="Times New Roman" panose="02020603050405020304" pitchFamily="18" charset="0"/>
              </a:rPr>
              <a:t>super(titulo, data, obs);</a:t>
            </a:r>
            <a:r>
              <a:rPr lang="pt-PT" altLang="en-US">
                <a:latin typeface="Times New Roman" panose="02020603050405020304" pitchFamily="18" charset="0"/>
              </a:rPr>
              <a:t> // super-classe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  this.minutos = min; this.ocupacao = ocup; 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  this.gravacoes = gravc; 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   . . . . . .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F88B-1D53-4356-A67F-EAD13BB7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PT" dirty="0"/>
              <a:t>Boas práticas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0C87F-CAC2-44B0-B458-1C9C5B3C8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84784"/>
          </a:xfrm>
        </p:spPr>
        <p:txBody>
          <a:bodyPr/>
          <a:lstStyle/>
          <a:p>
            <a:r>
              <a:rPr lang="pt-PT" dirty="0"/>
              <a:t>A classe abstrata pode/deve conter código comum às suas subclasses bem como todos os construtores relevantes.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8DD77-2048-4FCA-9F70-44C0E932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D134E-13CF-456C-A316-BDFF15BF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13E0-E331-4BBD-9070-E5BA63113594}" type="slidenum">
              <a:rPr lang="pt-PT" altLang="en-US" smtClean="0"/>
              <a:pPr>
                <a:defRPr/>
              </a:pPr>
              <a:t>11</a:t>
            </a:fld>
            <a:endParaRPr lang="pt-P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7FB34D-1898-4650-BD74-DF01C48273F5}"/>
              </a:ext>
            </a:extLst>
          </p:cNvPr>
          <p:cNvSpPr/>
          <p:nvPr/>
        </p:nvSpPr>
        <p:spPr>
          <a:xfrm>
            <a:off x="3563888" y="3284984"/>
            <a:ext cx="2232248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dirty="0" err="1">
                <a:solidFill>
                  <a:schemeClr val="tx1"/>
                </a:solidFill>
              </a:rPr>
              <a:t>class</a:t>
            </a:r>
            <a:r>
              <a:rPr lang="pt-PT" dirty="0">
                <a:solidFill>
                  <a:schemeClr val="tx1"/>
                </a:solidFill>
              </a:rPr>
              <a:t> </a:t>
            </a:r>
            <a:r>
              <a:rPr lang="pt-PT" dirty="0" err="1">
                <a:solidFill>
                  <a:schemeClr val="tx1"/>
                </a:solidFill>
              </a:rPr>
              <a:t>Abst</a:t>
            </a:r>
            <a:endParaRPr lang="pt-PT" dirty="0">
              <a:solidFill>
                <a:schemeClr val="tx1"/>
              </a:solidFill>
            </a:endParaRP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{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private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int</a:t>
            </a:r>
            <a:r>
              <a:rPr lang="pt-PT" sz="900" dirty="0">
                <a:solidFill>
                  <a:schemeClr val="tx1"/>
                </a:solidFill>
              </a:rPr>
              <a:t> x…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public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Abst</a:t>
            </a:r>
            <a:r>
              <a:rPr lang="pt-PT" sz="900" dirty="0">
                <a:solidFill>
                  <a:schemeClr val="tx1"/>
                </a:solidFill>
              </a:rPr>
              <a:t>(….)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… 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public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void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faz_algo</a:t>
            </a:r>
            <a:r>
              <a:rPr lang="pt-PT" sz="900" dirty="0">
                <a:solidFill>
                  <a:schemeClr val="tx1"/>
                </a:solidFill>
              </a:rPr>
              <a:t>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… 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public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int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abstract</a:t>
            </a:r>
            <a:r>
              <a:rPr lang="pt-PT" sz="900" dirty="0">
                <a:solidFill>
                  <a:schemeClr val="tx1"/>
                </a:solidFill>
              </a:rPr>
              <a:t> met1(…);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…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B991E6-E037-48FD-8AAF-4E1B827CD36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80012" y="4869160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0CC8BDC-41EA-4886-B06D-12783E3E01CF}"/>
              </a:ext>
            </a:extLst>
          </p:cNvPr>
          <p:cNvSpPr/>
          <p:nvPr/>
        </p:nvSpPr>
        <p:spPr>
          <a:xfrm>
            <a:off x="1619672" y="5517232"/>
            <a:ext cx="1728192" cy="1061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1100" dirty="0" err="1">
                <a:solidFill>
                  <a:schemeClr val="tx1"/>
                </a:solidFill>
              </a:rPr>
              <a:t>class</a:t>
            </a:r>
            <a:r>
              <a:rPr lang="pt-PT" sz="1100" dirty="0">
                <a:solidFill>
                  <a:schemeClr val="tx1"/>
                </a:solidFill>
              </a:rPr>
              <a:t> Sub1 </a:t>
            </a:r>
            <a:r>
              <a:rPr lang="pt-PT" sz="1100" dirty="0" err="1">
                <a:solidFill>
                  <a:schemeClr val="tx1"/>
                </a:solidFill>
              </a:rPr>
              <a:t>extends</a:t>
            </a:r>
            <a:r>
              <a:rPr lang="pt-PT" sz="1100" dirty="0">
                <a:solidFill>
                  <a:schemeClr val="tx1"/>
                </a:solidFill>
              </a:rPr>
              <a:t> </a:t>
            </a:r>
            <a:r>
              <a:rPr lang="pt-PT" sz="1100" dirty="0" err="1">
                <a:solidFill>
                  <a:schemeClr val="tx1"/>
                </a:solidFill>
              </a:rPr>
              <a:t>Abst</a:t>
            </a:r>
            <a:endParaRPr lang="pt-PT" sz="1100" dirty="0">
              <a:solidFill>
                <a:schemeClr val="tx1"/>
              </a:solidFill>
            </a:endParaRP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{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Sub1(…)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</a:t>
            </a:r>
            <a:r>
              <a:rPr lang="pt-PT" sz="900" dirty="0" err="1">
                <a:solidFill>
                  <a:schemeClr val="tx1"/>
                </a:solidFill>
              </a:rPr>
              <a:t>super</a:t>
            </a:r>
            <a:r>
              <a:rPr lang="pt-PT" sz="900" dirty="0">
                <a:solidFill>
                  <a:schemeClr val="tx1"/>
                </a:solidFill>
              </a:rPr>
              <a:t>(..);}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public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int</a:t>
            </a:r>
            <a:r>
              <a:rPr lang="pt-PT" sz="900" dirty="0">
                <a:solidFill>
                  <a:schemeClr val="tx1"/>
                </a:solidFill>
              </a:rPr>
              <a:t> met1(…)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 …. 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D2207-4DC5-4E74-A8C1-971A25828608}"/>
              </a:ext>
            </a:extLst>
          </p:cNvPr>
          <p:cNvSpPr/>
          <p:nvPr/>
        </p:nvSpPr>
        <p:spPr>
          <a:xfrm>
            <a:off x="3851920" y="5517231"/>
            <a:ext cx="1728192" cy="1080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1100" dirty="0" err="1">
                <a:solidFill>
                  <a:schemeClr val="tx1"/>
                </a:solidFill>
              </a:rPr>
              <a:t>class</a:t>
            </a:r>
            <a:r>
              <a:rPr lang="pt-PT" sz="1100" dirty="0">
                <a:solidFill>
                  <a:schemeClr val="tx1"/>
                </a:solidFill>
              </a:rPr>
              <a:t> Sub2 </a:t>
            </a:r>
            <a:r>
              <a:rPr lang="pt-PT" sz="1100" dirty="0" err="1">
                <a:solidFill>
                  <a:schemeClr val="tx1"/>
                </a:solidFill>
              </a:rPr>
              <a:t>extends</a:t>
            </a:r>
            <a:r>
              <a:rPr lang="pt-PT" sz="1100" dirty="0">
                <a:solidFill>
                  <a:schemeClr val="tx1"/>
                </a:solidFill>
              </a:rPr>
              <a:t> </a:t>
            </a:r>
            <a:r>
              <a:rPr lang="pt-PT" sz="1100" dirty="0" err="1">
                <a:solidFill>
                  <a:schemeClr val="tx1"/>
                </a:solidFill>
              </a:rPr>
              <a:t>Abst</a:t>
            </a:r>
            <a:endParaRPr lang="pt-PT" sz="1100" dirty="0">
              <a:solidFill>
                <a:schemeClr val="tx1"/>
              </a:solidFill>
            </a:endParaRP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{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Sub2(…)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</a:t>
            </a:r>
            <a:r>
              <a:rPr lang="pt-PT" sz="900" dirty="0" err="1">
                <a:solidFill>
                  <a:schemeClr val="tx1"/>
                </a:solidFill>
              </a:rPr>
              <a:t>super</a:t>
            </a:r>
            <a:r>
              <a:rPr lang="pt-PT" sz="900" dirty="0">
                <a:solidFill>
                  <a:schemeClr val="tx1"/>
                </a:solidFill>
              </a:rPr>
              <a:t>(..);}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public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int</a:t>
            </a:r>
            <a:r>
              <a:rPr lang="pt-PT" sz="900" dirty="0">
                <a:solidFill>
                  <a:schemeClr val="tx1"/>
                </a:solidFill>
              </a:rPr>
              <a:t> met1(…)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 …. 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E2F46-8DCD-44DE-B67C-0B5FA5B69521}"/>
              </a:ext>
            </a:extLst>
          </p:cNvPr>
          <p:cNvSpPr/>
          <p:nvPr/>
        </p:nvSpPr>
        <p:spPr>
          <a:xfrm>
            <a:off x="6228184" y="5517232"/>
            <a:ext cx="1728192" cy="1061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PT" sz="1100" dirty="0" err="1">
                <a:solidFill>
                  <a:schemeClr val="tx1"/>
                </a:solidFill>
              </a:rPr>
              <a:t>class</a:t>
            </a:r>
            <a:r>
              <a:rPr lang="pt-PT" sz="1100" dirty="0">
                <a:solidFill>
                  <a:schemeClr val="tx1"/>
                </a:solidFill>
              </a:rPr>
              <a:t> Sub3 </a:t>
            </a:r>
            <a:r>
              <a:rPr lang="pt-PT" sz="1100" dirty="0" err="1">
                <a:solidFill>
                  <a:schemeClr val="tx1"/>
                </a:solidFill>
              </a:rPr>
              <a:t>extends</a:t>
            </a:r>
            <a:r>
              <a:rPr lang="pt-PT" sz="1100" dirty="0">
                <a:solidFill>
                  <a:schemeClr val="tx1"/>
                </a:solidFill>
              </a:rPr>
              <a:t> </a:t>
            </a:r>
            <a:r>
              <a:rPr lang="pt-PT" sz="1100" dirty="0" err="1">
                <a:solidFill>
                  <a:schemeClr val="tx1"/>
                </a:solidFill>
              </a:rPr>
              <a:t>Abst</a:t>
            </a:r>
            <a:endParaRPr lang="pt-PT" sz="1100" dirty="0">
              <a:solidFill>
                <a:schemeClr val="tx1"/>
              </a:solidFill>
            </a:endParaRP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{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Sub3(…)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</a:t>
            </a:r>
            <a:r>
              <a:rPr lang="pt-PT" sz="900" dirty="0" err="1">
                <a:solidFill>
                  <a:schemeClr val="tx1"/>
                </a:solidFill>
              </a:rPr>
              <a:t>super</a:t>
            </a:r>
            <a:r>
              <a:rPr lang="pt-PT" sz="900" dirty="0">
                <a:solidFill>
                  <a:schemeClr val="tx1"/>
                </a:solidFill>
              </a:rPr>
              <a:t>(..);}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</a:t>
            </a:r>
            <a:r>
              <a:rPr lang="pt-PT" sz="900" dirty="0" err="1">
                <a:solidFill>
                  <a:schemeClr val="tx1"/>
                </a:solidFill>
              </a:rPr>
              <a:t>public</a:t>
            </a:r>
            <a:r>
              <a:rPr lang="pt-PT" sz="900" dirty="0">
                <a:solidFill>
                  <a:schemeClr val="tx1"/>
                </a:solidFill>
              </a:rPr>
              <a:t> </a:t>
            </a:r>
            <a:r>
              <a:rPr lang="pt-PT" sz="900" dirty="0" err="1">
                <a:solidFill>
                  <a:schemeClr val="tx1"/>
                </a:solidFill>
              </a:rPr>
              <a:t>int</a:t>
            </a:r>
            <a:r>
              <a:rPr lang="pt-PT" sz="900" dirty="0">
                <a:solidFill>
                  <a:schemeClr val="tx1"/>
                </a:solidFill>
              </a:rPr>
              <a:t> met1(…)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  {   …. }</a:t>
            </a:r>
          </a:p>
          <a:p>
            <a:pPr algn="just"/>
            <a:r>
              <a:rPr lang="pt-PT" sz="900" dirty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25D45F-FE42-44AA-8C7D-B4E6DA74B208}"/>
              </a:ext>
            </a:extLst>
          </p:cNvPr>
          <p:cNvCxnSpPr/>
          <p:nvPr/>
        </p:nvCxnSpPr>
        <p:spPr>
          <a:xfrm>
            <a:off x="2483768" y="515719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35EBDF-E36C-4BB8-98F6-F21FB547AD32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483768" y="51571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7C7B5C-A5A8-4600-8D0D-E726ED2823D2}"/>
              </a:ext>
            </a:extLst>
          </p:cNvPr>
          <p:cNvCxnSpPr/>
          <p:nvPr/>
        </p:nvCxnSpPr>
        <p:spPr>
          <a:xfrm>
            <a:off x="7164288" y="51571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Posição do Rodapé 4">
            <a:extLst>
              <a:ext uri="{FF2B5EF4-FFF2-40B4-BE49-F238E27FC236}">
                <a16:creationId xmlns:a16="http://schemas.microsoft.com/office/drawing/2014/main" id="{B91A9B18-18F9-4BAF-82A2-FE62C822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Marcador de Posição do Número do Diapositivo 5">
            <a:extLst>
              <a:ext uri="{FF2B5EF4-FFF2-40B4-BE49-F238E27FC236}">
                <a16:creationId xmlns:a16="http://schemas.microsoft.com/office/drawing/2014/main" id="{F068FB75-DF23-433F-8FE5-2D279A81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F36DAF-D259-454D-8DFE-A4A6EBA18B4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0745B702-9E68-433C-9B74-088AB4348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9" y="44624"/>
            <a:ext cx="8435975" cy="850900"/>
          </a:xfrm>
        </p:spPr>
        <p:txBody>
          <a:bodyPr/>
          <a:lstStyle/>
          <a:p>
            <a:pPr eaLnBrk="1" hangingPunct="1"/>
            <a:r>
              <a:rPr lang="pt-PT" altLang="en-US" sz="4000" dirty="0"/>
              <a:t>Classes </a:t>
            </a:r>
            <a:r>
              <a:rPr lang="pt-PT" altLang="en-US" sz="4000" dirty="0" err="1"/>
              <a:t>Abstractas</a:t>
            </a:r>
            <a:r>
              <a:rPr lang="pt-PT" altLang="en-US" sz="4000" dirty="0"/>
              <a:t> na API do Java8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8534FF34-11D6-4D9B-B16C-2D00AA684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881063"/>
            <a:ext cx="8229600" cy="963612"/>
          </a:xfrm>
        </p:spPr>
        <p:txBody>
          <a:bodyPr/>
          <a:lstStyle/>
          <a:p>
            <a:pPr eaLnBrk="1" hangingPunct="1"/>
            <a:r>
              <a:rPr lang="pt-PT" altLang="en-US" sz="2400"/>
              <a:t>Muitas vezes funcionam como máximos denominadores comuns… (onde não é fácil ter uma relação de inclusão)</a:t>
            </a:r>
          </a:p>
          <a:p>
            <a:pPr eaLnBrk="1" hangingPunct="1"/>
            <a:endParaRPr lang="pt-PT" altLang="en-US" sz="2400"/>
          </a:p>
          <a:p>
            <a:pPr eaLnBrk="1" hangingPunct="1"/>
            <a:endParaRPr lang="pt-PT" altLang="en-US"/>
          </a:p>
        </p:txBody>
      </p:sp>
      <p:pic>
        <p:nvPicPr>
          <p:cNvPr id="13318" name="Picture 4">
            <a:extLst>
              <a:ext uri="{FF2B5EF4-FFF2-40B4-BE49-F238E27FC236}">
                <a16:creationId xmlns:a16="http://schemas.microsoft.com/office/drawing/2014/main" id="{1759EB6D-AFA1-4074-8C69-06B9CEA21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5" y="1658938"/>
            <a:ext cx="507365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 Box 5">
            <a:extLst>
              <a:ext uri="{FF2B5EF4-FFF2-40B4-BE49-F238E27FC236}">
                <a16:creationId xmlns:a16="http://schemas.microsoft.com/office/drawing/2014/main" id="{64A88638-6277-4DDF-B282-04ECE4718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57563"/>
            <a:ext cx="8548687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/>
              <a:t> Por vezes reúnem as operações sobre uma abstracção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 (conjunto matemático). Neste caso específico a superclasse especifica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as operações que devem existir sobre um conjunto de objectos.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As subclasses implementam estas operações usando estruturas de dados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específicas.</a:t>
            </a:r>
          </a:p>
        </p:txBody>
      </p:sp>
      <p:pic>
        <p:nvPicPr>
          <p:cNvPr id="13320" name="Picture 6">
            <a:extLst>
              <a:ext uri="{FF2B5EF4-FFF2-40B4-BE49-F238E27FC236}">
                <a16:creationId xmlns:a16="http://schemas.microsoft.com/office/drawing/2014/main" id="{E5133FF2-E8BB-41EB-97FF-776311B23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4868863"/>
            <a:ext cx="511810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AutoShape 7">
            <a:extLst>
              <a:ext uri="{FF2B5EF4-FFF2-40B4-BE49-F238E27FC236}">
                <a16:creationId xmlns:a16="http://schemas.microsoft.com/office/drawing/2014/main" id="{A460F21B-E41D-417C-9C0F-285E65A5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4868863"/>
            <a:ext cx="1584325" cy="720725"/>
          </a:xfrm>
          <a:prstGeom prst="wedgeRectCallout">
            <a:avLst>
              <a:gd name="adj1" fmla="val -217634"/>
              <a:gd name="adj2" fmla="val 634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Todas as classes são classes parametrizadas</a:t>
            </a:r>
          </a:p>
        </p:txBody>
      </p:sp>
      <p:sp>
        <p:nvSpPr>
          <p:cNvPr id="13322" name="Text Box 8">
            <a:extLst>
              <a:ext uri="{FF2B5EF4-FFF2-40B4-BE49-F238E27FC236}">
                <a16:creationId xmlns:a16="http://schemas.microsoft.com/office/drawing/2014/main" id="{12B1913C-7B9C-4831-9004-0C971C89F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975" y="5800725"/>
            <a:ext cx="1743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TreeSet&lt;String&gt; 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TreeSet&lt;Ponto&gt; b;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Posição do Rodapé 4">
            <a:extLst>
              <a:ext uri="{FF2B5EF4-FFF2-40B4-BE49-F238E27FC236}">
                <a16:creationId xmlns:a16="http://schemas.microsoft.com/office/drawing/2014/main" id="{97B0C68D-464B-42E1-B549-904EAD58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39" name="Marcador de Posição do Número do Diapositivo 5">
            <a:extLst>
              <a:ext uri="{FF2B5EF4-FFF2-40B4-BE49-F238E27FC236}">
                <a16:creationId xmlns:a16="http://schemas.microsoft.com/office/drawing/2014/main" id="{C30126BA-3AA8-47EB-B9E1-EA1E7728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6B1296-F7E0-4568-A407-E5EA08B39996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F5A7A754-2A20-467E-949B-095C05FC0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dirty="0"/>
              <a:t>Método </a:t>
            </a:r>
            <a:r>
              <a:rPr lang="pt-PT" altLang="en-US" dirty="0" err="1">
                <a:latin typeface="Times New Roman" panose="02020603050405020304" pitchFamily="18" charset="0"/>
              </a:rPr>
              <a:t>equals</a:t>
            </a:r>
            <a:r>
              <a:rPr lang="pt-PT" altLang="en-US" dirty="0">
                <a:latin typeface="Times New Roman" panose="02020603050405020304" pitchFamily="18" charset="0"/>
              </a:rPr>
              <a:t>()</a:t>
            </a:r>
            <a:r>
              <a:rPr lang="pt-PT" altLang="en-US" dirty="0"/>
              <a:t> e Herança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745C9A44-84F8-4FEA-AAB8-F81835AA0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39888"/>
            <a:ext cx="8229600" cy="48847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800"/>
              <a:t>Na definição de igualdade, temos de ter em conta o que é herdado. Exemplo para a classe </a:t>
            </a:r>
            <a:r>
              <a:rPr lang="pt-PT" altLang="en-US" sz="2800">
                <a:latin typeface="Times New Roman" panose="02020603050405020304" pitchFamily="18" charset="0"/>
              </a:rPr>
              <a:t>Ponto3D</a:t>
            </a:r>
            <a:r>
              <a:rPr lang="pt-PT" altLang="en-US" sz="2800"/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800"/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boolean equals(Object obj)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 ( this == obj ) return true; // é o próprio !!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 ( obj == null ) return false;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if ( this.getClass() != obj.getClass() ) return false;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// Aqui temos a certeza que é um Ponto3D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Ponto3D pp = (Ponto3D) obj; // casting obrigatório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return super.getX() == pp.getX() &amp;&amp;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               super.getY() == pp.getY() &amp;&amp; this.z == pp.getZ();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64761EA-C93E-431A-81FB-EF37987CF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PT" altLang="en-US" dirty="0"/>
              <a:t>Método </a:t>
            </a:r>
            <a:r>
              <a:rPr lang="pt-PT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74FA2-0BFD-4A59-B4A5-A9598F64D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997450"/>
          </a:xfrm>
        </p:spPr>
        <p:txBody>
          <a:bodyPr/>
          <a:lstStyle/>
          <a:p>
            <a:pPr>
              <a:defRPr/>
            </a:pPr>
            <a:r>
              <a:rPr lang="pt-PT" sz="2800" dirty="0"/>
              <a:t>Por questões de normalização vamos sempre dizer que o nosso método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clone() </a:t>
            </a:r>
            <a:r>
              <a:rPr lang="pt-PT" sz="2800" dirty="0"/>
              <a:t>é </a:t>
            </a:r>
            <a:r>
              <a:rPr lang="pt-PT" sz="2800" dirty="0" err="1"/>
              <a:t>abstracto</a:t>
            </a:r>
            <a:r>
              <a:rPr lang="pt-PT" sz="2800" dirty="0"/>
              <a:t> na </a:t>
            </a:r>
            <a:r>
              <a:rPr lang="pt-PT" sz="2800" dirty="0" err="1"/>
              <a:t>class</a:t>
            </a:r>
            <a:r>
              <a:rPr lang="pt-PT" sz="2800" dirty="0"/>
              <a:t> </a:t>
            </a:r>
            <a:r>
              <a:rPr lang="pt-PT" sz="2800" dirty="0" err="1"/>
              <a:t>Abstracta</a:t>
            </a:r>
            <a:r>
              <a:rPr lang="pt-PT" sz="2800" dirty="0"/>
              <a:t> e concreto nas subclasses. Isto ajuda a normalizar a API e a lidar com o que é herdado de </a:t>
            </a:r>
            <a:r>
              <a:rPr lang="pt-P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PT" sz="2800" dirty="0"/>
              <a:t>.</a:t>
            </a:r>
          </a:p>
          <a:p>
            <a:pPr>
              <a:defRPr/>
            </a:pPr>
            <a:r>
              <a:rPr lang="pt-PT" sz="2800" dirty="0"/>
              <a:t>Classe Forma:</a:t>
            </a:r>
          </a:p>
          <a:p>
            <a:pPr lvl="1">
              <a:defRPr/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 clone();</a:t>
            </a:r>
          </a:p>
          <a:p>
            <a:pPr>
              <a:defRPr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 Triangulo:</a:t>
            </a:r>
          </a:p>
          <a:p>
            <a:pPr lvl="1">
              <a:defRPr/>
            </a:pP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Triangulo clone()</a:t>
            </a:r>
          </a:p>
          <a:p>
            <a:pPr marL="457200" lvl="1" indent="0">
              <a:buFontTx/>
              <a:buNone/>
              <a:defRPr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Triangulo(……);  }</a:t>
            </a:r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356DC14B-F5CA-4281-93ED-D08F13DF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4FF39485-0E99-42D5-8E90-65300397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6C1DFA-DB4F-49D1-B33C-05D554C8508F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Marcador de Posição do Rodapé 4">
            <a:extLst>
              <a:ext uri="{FF2B5EF4-FFF2-40B4-BE49-F238E27FC236}">
                <a16:creationId xmlns:a16="http://schemas.microsoft.com/office/drawing/2014/main" id="{7ECF701E-0307-4287-8D19-B48820D6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6387" name="Marcador de Posição do Número do Diapositivo 5">
            <a:extLst>
              <a:ext uri="{FF2B5EF4-FFF2-40B4-BE49-F238E27FC236}">
                <a16:creationId xmlns:a16="http://schemas.microsoft.com/office/drawing/2014/main" id="{A1011AF5-26FB-4540-B368-E88464EA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59C5D1-FF42-4B0A-8D2F-7AE780A04462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17F6B16C-1544-49FF-918C-021242E18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dirty="0"/>
              <a:t>Exercícios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0C218C7A-B2A0-476C-925C-D67098A62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616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/>
              <a:t>Definir uma classe abstracta </a:t>
            </a:r>
            <a:r>
              <a:rPr lang="pt-PT" altLang="en-US" sz="2000">
                <a:latin typeface="Times New Roman" panose="02020603050405020304" pitchFamily="18" charset="0"/>
              </a:rPr>
              <a:t>Forma</a:t>
            </a:r>
            <a:r>
              <a:rPr lang="pt-PT" altLang="en-US" sz="20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Definir a seguinte hierarquia de classes: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Implementar os métodos apresentados.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Definir a classe </a:t>
            </a:r>
            <a:r>
              <a:rPr lang="pt-PT" altLang="en-US" sz="2000">
                <a:latin typeface="Times New Roman" panose="02020603050405020304" pitchFamily="18" charset="0"/>
              </a:rPr>
              <a:t>FigGeo </a:t>
            </a:r>
            <a:r>
              <a:rPr lang="pt-PT" altLang="en-US" sz="2000"/>
              <a:t>que guarda um conjunto de figuras geométricas.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Adicionar a classe </a:t>
            </a:r>
            <a:r>
              <a:rPr lang="pt-PT" altLang="en-US" sz="2000">
                <a:latin typeface="Times New Roman" panose="02020603050405020304" pitchFamily="18" charset="0"/>
              </a:rPr>
              <a:t>Quadrado</a:t>
            </a:r>
            <a:r>
              <a:rPr lang="pt-PT" altLang="en-US" sz="2000"/>
              <a:t> e </a:t>
            </a:r>
            <a:r>
              <a:rPr lang="pt-PT" altLang="en-US" sz="2000">
                <a:latin typeface="Times New Roman" panose="02020603050405020304" pitchFamily="18" charset="0"/>
              </a:rPr>
              <a:t>Elipse</a:t>
            </a:r>
            <a:r>
              <a:rPr lang="pt-PT" altLang="en-US" sz="2000"/>
              <a:t> (subclasse de </a:t>
            </a:r>
            <a:r>
              <a:rPr lang="pt-PT" altLang="en-US" sz="2000">
                <a:latin typeface="Times New Roman" panose="02020603050405020304" pitchFamily="18" charset="0"/>
              </a:rPr>
              <a:t>Círculo</a:t>
            </a:r>
            <a:r>
              <a:rPr lang="pt-PT" altLang="en-US" sz="20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Implementar um método que determina a figura com a maior área e qual o seu tipo e outro método para o maior perímetro.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Um método para contabilizar o número de figuras por tipo. </a:t>
            </a:r>
          </a:p>
        </p:txBody>
      </p:sp>
      <p:pic>
        <p:nvPicPr>
          <p:cNvPr id="16390" name="Picture 4">
            <a:extLst>
              <a:ext uri="{FF2B5EF4-FFF2-40B4-BE49-F238E27FC236}">
                <a16:creationId xmlns:a16="http://schemas.microsoft.com/office/drawing/2014/main" id="{BD22B8B8-AEDE-4F0C-A78D-6D7072A85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835150"/>
            <a:ext cx="33639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Marcador de Posição do Rodapé 4">
            <a:extLst>
              <a:ext uri="{FF2B5EF4-FFF2-40B4-BE49-F238E27FC236}">
                <a16:creationId xmlns:a16="http://schemas.microsoft.com/office/drawing/2014/main" id="{8FB59751-6588-4E4E-8F90-06EB395A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7411" name="Marcador de Posição do Número do Diapositivo 5">
            <a:extLst>
              <a:ext uri="{FF2B5EF4-FFF2-40B4-BE49-F238E27FC236}">
                <a16:creationId xmlns:a16="http://schemas.microsoft.com/office/drawing/2014/main" id="{7B3CD301-C34E-430A-983F-46AA8F4D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E05E44-C576-4894-A272-E0D7A780699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86AE1D3-3E76-41FC-A453-920358804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dirty="0"/>
              <a:t>Exercícios (2)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3AFEC34C-3F6F-468B-904F-5324CEAE6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9974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400"/>
              <a:t>Criar um banco que guarda as contas num ArrayList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Definir uma classe abstracta </a:t>
            </a:r>
            <a:r>
              <a:rPr lang="pt-PT" altLang="en-US" sz="2400">
                <a:latin typeface="Times New Roman" panose="02020603050405020304" pitchFamily="18" charset="0"/>
              </a:rPr>
              <a:t>Conta</a:t>
            </a:r>
            <a:r>
              <a:rPr lang="pt-PT" altLang="en-US" sz="2400"/>
              <a:t>.</a:t>
            </a:r>
            <a:endParaRPr lang="pt-PT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Definir vários novos tipos de contas: conta à ordem, conta a prazo, conta jovem, conta ordenado e capital: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Prazo, tem uma taxa e um número de dias. Só há um debito que coincide com o final do prazo.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Jovem, tem taxa fixa de 1% TANB 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Ordenado, dá um </a:t>
            </a:r>
            <a:r>
              <a:rPr lang="pt-PT" altLang="en-US" sz="2000" i="1"/>
              <a:t>plafond</a:t>
            </a:r>
            <a:r>
              <a:rPr lang="pt-PT" altLang="en-US" sz="2000"/>
              <a:t> de um valor pré definido. Isto é, permite estar com saldo devedor até ao montante estabelecido.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Conta Capital, que contém uma taxa de juro variável, indexada por períodos. A rentabilidade é calculada sobre estes períodos. O plafond desta conta é indexado ao capital investido.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Contar número de contas por tipo, inserir contas na classe </a:t>
            </a:r>
            <a:r>
              <a:rPr lang="pt-PT" altLang="en-US" sz="2400">
                <a:latin typeface="Times New Roman" panose="02020603050405020304" pitchFamily="18" charset="0"/>
              </a:rPr>
              <a:t>Banco</a:t>
            </a:r>
            <a:r>
              <a:rPr lang="pt-PT" altLang="en-US" sz="2400"/>
              <a:t> e calcular despesa em juros que o banco tem que pagar.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C47F51BA-6BFF-43B0-94B7-57EB33289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PT" altLang="pt-PT" dirty="0"/>
              <a:t>Exercícios (3)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D8E7F3BD-4893-43BC-92D8-7681E5DDC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7538"/>
            <a:ext cx="8229600" cy="3773487"/>
          </a:xfrm>
        </p:spPr>
        <p:txBody>
          <a:bodyPr/>
          <a:lstStyle/>
          <a:p>
            <a:r>
              <a:rPr lang="pt-PT" altLang="pt-PT" sz="1800"/>
              <a:t>Uma empresa de telecomunicações regista as comunicações que cada cliente efetua. Uma </a:t>
            </a:r>
            <a:r>
              <a:rPr lang="pt-PT" altLang="pt-PT" sz="1800" i="1"/>
              <a:t>Comunicação</a:t>
            </a:r>
            <a:r>
              <a:rPr lang="pt-PT" altLang="pt-PT" sz="1800"/>
              <a:t> é representada pelo número de contacto, a duração em segundos e um preço por unidade. A empresa tem dois tipos de comunicações: </a:t>
            </a:r>
            <a:r>
              <a:rPr lang="pt-PT" altLang="pt-PT" sz="1800" i="1"/>
              <a:t>Voz</a:t>
            </a:r>
            <a:r>
              <a:rPr lang="pt-PT" altLang="pt-PT" sz="1800"/>
              <a:t> e </a:t>
            </a:r>
            <a:r>
              <a:rPr lang="pt-PT" altLang="pt-PT" sz="1800" i="1"/>
              <a:t>SMS</a:t>
            </a:r>
            <a:r>
              <a:rPr lang="pt-PT" altLang="pt-PT" sz="1800"/>
              <a:t>.  A primeira tem associada o tipo de tarifário a aplicar na cobrança da chamada, que pode ser </a:t>
            </a:r>
            <a:r>
              <a:rPr lang="pt-PT" altLang="pt-PT" sz="1800" i="1"/>
              <a:t>happy-hour</a:t>
            </a:r>
            <a:r>
              <a:rPr lang="pt-PT" altLang="pt-PT" sz="1800"/>
              <a:t> ou </a:t>
            </a:r>
            <a:r>
              <a:rPr lang="pt-PT" altLang="pt-PT" sz="1800" i="1"/>
              <a:t>normal</a:t>
            </a:r>
            <a:r>
              <a:rPr lang="pt-PT" altLang="pt-PT" sz="1800"/>
              <a:t>. O valor da comunicação é calculado pela fórmula (valor = duracao * 0.1) se em </a:t>
            </a:r>
            <a:r>
              <a:rPr lang="pt-PT" altLang="pt-PT" sz="1800" i="1"/>
              <a:t>happy-hour</a:t>
            </a:r>
            <a:r>
              <a:rPr lang="pt-PT" altLang="pt-PT" sz="1800"/>
              <a:t> ou (valor = </a:t>
            </a:r>
            <a:r>
              <a:rPr lang="pt-PT" altLang="pt-PT" sz="1800" i="1"/>
              <a:t>duracao</a:t>
            </a:r>
            <a:r>
              <a:rPr lang="pt-PT" altLang="pt-PT" sz="1800"/>
              <a:t> * preço / 60.0) se em período </a:t>
            </a:r>
            <a:r>
              <a:rPr lang="pt-PT" altLang="pt-PT" sz="1800" i="1"/>
              <a:t>normal</a:t>
            </a:r>
            <a:r>
              <a:rPr lang="pt-PT" altLang="pt-PT" sz="1800"/>
              <a:t>. Nas  </a:t>
            </a:r>
            <a:r>
              <a:rPr lang="pt-PT" altLang="pt-PT" sz="1800" i="1"/>
              <a:t>SMS</a:t>
            </a:r>
            <a:r>
              <a:rPr lang="pt-PT" altLang="pt-PT" sz="1800"/>
              <a:t>  é guardado o texto correspondente à mensagem. O valor é sempre calculado como (valor = </a:t>
            </a:r>
            <a:r>
              <a:rPr lang="pt-PT" altLang="pt-PT" sz="1800" i="1"/>
              <a:t>duracao</a:t>
            </a:r>
            <a:r>
              <a:rPr lang="pt-PT" altLang="pt-PT" sz="1800"/>
              <a:t> * 0.001), onde </a:t>
            </a:r>
            <a:r>
              <a:rPr lang="pt-PT" altLang="pt-PT" sz="1800" i="1"/>
              <a:t>duracao</a:t>
            </a:r>
            <a:r>
              <a:rPr lang="pt-PT" altLang="pt-PT" sz="1800"/>
              <a:t> representa o número de caracteres usados na mensagem. Escreve as classes </a:t>
            </a:r>
            <a:r>
              <a:rPr lang="pt-PT" altLang="pt-PT" sz="1800" i="1"/>
              <a:t>Comunicação</a:t>
            </a:r>
            <a:r>
              <a:rPr lang="pt-PT" altLang="pt-PT" sz="1800"/>
              <a:t>, </a:t>
            </a:r>
            <a:r>
              <a:rPr lang="pt-PT" altLang="pt-PT" sz="1800" i="1"/>
              <a:t>Voz</a:t>
            </a:r>
            <a:r>
              <a:rPr lang="pt-PT" altLang="pt-PT" sz="1800"/>
              <a:t> e </a:t>
            </a:r>
            <a:r>
              <a:rPr lang="pt-PT" altLang="pt-PT" sz="1800" i="1"/>
              <a:t>SMS</a:t>
            </a:r>
            <a:r>
              <a:rPr lang="pt-PT" altLang="pt-PT" sz="1800"/>
              <a:t>. Não esquecer de implementar, nas duas classes, todos os métodos abstratos definidos em </a:t>
            </a:r>
            <a:r>
              <a:rPr lang="pt-PT" altLang="pt-PT" sz="1800" i="1"/>
              <a:t>Comunicação</a:t>
            </a:r>
            <a:r>
              <a:rPr lang="pt-PT" altLang="pt-PT" sz="1800"/>
              <a:t>, bem como o construtor e os seletores necessários.</a:t>
            </a:r>
          </a:p>
        </p:txBody>
      </p:sp>
      <p:sp>
        <p:nvSpPr>
          <p:cNvPr id="18436" name="Footer Placeholder 3">
            <a:extLst>
              <a:ext uri="{FF2B5EF4-FFF2-40B4-BE49-F238E27FC236}">
                <a16:creationId xmlns:a16="http://schemas.microsoft.com/office/drawing/2014/main" id="{714F2B87-A9C0-4DF3-88F2-A7B868EBA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pt-PT" sz="1400"/>
              <a:t>Programação Orientada aos Objetos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1A2F90D7-A553-4664-810A-14E786D9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B30B73-C90D-4B7D-A346-2F3DA6D0EFF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3D95E0C1-6533-42DD-945E-C89A72760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PT" altLang="pt-PT" dirty="0"/>
              <a:t>Exercícios (3b)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3AE37F72-3A2E-468B-983A-0CD6DFDAE2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5357812"/>
          </a:xfrm>
        </p:spPr>
        <p:txBody>
          <a:bodyPr/>
          <a:lstStyle/>
          <a:p>
            <a:endParaRPr lang="pt-PT" altLang="pt-PT" sz="1600"/>
          </a:p>
          <a:p>
            <a:r>
              <a:rPr lang="pt-PT" altLang="pt-PT" sz="1800"/>
              <a:t>Escreva uma classe Mbox que corresponde às comunicações recebidas por um telemóvel. Nesta classe estão representados: o número do telemóvel e as </a:t>
            </a:r>
            <a:r>
              <a:rPr lang="pt-PT" altLang="pt-PT" sz="1800" i="1"/>
              <a:t>Comunicações</a:t>
            </a:r>
            <a:r>
              <a:rPr lang="pt-PT" altLang="pt-PT" sz="1800"/>
              <a:t> recebidas. As chamadas estão organizadas por número de origem. Implemente também as seguintes funcionalidades: </a:t>
            </a:r>
          </a:p>
          <a:p>
            <a:pPr lvl="1"/>
            <a:r>
              <a:rPr lang="pt-PT" altLang="pt-PT" sz="1800"/>
              <a:t>o construtor para criar uma nova Mbox,</a:t>
            </a:r>
          </a:p>
          <a:p>
            <a:pPr lvl="1"/>
            <a:r>
              <a:rPr lang="pt-PT" altLang="pt-PT" sz="1800"/>
              <a:t>um método para determinar o número de diferentes origens que efetuaram comunicações para o telemóvel da Mbox,</a:t>
            </a:r>
          </a:p>
          <a:p>
            <a:pPr lvl="1"/>
            <a:r>
              <a:rPr lang="pt-PT" altLang="pt-PT" sz="1800"/>
              <a:t>um método para determinar o número de comunicações efetuadas para este telemóvel, </a:t>
            </a:r>
          </a:p>
          <a:p>
            <a:pPr lvl="1"/>
            <a:r>
              <a:rPr lang="pt-PT" altLang="pt-PT" sz="1800"/>
              <a:t>um método para adicionar uma nova Chamada, </a:t>
            </a:r>
          </a:p>
          <a:p>
            <a:pPr lvl="1"/>
            <a:r>
              <a:rPr lang="pt-PT" altLang="pt-PT" sz="1800"/>
              <a:t>dado um número origem, calcular o valor total de comunicações associado a esse número (soma dos valores de todas as chamadas efetuadas para o telemóvel),</a:t>
            </a:r>
          </a:p>
          <a:p>
            <a:pPr lvl="1"/>
            <a:r>
              <a:rPr lang="pt-PT" altLang="pt-PT" sz="1800"/>
              <a:t>identificar, pelo número de origem, o número que mais  SMSs  enviou para o telemóvel. </a:t>
            </a:r>
          </a:p>
          <a:p>
            <a:endParaRPr lang="pt-PT" altLang="pt-PT" sz="1600"/>
          </a:p>
          <a:p>
            <a:endParaRPr lang="pt-PT" altLang="pt-PT" sz="1600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DDC56926-0CD0-4134-B8B2-6E016A4B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pt-PT" sz="1400"/>
              <a:t>Programação Orientada aos Objetos</a:t>
            </a:r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52BA7C68-8970-400C-888F-B1415601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4BB502-65A1-4CC1-9905-5C5B53E709F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8600</TotalTime>
  <Words>2274</Words>
  <Application>Microsoft Office PowerPoint</Application>
  <PresentationFormat>On-screen Show (4:3)</PresentationFormat>
  <Paragraphs>284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Default Design</vt:lpstr>
      <vt:lpstr>Programação Orientada aos Objetos  (Licenciatura em Engenharia de Telecomunicações &amp; Informática)  2º Ano, 1º Semestre</vt:lpstr>
      <vt:lpstr>Definições da SuperClasse</vt:lpstr>
      <vt:lpstr>SuperClasses (2)</vt:lpstr>
      <vt:lpstr>Classes Abstractas</vt:lpstr>
      <vt:lpstr>Classes Abstractas (2)</vt:lpstr>
      <vt:lpstr>Classes Abstractas: resumo</vt:lpstr>
      <vt:lpstr>Concretização do exemplo FORMA</vt:lpstr>
      <vt:lpstr>Métodos específicos das subclasses</vt:lpstr>
      <vt:lpstr>Classes abstractas e Variáveis de instância</vt:lpstr>
      <vt:lpstr>Cont()</vt:lpstr>
      <vt:lpstr>Boas práticas</vt:lpstr>
      <vt:lpstr>Classes Abstractas na API do Java8</vt:lpstr>
      <vt:lpstr>Método equals() e Herança</vt:lpstr>
      <vt:lpstr>Método clone()</vt:lpstr>
      <vt:lpstr>Exercícios</vt:lpstr>
      <vt:lpstr>Exercícios (2)</vt:lpstr>
      <vt:lpstr>Exercícios (3)</vt:lpstr>
      <vt:lpstr>Exercícios (3b)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Paulo Jorge Sousa Azevedo</cp:lastModifiedBy>
  <cp:revision>656</cp:revision>
  <dcterms:created xsi:type="dcterms:W3CDTF">2008-02-28T16:13:14Z</dcterms:created>
  <dcterms:modified xsi:type="dcterms:W3CDTF">2024-10-17T09:38:58Z</dcterms:modified>
</cp:coreProperties>
</file>