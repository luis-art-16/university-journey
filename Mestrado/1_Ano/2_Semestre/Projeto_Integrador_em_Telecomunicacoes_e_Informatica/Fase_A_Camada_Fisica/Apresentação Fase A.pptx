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8F875A74.xml" ContentType="application/vnd.ms-powerpoint.comments+xml"/>
  <Override PartName="/ppt/notesSlides/notesSlide2.xml" ContentType="application/vnd.openxmlformats-officedocument.presentationml.notesSlide+xml"/>
  <Override PartName="/ppt/comments/modernComment_101_1377AD75.xml" ContentType="application/vnd.ms-powerpoint.comments+xml"/>
  <Override PartName="/ppt/notesSlides/notesSlide3.xml" ContentType="application/vnd.openxmlformats-officedocument.presentationml.notesSlide+xml"/>
  <Override PartName="/ppt/comments/modernComment_109_8B8E44E2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5" r:id="rId4"/>
    <p:sldId id="274" r:id="rId5"/>
    <p:sldId id="276" r:id="rId6"/>
    <p:sldId id="266" r:id="rId7"/>
    <p:sldId id="279" r:id="rId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3293C52-8BEA-1726-83E1-49AF8286974A}" name="Luís Baptista" initials="LB" userId="20fcfdb117550c5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BDDDD"/>
    <a:srgbClr val="F4A6A6"/>
    <a:srgbClr val="FAFDBB"/>
    <a:srgbClr val="F9F9FB"/>
    <a:srgbClr val="871129"/>
    <a:srgbClr val="C90303"/>
    <a:srgbClr val="EE4848"/>
    <a:srgbClr val="FF9B9B"/>
    <a:srgbClr val="C76C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em Estilo, Tabela com Grelh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Estilo Claro 2 - Destaqu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Estilo Médio 2 - Destaqu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Estilo Médio 1 - Destaqu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Estilo Claro 1 - Destaqu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Estilo Claro 2 - Destaqu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Estilo Claro 2 - Destaqu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84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comments/modernComment_100_8F875A7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9F5E3B-400F-4E54-9E04-B426A15FDEFA}" authorId="{13293C52-8BEA-1726-83E1-49AF8286974A}" created="2025-11-08T19:42:08.679">
    <pc:sldMkLst xmlns:pc="http://schemas.microsoft.com/office/powerpoint/2013/main/command">
      <pc:docMk/>
      <pc:sldMk cId="2408012404" sldId="256"/>
    </pc:sldMkLst>
    <p188:txBody>
      <a:bodyPr/>
      <a:lstStyle/>
      <a:p>
        <a:endParaRPr lang="pt-PT"/>
      </a:p>
    </p188:txBody>
  </p188:cm>
</p188:cmLst>
</file>

<file path=ppt/comments/modernComment_101_1377AD7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B551B4-4744-4F2E-96D1-0AAA3EA25891}" authorId="{13293C52-8BEA-1726-83E1-49AF8286974A}" created="2025-11-08T19:42:28.163">
    <pc:sldMkLst xmlns:pc="http://schemas.microsoft.com/office/powerpoint/2013/main/command">
      <pc:docMk/>
      <pc:sldMk cId="326610293" sldId="257"/>
    </pc:sldMkLst>
    <p188:txBody>
      <a:bodyPr/>
      <a:lstStyle/>
      <a:p>
        <a:endParaRPr lang="pt-PT"/>
      </a:p>
    </p188:txBody>
  </p188:cm>
  <p188:cm id="{FE5A0AB6-0EF9-405B-9AE6-C0386562893F}" authorId="{13293C52-8BEA-1726-83E1-49AF8286974A}" created="2026-03-01T16:56:18.783">
    <pc:sldMkLst xmlns:pc="http://schemas.microsoft.com/office/powerpoint/2013/main/command">
      <pc:docMk/>
      <pc:sldMk cId="326610293" sldId="257"/>
    </pc:sldMkLst>
    <p188:txBody>
      <a:bodyPr/>
      <a:lstStyle/>
      <a:p>
        <a:r>
          <a:rPr lang="pt-PT"/>
          <a:t>Life dongle = recetores integrados nos dispositivos finais.. telemoveis (camara)</a:t>
        </a:r>
      </a:p>
    </p188:txBody>
  </p188:cm>
</p188:cmLst>
</file>

<file path=ppt/comments/modernComment_109_8B8E44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6B19A52-8988-4B6C-B6BE-0C897F82C9FC}" authorId="{13293C52-8BEA-1726-83E1-49AF8286974A}" created="2025-11-08T22:50:06.512">
    <pc:sldMkLst xmlns:pc="http://schemas.microsoft.com/office/powerpoint/2013/main/command">
      <pc:docMk/>
      <pc:sldMk cId="2341356770" sldId="265"/>
    </pc:sldMkLst>
    <p188:txBody>
      <a:bodyPr/>
      <a:lstStyle/>
      <a:p>
        <a:endParaRPr lang="pt-PT"/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48F21-65F0-4585-B74D-4DE7C21418C9}" type="datetimeFigureOut">
              <a:rPr lang="pt-PT" smtClean="0"/>
              <a:t>04/03/2026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692395-64DF-44BB-9800-A7E320F7CEC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44369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9974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8527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80468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3BF0A-A3DE-2967-4729-DF3F4E893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97962CA-F68B-072F-833B-CD1613982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90C4528-6397-CDAF-52C6-245A91031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CA81473-D319-C6C5-1D21-9E7CF66DB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68804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52EBF-986D-F06E-EDAC-923D90E9B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48CEB311-81F6-E275-41DF-D0D058CE0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3E8EE21-14C5-5BEC-47B4-9540FAB40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064BD93-2F6E-0B7F-53FB-389CBA445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4531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420C5-4898-6F26-E205-F6253575A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15E43EF2-9C9C-6BB1-A6A0-A8A29F71C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A5EA2D2-F2C2-91D6-F46C-AFD0DBE02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699D6E1-75E1-CE7E-D22C-54E4471CF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3444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5F60C-3B95-F31E-E3C3-EF2F5978D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2F09065-077E-C025-6B57-C241FCF479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3F9BA934-BB18-DC6D-F3CB-47A458F9B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CA1C47B-F9FC-2321-F16F-4A27CC13A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3148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3A426-EB14-6EA3-7688-BA921C0B48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E906EC-E92A-9048-FAED-F688C27D6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8203ABB-48D3-C3DB-C19D-37F14C0BB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04/03/2026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9765AA9-07E5-01BD-68DA-34458946D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F7FF1DD-C60F-7336-AF73-8945E173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61207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16C23-C136-B5B5-7774-3E6C3E796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E9695F5-3D2B-FDAE-8A9C-A54D2AF3E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73891B5-E793-740A-78A5-AB71876B6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04/03/2026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671BEB2-1E33-9A5D-AAC0-2DB715D6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6064D3C-2A85-36BB-ABA2-4EBC4DCB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01770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9302B-7CD2-535E-5106-4DAB5395F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8443AF8-F08F-47EA-3198-5BBE003B1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A4D3115-CE5D-B258-DD7E-5D80B5C1D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04/03/2026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9D5962D-C5EC-28EF-5280-0B85D4D3B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BF849AB-0813-D2AE-5CD4-BEFBEBC5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12047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2CF37-326F-7898-A797-0BBBA880E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AC49BDA-C55A-9190-A5AA-9995A59A2D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D717AFD-8606-2592-7709-88C34E82A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67C0DDA-90A3-AF6B-520C-C0A571D08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04/03/2026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1539A36-6D61-6517-9DAC-EE8229795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A040648-02C2-1C5D-B099-C99BBBCE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70921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CE1835-37D8-845D-69A0-DFF07C833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915BD69-5B39-EAE2-81C0-5A8CAB3F2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0A93EE65-4B62-ABB3-F478-EAA329EDF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5462E51B-EAF6-6358-0E4E-C2EC89626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12C99265-C348-7C28-8E0A-D5534D0E05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6F9B286A-7994-D80A-8D6D-31DAF8102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04/03/2026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1798D077-05FA-A9AA-C14F-AB5F258D3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76346275-2183-4A11-0072-D9D30AD5B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63049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9CB57-EAC3-436A-3527-CF6182860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6B19BA0B-E51E-5B95-F4E6-CEC39BBC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04/03/2026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6F2332B4-AA05-E19A-A82F-CC1B1D86B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EFEBC615-1198-B718-2D81-15D1EA25D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38555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80CDEBAE-5A03-FD2B-A0C2-DDDC80391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04/03/2026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A61C3EB4-7DEC-DD66-178C-4D0F63B5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CC6B211-13AE-AA62-D0E4-D5711371C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15372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43945-1FD5-A4DB-49FB-00B0E5611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0126BC1-1258-6703-3CAF-6BB31B898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67633CC-32FB-6E22-A87F-D9186C84B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ADC7D05-48F1-4687-69E5-2F500C52C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04/03/2026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B4191F82-0C87-F6C7-07D8-7BFBDCBF9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B5A17E8-D233-42BB-3150-84D1E1306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42874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2E20C2-0C16-C7FB-FD1B-CE44B6C3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43F40AA0-CF00-D5EA-01FF-2262C2F70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B64765C3-AF85-2EC0-7954-D1BA7BD70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A27A198-1198-5144-6497-DE8C65FA6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04/03/2026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B482D34-66C1-0483-6414-EACEACE00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2999395-18DA-44DF-9F1A-F65B9005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8029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289D02-98A5-8B51-B4E8-39E8FFEF5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6F21A530-2C54-A6DF-E0A7-0740B3CE2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3A5EFEC-2042-2AD6-9D18-3BBB1FA5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04/03/2026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A798AE4-26DD-59E1-2986-D0327EBB8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485632F-85B4-C1C9-D4A7-2B17FCD9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730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0B6E04-F964-2B0B-92CA-15DF75294D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3B2580C6-CD06-88DF-DDD0-6985C46BC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B5C20B1-E35F-108A-65CF-40AE6ED2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04/03/2026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C2E39D8-F14C-2E18-E736-5FDDC0D6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CB7E06D-55C5-DB45-AF8D-C2EC47059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395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9CB08DA5-8E45-4525-2EDC-2D7988C8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2364359-8D46-32A9-763C-EDF2DAC2D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A625105-ACCC-77C3-31CC-A141431FAE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C5723F-1371-495A-8067-455C650E7737}" type="datetimeFigureOut">
              <a:rPr lang="pt-PT" smtClean="0"/>
              <a:t>04/03/2026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F5C4E16-D623-6FFA-6063-25668684E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034D9DF-C769-CC10-A98F-38A9322B7C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5886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8F875A7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1377AD7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9_8B8E44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1EE61-2F39-8481-E437-94DEEE01C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4908" y="943719"/>
            <a:ext cx="9353323" cy="1612035"/>
          </a:xfrm>
        </p:spPr>
        <p:txBody>
          <a:bodyPr>
            <a:normAutofit/>
          </a:bodyPr>
          <a:lstStyle/>
          <a:p>
            <a:r>
              <a:rPr lang="pt-P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Protótipo De Um Sistema Li-Fi para Ambiente Aeroportuário (Fase A)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AED611-176D-0120-C3B8-4A7229363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1425" y="3794017"/>
            <a:ext cx="9002139" cy="3024544"/>
          </a:xfrm>
        </p:spPr>
        <p:txBody>
          <a:bodyPr>
            <a:normAutofit fontScale="85000" lnSpcReduction="10000"/>
          </a:bodyPr>
          <a:lstStyle/>
          <a:p>
            <a:pPr algn="l">
              <a:lnSpc>
                <a:spcPct val="17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Grupo 3: </a:t>
            </a:r>
            <a:b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Luis Baptista PG61434</a:t>
            </a:r>
          </a:p>
          <a:p>
            <a:pPr algn="l">
              <a:lnSpc>
                <a:spcPct val="17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Bernardo Salgado PG59972</a:t>
            </a:r>
          </a:p>
          <a:p>
            <a:pPr algn="l">
              <a:lnSpc>
                <a:spcPct val="17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Nuno Mirra PG57594 </a:t>
            </a:r>
          </a:p>
          <a:p>
            <a:pPr algn="l">
              <a:lnSpc>
                <a:spcPct val="17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Pedro Daniel PG58741</a:t>
            </a:r>
          </a:p>
          <a:p>
            <a:pPr>
              <a:lnSpc>
                <a:spcPct val="15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2025/26</a:t>
            </a:r>
          </a:p>
        </p:txBody>
      </p:sp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B8A7FF0E-B58B-DFA0-1C3D-2D836C868407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7" name="Conexão reta 6">
            <a:extLst>
              <a:ext uri="{FF2B5EF4-FFF2-40B4-BE49-F238E27FC236}">
                <a16:creationId xmlns:a16="http://schemas.microsoft.com/office/drawing/2014/main" id="{AB5E098C-9123-BBDD-C5EF-C78CFB5B9E8E}"/>
              </a:ext>
            </a:extLst>
          </p:cNvPr>
          <p:cNvCxnSpPr>
            <a:cxnSpLocks/>
          </p:cNvCxnSpPr>
          <p:nvPr/>
        </p:nvCxnSpPr>
        <p:spPr>
          <a:xfrm flipV="1">
            <a:off x="1845507" y="3274785"/>
            <a:ext cx="10346493" cy="1562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654EECC-81D5-163B-6B3B-B7125AF28A05}"/>
              </a:ext>
            </a:extLst>
          </p:cNvPr>
          <p:cNvSpPr txBox="1"/>
          <p:nvPr/>
        </p:nvSpPr>
        <p:spPr>
          <a:xfrm>
            <a:off x="2164908" y="2613320"/>
            <a:ext cx="944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Projeto Integrador em Telecomunicações e Informática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4E91423-771B-2FCB-8DB7-B03D30A94C92}"/>
              </a:ext>
            </a:extLst>
          </p:cNvPr>
          <p:cNvSpPr txBox="1"/>
          <p:nvPr/>
        </p:nvSpPr>
        <p:spPr>
          <a:xfrm>
            <a:off x="3594424" y="3274785"/>
            <a:ext cx="9339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Mestrado Em Engenharia De Telecomunicações E Informática</a:t>
            </a:r>
          </a:p>
          <a:p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AB4E474-DD53-922F-E9AF-695DE9109DF7}"/>
              </a:ext>
            </a:extLst>
          </p:cNvPr>
          <p:cNvSpPr txBox="1"/>
          <p:nvPr/>
        </p:nvSpPr>
        <p:spPr>
          <a:xfrm>
            <a:off x="289154" y="1024101"/>
            <a:ext cx="4211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Universidade do Minho</a:t>
            </a:r>
          </a:p>
          <a:p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Escola de Engenharia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65310C6-A67B-06C6-5953-D3CE308D62E2}"/>
              </a:ext>
            </a:extLst>
          </p:cNvPr>
          <p:cNvSpPr/>
          <p:nvPr/>
        </p:nvSpPr>
        <p:spPr>
          <a:xfrm>
            <a:off x="360948" y="1558978"/>
            <a:ext cx="741560" cy="5306442"/>
          </a:xfrm>
          <a:prstGeom prst="rect">
            <a:avLst/>
          </a:prstGeom>
          <a:solidFill>
            <a:srgbClr val="8711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A8786C4-3D82-08D6-047B-BDD2C4E85192}"/>
              </a:ext>
            </a:extLst>
          </p:cNvPr>
          <p:cNvSpPr/>
          <p:nvPr/>
        </p:nvSpPr>
        <p:spPr>
          <a:xfrm>
            <a:off x="1103947" y="1558978"/>
            <a:ext cx="741560" cy="5306442"/>
          </a:xfrm>
          <a:prstGeom prst="rect">
            <a:avLst/>
          </a:prstGeom>
          <a:solidFill>
            <a:srgbClr val="C76C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012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65143B22-344B-AC0D-6984-70B7376D4676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DFB57B3F-B865-2E59-CBC8-F759D8271DD1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B949F51-05E1-A57C-D2FD-555C45FB9E42}"/>
              </a:ext>
            </a:extLst>
          </p:cNvPr>
          <p:cNvSpPr txBox="1"/>
          <p:nvPr/>
        </p:nvSpPr>
        <p:spPr>
          <a:xfrm>
            <a:off x="192505" y="1366684"/>
            <a:ext cx="11790948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Introdução</a:t>
            </a:r>
            <a:endParaRPr lang="pt-PT" sz="3200" b="1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CF77160-4A56-33A7-2ADB-791841605D5F}"/>
              </a:ext>
            </a:extLst>
          </p:cNvPr>
          <p:cNvSpPr txBox="1"/>
          <p:nvPr/>
        </p:nvSpPr>
        <p:spPr>
          <a:xfrm>
            <a:off x="0" y="2147068"/>
            <a:ext cx="437535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/>
              <a:t>Problema:</a:t>
            </a:r>
            <a:r>
              <a:rPr lang="pt-PT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/>
              <a:t>Redes rádio (Wi-Fi) saturadas em aeroportos.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/>
              <a:t>Risco de interferência eletromagnética (EMI).</a:t>
            </a:r>
          </a:p>
          <a:p>
            <a:endParaRPr lang="pt-PT" b="1" dirty="0"/>
          </a:p>
          <a:p>
            <a:r>
              <a:rPr lang="pt-PT" b="1" dirty="0"/>
              <a:t>Solução:</a:t>
            </a:r>
            <a:r>
              <a:rPr lang="pt-PT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/>
              <a:t>Luz Infravermelha (Espectro livre, segura, confinada ao espaço).</a:t>
            </a:r>
          </a:p>
          <a:p>
            <a:endParaRPr lang="pt-PT" b="1" dirty="0"/>
          </a:p>
          <a:p>
            <a:r>
              <a:rPr lang="pt-PT" b="1" dirty="0"/>
              <a:t>Abordagem: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/>
              <a:t>Projetar um sistema exclusivamente com componentes analógicos básicos (Timer NE555, AmpOp TL084, Transístores).</a:t>
            </a:r>
          </a:p>
          <a:p>
            <a:pPr algn="just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m 8" descr="Uma imagem com texto, diagrama, captura de ecrã, file&#10;&#10;Os conteúdos gerados por IA podem estar incorretos.">
            <a:extLst>
              <a:ext uri="{FF2B5EF4-FFF2-40B4-BE49-F238E27FC236}">
                <a16:creationId xmlns:a16="http://schemas.microsoft.com/office/drawing/2014/main" id="{F775E0B6-2412-F14E-DCD6-5AD3B649F5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072" y="2147068"/>
            <a:ext cx="8187252" cy="4253732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5533B0A-39F9-2FC5-74F5-1040D89C2615}"/>
              </a:ext>
            </a:extLst>
          </p:cNvPr>
          <p:cNvSpPr txBox="1"/>
          <p:nvPr/>
        </p:nvSpPr>
        <p:spPr>
          <a:xfrm>
            <a:off x="8170606" y="2674374"/>
            <a:ext cx="4119718" cy="36576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0277250-D86B-D7E5-638C-5DBD9BC46FDA}"/>
              </a:ext>
            </a:extLst>
          </p:cNvPr>
          <p:cNvSpPr/>
          <p:nvPr/>
        </p:nvSpPr>
        <p:spPr>
          <a:xfrm>
            <a:off x="7354529" y="4689987"/>
            <a:ext cx="1123898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1B4ECB5-D611-05FF-925D-4FC937523B4F}"/>
              </a:ext>
            </a:extLst>
          </p:cNvPr>
          <p:cNvSpPr/>
          <p:nvPr/>
        </p:nvSpPr>
        <p:spPr>
          <a:xfrm>
            <a:off x="5004619" y="4316361"/>
            <a:ext cx="2389239" cy="20156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B34696D-41A3-BB1F-709B-B78B80AEF186}"/>
              </a:ext>
            </a:extLst>
          </p:cNvPr>
          <p:cNvSpPr/>
          <p:nvPr/>
        </p:nvSpPr>
        <p:spPr>
          <a:xfrm>
            <a:off x="4227871" y="2389239"/>
            <a:ext cx="3942735" cy="20156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6610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5" grpId="0" animBg="1"/>
      <p:bldP spid="16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ED4D8-82CA-BACF-ECB7-6CF4BE251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DE95ED8E-BCA8-008C-8DEF-05C7A2AC2167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A9297DAD-453F-29D1-71D4-2C7C2F94F857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8A112D6-A38E-EB8B-1128-BAB225AA5A7F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Arquitetura Global do Sistema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A6F7117-556A-AE2A-0813-610D7C8A2B60}"/>
              </a:ext>
            </a:extLst>
          </p:cNvPr>
          <p:cNvSpPr/>
          <p:nvPr/>
        </p:nvSpPr>
        <p:spPr>
          <a:xfrm>
            <a:off x="629264" y="2147066"/>
            <a:ext cx="4503174" cy="4484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F772221-9E3F-7B67-1D24-9B832B9DFE62}"/>
              </a:ext>
            </a:extLst>
          </p:cNvPr>
          <p:cNvSpPr/>
          <p:nvPr/>
        </p:nvSpPr>
        <p:spPr>
          <a:xfrm>
            <a:off x="7216875" y="2147066"/>
            <a:ext cx="4503174" cy="4484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E278E60-3E05-33CA-079A-3EACBE97043E}"/>
              </a:ext>
            </a:extLst>
          </p:cNvPr>
          <p:cNvSpPr txBox="1"/>
          <p:nvPr/>
        </p:nvSpPr>
        <p:spPr>
          <a:xfrm>
            <a:off x="2133600" y="2147066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Bloco Emissor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27BDC2B-752D-8185-1982-46EB570B112A}"/>
              </a:ext>
            </a:extLst>
          </p:cNvPr>
          <p:cNvSpPr/>
          <p:nvPr/>
        </p:nvSpPr>
        <p:spPr>
          <a:xfrm>
            <a:off x="1734169" y="2631439"/>
            <a:ext cx="2369953" cy="5847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Microcontrolador (ESP32 TX)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129BBA6-90BF-6C68-8269-AC4DE9F3B026}"/>
              </a:ext>
            </a:extLst>
          </p:cNvPr>
          <p:cNvSpPr/>
          <p:nvPr/>
        </p:nvSpPr>
        <p:spPr>
          <a:xfrm>
            <a:off x="1734168" y="3710117"/>
            <a:ext cx="2369953" cy="584775"/>
          </a:xfrm>
          <a:prstGeom prst="rect">
            <a:avLst/>
          </a:prstGeom>
          <a:solidFill>
            <a:srgbClr val="FBDDDD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Modulador (NE555)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1709F4C-CE37-6818-418E-0968078113D8}"/>
              </a:ext>
            </a:extLst>
          </p:cNvPr>
          <p:cNvSpPr/>
          <p:nvPr/>
        </p:nvSpPr>
        <p:spPr>
          <a:xfrm>
            <a:off x="1734169" y="4685083"/>
            <a:ext cx="2369953" cy="584775"/>
          </a:xfrm>
          <a:prstGeom prst="rect">
            <a:avLst/>
          </a:prstGeom>
          <a:solidFill>
            <a:srgbClr val="FBDDDD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(Transístor)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370E967-4AC1-FCB6-8FBF-89962552BCDB}"/>
              </a:ext>
            </a:extLst>
          </p:cNvPr>
          <p:cNvSpPr/>
          <p:nvPr/>
        </p:nvSpPr>
        <p:spPr>
          <a:xfrm>
            <a:off x="1734167" y="5658239"/>
            <a:ext cx="2369953" cy="584775"/>
          </a:xfrm>
          <a:prstGeom prst="rect">
            <a:avLst/>
          </a:prstGeom>
          <a:solidFill>
            <a:srgbClr val="FBDDDD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Emissor (LED IR)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1F9D16A-E68A-6B7D-F3A5-6797BD6651F5}"/>
              </a:ext>
            </a:extLst>
          </p:cNvPr>
          <p:cNvSpPr/>
          <p:nvPr/>
        </p:nvSpPr>
        <p:spPr>
          <a:xfrm>
            <a:off x="5375499" y="3352636"/>
            <a:ext cx="1598313" cy="2138680"/>
          </a:xfrm>
          <a:prstGeom prst="rect">
            <a:avLst/>
          </a:prstGeom>
          <a:solidFill>
            <a:srgbClr val="FAFDBB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Canal ótico</a:t>
            </a:r>
          </a:p>
          <a:p>
            <a:pPr algn="ctr"/>
            <a:r>
              <a:rPr lang="pt-P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Distância de um 1 metro</a:t>
            </a:r>
          </a:p>
          <a:p>
            <a:pPr algn="ctr"/>
            <a:r>
              <a:rPr lang="pt-P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Ruído: 50Hz + DC (Luz Solar)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E0EBF4C-4CDD-C390-A891-B8DD5B20AFCF}"/>
              </a:ext>
            </a:extLst>
          </p:cNvPr>
          <p:cNvSpPr txBox="1"/>
          <p:nvPr/>
        </p:nvSpPr>
        <p:spPr>
          <a:xfrm>
            <a:off x="8961412" y="2134181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Bloco Recetor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D5D4314-3C99-BE80-16FB-BBB9794E8E34}"/>
              </a:ext>
            </a:extLst>
          </p:cNvPr>
          <p:cNvSpPr/>
          <p:nvPr/>
        </p:nvSpPr>
        <p:spPr>
          <a:xfrm>
            <a:off x="7525369" y="2712005"/>
            <a:ext cx="1710071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(Frototransísitor)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36086C1E-A2A8-A681-475D-A08B208B6230}"/>
              </a:ext>
            </a:extLst>
          </p:cNvPr>
          <p:cNvSpPr/>
          <p:nvPr/>
        </p:nvSpPr>
        <p:spPr>
          <a:xfrm>
            <a:off x="9750410" y="2712005"/>
            <a:ext cx="1828799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TIA (Secção 1 do AmpOp)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50921B5-AFAA-0E73-1905-93D7E49209D1}"/>
              </a:ext>
            </a:extLst>
          </p:cNvPr>
          <p:cNvSpPr/>
          <p:nvPr/>
        </p:nvSpPr>
        <p:spPr>
          <a:xfrm>
            <a:off x="7464410" y="3763053"/>
            <a:ext cx="1828800" cy="6429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Envelope (Díodo + RC)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DE61D813-EC3C-957E-E61B-88F2EC22265B}"/>
              </a:ext>
            </a:extLst>
          </p:cNvPr>
          <p:cNvSpPr/>
          <p:nvPr/>
        </p:nvSpPr>
        <p:spPr>
          <a:xfrm>
            <a:off x="7525369" y="4908939"/>
            <a:ext cx="1710071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Comparador (Secção 3 do Ampop)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1E4E2536-3003-F810-93E9-A562A4D2A021}"/>
              </a:ext>
            </a:extLst>
          </p:cNvPr>
          <p:cNvSpPr/>
          <p:nvPr/>
        </p:nvSpPr>
        <p:spPr>
          <a:xfrm>
            <a:off x="9875812" y="4943639"/>
            <a:ext cx="1577991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Microcontrolador (ESP32 RX)</a:t>
            </a:r>
          </a:p>
        </p:txBody>
      </p:sp>
      <p:cxnSp>
        <p:nvCxnSpPr>
          <p:cNvPr id="28" name="Conexão reta unidirecional 27">
            <a:extLst>
              <a:ext uri="{FF2B5EF4-FFF2-40B4-BE49-F238E27FC236}">
                <a16:creationId xmlns:a16="http://schemas.microsoft.com/office/drawing/2014/main" id="{E0E2715E-7212-60C7-8E68-374B4B2EE171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 flipH="1">
            <a:off x="2919145" y="3216214"/>
            <a:ext cx="1" cy="4939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exão reta unidirecional 28">
            <a:extLst>
              <a:ext uri="{FF2B5EF4-FFF2-40B4-BE49-F238E27FC236}">
                <a16:creationId xmlns:a16="http://schemas.microsoft.com/office/drawing/2014/main" id="{F70F2DFA-DFE7-CF92-9961-673474A3FB02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2919146" y="4294892"/>
            <a:ext cx="0" cy="390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exão reta unidirecional 31">
            <a:extLst>
              <a:ext uri="{FF2B5EF4-FFF2-40B4-BE49-F238E27FC236}">
                <a16:creationId xmlns:a16="http://schemas.microsoft.com/office/drawing/2014/main" id="{FB09EC01-60E9-F5BD-F480-97C029A3A474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2919144" y="5269858"/>
            <a:ext cx="2" cy="388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exão: Ângulo Reto 37">
            <a:extLst>
              <a:ext uri="{FF2B5EF4-FFF2-40B4-BE49-F238E27FC236}">
                <a16:creationId xmlns:a16="http://schemas.microsoft.com/office/drawing/2014/main" id="{86BCEDAF-5F7C-238E-677E-26A2DDB6D1B2}"/>
              </a:ext>
            </a:extLst>
          </p:cNvPr>
          <p:cNvCxnSpPr>
            <a:cxnSpLocks/>
            <a:stCxn id="18" idx="2"/>
            <a:endCxn id="19" idx="1"/>
          </p:cNvCxnSpPr>
          <p:nvPr/>
        </p:nvCxnSpPr>
        <p:spPr>
          <a:xfrm rot="5400000" flipH="1" flipV="1">
            <a:off x="3236802" y="4104317"/>
            <a:ext cx="1821038" cy="2456355"/>
          </a:xfrm>
          <a:prstGeom prst="bentConnector4">
            <a:avLst>
              <a:gd name="adj1" fmla="val -12553"/>
              <a:gd name="adj2" fmla="val 7412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Conexão: Ângulo Reto 40">
            <a:extLst>
              <a:ext uri="{FF2B5EF4-FFF2-40B4-BE49-F238E27FC236}">
                <a16:creationId xmlns:a16="http://schemas.microsoft.com/office/drawing/2014/main" id="{208CCE27-C386-8FC3-6B5B-91D11075A419}"/>
              </a:ext>
            </a:extLst>
          </p:cNvPr>
          <p:cNvCxnSpPr>
            <a:cxnSpLocks/>
            <a:stCxn id="19" idx="2"/>
            <a:endCxn id="21" idx="1"/>
          </p:cNvCxnSpPr>
          <p:nvPr/>
        </p:nvCxnSpPr>
        <p:spPr>
          <a:xfrm rot="5400000" flipH="1" flipV="1">
            <a:off x="5606550" y="3572498"/>
            <a:ext cx="2486923" cy="1350713"/>
          </a:xfrm>
          <a:prstGeom prst="bentConnector4">
            <a:avLst>
              <a:gd name="adj1" fmla="val -9192"/>
              <a:gd name="adj2" fmla="val 7055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Conexão reta unidirecional 46">
            <a:extLst>
              <a:ext uri="{FF2B5EF4-FFF2-40B4-BE49-F238E27FC236}">
                <a16:creationId xmlns:a16="http://schemas.microsoft.com/office/drawing/2014/main" id="{1B56C4B1-FF39-196D-ED08-381C03C4B2B6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9272855" y="3004392"/>
            <a:ext cx="47755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xão reta unidirecional 57">
            <a:extLst>
              <a:ext uri="{FF2B5EF4-FFF2-40B4-BE49-F238E27FC236}">
                <a16:creationId xmlns:a16="http://schemas.microsoft.com/office/drawing/2014/main" id="{6B594FA1-C761-C79B-8E1A-3014F11F24B9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8378810" y="4405961"/>
            <a:ext cx="1595" cy="502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>
            <a:extLst>
              <a:ext uri="{FF2B5EF4-FFF2-40B4-BE49-F238E27FC236}">
                <a16:creationId xmlns:a16="http://schemas.microsoft.com/office/drawing/2014/main" id="{2E2D18AF-7077-EB34-D767-84A84B409333}"/>
              </a:ext>
            </a:extLst>
          </p:cNvPr>
          <p:cNvSpPr/>
          <p:nvPr/>
        </p:nvSpPr>
        <p:spPr>
          <a:xfrm>
            <a:off x="9809773" y="3760638"/>
            <a:ext cx="1710071" cy="6429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Filtro HPF ( Secção 2 do AmpOp)</a:t>
            </a:r>
          </a:p>
        </p:txBody>
      </p:sp>
      <p:cxnSp>
        <p:nvCxnSpPr>
          <p:cNvPr id="62" name="Conexão reta unidirecional 61">
            <a:extLst>
              <a:ext uri="{FF2B5EF4-FFF2-40B4-BE49-F238E27FC236}">
                <a16:creationId xmlns:a16="http://schemas.microsoft.com/office/drawing/2014/main" id="{BF605725-D540-772A-CC4B-14564F5277AC}"/>
              </a:ext>
            </a:extLst>
          </p:cNvPr>
          <p:cNvCxnSpPr>
            <a:cxnSpLocks/>
            <a:stCxn id="22" idx="2"/>
            <a:endCxn id="61" idx="0"/>
          </p:cNvCxnSpPr>
          <p:nvPr/>
        </p:nvCxnSpPr>
        <p:spPr>
          <a:xfrm flipH="1">
            <a:off x="10664809" y="3296780"/>
            <a:ext cx="1" cy="463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exão reta unidirecional 65">
            <a:extLst>
              <a:ext uri="{FF2B5EF4-FFF2-40B4-BE49-F238E27FC236}">
                <a16:creationId xmlns:a16="http://schemas.microsoft.com/office/drawing/2014/main" id="{29D4C6F6-B4B2-6782-B1AF-F5E067C26D2C}"/>
              </a:ext>
            </a:extLst>
          </p:cNvPr>
          <p:cNvCxnSpPr>
            <a:cxnSpLocks/>
            <a:stCxn id="61" idx="1"/>
            <a:endCxn id="24" idx="3"/>
          </p:cNvCxnSpPr>
          <p:nvPr/>
        </p:nvCxnSpPr>
        <p:spPr>
          <a:xfrm flipH="1">
            <a:off x="9293210" y="4082092"/>
            <a:ext cx="516563" cy="2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xão reta unidirecional 71">
            <a:extLst>
              <a:ext uri="{FF2B5EF4-FFF2-40B4-BE49-F238E27FC236}">
                <a16:creationId xmlns:a16="http://schemas.microsoft.com/office/drawing/2014/main" id="{2CCFCB06-FDB0-833E-8CE6-6FFB3C0695B5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9254147" y="5236026"/>
            <a:ext cx="62166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920479DC-880E-62E1-B67A-4FA49F40D23F}"/>
              </a:ext>
            </a:extLst>
          </p:cNvPr>
          <p:cNvSpPr txBox="1"/>
          <p:nvPr/>
        </p:nvSpPr>
        <p:spPr>
          <a:xfrm>
            <a:off x="3052679" y="3321736"/>
            <a:ext cx="12011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Banda Base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5C512B56-CFDD-8FB5-6B4B-03548EDD4D1C}"/>
              </a:ext>
            </a:extLst>
          </p:cNvPr>
          <p:cNvSpPr txBox="1"/>
          <p:nvPr/>
        </p:nvSpPr>
        <p:spPr>
          <a:xfrm>
            <a:off x="3087873" y="4346258"/>
            <a:ext cx="12011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KHz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70985B49-AF63-59C2-6D85-D83C08AE35DF}"/>
              </a:ext>
            </a:extLst>
          </p:cNvPr>
          <p:cNvSpPr txBox="1"/>
          <p:nvPr/>
        </p:nvSpPr>
        <p:spPr>
          <a:xfrm>
            <a:off x="3099453" y="5340937"/>
            <a:ext cx="12011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Potência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DF52CC63-A1E1-6CCF-E1EC-63C2FD8A1060}"/>
              </a:ext>
            </a:extLst>
          </p:cNvPr>
          <p:cNvSpPr txBox="1"/>
          <p:nvPr/>
        </p:nvSpPr>
        <p:spPr>
          <a:xfrm>
            <a:off x="3155858" y="6246810"/>
            <a:ext cx="22196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Disparo do Feixe ótico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B5899565-31EE-DC6E-A976-9FFAAF07875F}"/>
              </a:ext>
            </a:extLst>
          </p:cNvPr>
          <p:cNvSpPr txBox="1"/>
          <p:nvPr/>
        </p:nvSpPr>
        <p:spPr>
          <a:xfrm>
            <a:off x="6078955" y="5723973"/>
            <a:ext cx="1233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Luz captada + ruído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09D949FA-EAC2-58C0-0712-9D004F396BB8}"/>
              </a:ext>
            </a:extLst>
          </p:cNvPr>
          <p:cNvSpPr txBox="1"/>
          <p:nvPr/>
        </p:nvSpPr>
        <p:spPr>
          <a:xfrm>
            <a:off x="9256691" y="2712006"/>
            <a:ext cx="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µA</a:t>
            </a: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724202FF-54D4-0837-C0FE-3DCCA1F09E79}"/>
              </a:ext>
            </a:extLst>
          </p:cNvPr>
          <p:cNvSpPr txBox="1"/>
          <p:nvPr/>
        </p:nvSpPr>
        <p:spPr>
          <a:xfrm>
            <a:off x="10729965" y="3385835"/>
            <a:ext cx="977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 +DC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A787901E-6D13-B22B-763F-F4CA7AD26EB7}"/>
              </a:ext>
            </a:extLst>
          </p:cNvPr>
          <p:cNvSpPr txBox="1"/>
          <p:nvPr/>
        </p:nvSpPr>
        <p:spPr>
          <a:xfrm>
            <a:off x="9326169" y="3625020"/>
            <a:ext cx="477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100KHz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20794FBD-72C9-58FF-0D12-05CDAD1137C5}"/>
              </a:ext>
            </a:extLst>
          </p:cNvPr>
          <p:cNvSpPr txBox="1"/>
          <p:nvPr/>
        </p:nvSpPr>
        <p:spPr>
          <a:xfrm>
            <a:off x="8424804" y="4543995"/>
            <a:ext cx="13094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Envolvente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D1D5D4D5-3BF0-C6A0-02C0-06196080F8E1}"/>
              </a:ext>
            </a:extLst>
          </p:cNvPr>
          <p:cNvSpPr txBox="1"/>
          <p:nvPr/>
        </p:nvSpPr>
        <p:spPr>
          <a:xfrm>
            <a:off x="9149178" y="5352707"/>
            <a:ext cx="812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Onda Quadrada</a:t>
            </a:r>
          </a:p>
        </p:txBody>
      </p:sp>
    </p:spTree>
    <p:extLst>
      <p:ext uri="{BB962C8B-B14F-4D97-AF65-F5344CB8AC3E}">
        <p14:creationId xmlns:p14="http://schemas.microsoft.com/office/powerpoint/2010/main" val="2341356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 animBg="1"/>
      <p:bldP spid="22" grpId="0" animBg="1"/>
      <p:bldP spid="24" grpId="0" animBg="1"/>
      <p:bldP spid="25" grpId="0" animBg="1"/>
      <p:bldP spid="26" grpId="0" animBg="1"/>
      <p:bldP spid="61" grpId="0" animBg="1"/>
      <p:bldP spid="75" grpId="0"/>
      <p:bldP spid="76" grpId="0"/>
      <p:bldP spid="77" grpId="0"/>
      <p:bldP spid="78" grpId="0"/>
      <p:bldP spid="79" grpId="0"/>
      <p:bldP spid="81" grpId="0"/>
      <p:bldP spid="82" grpId="0"/>
      <p:bldP spid="83" grpId="0"/>
      <p:bldP spid="84" grpId="0"/>
      <p:bldP spid="85" grpId="0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E1A68-10E2-2777-6E90-6F6BFD95F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6804CB8D-0CAC-BBF3-64B5-FCE49F5BEA38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4EEE5B1A-4D76-40E5-4C61-37A70C43B7AB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D19AFBA-B317-3F31-9DE7-4F891B2ACDFF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Emissor - Especificação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B9427A6-0619-1F66-658B-578F0AD325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1989" y="2889248"/>
            <a:ext cx="11888020" cy="211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48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7115D-4EBA-F13B-37D0-D0C45A2D5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6286C3F6-37EE-72B9-DCEE-D30E045C033E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C5FFE745-6B42-700A-42D7-659CE368C3C6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4621C9F-2B60-30A9-422F-4EFD67BE5660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Emissor: Validação Teórica e Prática </a:t>
            </a:r>
          </a:p>
        </p:txBody>
      </p:sp>
      <p:cxnSp>
        <p:nvCxnSpPr>
          <p:cNvPr id="2" name="Conexão reta 1">
            <a:extLst>
              <a:ext uri="{FF2B5EF4-FFF2-40B4-BE49-F238E27FC236}">
                <a16:creationId xmlns:a16="http://schemas.microsoft.com/office/drawing/2014/main" id="{2DC62622-BEFF-FC08-C2E0-5E708BD3FD4E}"/>
              </a:ext>
            </a:extLst>
          </p:cNvPr>
          <p:cNvCxnSpPr>
            <a:cxnSpLocks/>
          </p:cNvCxnSpPr>
          <p:nvPr/>
        </p:nvCxnSpPr>
        <p:spPr>
          <a:xfrm>
            <a:off x="5766619" y="2100223"/>
            <a:ext cx="0" cy="475777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4FF7DAB8-42AC-988B-A4E6-5E0BAA932D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981" y="2959127"/>
            <a:ext cx="5421160" cy="2816517"/>
          </a:xfrm>
          <a:prstGeom prst="rect">
            <a:avLst/>
          </a:prstGeom>
        </p:spPr>
      </p:pic>
      <p:pic>
        <p:nvPicPr>
          <p:cNvPr id="11" name="Imagem 10" descr="Uma imagem com texto, eletrónica, Dispositivo eletrónico, multimédia&#10;&#10;Os conteúdos gerados por IA podem estar incorretos.">
            <a:extLst>
              <a:ext uri="{FF2B5EF4-FFF2-40B4-BE49-F238E27FC236}">
                <a16:creationId xmlns:a16="http://schemas.microsoft.com/office/drawing/2014/main" id="{ABD39B20-E3F1-02E0-3FEE-E2E8B0C4D4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10" r="6573" b="18460"/>
          <a:stretch>
            <a:fillRect/>
          </a:stretch>
        </p:blipFill>
        <p:spPr>
          <a:xfrm>
            <a:off x="8909819" y="4067896"/>
            <a:ext cx="3105200" cy="2686865"/>
          </a:xfrm>
          <a:prstGeom prst="rect">
            <a:avLst/>
          </a:prstGeom>
        </p:spPr>
      </p:pic>
      <p:pic>
        <p:nvPicPr>
          <p:cNvPr id="14" name="Imagem 13" descr="Uma imagem com texto, eletrónica, computador, interior&#10;&#10;Os conteúdos gerados por IA podem estar incorretos.">
            <a:extLst>
              <a:ext uri="{FF2B5EF4-FFF2-40B4-BE49-F238E27FC236}">
                <a16:creationId xmlns:a16="http://schemas.microsoft.com/office/drawing/2014/main" id="{F9FBB223-65F4-A627-116D-CB1FEF831E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60" t="13995" b="19339"/>
          <a:stretch>
            <a:fillRect/>
          </a:stretch>
        </p:blipFill>
        <p:spPr>
          <a:xfrm>
            <a:off x="5952103" y="2100223"/>
            <a:ext cx="3394182" cy="2352522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52B01D95-DD8A-750B-CB01-868F454925B9}"/>
              </a:ext>
            </a:extLst>
          </p:cNvPr>
          <p:cNvSpPr txBox="1"/>
          <p:nvPr/>
        </p:nvSpPr>
        <p:spPr>
          <a:xfrm>
            <a:off x="2069030" y="2270627"/>
            <a:ext cx="2526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Simulação TINA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141B1E2-6A01-9F68-D848-CD9A53DEAE06}"/>
              </a:ext>
            </a:extLst>
          </p:cNvPr>
          <p:cNvSpPr txBox="1"/>
          <p:nvPr/>
        </p:nvSpPr>
        <p:spPr>
          <a:xfrm>
            <a:off x="9994491" y="2714728"/>
            <a:ext cx="2526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Osciloscópio </a:t>
            </a:r>
          </a:p>
        </p:txBody>
      </p:sp>
    </p:spTree>
    <p:extLst>
      <p:ext uri="{BB962C8B-B14F-4D97-AF65-F5344CB8AC3E}">
        <p14:creationId xmlns:p14="http://schemas.microsoft.com/office/powerpoint/2010/main" val="3165321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BC29E-2889-A919-E085-75F89D785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655A49C0-C09E-340A-26D6-F349C52097E5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A4D27B4C-9497-C16F-2AD5-36EB2FE0D5C8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519224B-1AB9-2FE7-B76B-843C8618BD4A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Recetor - Especificação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A2E8E4C4-A966-F3E8-CC50-3DE24398D9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0"/>
          <a:stretch>
            <a:fillRect/>
          </a:stretch>
        </p:blipFill>
        <p:spPr>
          <a:xfrm>
            <a:off x="293260" y="2806154"/>
            <a:ext cx="11762792" cy="124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140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00D28-BAE5-DF6D-81A8-39729ECD2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A5BACBC5-75DB-616A-A13C-3CD263F0AF1C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C8337660-5FC5-E07A-54C7-440878C2C069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0618AC4-D6B9-7D73-D544-2661F045CFC0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Recetor: Validação Teórica e Prática </a:t>
            </a:r>
          </a:p>
        </p:txBody>
      </p:sp>
      <p:cxnSp>
        <p:nvCxnSpPr>
          <p:cNvPr id="3" name="Conexão reta 2">
            <a:extLst>
              <a:ext uri="{FF2B5EF4-FFF2-40B4-BE49-F238E27FC236}">
                <a16:creationId xmlns:a16="http://schemas.microsoft.com/office/drawing/2014/main" id="{C3DD552F-28D2-02BB-A3F6-E9AF47385E3B}"/>
              </a:ext>
            </a:extLst>
          </p:cNvPr>
          <p:cNvCxnSpPr>
            <a:cxnSpLocks/>
          </p:cNvCxnSpPr>
          <p:nvPr/>
        </p:nvCxnSpPr>
        <p:spPr>
          <a:xfrm>
            <a:off x="5766619" y="2100223"/>
            <a:ext cx="0" cy="475777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96E68414-46B0-6A16-3EA3-23567AE49509}"/>
              </a:ext>
            </a:extLst>
          </p:cNvPr>
          <p:cNvSpPr txBox="1"/>
          <p:nvPr/>
        </p:nvSpPr>
        <p:spPr>
          <a:xfrm>
            <a:off x="2015612" y="2100223"/>
            <a:ext cx="2526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Simulação TINA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6261F44-5DFF-D224-2330-9D821E241559}"/>
              </a:ext>
            </a:extLst>
          </p:cNvPr>
          <p:cNvSpPr txBox="1"/>
          <p:nvPr/>
        </p:nvSpPr>
        <p:spPr>
          <a:xfrm>
            <a:off x="8254183" y="2100223"/>
            <a:ext cx="2526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Osciloscópio </a:t>
            </a:r>
          </a:p>
        </p:txBody>
      </p:sp>
      <p:pic>
        <p:nvPicPr>
          <p:cNvPr id="9" name="Imagem 8" descr="Uma imagem com texto, file, Tipo de letra, captura de ecrã&#10;&#10;Os conteúdos gerados por IA podem estar incorretos.">
            <a:extLst>
              <a:ext uri="{FF2B5EF4-FFF2-40B4-BE49-F238E27FC236}">
                <a16:creationId xmlns:a16="http://schemas.microsoft.com/office/drawing/2014/main" id="{2E01EC7F-A801-0642-AD64-B00A6F4AAA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40" y="2954431"/>
            <a:ext cx="5604387" cy="2911711"/>
          </a:xfrm>
          <a:prstGeom prst="rect">
            <a:avLst/>
          </a:prstGeom>
        </p:spPr>
      </p:pic>
      <p:pic>
        <p:nvPicPr>
          <p:cNvPr id="12" name="Imagem 11" descr="Uma imagem com texto, eletrónica, Equipamento médico, interior&#10;&#10;Os conteúdos gerados por IA podem estar incorretos.">
            <a:extLst>
              <a:ext uri="{FF2B5EF4-FFF2-40B4-BE49-F238E27FC236}">
                <a16:creationId xmlns:a16="http://schemas.microsoft.com/office/drawing/2014/main" id="{C87222F5-425D-B780-FA25-5BA87D3B79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382" y="2708785"/>
            <a:ext cx="5302868" cy="397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947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1121</TotalTime>
  <Words>235</Words>
  <Application>Microsoft Office PowerPoint</Application>
  <PresentationFormat>Ecrã Panorâmico</PresentationFormat>
  <Paragraphs>62</Paragraphs>
  <Slides>7</Slides>
  <Notes>7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Tema do Office</vt:lpstr>
      <vt:lpstr>Protótipo De Um Sistema Li-Fi para Ambiente Aeroportuário (Fase A)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Luís Baptista</dc:creator>
  <cp:lastModifiedBy>Luís Baptista</cp:lastModifiedBy>
  <cp:revision>328</cp:revision>
  <dcterms:created xsi:type="dcterms:W3CDTF">2025-11-08T19:02:28Z</dcterms:created>
  <dcterms:modified xsi:type="dcterms:W3CDTF">2026-03-04T12:24:52Z</dcterms:modified>
</cp:coreProperties>
</file>