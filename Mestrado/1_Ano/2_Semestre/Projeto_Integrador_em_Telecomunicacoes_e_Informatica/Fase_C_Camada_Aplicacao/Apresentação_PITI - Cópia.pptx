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8F875A74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7" r:id="rId5"/>
    <p:sldId id="256" r:id="rId6"/>
    <p:sldId id="264" r:id="rId7"/>
    <p:sldId id="258" r:id="rId8"/>
    <p:sldId id="265" r:id="rId9"/>
    <p:sldId id="259" r:id="rId10"/>
    <p:sldId id="266" r:id="rId11"/>
    <p:sldId id="260" r:id="rId12"/>
    <p:sldId id="267" r:id="rId13"/>
    <p:sldId id="268" r:id="rId14"/>
    <p:sldId id="261" r:id="rId15"/>
    <p:sldId id="263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D18"/>
    <a:srgbClr val="FFF4DD"/>
    <a:srgbClr val="FFFFF8"/>
    <a:srgbClr val="F4DCFF"/>
    <a:srgbClr val="E8D772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01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endParaRPr lang="pt-PT"/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14CABF-3CB6-49C9-822B-D8B95AC85FD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36816C-7F83-4D99-9415-C323F6639102}">
      <dgm:prSet/>
      <dgm:spPr/>
      <dgm:t>
        <a:bodyPr/>
        <a:lstStyle/>
        <a:p>
          <a:r>
            <a:rPr lang="pt-PT" dirty="0"/>
            <a:t>Topologia Cliente-Servidor </a:t>
          </a:r>
          <a:endParaRPr lang="en-US" dirty="0"/>
        </a:p>
      </dgm:t>
    </dgm:pt>
    <dgm:pt modelId="{7BAD8AB4-23E9-4434-86E6-E2F6A68FFEA6}" type="parTrans" cxnId="{8A618F40-DA54-4E28-98AD-8D10A2881122}">
      <dgm:prSet/>
      <dgm:spPr/>
      <dgm:t>
        <a:bodyPr/>
        <a:lstStyle/>
        <a:p>
          <a:endParaRPr lang="en-US"/>
        </a:p>
      </dgm:t>
    </dgm:pt>
    <dgm:pt modelId="{3135D8DA-C165-4191-A538-609F1AFF60F6}" type="sibTrans" cxnId="{8A618F40-DA54-4E28-98AD-8D10A2881122}">
      <dgm:prSet/>
      <dgm:spPr/>
      <dgm:t>
        <a:bodyPr/>
        <a:lstStyle/>
        <a:p>
          <a:endParaRPr lang="en-US"/>
        </a:p>
      </dgm:t>
    </dgm:pt>
    <dgm:pt modelId="{0676F14A-1D8C-4420-9D41-3F66CD986AC6}">
      <dgm:prSet/>
      <dgm:spPr/>
      <dgm:t>
        <a:bodyPr/>
        <a:lstStyle/>
        <a:p>
          <a:r>
            <a:rPr lang="pt-PT"/>
            <a:t>Três camadas OSI: Física (L1), Ligação (L2), Aplicação (L7)</a:t>
          </a:r>
          <a:endParaRPr lang="en-US"/>
        </a:p>
      </dgm:t>
    </dgm:pt>
    <dgm:pt modelId="{A5C3653F-B8AC-465B-8D31-1A5F14EF5D44}" type="parTrans" cxnId="{126DC302-8482-43DF-BECE-168274A898AF}">
      <dgm:prSet/>
      <dgm:spPr/>
      <dgm:t>
        <a:bodyPr/>
        <a:lstStyle/>
        <a:p>
          <a:endParaRPr lang="en-US"/>
        </a:p>
      </dgm:t>
    </dgm:pt>
    <dgm:pt modelId="{46124899-21F6-4F53-B746-E58E04A7517F}" type="sibTrans" cxnId="{126DC302-8482-43DF-BECE-168274A898AF}">
      <dgm:prSet/>
      <dgm:spPr/>
      <dgm:t>
        <a:bodyPr/>
        <a:lstStyle/>
        <a:p>
          <a:endParaRPr lang="en-US"/>
        </a:p>
      </dgm:t>
    </dgm:pt>
    <dgm:pt modelId="{19CE4847-9426-4E65-B3B2-51BA7145AF00}">
      <dgm:prSet/>
      <dgm:spPr/>
      <dgm:t>
        <a:bodyPr/>
        <a:lstStyle/>
        <a:p>
          <a:r>
            <a:rPr lang="pt-PT"/>
            <a:t>Via de transmissão ótica (Infravermelho) - Tráfego de dados</a:t>
          </a:r>
          <a:endParaRPr lang="en-US"/>
        </a:p>
      </dgm:t>
    </dgm:pt>
    <dgm:pt modelId="{394769A5-1368-45FD-9E79-1F9A433FD712}" type="parTrans" cxnId="{2531AC23-CB8D-4525-BDFA-FAB6362901BB}">
      <dgm:prSet/>
      <dgm:spPr/>
      <dgm:t>
        <a:bodyPr/>
        <a:lstStyle/>
        <a:p>
          <a:endParaRPr lang="en-US"/>
        </a:p>
      </dgm:t>
    </dgm:pt>
    <dgm:pt modelId="{66E12FB4-FFDD-437E-BBC3-9E1D19D2F4F9}" type="sibTrans" cxnId="{2531AC23-CB8D-4525-BDFA-FAB6362901BB}">
      <dgm:prSet/>
      <dgm:spPr/>
      <dgm:t>
        <a:bodyPr/>
        <a:lstStyle/>
        <a:p>
          <a:endParaRPr lang="en-US"/>
        </a:p>
      </dgm:t>
    </dgm:pt>
    <dgm:pt modelId="{1FBB9D8C-0748-4632-ADA2-2FD4194C9D60}">
      <dgm:prSet/>
      <dgm:spPr/>
      <dgm:t>
        <a:bodyPr/>
        <a:lstStyle/>
        <a:p>
          <a:r>
            <a:rPr lang="pt-PT"/>
            <a:t>Via de retorno (Ligação Série) - Sinalização e ACKs</a:t>
          </a:r>
          <a:endParaRPr lang="en-US"/>
        </a:p>
      </dgm:t>
    </dgm:pt>
    <dgm:pt modelId="{254CAB2B-016F-446B-BCCF-2089B6462AEE}" type="parTrans" cxnId="{E4313A6B-91F4-4D6F-9137-EB823E05BAE3}">
      <dgm:prSet/>
      <dgm:spPr/>
      <dgm:t>
        <a:bodyPr/>
        <a:lstStyle/>
        <a:p>
          <a:endParaRPr lang="en-US"/>
        </a:p>
      </dgm:t>
    </dgm:pt>
    <dgm:pt modelId="{FCBA5285-BC68-4B50-A280-FD6CF2668459}" type="sibTrans" cxnId="{E4313A6B-91F4-4D6F-9137-EB823E05BAE3}">
      <dgm:prSet/>
      <dgm:spPr/>
      <dgm:t>
        <a:bodyPr/>
        <a:lstStyle/>
        <a:p>
          <a:endParaRPr lang="en-US"/>
        </a:p>
      </dgm:t>
    </dgm:pt>
    <dgm:pt modelId="{71983F02-D979-4B44-B84E-C66B05552053}">
      <dgm:prSet/>
      <dgm:spPr/>
      <dgm:t>
        <a:bodyPr/>
        <a:lstStyle/>
        <a:p>
          <a:r>
            <a:rPr lang="pt-PT"/>
            <a:t>Canal full-duplex simulado </a:t>
          </a:r>
          <a:endParaRPr lang="en-US"/>
        </a:p>
      </dgm:t>
    </dgm:pt>
    <dgm:pt modelId="{A2D559D7-3A1D-47CB-B405-59690EEAAC52}" type="parTrans" cxnId="{DD8BA5D0-ABA4-411E-9990-DB94CCD145F0}">
      <dgm:prSet/>
      <dgm:spPr/>
      <dgm:t>
        <a:bodyPr/>
        <a:lstStyle/>
        <a:p>
          <a:endParaRPr lang="en-US"/>
        </a:p>
      </dgm:t>
    </dgm:pt>
    <dgm:pt modelId="{3BDE9E5B-A596-463C-A01C-92150E9DC19A}" type="sibTrans" cxnId="{DD8BA5D0-ABA4-411E-9990-DB94CCD145F0}">
      <dgm:prSet/>
      <dgm:spPr/>
      <dgm:t>
        <a:bodyPr/>
        <a:lstStyle/>
        <a:p>
          <a:endParaRPr lang="en-US"/>
        </a:p>
      </dgm:t>
    </dgm:pt>
    <dgm:pt modelId="{CF872592-8136-4B26-97A9-99F31043DCCB}" type="pres">
      <dgm:prSet presAssocID="{D814CABF-3CB6-49C9-822B-D8B95AC85FD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8612AA-080A-4FB4-BC0B-179D84CEE949}" type="pres">
      <dgm:prSet presAssocID="{B936816C-7F83-4D99-9415-C323F6639102}" presName="hierRoot1" presStyleCnt="0"/>
      <dgm:spPr/>
    </dgm:pt>
    <dgm:pt modelId="{1929759C-3532-490D-9EBC-326EE6F3ABFE}" type="pres">
      <dgm:prSet presAssocID="{B936816C-7F83-4D99-9415-C323F6639102}" presName="composite" presStyleCnt="0"/>
      <dgm:spPr/>
    </dgm:pt>
    <dgm:pt modelId="{5F2EE441-8DDE-4F9D-97CC-ED860CE211A6}" type="pres">
      <dgm:prSet presAssocID="{B936816C-7F83-4D99-9415-C323F6639102}" presName="background" presStyleLbl="node0" presStyleIdx="0" presStyleCnt="1"/>
      <dgm:spPr>
        <a:solidFill>
          <a:srgbClr val="FFF4DD"/>
        </a:solidFill>
      </dgm:spPr>
    </dgm:pt>
    <dgm:pt modelId="{A4777F04-7444-45E5-BEEB-6498C341E9A2}" type="pres">
      <dgm:prSet presAssocID="{B936816C-7F83-4D99-9415-C323F6639102}" presName="text" presStyleLbl="fgAcc0" presStyleIdx="0" presStyleCnt="1">
        <dgm:presLayoutVars>
          <dgm:chPref val="3"/>
        </dgm:presLayoutVars>
      </dgm:prSet>
      <dgm:spPr/>
    </dgm:pt>
    <dgm:pt modelId="{0C8888A2-3B87-4E37-9E12-11DEA4DD3DB0}" type="pres">
      <dgm:prSet presAssocID="{B936816C-7F83-4D99-9415-C323F6639102}" presName="hierChild2" presStyleCnt="0"/>
      <dgm:spPr/>
    </dgm:pt>
    <dgm:pt modelId="{0EA3193E-B1D9-4EC2-8E93-C25EB446379E}" type="pres">
      <dgm:prSet presAssocID="{A5C3653F-B8AC-465B-8D31-1A5F14EF5D44}" presName="Name10" presStyleLbl="parChTrans1D2" presStyleIdx="0" presStyleCnt="4"/>
      <dgm:spPr/>
    </dgm:pt>
    <dgm:pt modelId="{EA993537-AD7D-417E-9D2A-62BFE5F09EF1}" type="pres">
      <dgm:prSet presAssocID="{0676F14A-1D8C-4420-9D41-3F66CD986AC6}" presName="hierRoot2" presStyleCnt="0"/>
      <dgm:spPr/>
    </dgm:pt>
    <dgm:pt modelId="{4EEAE87F-6EDA-4D19-80A9-E55613070500}" type="pres">
      <dgm:prSet presAssocID="{0676F14A-1D8C-4420-9D41-3F66CD986AC6}" presName="composite2" presStyleCnt="0"/>
      <dgm:spPr/>
    </dgm:pt>
    <dgm:pt modelId="{960E7114-FE14-4630-988E-AD36719DC1C1}" type="pres">
      <dgm:prSet presAssocID="{0676F14A-1D8C-4420-9D41-3F66CD986AC6}" presName="background2" presStyleLbl="node2" presStyleIdx="0" presStyleCnt="4"/>
      <dgm:spPr>
        <a:solidFill>
          <a:srgbClr val="F4DCFF"/>
        </a:solidFill>
      </dgm:spPr>
    </dgm:pt>
    <dgm:pt modelId="{66A2B898-1E62-49C9-8E1D-8225B13374C3}" type="pres">
      <dgm:prSet presAssocID="{0676F14A-1D8C-4420-9D41-3F66CD986AC6}" presName="text2" presStyleLbl="fgAcc2" presStyleIdx="0" presStyleCnt="4">
        <dgm:presLayoutVars>
          <dgm:chPref val="3"/>
        </dgm:presLayoutVars>
      </dgm:prSet>
      <dgm:spPr/>
    </dgm:pt>
    <dgm:pt modelId="{F78B2553-5864-488C-9744-EE16E3531FD5}" type="pres">
      <dgm:prSet presAssocID="{0676F14A-1D8C-4420-9D41-3F66CD986AC6}" presName="hierChild3" presStyleCnt="0"/>
      <dgm:spPr/>
    </dgm:pt>
    <dgm:pt modelId="{95D45CF8-553B-49E7-891F-ADEA4A43B428}" type="pres">
      <dgm:prSet presAssocID="{394769A5-1368-45FD-9E79-1F9A433FD712}" presName="Name10" presStyleLbl="parChTrans1D2" presStyleIdx="1" presStyleCnt="4"/>
      <dgm:spPr/>
    </dgm:pt>
    <dgm:pt modelId="{AA2127C6-A18A-4C26-AEFE-4EFD164F188B}" type="pres">
      <dgm:prSet presAssocID="{19CE4847-9426-4E65-B3B2-51BA7145AF00}" presName="hierRoot2" presStyleCnt="0"/>
      <dgm:spPr/>
    </dgm:pt>
    <dgm:pt modelId="{3253AE95-B39F-4D0C-80EC-A993557B06C9}" type="pres">
      <dgm:prSet presAssocID="{19CE4847-9426-4E65-B3B2-51BA7145AF00}" presName="composite2" presStyleCnt="0"/>
      <dgm:spPr/>
    </dgm:pt>
    <dgm:pt modelId="{CBA8AB1C-C964-48C6-895E-385EF4C30519}" type="pres">
      <dgm:prSet presAssocID="{19CE4847-9426-4E65-B3B2-51BA7145AF00}" presName="background2" presStyleLbl="node2" presStyleIdx="1" presStyleCnt="4"/>
      <dgm:spPr>
        <a:solidFill>
          <a:srgbClr val="F4DCFF"/>
        </a:solidFill>
      </dgm:spPr>
    </dgm:pt>
    <dgm:pt modelId="{FECCB346-9411-463F-91B0-DAF56C855747}" type="pres">
      <dgm:prSet presAssocID="{19CE4847-9426-4E65-B3B2-51BA7145AF00}" presName="text2" presStyleLbl="fgAcc2" presStyleIdx="1" presStyleCnt="4">
        <dgm:presLayoutVars>
          <dgm:chPref val="3"/>
        </dgm:presLayoutVars>
      </dgm:prSet>
      <dgm:spPr/>
    </dgm:pt>
    <dgm:pt modelId="{7175B245-A667-43ED-B48C-17CC3878F350}" type="pres">
      <dgm:prSet presAssocID="{19CE4847-9426-4E65-B3B2-51BA7145AF00}" presName="hierChild3" presStyleCnt="0"/>
      <dgm:spPr/>
    </dgm:pt>
    <dgm:pt modelId="{AED275B7-055D-4850-8205-B549F1B0593A}" type="pres">
      <dgm:prSet presAssocID="{254CAB2B-016F-446B-BCCF-2089B6462AEE}" presName="Name10" presStyleLbl="parChTrans1D2" presStyleIdx="2" presStyleCnt="4"/>
      <dgm:spPr/>
    </dgm:pt>
    <dgm:pt modelId="{2C5C4CB9-0435-48DE-B28B-6B23E1B4CD40}" type="pres">
      <dgm:prSet presAssocID="{1FBB9D8C-0748-4632-ADA2-2FD4194C9D60}" presName="hierRoot2" presStyleCnt="0"/>
      <dgm:spPr/>
    </dgm:pt>
    <dgm:pt modelId="{4BCE5714-D6CC-4A8B-ABD1-13D570DD5047}" type="pres">
      <dgm:prSet presAssocID="{1FBB9D8C-0748-4632-ADA2-2FD4194C9D60}" presName="composite2" presStyleCnt="0"/>
      <dgm:spPr/>
    </dgm:pt>
    <dgm:pt modelId="{393B6697-F0F1-4AE9-9C5D-0C15691AFA5B}" type="pres">
      <dgm:prSet presAssocID="{1FBB9D8C-0748-4632-ADA2-2FD4194C9D60}" presName="background2" presStyleLbl="node2" presStyleIdx="2" presStyleCnt="4"/>
      <dgm:spPr>
        <a:solidFill>
          <a:srgbClr val="F4DCFF"/>
        </a:solidFill>
      </dgm:spPr>
    </dgm:pt>
    <dgm:pt modelId="{C45D1C7C-DA63-42D6-B271-37B997ED4716}" type="pres">
      <dgm:prSet presAssocID="{1FBB9D8C-0748-4632-ADA2-2FD4194C9D60}" presName="text2" presStyleLbl="fgAcc2" presStyleIdx="2" presStyleCnt="4">
        <dgm:presLayoutVars>
          <dgm:chPref val="3"/>
        </dgm:presLayoutVars>
      </dgm:prSet>
      <dgm:spPr/>
    </dgm:pt>
    <dgm:pt modelId="{07082731-441D-409D-A375-E3EA362FF220}" type="pres">
      <dgm:prSet presAssocID="{1FBB9D8C-0748-4632-ADA2-2FD4194C9D60}" presName="hierChild3" presStyleCnt="0"/>
      <dgm:spPr/>
    </dgm:pt>
    <dgm:pt modelId="{467CC014-F5D6-4B2C-B3A8-9E706D3F253E}" type="pres">
      <dgm:prSet presAssocID="{A2D559D7-3A1D-47CB-B405-59690EEAAC52}" presName="Name10" presStyleLbl="parChTrans1D2" presStyleIdx="3" presStyleCnt="4"/>
      <dgm:spPr/>
    </dgm:pt>
    <dgm:pt modelId="{4FF16964-97C4-4AF9-8710-BB55D2DBB341}" type="pres">
      <dgm:prSet presAssocID="{71983F02-D979-4B44-B84E-C66B05552053}" presName="hierRoot2" presStyleCnt="0"/>
      <dgm:spPr/>
    </dgm:pt>
    <dgm:pt modelId="{2BD2B53D-E72A-4001-B255-0599FA22A9BB}" type="pres">
      <dgm:prSet presAssocID="{71983F02-D979-4B44-B84E-C66B05552053}" presName="composite2" presStyleCnt="0"/>
      <dgm:spPr/>
    </dgm:pt>
    <dgm:pt modelId="{4E9F382A-37DD-4627-B2F7-8EC78CC734CB}" type="pres">
      <dgm:prSet presAssocID="{71983F02-D979-4B44-B84E-C66B05552053}" presName="background2" presStyleLbl="node2" presStyleIdx="3" presStyleCnt="4"/>
      <dgm:spPr>
        <a:solidFill>
          <a:srgbClr val="F4DCFF"/>
        </a:solidFill>
      </dgm:spPr>
    </dgm:pt>
    <dgm:pt modelId="{DE85539E-9E36-4368-BD8A-116DC3033ABA}" type="pres">
      <dgm:prSet presAssocID="{71983F02-D979-4B44-B84E-C66B05552053}" presName="text2" presStyleLbl="fgAcc2" presStyleIdx="3" presStyleCnt="4">
        <dgm:presLayoutVars>
          <dgm:chPref val="3"/>
        </dgm:presLayoutVars>
      </dgm:prSet>
      <dgm:spPr/>
    </dgm:pt>
    <dgm:pt modelId="{9FC464D6-F02E-4EEE-AA3A-91A2FC2CD685}" type="pres">
      <dgm:prSet presAssocID="{71983F02-D979-4B44-B84E-C66B05552053}" presName="hierChild3" presStyleCnt="0"/>
      <dgm:spPr/>
    </dgm:pt>
  </dgm:ptLst>
  <dgm:cxnLst>
    <dgm:cxn modelId="{126DC302-8482-43DF-BECE-168274A898AF}" srcId="{B936816C-7F83-4D99-9415-C323F6639102}" destId="{0676F14A-1D8C-4420-9D41-3F66CD986AC6}" srcOrd="0" destOrd="0" parTransId="{A5C3653F-B8AC-465B-8D31-1A5F14EF5D44}" sibTransId="{46124899-21F6-4F53-B746-E58E04A7517F}"/>
    <dgm:cxn modelId="{DF469914-9D72-4D98-9B60-DC780DDC44A5}" type="presOf" srcId="{254CAB2B-016F-446B-BCCF-2089B6462AEE}" destId="{AED275B7-055D-4850-8205-B549F1B0593A}" srcOrd="0" destOrd="0" presId="urn:microsoft.com/office/officeart/2005/8/layout/hierarchy1"/>
    <dgm:cxn modelId="{2531AC23-CB8D-4525-BDFA-FAB6362901BB}" srcId="{B936816C-7F83-4D99-9415-C323F6639102}" destId="{19CE4847-9426-4E65-B3B2-51BA7145AF00}" srcOrd="1" destOrd="0" parTransId="{394769A5-1368-45FD-9E79-1F9A433FD712}" sibTransId="{66E12FB4-FFDD-437E-BBC3-9E1D19D2F4F9}"/>
    <dgm:cxn modelId="{A4E1922B-916C-486F-9E8D-1BB58EE1BCC3}" type="presOf" srcId="{0676F14A-1D8C-4420-9D41-3F66CD986AC6}" destId="{66A2B898-1E62-49C9-8E1D-8225B13374C3}" srcOrd="0" destOrd="0" presId="urn:microsoft.com/office/officeart/2005/8/layout/hierarchy1"/>
    <dgm:cxn modelId="{8A618F40-DA54-4E28-98AD-8D10A2881122}" srcId="{D814CABF-3CB6-49C9-822B-D8B95AC85FD8}" destId="{B936816C-7F83-4D99-9415-C323F6639102}" srcOrd="0" destOrd="0" parTransId="{7BAD8AB4-23E9-4434-86E6-E2F6A68FFEA6}" sibTransId="{3135D8DA-C165-4191-A538-609F1AFF60F6}"/>
    <dgm:cxn modelId="{F8A0B35E-93DC-4281-B7CD-E6B9BBD53D73}" type="presOf" srcId="{1FBB9D8C-0748-4632-ADA2-2FD4194C9D60}" destId="{C45D1C7C-DA63-42D6-B271-37B997ED4716}" srcOrd="0" destOrd="0" presId="urn:microsoft.com/office/officeart/2005/8/layout/hierarchy1"/>
    <dgm:cxn modelId="{E4313A6B-91F4-4D6F-9137-EB823E05BAE3}" srcId="{B936816C-7F83-4D99-9415-C323F6639102}" destId="{1FBB9D8C-0748-4632-ADA2-2FD4194C9D60}" srcOrd="2" destOrd="0" parTransId="{254CAB2B-016F-446B-BCCF-2089B6462AEE}" sibTransId="{FCBA5285-BC68-4B50-A280-FD6CF2668459}"/>
    <dgm:cxn modelId="{7EE40A7A-77EF-4CD8-98A1-77842BBC41CD}" type="presOf" srcId="{D814CABF-3CB6-49C9-822B-D8B95AC85FD8}" destId="{CF872592-8136-4B26-97A9-99F31043DCCB}" srcOrd="0" destOrd="0" presId="urn:microsoft.com/office/officeart/2005/8/layout/hierarchy1"/>
    <dgm:cxn modelId="{E756F793-EE95-4E33-AEE3-651C219C4E3E}" type="presOf" srcId="{A5C3653F-B8AC-465B-8D31-1A5F14EF5D44}" destId="{0EA3193E-B1D9-4EC2-8E93-C25EB446379E}" srcOrd="0" destOrd="0" presId="urn:microsoft.com/office/officeart/2005/8/layout/hierarchy1"/>
    <dgm:cxn modelId="{11D938CC-D3C4-4471-99B1-6C4740A637B4}" type="presOf" srcId="{394769A5-1368-45FD-9E79-1F9A433FD712}" destId="{95D45CF8-553B-49E7-891F-ADEA4A43B428}" srcOrd="0" destOrd="0" presId="urn:microsoft.com/office/officeart/2005/8/layout/hierarchy1"/>
    <dgm:cxn modelId="{DD8BA5D0-ABA4-411E-9990-DB94CCD145F0}" srcId="{B936816C-7F83-4D99-9415-C323F6639102}" destId="{71983F02-D979-4B44-B84E-C66B05552053}" srcOrd="3" destOrd="0" parTransId="{A2D559D7-3A1D-47CB-B405-59690EEAAC52}" sibTransId="{3BDE9E5B-A596-463C-A01C-92150E9DC19A}"/>
    <dgm:cxn modelId="{6FCDC7E6-A3A4-4DE5-8AD3-CFC0E7EDCBC6}" type="presOf" srcId="{A2D559D7-3A1D-47CB-B405-59690EEAAC52}" destId="{467CC014-F5D6-4B2C-B3A8-9E706D3F253E}" srcOrd="0" destOrd="0" presId="urn:microsoft.com/office/officeart/2005/8/layout/hierarchy1"/>
    <dgm:cxn modelId="{B49168E7-8F0E-41D7-AC45-1761946259C4}" type="presOf" srcId="{71983F02-D979-4B44-B84E-C66B05552053}" destId="{DE85539E-9E36-4368-BD8A-116DC3033ABA}" srcOrd="0" destOrd="0" presId="urn:microsoft.com/office/officeart/2005/8/layout/hierarchy1"/>
    <dgm:cxn modelId="{494EA1EC-95A6-4B9C-9EFD-5309EF544135}" type="presOf" srcId="{B936816C-7F83-4D99-9415-C323F6639102}" destId="{A4777F04-7444-45E5-BEEB-6498C341E9A2}" srcOrd="0" destOrd="0" presId="urn:microsoft.com/office/officeart/2005/8/layout/hierarchy1"/>
    <dgm:cxn modelId="{AA5515FA-BDB2-4343-B638-762243DD8E17}" type="presOf" srcId="{19CE4847-9426-4E65-B3B2-51BA7145AF00}" destId="{FECCB346-9411-463F-91B0-DAF56C855747}" srcOrd="0" destOrd="0" presId="urn:microsoft.com/office/officeart/2005/8/layout/hierarchy1"/>
    <dgm:cxn modelId="{30D82D39-9F50-4AB5-B976-D3C92896F312}" type="presParOf" srcId="{CF872592-8136-4B26-97A9-99F31043DCCB}" destId="{248612AA-080A-4FB4-BC0B-179D84CEE949}" srcOrd="0" destOrd="0" presId="urn:microsoft.com/office/officeart/2005/8/layout/hierarchy1"/>
    <dgm:cxn modelId="{B3326D1D-120D-49EF-BEB3-D9D8EABA6F9E}" type="presParOf" srcId="{248612AA-080A-4FB4-BC0B-179D84CEE949}" destId="{1929759C-3532-490D-9EBC-326EE6F3ABFE}" srcOrd="0" destOrd="0" presId="urn:microsoft.com/office/officeart/2005/8/layout/hierarchy1"/>
    <dgm:cxn modelId="{418C9DF0-6365-41E5-8188-D85F8E55787D}" type="presParOf" srcId="{1929759C-3532-490D-9EBC-326EE6F3ABFE}" destId="{5F2EE441-8DDE-4F9D-97CC-ED860CE211A6}" srcOrd="0" destOrd="0" presId="urn:microsoft.com/office/officeart/2005/8/layout/hierarchy1"/>
    <dgm:cxn modelId="{8FE29ED5-576B-4528-B84E-C0E9031566E1}" type="presParOf" srcId="{1929759C-3532-490D-9EBC-326EE6F3ABFE}" destId="{A4777F04-7444-45E5-BEEB-6498C341E9A2}" srcOrd="1" destOrd="0" presId="urn:microsoft.com/office/officeart/2005/8/layout/hierarchy1"/>
    <dgm:cxn modelId="{C25D6BA5-868E-484D-B9F3-59ECF637E188}" type="presParOf" srcId="{248612AA-080A-4FB4-BC0B-179D84CEE949}" destId="{0C8888A2-3B87-4E37-9E12-11DEA4DD3DB0}" srcOrd="1" destOrd="0" presId="urn:microsoft.com/office/officeart/2005/8/layout/hierarchy1"/>
    <dgm:cxn modelId="{3240BB2F-3543-4B4F-8849-6C75937BD8E2}" type="presParOf" srcId="{0C8888A2-3B87-4E37-9E12-11DEA4DD3DB0}" destId="{0EA3193E-B1D9-4EC2-8E93-C25EB446379E}" srcOrd="0" destOrd="0" presId="urn:microsoft.com/office/officeart/2005/8/layout/hierarchy1"/>
    <dgm:cxn modelId="{9DEC85D1-35F4-42EA-BDAA-45C5809692BB}" type="presParOf" srcId="{0C8888A2-3B87-4E37-9E12-11DEA4DD3DB0}" destId="{EA993537-AD7D-417E-9D2A-62BFE5F09EF1}" srcOrd="1" destOrd="0" presId="urn:microsoft.com/office/officeart/2005/8/layout/hierarchy1"/>
    <dgm:cxn modelId="{69513FB4-1430-432D-9149-D5051F038AAC}" type="presParOf" srcId="{EA993537-AD7D-417E-9D2A-62BFE5F09EF1}" destId="{4EEAE87F-6EDA-4D19-80A9-E55613070500}" srcOrd="0" destOrd="0" presId="urn:microsoft.com/office/officeart/2005/8/layout/hierarchy1"/>
    <dgm:cxn modelId="{59E1D39A-B2AA-4F86-A752-5480A12201B2}" type="presParOf" srcId="{4EEAE87F-6EDA-4D19-80A9-E55613070500}" destId="{960E7114-FE14-4630-988E-AD36719DC1C1}" srcOrd="0" destOrd="0" presId="urn:microsoft.com/office/officeart/2005/8/layout/hierarchy1"/>
    <dgm:cxn modelId="{2B91CA33-3352-4E49-8FC3-6D0B04AF414B}" type="presParOf" srcId="{4EEAE87F-6EDA-4D19-80A9-E55613070500}" destId="{66A2B898-1E62-49C9-8E1D-8225B13374C3}" srcOrd="1" destOrd="0" presId="urn:microsoft.com/office/officeart/2005/8/layout/hierarchy1"/>
    <dgm:cxn modelId="{90B81618-3C1C-4015-BA97-A4E70EB7A14C}" type="presParOf" srcId="{EA993537-AD7D-417E-9D2A-62BFE5F09EF1}" destId="{F78B2553-5864-488C-9744-EE16E3531FD5}" srcOrd="1" destOrd="0" presId="urn:microsoft.com/office/officeart/2005/8/layout/hierarchy1"/>
    <dgm:cxn modelId="{C66A97E1-0A07-47B3-86EC-57EA92F20C02}" type="presParOf" srcId="{0C8888A2-3B87-4E37-9E12-11DEA4DD3DB0}" destId="{95D45CF8-553B-49E7-891F-ADEA4A43B428}" srcOrd="2" destOrd="0" presId="urn:microsoft.com/office/officeart/2005/8/layout/hierarchy1"/>
    <dgm:cxn modelId="{3E5C79EA-EAFB-46F2-A3DD-64DCC89FCEED}" type="presParOf" srcId="{0C8888A2-3B87-4E37-9E12-11DEA4DD3DB0}" destId="{AA2127C6-A18A-4C26-AEFE-4EFD164F188B}" srcOrd="3" destOrd="0" presId="urn:microsoft.com/office/officeart/2005/8/layout/hierarchy1"/>
    <dgm:cxn modelId="{E15F656C-206F-497B-BA23-AB9746DBF68A}" type="presParOf" srcId="{AA2127C6-A18A-4C26-AEFE-4EFD164F188B}" destId="{3253AE95-B39F-4D0C-80EC-A993557B06C9}" srcOrd="0" destOrd="0" presId="urn:microsoft.com/office/officeart/2005/8/layout/hierarchy1"/>
    <dgm:cxn modelId="{F235AC11-9CB7-4C6A-96AB-B87876B62CBE}" type="presParOf" srcId="{3253AE95-B39F-4D0C-80EC-A993557B06C9}" destId="{CBA8AB1C-C964-48C6-895E-385EF4C30519}" srcOrd="0" destOrd="0" presId="urn:microsoft.com/office/officeart/2005/8/layout/hierarchy1"/>
    <dgm:cxn modelId="{EE912043-D528-4FA3-9FCF-ECFBCD951EAD}" type="presParOf" srcId="{3253AE95-B39F-4D0C-80EC-A993557B06C9}" destId="{FECCB346-9411-463F-91B0-DAF56C855747}" srcOrd="1" destOrd="0" presId="urn:microsoft.com/office/officeart/2005/8/layout/hierarchy1"/>
    <dgm:cxn modelId="{BD6A2729-8DB7-42BF-ACE3-84364DD7BDE5}" type="presParOf" srcId="{AA2127C6-A18A-4C26-AEFE-4EFD164F188B}" destId="{7175B245-A667-43ED-B48C-17CC3878F350}" srcOrd="1" destOrd="0" presId="urn:microsoft.com/office/officeart/2005/8/layout/hierarchy1"/>
    <dgm:cxn modelId="{9C34CE12-11D0-4BE6-916C-A0B681026AE4}" type="presParOf" srcId="{0C8888A2-3B87-4E37-9E12-11DEA4DD3DB0}" destId="{AED275B7-055D-4850-8205-B549F1B0593A}" srcOrd="4" destOrd="0" presId="urn:microsoft.com/office/officeart/2005/8/layout/hierarchy1"/>
    <dgm:cxn modelId="{6B6CCED0-6D9F-4F88-9D17-772E2FC4A46D}" type="presParOf" srcId="{0C8888A2-3B87-4E37-9E12-11DEA4DD3DB0}" destId="{2C5C4CB9-0435-48DE-B28B-6B23E1B4CD40}" srcOrd="5" destOrd="0" presId="urn:microsoft.com/office/officeart/2005/8/layout/hierarchy1"/>
    <dgm:cxn modelId="{54B7D365-3929-4B88-A724-24790344398C}" type="presParOf" srcId="{2C5C4CB9-0435-48DE-B28B-6B23E1B4CD40}" destId="{4BCE5714-D6CC-4A8B-ABD1-13D570DD5047}" srcOrd="0" destOrd="0" presId="urn:microsoft.com/office/officeart/2005/8/layout/hierarchy1"/>
    <dgm:cxn modelId="{001FBD80-C6E0-4E6D-8AB9-988383DC2508}" type="presParOf" srcId="{4BCE5714-D6CC-4A8B-ABD1-13D570DD5047}" destId="{393B6697-F0F1-4AE9-9C5D-0C15691AFA5B}" srcOrd="0" destOrd="0" presId="urn:microsoft.com/office/officeart/2005/8/layout/hierarchy1"/>
    <dgm:cxn modelId="{654DBCE3-5B69-46CF-9337-32FBD3ED6710}" type="presParOf" srcId="{4BCE5714-D6CC-4A8B-ABD1-13D570DD5047}" destId="{C45D1C7C-DA63-42D6-B271-37B997ED4716}" srcOrd="1" destOrd="0" presId="urn:microsoft.com/office/officeart/2005/8/layout/hierarchy1"/>
    <dgm:cxn modelId="{7D37A695-E7CB-4EB6-8B84-8DE86E95B3B9}" type="presParOf" srcId="{2C5C4CB9-0435-48DE-B28B-6B23E1B4CD40}" destId="{07082731-441D-409D-A375-E3EA362FF220}" srcOrd="1" destOrd="0" presId="urn:microsoft.com/office/officeart/2005/8/layout/hierarchy1"/>
    <dgm:cxn modelId="{2119E778-9023-43EF-9D6D-9D6FFF18CA9A}" type="presParOf" srcId="{0C8888A2-3B87-4E37-9E12-11DEA4DD3DB0}" destId="{467CC014-F5D6-4B2C-B3A8-9E706D3F253E}" srcOrd="6" destOrd="0" presId="urn:microsoft.com/office/officeart/2005/8/layout/hierarchy1"/>
    <dgm:cxn modelId="{B98477DD-4F38-4C00-A464-88C5921826F1}" type="presParOf" srcId="{0C8888A2-3B87-4E37-9E12-11DEA4DD3DB0}" destId="{4FF16964-97C4-4AF9-8710-BB55D2DBB341}" srcOrd="7" destOrd="0" presId="urn:microsoft.com/office/officeart/2005/8/layout/hierarchy1"/>
    <dgm:cxn modelId="{6D52A530-BFFF-4683-999E-B448682475E7}" type="presParOf" srcId="{4FF16964-97C4-4AF9-8710-BB55D2DBB341}" destId="{2BD2B53D-E72A-4001-B255-0599FA22A9BB}" srcOrd="0" destOrd="0" presId="urn:microsoft.com/office/officeart/2005/8/layout/hierarchy1"/>
    <dgm:cxn modelId="{855DCC29-9C65-446F-8A93-DDEFED45D436}" type="presParOf" srcId="{2BD2B53D-E72A-4001-B255-0599FA22A9BB}" destId="{4E9F382A-37DD-4627-B2F7-8EC78CC734CB}" srcOrd="0" destOrd="0" presId="urn:microsoft.com/office/officeart/2005/8/layout/hierarchy1"/>
    <dgm:cxn modelId="{CDCE1560-DE1F-4007-95B2-233616E9C463}" type="presParOf" srcId="{2BD2B53D-E72A-4001-B255-0599FA22A9BB}" destId="{DE85539E-9E36-4368-BD8A-116DC3033ABA}" srcOrd="1" destOrd="0" presId="urn:microsoft.com/office/officeart/2005/8/layout/hierarchy1"/>
    <dgm:cxn modelId="{B7958C65-0E29-42DC-9DB2-BB3F91B4E820}" type="presParOf" srcId="{4FF16964-97C4-4AF9-8710-BB55D2DBB341}" destId="{9FC464D6-F02E-4EEE-AA3A-91A2FC2CD6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CC014-F5D6-4B2C-B3A8-9E706D3F253E}">
      <dsp:nvSpPr>
        <dsp:cNvPr id="0" name=""/>
        <dsp:cNvSpPr/>
      </dsp:nvSpPr>
      <dsp:spPr>
        <a:xfrm>
          <a:off x="2646605" y="1777669"/>
          <a:ext cx="2078228" cy="329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669"/>
              </a:lnTo>
              <a:lnTo>
                <a:pt x="2078228" y="224669"/>
              </a:lnTo>
              <a:lnTo>
                <a:pt x="2078228" y="3296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D275B7-055D-4850-8205-B549F1B0593A}">
      <dsp:nvSpPr>
        <dsp:cNvPr id="0" name=""/>
        <dsp:cNvSpPr/>
      </dsp:nvSpPr>
      <dsp:spPr>
        <a:xfrm>
          <a:off x="2646605" y="1777669"/>
          <a:ext cx="692742" cy="329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669"/>
              </a:lnTo>
              <a:lnTo>
                <a:pt x="692742" y="224669"/>
              </a:lnTo>
              <a:lnTo>
                <a:pt x="692742" y="3296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45CF8-553B-49E7-891F-ADEA4A43B428}">
      <dsp:nvSpPr>
        <dsp:cNvPr id="0" name=""/>
        <dsp:cNvSpPr/>
      </dsp:nvSpPr>
      <dsp:spPr>
        <a:xfrm>
          <a:off x="1953863" y="1777669"/>
          <a:ext cx="692742" cy="329682"/>
        </a:xfrm>
        <a:custGeom>
          <a:avLst/>
          <a:gdLst/>
          <a:ahLst/>
          <a:cxnLst/>
          <a:rect l="0" t="0" r="0" b="0"/>
          <a:pathLst>
            <a:path>
              <a:moveTo>
                <a:pt x="692742" y="0"/>
              </a:moveTo>
              <a:lnTo>
                <a:pt x="692742" y="224669"/>
              </a:lnTo>
              <a:lnTo>
                <a:pt x="0" y="224669"/>
              </a:lnTo>
              <a:lnTo>
                <a:pt x="0" y="3296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A3193E-B1D9-4EC2-8E93-C25EB446379E}">
      <dsp:nvSpPr>
        <dsp:cNvPr id="0" name=""/>
        <dsp:cNvSpPr/>
      </dsp:nvSpPr>
      <dsp:spPr>
        <a:xfrm>
          <a:off x="568377" y="1777669"/>
          <a:ext cx="2078228" cy="329682"/>
        </a:xfrm>
        <a:custGeom>
          <a:avLst/>
          <a:gdLst/>
          <a:ahLst/>
          <a:cxnLst/>
          <a:rect l="0" t="0" r="0" b="0"/>
          <a:pathLst>
            <a:path>
              <a:moveTo>
                <a:pt x="2078228" y="0"/>
              </a:moveTo>
              <a:lnTo>
                <a:pt x="2078228" y="224669"/>
              </a:lnTo>
              <a:lnTo>
                <a:pt x="0" y="224669"/>
              </a:lnTo>
              <a:lnTo>
                <a:pt x="0" y="3296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2EE441-8DDE-4F9D-97CC-ED860CE211A6}">
      <dsp:nvSpPr>
        <dsp:cNvPr id="0" name=""/>
        <dsp:cNvSpPr/>
      </dsp:nvSpPr>
      <dsp:spPr>
        <a:xfrm>
          <a:off x="2079816" y="1057847"/>
          <a:ext cx="1133579" cy="719822"/>
        </a:xfrm>
        <a:prstGeom prst="roundRect">
          <a:avLst>
            <a:gd name="adj" fmla="val 10000"/>
          </a:avLst>
        </a:prstGeom>
        <a:solidFill>
          <a:srgbClr val="FFF4D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77F04-7444-45E5-BEEB-6498C341E9A2}">
      <dsp:nvSpPr>
        <dsp:cNvPr id="0" name=""/>
        <dsp:cNvSpPr/>
      </dsp:nvSpPr>
      <dsp:spPr>
        <a:xfrm>
          <a:off x="2205769" y="1177502"/>
          <a:ext cx="1133579" cy="719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Topologia Cliente-Servidor </a:t>
          </a:r>
          <a:endParaRPr lang="en-US" sz="1000" kern="1200" dirty="0"/>
        </a:p>
      </dsp:txBody>
      <dsp:txXfrm>
        <a:off x="2226852" y="1198585"/>
        <a:ext cx="1091413" cy="677656"/>
      </dsp:txXfrm>
    </dsp:sp>
    <dsp:sp modelId="{960E7114-FE14-4630-988E-AD36719DC1C1}">
      <dsp:nvSpPr>
        <dsp:cNvPr id="0" name=""/>
        <dsp:cNvSpPr/>
      </dsp:nvSpPr>
      <dsp:spPr>
        <a:xfrm>
          <a:off x="1587" y="2107352"/>
          <a:ext cx="1133579" cy="719822"/>
        </a:xfrm>
        <a:prstGeom prst="roundRect">
          <a:avLst>
            <a:gd name="adj" fmla="val 10000"/>
          </a:avLst>
        </a:prstGeom>
        <a:solidFill>
          <a:srgbClr val="F4D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2B898-1E62-49C9-8E1D-8225B13374C3}">
      <dsp:nvSpPr>
        <dsp:cNvPr id="0" name=""/>
        <dsp:cNvSpPr/>
      </dsp:nvSpPr>
      <dsp:spPr>
        <a:xfrm>
          <a:off x="127540" y="2227008"/>
          <a:ext cx="1133579" cy="719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/>
            <a:t>Três camadas OSI: Física (L1), Ligação (L2), Aplicação (L7)</a:t>
          </a:r>
          <a:endParaRPr lang="en-US" sz="1000" kern="1200"/>
        </a:p>
      </dsp:txBody>
      <dsp:txXfrm>
        <a:off x="148623" y="2248091"/>
        <a:ext cx="1091413" cy="677656"/>
      </dsp:txXfrm>
    </dsp:sp>
    <dsp:sp modelId="{CBA8AB1C-C964-48C6-895E-385EF4C30519}">
      <dsp:nvSpPr>
        <dsp:cNvPr id="0" name=""/>
        <dsp:cNvSpPr/>
      </dsp:nvSpPr>
      <dsp:spPr>
        <a:xfrm>
          <a:off x="1387073" y="2107352"/>
          <a:ext cx="1133579" cy="719822"/>
        </a:xfrm>
        <a:prstGeom prst="roundRect">
          <a:avLst>
            <a:gd name="adj" fmla="val 10000"/>
          </a:avLst>
        </a:prstGeom>
        <a:solidFill>
          <a:srgbClr val="F4D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CB346-9411-463F-91B0-DAF56C855747}">
      <dsp:nvSpPr>
        <dsp:cNvPr id="0" name=""/>
        <dsp:cNvSpPr/>
      </dsp:nvSpPr>
      <dsp:spPr>
        <a:xfrm>
          <a:off x="1513026" y="2227008"/>
          <a:ext cx="1133579" cy="719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/>
            <a:t>Via de transmissão ótica (Infravermelho) - Tráfego de dados</a:t>
          </a:r>
          <a:endParaRPr lang="en-US" sz="1000" kern="1200"/>
        </a:p>
      </dsp:txBody>
      <dsp:txXfrm>
        <a:off x="1534109" y="2248091"/>
        <a:ext cx="1091413" cy="677656"/>
      </dsp:txXfrm>
    </dsp:sp>
    <dsp:sp modelId="{393B6697-F0F1-4AE9-9C5D-0C15691AFA5B}">
      <dsp:nvSpPr>
        <dsp:cNvPr id="0" name=""/>
        <dsp:cNvSpPr/>
      </dsp:nvSpPr>
      <dsp:spPr>
        <a:xfrm>
          <a:off x="2772559" y="2107352"/>
          <a:ext cx="1133579" cy="719822"/>
        </a:xfrm>
        <a:prstGeom prst="roundRect">
          <a:avLst>
            <a:gd name="adj" fmla="val 10000"/>
          </a:avLst>
        </a:prstGeom>
        <a:solidFill>
          <a:srgbClr val="F4D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D1C7C-DA63-42D6-B271-37B997ED4716}">
      <dsp:nvSpPr>
        <dsp:cNvPr id="0" name=""/>
        <dsp:cNvSpPr/>
      </dsp:nvSpPr>
      <dsp:spPr>
        <a:xfrm>
          <a:off x="2898512" y="2227008"/>
          <a:ext cx="1133579" cy="719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/>
            <a:t>Via de retorno (Ligação Série) - Sinalização e ACKs</a:t>
          </a:r>
          <a:endParaRPr lang="en-US" sz="1000" kern="1200"/>
        </a:p>
      </dsp:txBody>
      <dsp:txXfrm>
        <a:off x="2919595" y="2248091"/>
        <a:ext cx="1091413" cy="677656"/>
      </dsp:txXfrm>
    </dsp:sp>
    <dsp:sp modelId="{4E9F382A-37DD-4627-B2F7-8EC78CC734CB}">
      <dsp:nvSpPr>
        <dsp:cNvPr id="0" name=""/>
        <dsp:cNvSpPr/>
      </dsp:nvSpPr>
      <dsp:spPr>
        <a:xfrm>
          <a:off x="4158044" y="2107352"/>
          <a:ext cx="1133579" cy="719822"/>
        </a:xfrm>
        <a:prstGeom prst="roundRect">
          <a:avLst>
            <a:gd name="adj" fmla="val 10000"/>
          </a:avLst>
        </a:prstGeom>
        <a:solidFill>
          <a:srgbClr val="F4D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5539E-9E36-4368-BD8A-116DC3033ABA}">
      <dsp:nvSpPr>
        <dsp:cNvPr id="0" name=""/>
        <dsp:cNvSpPr/>
      </dsp:nvSpPr>
      <dsp:spPr>
        <a:xfrm>
          <a:off x="4283998" y="2227008"/>
          <a:ext cx="1133579" cy="719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/>
            <a:t>Canal full-duplex simulado </a:t>
          </a:r>
          <a:endParaRPr lang="en-US" sz="1000" kern="1200"/>
        </a:p>
      </dsp:txBody>
      <dsp:txXfrm>
        <a:off x="4305081" y="2248091"/>
        <a:ext cx="1091413" cy="677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1688B-B291-45CA-9402-76B63E11DB62}" type="datetimeFigureOut">
              <a:rPr lang="pt-PT" smtClean="0"/>
              <a:t>02/06/2026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73D3B-CA38-46DC-8698-14A3A099885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8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F5C92-D08F-C718-8525-A7D226CBB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32A89D-135D-1121-B39E-F9C0EB53F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D03002A-FA34-420B-F2AC-9FB6496F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8E14-38E7-40F0-8004-D6222B1D1841}" type="datetime1">
              <a:rPr lang="pt-PT" smtClean="0"/>
              <a:t>02/06/2026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3BAEA68-42D8-0533-259D-77EABC1D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C7D4B9B-9F1C-BBB5-F0B6-31187CEC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195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45BD8-B08F-D1EE-2F71-0AE5CD13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7766115-E399-CD9A-9AB8-6DBF037CD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531A3FD-618D-24E1-BBE4-92BF0C38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D92B6-C838-4271-AEF1-586EAEFCE4C2}" type="datetime1">
              <a:rPr lang="pt-PT" smtClean="0"/>
              <a:t>02/06/2026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3F586D9-A258-A026-E342-77DA835F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88A491E-034C-E9B7-DE24-FED3E703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824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ED37A-B534-D313-2114-5DBFA27A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BD0987B-9670-80B6-96B7-987C9CC6C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2541767-DB38-F1C8-6C2D-B413A926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36F-C1EB-4B7F-AF0F-C0697C232A92}" type="datetime1">
              <a:rPr lang="pt-PT" smtClean="0"/>
              <a:t>02/06/2026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3AB5148-2CE4-2FA2-FE43-075F49E2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5EEC8AD-C79A-A4A1-DAF7-5F1E5449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40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CB321-DA8D-897F-8B8F-E5F39E6A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BF32EE1-814C-CA2B-C0B3-CB2D636E4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5978CDB-75E1-3D53-5FAD-2C9EC76EE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8219B74-9F72-1D7A-DFB8-C8E3A441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2999-F7EE-4722-8F3A-6832B81808A9}" type="datetime1">
              <a:rPr lang="pt-PT" smtClean="0"/>
              <a:t>02/06/2026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F760CD-23BB-6DBF-3BA2-5111CDFF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30A313-D1A7-F22A-26B9-293D9E51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5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1DDDE-0EB9-3281-33CC-9067465AE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8D3F04-448B-3BE4-8383-98E48B008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CC255A8-D14F-B5F1-58AA-3ACC71913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D41F761-7B50-E644-1158-73A94D666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0DAA5BEE-8022-8B94-A7D9-25A04EA2D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C09A637-4B8E-3EF7-5B1F-C3D4C0930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9C68-68FE-4E7E-B940-CD2DD0CDBB35}" type="datetime1">
              <a:rPr lang="pt-PT" smtClean="0"/>
              <a:t>02/06/2026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894813E-1AA8-B000-B02F-B94CF2EB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7B526D1-C195-0ECF-3EF8-21F65F2F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8108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DBF6F-617C-66B1-BE9E-1CEC0F3F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7F441CB-0ECF-DFD3-AAE8-E93DEE3F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FF87B-333D-43B0-B391-74F76062BF6B}" type="datetime1">
              <a:rPr lang="pt-PT" smtClean="0"/>
              <a:t>02/06/2026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E91B4CC-B29A-96F0-179E-3140C9BF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2B86D7F-186E-A86C-2CBA-7FFE2F12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826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C7A7871-849E-F694-05EB-B655283E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1B06-D346-4FB4-A074-E8AF156550D3}" type="datetime1">
              <a:rPr lang="pt-PT" smtClean="0"/>
              <a:t>02/06/2026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0E8E61D-9AD0-B08A-D370-6ACE1CF9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91EADA-AF1F-F435-7484-288E8594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539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E8DD4-D3CD-6367-E19B-3EFCADC7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C36F0F-DDE2-1E6C-E307-FEFA19050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33FE896-14C0-2EC1-94E1-5D57E26E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9DE5A4D-BE56-A47A-B24A-D4A822F8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606C-86AD-4C00-8D0B-7B06BA2F925E}" type="datetime1">
              <a:rPr lang="pt-PT" smtClean="0"/>
              <a:t>02/06/2026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499F860-2D7E-211E-44D7-838292E0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A1009BF-DE6A-73FA-0AB7-4E20BDE6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495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3212C-B400-A28A-896E-E5436B99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B5B6C4E-66AD-6227-A70D-F93C767CE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8D5964C-62C2-8BA6-22D2-F9FE6125F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DF99A77-589A-C167-D96A-8DEA1DB7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3A256-E52F-4EDE-825C-76BF9CF8E370}" type="datetime1">
              <a:rPr lang="pt-PT" smtClean="0"/>
              <a:t>02/06/2026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B5795F2-61E6-6CDD-6824-3506628F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F1E6964-7DD3-CBAF-EA7F-B308614D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98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DE814-17D2-4B93-8372-6EC8CC14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2A8DBD5-7156-5E46-9787-70B05D46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1BE841E-141B-D59A-5410-62BC0CF1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39BA-D443-46CE-8419-0232F3BCE6AE}" type="datetime1">
              <a:rPr lang="pt-PT" smtClean="0"/>
              <a:t>02/06/2026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9DBD34C-9E25-FB91-7ABC-FE5A75792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32C1604-1A16-9B58-AFBB-B03B781C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470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0BC00E-4E4D-F7B2-D97F-19DD7F568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3BC48DD-41C0-702B-DE9F-3CAC61D15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CCD982F-EFB0-EE9D-12C0-47B74921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24A1-7393-4287-B022-6875383A625B}" type="datetime1">
              <a:rPr lang="pt-PT" smtClean="0"/>
              <a:t>02/06/2026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8F803E1-21C1-BB52-FD72-431422DC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CE63E0B-879F-5866-A519-18AAED41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2648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26D71E2-931A-5683-2BFF-CB34AD59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8E8F3F0-FFF4-13EF-66E7-99E946E1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8B059D2-57C3-F06C-B57E-D7807608F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D85F0-9FFD-46B2-BF84-63FDC2FFC668}" type="datetime1">
              <a:rPr lang="pt-PT" smtClean="0"/>
              <a:t>02/06/2026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9E63AE3-1D9F-8F6C-3761-EFB6E970A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41443CE-B32E-5167-8E8F-A47FCF258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86BB4-5363-444A-BA72-35B3511C920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203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8F875A7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7582" y="386162"/>
            <a:ext cx="9805183" cy="16120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Protótipo De Um Sistema De Comunicação Li-Fi Num Aeroporto</a:t>
            </a: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914" y="3312216"/>
            <a:ext cx="9850982" cy="3297306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70000"/>
              </a:lnSpc>
            </a:pPr>
            <a:r>
              <a:rPr lang="pt-PT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3 constituído por: </a:t>
            </a:r>
            <a:br>
              <a:rPr lang="pt-PT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Luis Baptista PG61434         Bernardo Salgado PG59972        Nuno Mirra PG57594            Pedro Daniel PG58741</a:t>
            </a:r>
          </a:p>
          <a:p>
            <a:pPr algn="l">
              <a:lnSpc>
                <a:spcPct val="170000"/>
              </a:lnSpc>
            </a:pPr>
            <a:endParaRPr lang="pt-PT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2025/2026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 flipV="1">
            <a:off x="1845507" y="2709348"/>
            <a:ext cx="10346493" cy="156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2251538" y="2125777"/>
            <a:ext cx="944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Integrador em Telecomunicações e Informática</a:t>
            </a:r>
            <a:endParaRPr lang="pt-P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E91423-771B-2FCB-8DB7-B03D30A94C92}"/>
              </a:ext>
            </a:extLst>
          </p:cNvPr>
          <p:cNvSpPr txBox="1"/>
          <p:nvPr/>
        </p:nvSpPr>
        <p:spPr>
          <a:xfrm>
            <a:off x="3600871" y="2755161"/>
            <a:ext cx="6835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endParaRPr lang="pt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B4E474-DD53-922F-E9AF-695DE9109DF7}"/>
              </a:ext>
            </a:extLst>
          </p:cNvPr>
          <p:cNvSpPr txBox="1"/>
          <p:nvPr/>
        </p:nvSpPr>
        <p:spPr>
          <a:xfrm>
            <a:off x="289154" y="1024101"/>
            <a:ext cx="421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5310C6-A67B-06C6-5953-D3CE308D62E2}"/>
              </a:ext>
            </a:extLst>
          </p:cNvPr>
          <p:cNvSpPr/>
          <p:nvPr/>
        </p:nvSpPr>
        <p:spPr>
          <a:xfrm>
            <a:off x="360948" y="1558978"/>
            <a:ext cx="741560" cy="5306442"/>
          </a:xfrm>
          <a:prstGeom prst="rect">
            <a:avLst/>
          </a:prstGeom>
          <a:solidFill>
            <a:srgbClr val="87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786C4-3D82-08D6-047B-BDD2C4E85192}"/>
              </a:ext>
            </a:extLst>
          </p:cNvPr>
          <p:cNvSpPr/>
          <p:nvPr/>
        </p:nvSpPr>
        <p:spPr>
          <a:xfrm>
            <a:off x="1103947" y="1558978"/>
            <a:ext cx="741560" cy="5306442"/>
          </a:xfrm>
          <a:prstGeom prst="rect">
            <a:avLst/>
          </a:prstGeom>
          <a:solidFill>
            <a:srgbClr val="C76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69E312E-E9C3-F699-ED34-8BCA5F9A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F04CA88F-6174-EF62-D8EF-9C533D973592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3EAC509-5102-A26B-6EA7-C2528C75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2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6D75E6-C16C-5C10-9D94-DDA1001EA221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 e 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2E444D-AF5A-BA13-0F41-3860BBCED7C4}"/>
              </a:ext>
            </a:extLst>
          </p:cNvPr>
          <p:cNvSpPr txBox="1"/>
          <p:nvPr/>
        </p:nvSpPr>
        <p:spPr>
          <a:xfrm>
            <a:off x="2933700" y="1940616"/>
            <a:ext cx="6659880" cy="25453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redes sem fios em aeroportos sofrem frequentemente de saturação de espetro e interferências rádio.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Explorar a comunicação ótica através de infravermelhos como uma alternativa isolada e imune a estas interferências.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/>
              <a:t>Produto Final: </a:t>
            </a:r>
            <a:r>
              <a:rPr lang="pt-PT" dirty="0"/>
              <a:t>Aplicação Web interativa (React) acessível pelo passageiro, suportada integralmente pelo canal ótico.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F098898-0E82-D0B0-46B3-4AADA3529B26}"/>
              </a:ext>
            </a:extLst>
          </p:cNvPr>
          <p:cNvSpPr/>
          <p:nvPr/>
        </p:nvSpPr>
        <p:spPr>
          <a:xfrm>
            <a:off x="777240" y="1794248"/>
            <a:ext cx="1539240" cy="37795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11D15C-4C43-CC59-8191-33F8987CFE69}"/>
              </a:ext>
            </a:extLst>
          </p:cNvPr>
          <p:cNvSpPr/>
          <p:nvPr/>
        </p:nvSpPr>
        <p:spPr>
          <a:xfrm>
            <a:off x="10210800" y="1779014"/>
            <a:ext cx="1539240" cy="37795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3746BF78-FF33-8694-155A-E4C0C8CB1D2C}"/>
              </a:ext>
            </a:extLst>
          </p:cNvPr>
          <p:cNvSpPr/>
          <p:nvPr/>
        </p:nvSpPr>
        <p:spPr>
          <a:xfrm rot="5400000">
            <a:off x="3032760" y="5573763"/>
            <a:ext cx="1249680" cy="7825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1" name="Conexão reta 10">
            <a:extLst>
              <a:ext uri="{FF2B5EF4-FFF2-40B4-BE49-F238E27FC236}">
                <a16:creationId xmlns:a16="http://schemas.microsoft.com/office/drawing/2014/main" id="{967A5227-2B1B-BD07-93BC-95621A9551F3}"/>
              </a:ext>
            </a:extLst>
          </p:cNvPr>
          <p:cNvCxnSpPr/>
          <p:nvPr/>
        </p:nvCxnSpPr>
        <p:spPr>
          <a:xfrm>
            <a:off x="1546860" y="5943600"/>
            <a:ext cx="86639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aio 13">
            <a:extLst>
              <a:ext uri="{FF2B5EF4-FFF2-40B4-BE49-F238E27FC236}">
                <a16:creationId xmlns:a16="http://schemas.microsoft.com/office/drawing/2014/main" id="{3973A497-2039-ABD3-D3C5-63597CFFFEDF}"/>
              </a:ext>
            </a:extLst>
          </p:cNvPr>
          <p:cNvSpPr/>
          <p:nvPr/>
        </p:nvSpPr>
        <p:spPr>
          <a:xfrm rot="5652768">
            <a:off x="3747052" y="5157387"/>
            <a:ext cx="717382" cy="428688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aio 14">
            <a:extLst>
              <a:ext uri="{FF2B5EF4-FFF2-40B4-BE49-F238E27FC236}">
                <a16:creationId xmlns:a16="http://schemas.microsoft.com/office/drawing/2014/main" id="{815114EB-7490-72A9-7C0E-B679F9B9B657}"/>
              </a:ext>
            </a:extLst>
          </p:cNvPr>
          <p:cNvSpPr/>
          <p:nvPr/>
        </p:nvSpPr>
        <p:spPr>
          <a:xfrm rot="4718292">
            <a:off x="4187798" y="4939444"/>
            <a:ext cx="627167" cy="990666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AE070C2-DFB8-8F58-20C8-1D9C74E76E60}"/>
              </a:ext>
            </a:extLst>
          </p:cNvPr>
          <p:cNvSpPr txBox="1"/>
          <p:nvPr/>
        </p:nvSpPr>
        <p:spPr>
          <a:xfrm>
            <a:off x="777240" y="3429000"/>
            <a:ext cx="1539240" cy="369332"/>
          </a:xfrm>
          <a:prstGeom prst="rect">
            <a:avLst/>
          </a:prstGeom>
          <a:solidFill>
            <a:srgbClr val="FFF4DD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A04FA7-56D8-7698-0602-B9772C41BAC1}"/>
              </a:ext>
            </a:extLst>
          </p:cNvPr>
          <p:cNvSpPr txBox="1"/>
          <p:nvPr/>
        </p:nvSpPr>
        <p:spPr>
          <a:xfrm>
            <a:off x="5768340" y="5943600"/>
            <a:ext cx="15392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Ótico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25016FC-D3E1-F9C8-21E6-22067329E341}"/>
              </a:ext>
            </a:extLst>
          </p:cNvPr>
          <p:cNvSpPr txBox="1"/>
          <p:nvPr/>
        </p:nvSpPr>
        <p:spPr>
          <a:xfrm>
            <a:off x="10210800" y="3429000"/>
            <a:ext cx="1539240" cy="369332"/>
          </a:xfrm>
          <a:prstGeom prst="rect">
            <a:avLst/>
          </a:prstGeom>
          <a:solidFill>
            <a:srgbClr val="FFF4DD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E8592341-3E41-D44A-468F-6E0323259750}"/>
              </a:ext>
            </a:extLst>
          </p:cNvPr>
          <p:cNvSpPr/>
          <p:nvPr/>
        </p:nvSpPr>
        <p:spPr>
          <a:xfrm>
            <a:off x="10107900" y="5767714"/>
            <a:ext cx="331518" cy="351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DDC900C5-0D07-C1E5-BBBA-FE58E6A46C1A}"/>
              </a:ext>
            </a:extLst>
          </p:cNvPr>
          <p:cNvSpPr/>
          <p:nvPr/>
        </p:nvSpPr>
        <p:spPr>
          <a:xfrm rot="10800000">
            <a:off x="1421064" y="5767714"/>
            <a:ext cx="331518" cy="351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F662BB-B741-0CCE-1B11-32E2251C472D}"/>
              </a:ext>
            </a:extLst>
          </p:cNvPr>
          <p:cNvSpPr txBox="1"/>
          <p:nvPr/>
        </p:nvSpPr>
        <p:spPr>
          <a:xfrm>
            <a:off x="4612571" y="5123600"/>
            <a:ext cx="3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98930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2161-29B4-0131-8592-C1820C1B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D9B527B4-518E-04BB-4C18-D835B3EF03CB}"/>
              </a:ext>
            </a:extLst>
          </p:cNvPr>
          <p:cNvCxnSpPr>
            <a:cxnSpLocks/>
          </p:cNvCxnSpPr>
          <p:nvPr/>
        </p:nvCxnSpPr>
        <p:spPr>
          <a:xfrm>
            <a:off x="-78659" y="826825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BA8F2F-079A-66E3-068A-CAEFDD9BB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3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836576-4212-5277-F798-758E71C71360}"/>
              </a:ext>
            </a:extLst>
          </p:cNvPr>
          <p:cNvSpPr txBox="1"/>
          <p:nvPr/>
        </p:nvSpPr>
        <p:spPr>
          <a:xfrm>
            <a:off x="609600" y="136525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Global do Sistema</a:t>
            </a:r>
          </a:p>
        </p:txBody>
      </p:sp>
      <p:graphicFrame>
        <p:nvGraphicFramePr>
          <p:cNvPr id="15" name="CaixaDeTexto 9">
            <a:extLst>
              <a:ext uri="{FF2B5EF4-FFF2-40B4-BE49-F238E27FC236}">
                <a16:creationId xmlns:a16="http://schemas.microsoft.com/office/drawing/2014/main" id="{1731FDD3-7D14-14B1-8D2A-923297506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5697237"/>
              </p:ext>
            </p:extLst>
          </p:nvPr>
        </p:nvGraphicFramePr>
        <p:xfrm>
          <a:off x="6386157" y="1280163"/>
          <a:ext cx="5419165" cy="4004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tângulo 20">
            <a:extLst>
              <a:ext uri="{FF2B5EF4-FFF2-40B4-BE49-F238E27FC236}">
                <a16:creationId xmlns:a16="http://schemas.microsoft.com/office/drawing/2014/main" id="{AC58325F-5ED2-E2A5-5CE1-C80E71DE08CB}"/>
              </a:ext>
            </a:extLst>
          </p:cNvPr>
          <p:cNvSpPr/>
          <p:nvPr/>
        </p:nvSpPr>
        <p:spPr>
          <a:xfrm>
            <a:off x="3019882" y="1196885"/>
            <a:ext cx="2420444" cy="2387216"/>
          </a:xfrm>
          <a:prstGeom prst="rect">
            <a:avLst/>
          </a:prstGeom>
          <a:solidFill>
            <a:srgbClr val="FFFF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73CCB3F-BB58-B172-DDEF-9C049DBF8E9A}"/>
              </a:ext>
            </a:extLst>
          </p:cNvPr>
          <p:cNvSpPr/>
          <p:nvPr/>
        </p:nvSpPr>
        <p:spPr>
          <a:xfrm>
            <a:off x="147754" y="3816649"/>
            <a:ext cx="1785219" cy="2904826"/>
          </a:xfrm>
          <a:prstGeom prst="rect">
            <a:avLst/>
          </a:prstGeom>
          <a:solidFill>
            <a:srgbClr val="FFFF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944EB5A-18EA-D1D5-FA84-5C66E31F3616}"/>
              </a:ext>
            </a:extLst>
          </p:cNvPr>
          <p:cNvSpPr/>
          <p:nvPr/>
        </p:nvSpPr>
        <p:spPr>
          <a:xfrm>
            <a:off x="2419759" y="4161933"/>
            <a:ext cx="3057785" cy="2443255"/>
          </a:xfrm>
          <a:prstGeom prst="rect">
            <a:avLst/>
          </a:prstGeom>
          <a:solidFill>
            <a:srgbClr val="FFFF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B45E435-5F20-92CB-B450-54E81EC25F65}"/>
              </a:ext>
            </a:extLst>
          </p:cNvPr>
          <p:cNvSpPr/>
          <p:nvPr/>
        </p:nvSpPr>
        <p:spPr>
          <a:xfrm>
            <a:off x="269190" y="4410124"/>
            <a:ext cx="1539433" cy="439838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1 (Física/Recetor) 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03E725E-3665-9A9A-DDFB-E9B88920E36D}"/>
              </a:ext>
            </a:extLst>
          </p:cNvPr>
          <p:cNvSpPr/>
          <p:nvPr/>
        </p:nvSpPr>
        <p:spPr>
          <a:xfrm>
            <a:off x="352939" y="5383561"/>
            <a:ext cx="1342841" cy="439838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2 (Ligação) </a:t>
            </a:r>
          </a:p>
          <a:p>
            <a:pPr algn="ctr"/>
            <a:endParaRPr lang="pt-PT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A5CA066-7461-EB7D-1448-0F91DAC80C27}"/>
              </a:ext>
            </a:extLst>
          </p:cNvPr>
          <p:cNvSpPr/>
          <p:nvPr/>
        </p:nvSpPr>
        <p:spPr>
          <a:xfrm>
            <a:off x="243594" y="6203361"/>
            <a:ext cx="1539433" cy="439838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pt-PT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7 (Aplicação) </a:t>
            </a:r>
          </a:p>
          <a:p>
            <a:pPr algn="ctr"/>
            <a:endParaRPr lang="pt-PT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0B2364F-7F14-BC1C-36A3-F17C418C3F47}"/>
              </a:ext>
            </a:extLst>
          </p:cNvPr>
          <p:cNvSpPr/>
          <p:nvPr/>
        </p:nvSpPr>
        <p:spPr>
          <a:xfrm>
            <a:off x="3329393" y="4466164"/>
            <a:ext cx="1479980" cy="659757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Luz Infravermelha (Downlink de Dados)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4AD9B09-1F5C-A2AB-B7A5-CD41988C8835}"/>
              </a:ext>
            </a:extLst>
          </p:cNvPr>
          <p:cNvSpPr/>
          <p:nvPr/>
        </p:nvSpPr>
        <p:spPr>
          <a:xfrm>
            <a:off x="2921539" y="5618886"/>
            <a:ext cx="2295688" cy="659757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Cabo Série (</a:t>
            </a:r>
            <a:r>
              <a:rPr lang="pt-PT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Uplink</a:t>
            </a:r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Controlo e </a:t>
            </a:r>
            <a:r>
              <a:rPr lang="pt-PT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ACKs</a:t>
            </a:r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F07DD85-7AE0-1742-9DA4-6DE60AEFBAB2}"/>
              </a:ext>
            </a:extLst>
          </p:cNvPr>
          <p:cNvSpPr/>
          <p:nvPr/>
        </p:nvSpPr>
        <p:spPr>
          <a:xfrm>
            <a:off x="3430452" y="2901094"/>
            <a:ext cx="1539433" cy="439838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1 (Física/Emissor) 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23543E5-7D16-142E-04CF-FF64C650803F}"/>
              </a:ext>
            </a:extLst>
          </p:cNvPr>
          <p:cNvSpPr/>
          <p:nvPr/>
        </p:nvSpPr>
        <p:spPr>
          <a:xfrm>
            <a:off x="3460387" y="1473884"/>
            <a:ext cx="1539433" cy="439838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pt-PT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7 (Aplicação) </a:t>
            </a:r>
          </a:p>
          <a:p>
            <a:pPr algn="ctr"/>
            <a:endParaRPr lang="pt-PT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612B05E-4A67-80C5-53DF-6A57EB49488E}"/>
              </a:ext>
            </a:extLst>
          </p:cNvPr>
          <p:cNvSpPr/>
          <p:nvPr/>
        </p:nvSpPr>
        <p:spPr>
          <a:xfrm>
            <a:off x="3558685" y="2178253"/>
            <a:ext cx="1342841" cy="439838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 2 (Ligação) </a:t>
            </a:r>
          </a:p>
          <a:p>
            <a:pPr algn="ctr"/>
            <a:endParaRPr lang="pt-PT" dirty="0"/>
          </a:p>
        </p:txBody>
      </p: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29EA73BF-2018-936C-9B24-30972AFCBD6D}"/>
              </a:ext>
            </a:extLst>
          </p:cNvPr>
          <p:cNvCxnSpPr>
            <a:stCxn id="35" idx="0"/>
            <a:endCxn id="33" idx="2"/>
          </p:cNvCxnSpPr>
          <p:nvPr/>
        </p:nvCxnSpPr>
        <p:spPr>
          <a:xfrm flipH="1" flipV="1">
            <a:off x="4230104" y="1913722"/>
            <a:ext cx="2" cy="2645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xão reta unidirecional 37">
            <a:extLst>
              <a:ext uri="{FF2B5EF4-FFF2-40B4-BE49-F238E27FC236}">
                <a16:creationId xmlns:a16="http://schemas.microsoft.com/office/drawing/2014/main" id="{96CFD165-D2D0-7D57-D457-2DAA1B4014B4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4200169" y="2618091"/>
            <a:ext cx="29937" cy="2830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 reta unidirecional 40">
            <a:extLst>
              <a:ext uri="{FF2B5EF4-FFF2-40B4-BE49-F238E27FC236}">
                <a16:creationId xmlns:a16="http://schemas.microsoft.com/office/drawing/2014/main" id="{7CA22BD3-1008-9454-9137-8E9E0DA3273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1024360" y="4849962"/>
            <a:ext cx="14547" cy="533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 reta unidirecional 43">
            <a:extLst>
              <a:ext uri="{FF2B5EF4-FFF2-40B4-BE49-F238E27FC236}">
                <a16:creationId xmlns:a16="http://schemas.microsoft.com/office/drawing/2014/main" id="{C1C8B412-542F-0D90-6BFB-D2F71B7AB59C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1013311" y="5823399"/>
            <a:ext cx="11049" cy="3799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xão: Ângulo Reto 47">
            <a:extLst>
              <a:ext uri="{FF2B5EF4-FFF2-40B4-BE49-F238E27FC236}">
                <a16:creationId xmlns:a16="http://schemas.microsoft.com/office/drawing/2014/main" id="{C75169B6-59FA-7BA8-1E06-9E09FDDB47B0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1808623" y="4630043"/>
            <a:ext cx="1112916" cy="1318722"/>
          </a:xfrm>
          <a:prstGeom prst="bentConnector3">
            <a:avLst>
              <a:gd name="adj1" fmla="val 396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xão: Ângulo Reto 48">
            <a:extLst>
              <a:ext uri="{FF2B5EF4-FFF2-40B4-BE49-F238E27FC236}">
                <a16:creationId xmlns:a16="http://schemas.microsoft.com/office/drawing/2014/main" id="{D9B9EA58-2A32-7BE9-99A6-C7AADDA78C9D}"/>
              </a:ext>
            </a:extLst>
          </p:cNvPr>
          <p:cNvCxnSpPr>
            <a:cxnSpLocks/>
            <a:stCxn id="27" idx="1"/>
            <a:endCxn id="24" idx="0"/>
          </p:cNvCxnSpPr>
          <p:nvPr/>
        </p:nvCxnSpPr>
        <p:spPr>
          <a:xfrm rot="10800000">
            <a:off x="1038907" y="4410125"/>
            <a:ext cx="2290486" cy="385919"/>
          </a:xfrm>
          <a:prstGeom prst="bentConnector4">
            <a:avLst>
              <a:gd name="adj1" fmla="val 33198"/>
              <a:gd name="adj2" fmla="val 15923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xão: Ângulo Reto 60">
            <a:extLst>
              <a:ext uri="{FF2B5EF4-FFF2-40B4-BE49-F238E27FC236}">
                <a16:creationId xmlns:a16="http://schemas.microsoft.com/office/drawing/2014/main" id="{2A240566-0089-DE97-9FB1-538AE8A6C8D3}"/>
              </a:ext>
            </a:extLst>
          </p:cNvPr>
          <p:cNvCxnSpPr>
            <a:cxnSpLocks/>
            <a:stCxn id="32" idx="2"/>
            <a:endCxn id="27" idx="0"/>
          </p:cNvCxnSpPr>
          <p:nvPr/>
        </p:nvCxnSpPr>
        <p:spPr>
          <a:xfrm rot="5400000">
            <a:off x="3572160" y="3838155"/>
            <a:ext cx="1125232" cy="1307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xão: Ângulo Reto 64">
            <a:extLst>
              <a:ext uri="{FF2B5EF4-FFF2-40B4-BE49-F238E27FC236}">
                <a16:creationId xmlns:a16="http://schemas.microsoft.com/office/drawing/2014/main" id="{6E5E174A-67EB-F999-1041-F120565B4DC6}"/>
              </a:ext>
            </a:extLst>
          </p:cNvPr>
          <p:cNvCxnSpPr>
            <a:cxnSpLocks/>
            <a:stCxn id="28" idx="0"/>
            <a:endCxn id="32" idx="3"/>
          </p:cNvCxnSpPr>
          <p:nvPr/>
        </p:nvCxnSpPr>
        <p:spPr>
          <a:xfrm rot="5400000" flipH="1" flipV="1">
            <a:off x="3270698" y="3919699"/>
            <a:ext cx="2497873" cy="900502"/>
          </a:xfrm>
          <a:prstGeom prst="bentConnector4">
            <a:avLst>
              <a:gd name="adj1" fmla="val 13625"/>
              <a:gd name="adj2" fmla="val 1253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tângulo 74">
            <a:extLst>
              <a:ext uri="{FF2B5EF4-FFF2-40B4-BE49-F238E27FC236}">
                <a16:creationId xmlns:a16="http://schemas.microsoft.com/office/drawing/2014/main" id="{8F29EC93-7EF6-0DB3-6F5A-3A1BE0A20DC5}"/>
              </a:ext>
            </a:extLst>
          </p:cNvPr>
          <p:cNvSpPr/>
          <p:nvPr/>
        </p:nvSpPr>
        <p:spPr>
          <a:xfrm>
            <a:off x="3558685" y="3797159"/>
            <a:ext cx="1224605" cy="169445"/>
          </a:xfrm>
          <a:prstGeom prst="rect">
            <a:avLst/>
          </a:prstGeom>
          <a:solidFill>
            <a:srgbClr val="F4DC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kHz OOK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66B63F7C-F137-2CE5-30A6-BB04ACDD5CDE}"/>
              </a:ext>
            </a:extLst>
          </p:cNvPr>
          <p:cNvSpPr/>
          <p:nvPr/>
        </p:nvSpPr>
        <p:spPr>
          <a:xfrm>
            <a:off x="2014574" y="5523498"/>
            <a:ext cx="688115" cy="178367"/>
          </a:xfrm>
          <a:prstGeom prst="rect">
            <a:avLst/>
          </a:prstGeom>
          <a:solidFill>
            <a:srgbClr val="F4DC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Retorno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93860C16-AB34-11C1-6670-F90894FDF61B}"/>
              </a:ext>
            </a:extLst>
          </p:cNvPr>
          <p:cNvSpPr txBox="1"/>
          <p:nvPr/>
        </p:nvSpPr>
        <p:spPr>
          <a:xfrm>
            <a:off x="345389" y="3803247"/>
            <a:ext cx="1463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Passageiro (Cliente)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7514EDF6-B888-8EA2-3303-302FD1534F68}"/>
              </a:ext>
            </a:extLst>
          </p:cNvPr>
          <p:cNvSpPr txBox="1"/>
          <p:nvPr/>
        </p:nvSpPr>
        <p:spPr>
          <a:xfrm>
            <a:off x="3465822" y="1161138"/>
            <a:ext cx="1846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Aeroporto (Servidor)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DACC8F-B84F-E8D5-1604-FF4FA6C8973D}"/>
              </a:ext>
            </a:extLst>
          </p:cNvPr>
          <p:cNvSpPr txBox="1"/>
          <p:nvPr/>
        </p:nvSpPr>
        <p:spPr>
          <a:xfrm>
            <a:off x="46727" y="1190152"/>
            <a:ext cx="2725814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Separação estrutural do modelo OSI (Camadas 1, 2 e 7).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Meio físico assimétrico com </a:t>
            </a:r>
            <a:r>
              <a:rPr lang="pt-P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downlink</a:t>
            </a: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ótico para dados e </a:t>
            </a:r>
            <a:r>
              <a:rPr lang="pt-P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uplink</a:t>
            </a:r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série para controlo.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5499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F918-7DA9-3532-732C-0EC5A8A8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EFB9AA04-2DA5-8B48-86B0-3F9F840EC6BD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79B5B46-5952-F2B2-C8D7-C8B7DC43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4</a:t>
            </a:fld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B7CD41-D05B-6FD5-E6C2-F21FEB22CACD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Camada Física - 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 e Parâmetros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604D5B-F82F-30B7-AB32-7537BAAEC163}"/>
              </a:ext>
            </a:extLst>
          </p:cNvPr>
          <p:cNvSpPr txBox="1"/>
          <p:nvPr/>
        </p:nvSpPr>
        <p:spPr>
          <a:xfrm>
            <a:off x="344621" y="1179044"/>
            <a:ext cx="4898178" cy="161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Emissor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Geração: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Portadora a 100 kHz (NE555 astável)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Modulação OOK: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 AND + Transístor 2N2222A (garante 44,1 mA no LED Infravermelho)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C609A62-6880-32E8-03D3-8A021C7D3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8" t="23480" r="13456" b="36607"/>
          <a:stretch>
            <a:fillRect/>
          </a:stretch>
        </p:blipFill>
        <p:spPr>
          <a:xfrm>
            <a:off x="7975034" y="1525722"/>
            <a:ext cx="3732727" cy="137478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CBB9A01-5503-9CD7-E1A8-F7F94EC8C76C}"/>
              </a:ext>
            </a:extLst>
          </p:cNvPr>
          <p:cNvSpPr txBox="1"/>
          <p:nvPr/>
        </p:nvSpPr>
        <p:spPr>
          <a:xfrm>
            <a:off x="262590" y="3630773"/>
            <a:ext cx="8669846" cy="304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Recetor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Estágio 1 - TIA (Transimpedância):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Conversão da corrente do fotodetetor em tensão.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Estágio 2 - Passa-Alto: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Supressão da componente DC e do ruído da rede elétrica (50 Hz).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Estágio 3 - Amplificação (Ganho):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Compensação severa da atenuação ótica (para alcance de 1 metro).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Estágio 4 - Detetor de Envelope: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Retificação da portadora de alta frequência.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Estágio 5 - Passa-Baixo: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Alisamento do sinal (frequência de corte ≈ 4,8 kHz).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Estágio 6 - Comparador: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Regeneração da onda e digitalização para a porta da ESP32.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CDE65D4-55D1-1D7A-234C-21E5C842F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9" t="28445" r="7333" b="15640"/>
          <a:stretch>
            <a:fillRect/>
          </a:stretch>
        </p:blipFill>
        <p:spPr>
          <a:xfrm>
            <a:off x="9048558" y="3709085"/>
            <a:ext cx="2743200" cy="2647265"/>
          </a:xfrm>
          <a:prstGeom prst="rect">
            <a:avLst/>
          </a:prstGeom>
        </p:spPr>
      </p:pic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9923F739-CE78-0786-BA99-499F1A0C9E04}"/>
              </a:ext>
            </a:extLst>
          </p:cNvPr>
          <p:cNvCxnSpPr>
            <a:cxnSpLocks/>
          </p:cNvCxnSpPr>
          <p:nvPr/>
        </p:nvCxnSpPr>
        <p:spPr>
          <a:xfrm>
            <a:off x="0" y="35847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6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4F6E3-57C1-B30A-9A2E-C176ACD6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DA531F03-31F3-4B95-32E4-F53742263FA1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C0B0D4B-465D-D5FC-0D50-53D34A0E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5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3BBFC1-172A-0369-F697-98187FBC71D0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Camada Física – Testes e Resultados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671F240-2AD6-117D-D735-3DBA0AC121DF}"/>
              </a:ext>
            </a:extLst>
          </p:cNvPr>
          <p:cNvSpPr txBox="1"/>
          <p:nvPr/>
        </p:nvSpPr>
        <p:spPr>
          <a:xfrm>
            <a:off x="609600" y="1279078"/>
            <a:ext cx="4511040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Recuperação do sinal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Distância: 1 metro em LoS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 = 0  (amplificação TL084 eficaz)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A9BA55-66FF-9FEA-C17D-034BBA455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78" b="18029"/>
          <a:stretch>
            <a:fillRect/>
          </a:stretch>
        </p:blipFill>
        <p:spPr>
          <a:xfrm>
            <a:off x="1490720" y="3429000"/>
            <a:ext cx="3629920" cy="261318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BFE19EC-4115-7A75-8626-FB2FC3B8C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4" t="7587" r="11839" b="14023"/>
          <a:stretch>
            <a:fillRect/>
          </a:stretch>
        </p:blipFill>
        <p:spPr>
          <a:xfrm>
            <a:off x="7071362" y="1735065"/>
            <a:ext cx="4103198" cy="3387869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012BD255-9FA0-005B-8214-974DAA21089F}"/>
              </a:ext>
            </a:extLst>
          </p:cNvPr>
          <p:cNvSpPr/>
          <p:nvPr/>
        </p:nvSpPr>
        <p:spPr>
          <a:xfrm>
            <a:off x="5565228" y="4067504"/>
            <a:ext cx="1103586" cy="66809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5AEF29-831D-416E-4C45-6A591DB38D90}"/>
              </a:ext>
            </a:extLst>
          </p:cNvPr>
          <p:cNvSpPr txBox="1"/>
          <p:nvPr/>
        </p:nvSpPr>
        <p:spPr>
          <a:xfrm>
            <a:off x="2517228" y="607796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Saída do LED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5AA357-3E4C-139A-4E92-E827BB36A1CC}"/>
              </a:ext>
            </a:extLst>
          </p:cNvPr>
          <p:cNvSpPr txBox="1"/>
          <p:nvPr/>
        </p:nvSpPr>
        <p:spPr>
          <a:xfrm>
            <a:off x="7652736" y="5138805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Saída do 6º estágio do TL084</a:t>
            </a:r>
          </a:p>
        </p:txBody>
      </p: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61AF408B-4F94-ABE6-3C4C-D9454F7993A7}"/>
              </a:ext>
            </a:extLst>
          </p:cNvPr>
          <p:cNvCxnSpPr>
            <a:cxnSpLocks/>
          </p:cNvCxnSpPr>
          <p:nvPr/>
        </p:nvCxnSpPr>
        <p:spPr>
          <a:xfrm>
            <a:off x="1394024" y="3350169"/>
            <a:ext cx="384012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E8A676B2-D734-D106-2410-8C551808DA31}"/>
              </a:ext>
            </a:extLst>
          </p:cNvPr>
          <p:cNvCxnSpPr>
            <a:cxnSpLocks/>
          </p:cNvCxnSpPr>
          <p:nvPr/>
        </p:nvCxnSpPr>
        <p:spPr>
          <a:xfrm>
            <a:off x="6958881" y="1643625"/>
            <a:ext cx="429768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1328745E-362E-943F-B93F-CD638C626DAB}"/>
              </a:ext>
            </a:extLst>
          </p:cNvPr>
          <p:cNvCxnSpPr>
            <a:cxnSpLocks/>
          </p:cNvCxnSpPr>
          <p:nvPr/>
        </p:nvCxnSpPr>
        <p:spPr>
          <a:xfrm>
            <a:off x="6974121" y="1658865"/>
            <a:ext cx="0" cy="38961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1DBF833C-47E5-3D9D-9989-7FBDF6D5AE14}"/>
              </a:ext>
            </a:extLst>
          </p:cNvPr>
          <p:cNvCxnSpPr>
            <a:cxnSpLocks/>
          </p:cNvCxnSpPr>
          <p:nvPr/>
        </p:nvCxnSpPr>
        <p:spPr>
          <a:xfrm flipH="1">
            <a:off x="6958881" y="5519556"/>
            <a:ext cx="4297680" cy="4774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E35613D3-A06F-31F5-8198-FDCD41540EF6}"/>
              </a:ext>
            </a:extLst>
          </p:cNvPr>
          <p:cNvCxnSpPr>
            <a:cxnSpLocks/>
          </p:cNvCxnSpPr>
          <p:nvPr/>
        </p:nvCxnSpPr>
        <p:spPr>
          <a:xfrm>
            <a:off x="11256561" y="1633343"/>
            <a:ext cx="0" cy="389611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48CF0094-3ACE-DCAA-DE7F-51D3B8771A25}"/>
              </a:ext>
            </a:extLst>
          </p:cNvPr>
          <p:cNvCxnSpPr>
            <a:cxnSpLocks/>
          </p:cNvCxnSpPr>
          <p:nvPr/>
        </p:nvCxnSpPr>
        <p:spPr>
          <a:xfrm flipV="1">
            <a:off x="1394024" y="6447295"/>
            <a:ext cx="3840126" cy="201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27">
            <a:extLst>
              <a:ext uri="{FF2B5EF4-FFF2-40B4-BE49-F238E27FC236}">
                <a16:creationId xmlns:a16="http://schemas.microsoft.com/office/drawing/2014/main" id="{802DB2B3-5571-ACCF-775A-493EE20FB8A7}"/>
              </a:ext>
            </a:extLst>
          </p:cNvPr>
          <p:cNvCxnSpPr>
            <a:cxnSpLocks/>
          </p:cNvCxnSpPr>
          <p:nvPr/>
        </p:nvCxnSpPr>
        <p:spPr>
          <a:xfrm flipV="1">
            <a:off x="1394024" y="3350169"/>
            <a:ext cx="0" cy="311141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DAD684A9-4726-DE5F-8466-819E9E3464D2}"/>
              </a:ext>
            </a:extLst>
          </p:cNvPr>
          <p:cNvCxnSpPr>
            <a:cxnSpLocks/>
          </p:cNvCxnSpPr>
          <p:nvPr/>
        </p:nvCxnSpPr>
        <p:spPr>
          <a:xfrm flipV="1">
            <a:off x="5234150" y="3350169"/>
            <a:ext cx="0" cy="311141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220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C1D9-5935-3666-705E-56A872F5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16DA1191-0119-29FE-5EB7-355455A5ED03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12DE591-717D-98AF-4B2C-C512D1C5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6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9DAA45-D896-09EC-B200-8F9C835E436A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Ligação – API e Formato da Trama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4BE67E-EF1D-A4E7-7EB7-388B545C88EE}"/>
              </a:ext>
            </a:extLst>
          </p:cNvPr>
          <p:cNvSpPr txBox="1"/>
          <p:nvPr/>
        </p:nvSpPr>
        <p:spPr>
          <a:xfrm>
            <a:off x="609600" y="1323737"/>
            <a:ext cx="1208532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da Camada 2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sendFrame(): Hamming (7,4) + CRC-8 + Byte Stuffing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receiveFrame(): SOF (0x7E) + Destuffing + CRC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processARQ(): Stop-and-Wait com retransmissões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Enquadramento HDLC (RFC 1662) - </a:t>
            </a:r>
            <a:r>
              <a:rPr lang="pt-PT" dirty="0"/>
              <a:t>Flag de Sincronismo (0x7E) e Escape (0x7D)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3DE4536-6ED8-5DE9-D03A-2F7F252B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" y="4120219"/>
            <a:ext cx="11643360" cy="166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4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6CB1-291E-097E-F829-B8F344AE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848DBC91-49B3-033C-212C-68F40F114E5D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1F8BDBE-2ADE-BCBB-0B06-E46A92D9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7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7F7490-257F-3EDE-9917-8C4ABA11C9B0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Ligação – Testes e Controlo de Erros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A979C0-EFFC-2947-B9D4-EBB204D45FB4}"/>
              </a:ext>
            </a:extLst>
          </p:cNvPr>
          <p:cNvSpPr txBox="1"/>
          <p:nvPr/>
        </p:nvSpPr>
        <p:spPr>
          <a:xfrm>
            <a:off x="262759" y="2862207"/>
            <a:ext cx="4577254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 (Hamming 7,4): corrige até 2 erros/byte sem retransmissão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 deteta cortes óticos e retransmite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Timeout: 2,0 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Limite: 7 retransmissões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0FDD85-09D6-A7D3-0BE1-830FCAEEC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938" y="1690747"/>
            <a:ext cx="6509586" cy="438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9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8B2E3-1C04-6019-03A5-D8221224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D52164AE-766C-9494-F94C-9E99DE255632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5D6F18-11A7-5920-D976-C5061A56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8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2015C7-8488-0E70-40F7-7E69C6D78464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Aplicação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69E9D7-2AA0-4C14-F0A6-4A57D18BD75B}"/>
              </a:ext>
            </a:extLst>
          </p:cNvPr>
          <p:cNvSpPr txBox="1"/>
          <p:nvPr/>
        </p:nvSpPr>
        <p:spPr>
          <a:xfrm>
            <a:off x="609600" y="1407492"/>
            <a:ext cx="4829885" cy="1335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PDU de 128 bytes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Servidor: voos.json + Fila Round Robin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Cliente: Desmultiplexagem + WebSockets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7BE66C-186C-A97A-78A0-07FA26FA2939}"/>
              </a:ext>
            </a:extLst>
          </p:cNvPr>
          <p:cNvSpPr txBox="1"/>
          <p:nvPr/>
        </p:nvSpPr>
        <p:spPr>
          <a:xfrm>
            <a:off x="7140232" y="1364347"/>
            <a:ext cx="4829885" cy="2581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Descrição da API (Camada 7) </a:t>
            </a:r>
          </a:p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0x10 - VOO (texto prioritário para o painel FIDS)</a:t>
            </a:r>
          </a:p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0x20 - FILE (FlowID + FragID / Resume para descargas concorrentes)</a:t>
            </a:r>
          </a:p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0x30 - CONTROLO (Sinalização de erros, Not Found ou comandos de Abort)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99C3B0-690A-5863-0367-C211E185DD4F}"/>
              </a:ext>
            </a:extLst>
          </p:cNvPr>
          <p:cNvSpPr/>
          <p:nvPr/>
        </p:nvSpPr>
        <p:spPr>
          <a:xfrm>
            <a:off x="430831" y="4427960"/>
            <a:ext cx="2281084" cy="786568"/>
          </a:xfrm>
          <a:prstGeom prst="rect">
            <a:avLst/>
          </a:prstGeom>
          <a:noFill/>
          <a:ln>
            <a:solidFill>
              <a:srgbClr val="E65D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(1byte)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FE7BDE7-742D-2B41-6E15-F462824C3CCA}"/>
              </a:ext>
            </a:extLst>
          </p:cNvPr>
          <p:cNvSpPr/>
          <p:nvPr/>
        </p:nvSpPr>
        <p:spPr>
          <a:xfrm>
            <a:off x="2711915" y="4427960"/>
            <a:ext cx="2281084" cy="78656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Subtipo (1byte)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3991AE3-8418-9169-4739-7889376F54A7}"/>
              </a:ext>
            </a:extLst>
          </p:cNvPr>
          <p:cNvSpPr/>
          <p:nvPr/>
        </p:nvSpPr>
        <p:spPr>
          <a:xfrm>
            <a:off x="4992999" y="4420676"/>
            <a:ext cx="2281084" cy="7865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de Fluxo (1byte)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C6EBAF5-6EF2-D944-9290-42942E41B954}"/>
              </a:ext>
            </a:extLst>
          </p:cNvPr>
          <p:cNvSpPr/>
          <p:nvPr/>
        </p:nvSpPr>
        <p:spPr>
          <a:xfrm>
            <a:off x="7274091" y="4427072"/>
            <a:ext cx="2281084" cy="78656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de Fragmento (4 bytes)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B67A7C5-91FC-99CD-D202-58D988A0FC11}"/>
              </a:ext>
            </a:extLst>
          </p:cNvPr>
          <p:cNvSpPr/>
          <p:nvPr/>
        </p:nvSpPr>
        <p:spPr>
          <a:xfrm>
            <a:off x="9555175" y="4420676"/>
            <a:ext cx="2281084" cy="78656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(1 a 121 bytes)</a:t>
            </a:r>
          </a:p>
        </p:txBody>
      </p:sp>
    </p:spTree>
    <p:extLst>
      <p:ext uri="{BB962C8B-B14F-4D97-AF65-F5344CB8AC3E}">
        <p14:creationId xmlns:p14="http://schemas.microsoft.com/office/powerpoint/2010/main" val="109388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796FC-9DD9-B3C3-49EA-88EE2FC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9152B61E-B16E-BEEF-936E-4FFA8138BC33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8F1E5A6-2DF6-906D-353C-799E73BF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9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E83D78-F528-82AB-F7BD-82A9B8364C74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Aplicação – Interface de Utilizador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9CF0C7-A9DA-CA03-C6D5-DB4CAECD1777}"/>
              </a:ext>
            </a:extLst>
          </p:cNvPr>
          <p:cNvSpPr txBox="1"/>
          <p:nvPr/>
        </p:nvSpPr>
        <p:spPr>
          <a:xfrm>
            <a:off x="215153" y="1262767"/>
            <a:ext cx="5714211" cy="3101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React + WebSockets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 de Partidas Dinâmico (FIDS - Flight Information Display System)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local para cartão de embarque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Multiplexagem assíncrona - </a:t>
            </a:r>
            <a:r>
              <a:rPr lang="pt-PT" sz="1600" dirty="0"/>
              <a:t>página web mantém-se inalterada durante a execução de transferências simultâneas.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/>
              <a:t> </a:t>
            </a:r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 concorrentes em background</a:t>
            </a: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FB76209-5475-FB5C-D0A9-328BEC33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37" y="4639795"/>
            <a:ext cx="4993433" cy="207617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97E8B6F-7F20-4C28-25A0-489B13116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168" y="4790744"/>
            <a:ext cx="3142525" cy="17752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96A597E-CA6D-5F0B-6671-F25CE0CCC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935" y="1256345"/>
            <a:ext cx="5319763" cy="286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9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88B1A-1109-85A0-89A1-7A8C130F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45CC0CF4-22FC-800E-2E6C-9BFE41614523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B525F48-6A70-34F8-9F67-AF3D0EAA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10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11B14B-9891-FD67-F70B-38286685DD03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Desafios de Integração e Resolução de Problemas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CE4E14-28EE-CBF4-394E-84F82950B827}"/>
              </a:ext>
            </a:extLst>
          </p:cNvPr>
          <p:cNvSpPr txBox="1"/>
          <p:nvPr/>
        </p:nvSpPr>
        <p:spPr>
          <a:xfrm>
            <a:off x="838200" y="1164073"/>
            <a:ext cx="9113520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Atenuação no Espaço Livre (Camada 1)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Sinal IV demasiado fraco a 1 metro para vencer a tensão de condução dos díodos.</a:t>
            </a: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Adição de um segundo amplificador TL084 em cascata para maximizar o ganho.</a:t>
            </a:r>
          </a:p>
          <a:p>
            <a:pPr algn="just">
              <a:lnSpc>
                <a:spcPct val="150000"/>
              </a:lnSpc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Overhead e Temporizadores (Camada 2)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Atrasos de processamento na ESP32 esgotavam os </a:t>
            </a:r>
            <a:r>
              <a:rPr lang="pt-P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originais do protocolo.</a:t>
            </a: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Calibração do </a:t>
            </a:r>
            <a:r>
              <a:rPr lang="pt-P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Timeout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2,0 segundos e aumento do limite para 7 retransmissões.</a:t>
            </a:r>
          </a:p>
          <a:p>
            <a:pPr algn="just">
              <a:lnSpc>
                <a:spcPct val="150000"/>
              </a:lnSpc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Estrangulamento do Canal (Camada 7)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baixo débito útil do canal causava o congelamento da aplicação e tornava ineficiente o recomeço de transferências a partir do zero.</a:t>
            </a: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Multiplexagem assíncrona (não bloqueia o ecrã) e implementação de lógica para continuar as transferências (</a:t>
            </a:r>
            <a:r>
              <a:rPr lang="pt-P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pt-PT" sz="2000" dirty="0"/>
          </a:p>
          <a:p>
            <a:endParaRPr lang="pt-PT" sz="200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02879F9-08F8-35C5-F10A-5C1C3B605492}"/>
              </a:ext>
            </a:extLst>
          </p:cNvPr>
          <p:cNvGrpSpPr/>
          <p:nvPr/>
        </p:nvGrpSpPr>
        <p:grpSpPr>
          <a:xfrm>
            <a:off x="255353" y="3283954"/>
            <a:ext cx="457197" cy="861075"/>
            <a:chOff x="289432" y="1663914"/>
            <a:chExt cx="457197" cy="861075"/>
          </a:xfrm>
        </p:grpSpPr>
        <p:pic>
          <p:nvPicPr>
            <p:cNvPr id="10" name="Gráfico 9" descr="Aviso com preenchimento sólido">
              <a:extLst>
                <a:ext uri="{FF2B5EF4-FFF2-40B4-BE49-F238E27FC236}">
                  <a16:creationId xmlns:a16="http://schemas.microsoft.com/office/drawing/2014/main" id="{E083C04C-1AA8-2898-CA5F-56151E924A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6722" y="1663914"/>
              <a:ext cx="282619" cy="282619"/>
            </a:xfrm>
            <a:prstGeom prst="rect">
              <a:avLst/>
            </a:prstGeom>
          </p:spPr>
        </p:pic>
        <p:pic>
          <p:nvPicPr>
            <p:cNvPr id="13" name="Gráfico 12" descr="Lista de verificação destaque">
              <a:extLst>
                <a:ext uri="{FF2B5EF4-FFF2-40B4-BE49-F238E27FC236}">
                  <a16:creationId xmlns:a16="http://schemas.microsoft.com/office/drawing/2014/main" id="{8EDB8B5E-3970-3351-4EE7-48B173132A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9432" y="2067792"/>
              <a:ext cx="457197" cy="457197"/>
            </a:xfrm>
            <a:prstGeom prst="rect">
              <a:avLst/>
            </a:prstGeom>
          </p:spPr>
        </p:pic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D15C2C4-91FC-1B03-5E1B-FAC63E714791}"/>
              </a:ext>
            </a:extLst>
          </p:cNvPr>
          <p:cNvGrpSpPr/>
          <p:nvPr/>
        </p:nvGrpSpPr>
        <p:grpSpPr>
          <a:xfrm>
            <a:off x="255354" y="1651464"/>
            <a:ext cx="457197" cy="861075"/>
            <a:chOff x="289432" y="1663914"/>
            <a:chExt cx="457197" cy="861075"/>
          </a:xfrm>
        </p:grpSpPr>
        <p:pic>
          <p:nvPicPr>
            <p:cNvPr id="8" name="Gráfico 7" descr="Aviso com preenchimento sólido">
              <a:extLst>
                <a:ext uri="{FF2B5EF4-FFF2-40B4-BE49-F238E27FC236}">
                  <a16:creationId xmlns:a16="http://schemas.microsoft.com/office/drawing/2014/main" id="{079E6E09-AB68-8E62-1450-B72B449D49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6722" y="1663914"/>
              <a:ext cx="282619" cy="282619"/>
            </a:xfrm>
            <a:prstGeom prst="rect">
              <a:avLst/>
            </a:prstGeom>
          </p:spPr>
        </p:pic>
        <p:pic>
          <p:nvPicPr>
            <p:cNvPr id="9" name="Gráfico 8" descr="Lista de verificação destaque">
              <a:extLst>
                <a:ext uri="{FF2B5EF4-FFF2-40B4-BE49-F238E27FC236}">
                  <a16:creationId xmlns:a16="http://schemas.microsoft.com/office/drawing/2014/main" id="{641833B2-035F-2296-73C9-736C49E248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9432" y="2067792"/>
              <a:ext cx="457197" cy="457197"/>
            </a:xfrm>
            <a:prstGeom prst="rect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3744BF4-61EF-C4AE-E768-EA626CA68787}"/>
              </a:ext>
            </a:extLst>
          </p:cNvPr>
          <p:cNvGrpSpPr/>
          <p:nvPr/>
        </p:nvGrpSpPr>
        <p:grpSpPr>
          <a:xfrm>
            <a:off x="255353" y="5013694"/>
            <a:ext cx="457197" cy="861075"/>
            <a:chOff x="289432" y="1663914"/>
            <a:chExt cx="457197" cy="861075"/>
          </a:xfrm>
        </p:grpSpPr>
        <p:pic>
          <p:nvPicPr>
            <p:cNvPr id="12" name="Gráfico 11" descr="Aviso com preenchimento sólido">
              <a:extLst>
                <a:ext uri="{FF2B5EF4-FFF2-40B4-BE49-F238E27FC236}">
                  <a16:creationId xmlns:a16="http://schemas.microsoft.com/office/drawing/2014/main" id="{3B0CF1DE-9FD2-1219-0118-5154B1E009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6722" y="1663914"/>
              <a:ext cx="282619" cy="282619"/>
            </a:xfrm>
            <a:prstGeom prst="rect">
              <a:avLst/>
            </a:prstGeom>
          </p:spPr>
        </p:pic>
        <p:pic>
          <p:nvPicPr>
            <p:cNvPr id="14" name="Gráfico 13" descr="Lista de verificação destaque">
              <a:extLst>
                <a:ext uri="{FF2B5EF4-FFF2-40B4-BE49-F238E27FC236}">
                  <a16:creationId xmlns:a16="http://schemas.microsoft.com/office/drawing/2014/main" id="{CC025999-1BF9-6A1C-0366-03FD4B95AB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9432" y="2067792"/>
              <a:ext cx="457197" cy="457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3046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56A7E-D1B6-E547-F75E-10BF46D3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4244D9B5-D085-E0FE-F20F-9414F2EC54B8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E99737E-7E80-81CB-498D-B18D47B5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11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989C61-07B0-D093-98A8-D8BE3AB26A2A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Avaliação Global de Desempenho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5A8F29-33E7-4967-A573-0C46AB57BBF9}"/>
              </a:ext>
            </a:extLst>
          </p:cNvPr>
          <p:cNvSpPr txBox="1"/>
          <p:nvPr/>
        </p:nvSpPr>
        <p:spPr>
          <a:xfrm>
            <a:off x="1479176" y="1145745"/>
            <a:ext cx="2838226" cy="239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9600</a:t>
            </a:r>
          </a:p>
          <a:p>
            <a:pPr algn="ctr"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Baud Rate (bps)</a:t>
            </a:r>
          </a:p>
          <a:p>
            <a:pPr algn="ctr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Configurada no canal físico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4BA22A-B0AA-FCAB-A39D-72D3D8062FB0}"/>
              </a:ext>
            </a:extLst>
          </p:cNvPr>
          <p:cNvSpPr txBox="1"/>
          <p:nvPr/>
        </p:nvSpPr>
        <p:spPr>
          <a:xfrm>
            <a:off x="7874598" y="1139779"/>
            <a:ext cx="2838226" cy="239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4779</a:t>
            </a:r>
          </a:p>
          <a:p>
            <a:pPr algn="ctr"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Débito Útil (bps)</a:t>
            </a:r>
          </a:p>
          <a:p>
            <a:pPr algn="ctr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Medido na integração final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525FEB0-FB73-2536-112A-DE8A72CDEB0A}"/>
              </a:ext>
            </a:extLst>
          </p:cNvPr>
          <p:cNvSpPr txBox="1"/>
          <p:nvPr/>
        </p:nvSpPr>
        <p:spPr>
          <a:xfrm>
            <a:off x="1479176" y="4064517"/>
            <a:ext cx="2838226" cy="239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45,8%</a:t>
            </a:r>
          </a:p>
          <a:p>
            <a:pPr algn="ctr"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Eficiência Global</a:t>
            </a:r>
          </a:p>
          <a:p>
            <a:pPr algn="ctr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Pilha protocolar completa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AB8BF97-AFC4-8EBD-1116-5C83001A0031}"/>
              </a:ext>
            </a:extLst>
          </p:cNvPr>
          <p:cNvSpPr txBox="1"/>
          <p:nvPr/>
        </p:nvSpPr>
        <p:spPr>
          <a:xfrm>
            <a:off x="7874598" y="4064517"/>
            <a:ext cx="2838226" cy="239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1,3s</a:t>
            </a:r>
          </a:p>
          <a:p>
            <a:pPr algn="ctr">
              <a:lnSpc>
                <a:spcPct val="150000"/>
              </a:lnSpc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Transferência 1 KB</a:t>
            </a:r>
          </a:p>
          <a:p>
            <a:pPr algn="ctr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tramas em Stop-and-Wait</a:t>
            </a:r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0C5F94CB-83E5-5B66-A1B6-D6C28EB1B9D0}"/>
              </a:ext>
            </a:extLst>
          </p:cNvPr>
          <p:cNvCxnSpPr>
            <a:cxnSpLocks/>
          </p:cNvCxnSpPr>
          <p:nvPr/>
        </p:nvCxnSpPr>
        <p:spPr>
          <a:xfrm>
            <a:off x="0" y="4064517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6B6C3F4B-30EC-59C4-D622-FAD6ACD7528B}"/>
              </a:ext>
            </a:extLst>
          </p:cNvPr>
          <p:cNvCxnSpPr>
            <a:cxnSpLocks/>
          </p:cNvCxnSpPr>
          <p:nvPr/>
        </p:nvCxnSpPr>
        <p:spPr>
          <a:xfrm flipV="1">
            <a:off x="5934635" y="1072632"/>
            <a:ext cx="0" cy="578536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1FE8E9ED-560E-0C45-4D1C-A0138BC32955}"/>
              </a:ext>
            </a:extLst>
          </p:cNvPr>
          <p:cNvCxnSpPr>
            <a:cxnSpLocks/>
          </p:cNvCxnSpPr>
          <p:nvPr/>
        </p:nvCxnSpPr>
        <p:spPr>
          <a:xfrm>
            <a:off x="0" y="6843576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616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EC7C4-98F1-E72E-2773-E2F65F30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xão reta 1">
            <a:extLst>
              <a:ext uri="{FF2B5EF4-FFF2-40B4-BE49-F238E27FC236}">
                <a16:creationId xmlns:a16="http://schemas.microsoft.com/office/drawing/2014/main" id="{B6904CDE-6A62-48A3-D94D-426F8B1C9D71}"/>
              </a:ext>
            </a:extLst>
          </p:cNvPr>
          <p:cNvCxnSpPr>
            <a:cxnSpLocks/>
          </p:cNvCxnSpPr>
          <p:nvPr/>
        </p:nvCxnSpPr>
        <p:spPr>
          <a:xfrm>
            <a:off x="0" y="1072632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75041F8-C635-13BF-A5E2-A6D15797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6BB4-5363-444A-BA72-35B3511C920A}" type="slidenum">
              <a:rPr lang="pt-PT" smtClean="0"/>
              <a:t>12</a:t>
            </a:fld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199BE8-BA1F-95FA-7A14-8C47BB5F9E4D}"/>
              </a:ext>
            </a:extLst>
          </p:cNvPr>
          <p:cNvSpPr txBox="1"/>
          <p:nvPr/>
        </p:nvSpPr>
        <p:spPr>
          <a:xfrm>
            <a:off x="609600" y="396417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PT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B79D6B6-EF8B-1835-72AB-D0CEDA6903C0}"/>
              </a:ext>
            </a:extLst>
          </p:cNvPr>
          <p:cNvSpPr/>
          <p:nvPr/>
        </p:nvSpPr>
        <p:spPr>
          <a:xfrm>
            <a:off x="887506" y="1631577"/>
            <a:ext cx="10416988" cy="1797421"/>
          </a:xfrm>
          <a:prstGeom prst="rect">
            <a:avLst/>
          </a:prstGeom>
          <a:solidFill>
            <a:srgbClr val="FFFF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Sucesso - </a:t>
            </a:r>
          </a:p>
          <a:p>
            <a:pPr algn="ctr"/>
            <a:r>
              <a:rPr lang="pt-PT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de um sistema Li-Fi completo com um Link ótico preciso, proteção contra erros (HARQ) e uma plataforma Web responsiva.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21A68BC-B970-00D2-4605-B2417104D0F2}"/>
              </a:ext>
            </a:extLst>
          </p:cNvPr>
          <p:cNvSpPr/>
          <p:nvPr/>
        </p:nvSpPr>
        <p:spPr>
          <a:xfrm>
            <a:off x="936812" y="3681736"/>
            <a:ext cx="10416988" cy="959222"/>
          </a:xfrm>
          <a:prstGeom prst="rect">
            <a:avLst/>
          </a:prstGeom>
          <a:solidFill>
            <a:srgbClr val="FFF4DD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Limitação - </a:t>
            </a:r>
          </a:p>
          <a:p>
            <a:pPr algn="ctr"/>
            <a:r>
              <a:rPr lang="pt-P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9600 bps (Resultou numa baixa taxa de débito nos downloads devido a um link ótico fraco)</a:t>
            </a:r>
          </a:p>
          <a:p>
            <a:pPr algn="ctr"/>
            <a:endParaRPr lang="pt-PT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9B8DCB4-F30C-FBCA-B417-87ADBC007E95}"/>
              </a:ext>
            </a:extLst>
          </p:cNvPr>
          <p:cNvSpPr/>
          <p:nvPr/>
        </p:nvSpPr>
        <p:spPr>
          <a:xfrm>
            <a:off x="936812" y="5019043"/>
            <a:ext cx="10416988" cy="959222"/>
          </a:xfrm>
          <a:prstGeom prst="rect">
            <a:avLst/>
          </a:prstGeom>
          <a:solidFill>
            <a:srgbClr val="FFFF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Futuro - </a:t>
            </a:r>
          </a:p>
          <a:p>
            <a:pPr algn="ctr"/>
            <a:r>
              <a:rPr lang="pt-PT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Aumentar a baud rate do sistema (atualmente a 9600 bps) para valores que explorem a capacidade teórica máxima do canal ótico (≈ 871 kbps).</a:t>
            </a:r>
          </a:p>
        </p:txBody>
      </p:sp>
    </p:spTree>
    <p:extLst>
      <p:ext uri="{BB962C8B-B14F-4D97-AF65-F5344CB8AC3E}">
        <p14:creationId xmlns:p14="http://schemas.microsoft.com/office/powerpoint/2010/main" val="2764156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8da8a1-c458-4694-b5ca-1bc51b10832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146208AFAC6145AC36209C8BD47CD1" ma:contentTypeVersion="5" ma:contentTypeDescription="Criar um novo documento." ma:contentTypeScope="" ma:versionID="5066c80dc33966d06d5c450c16a828fa">
  <xsd:schema xmlns:xsd="http://www.w3.org/2001/XMLSchema" xmlns:xs="http://www.w3.org/2001/XMLSchema" xmlns:p="http://schemas.microsoft.com/office/2006/metadata/properties" xmlns:ns3="198da8a1-c458-4694-b5ca-1bc51b10832e" targetNamespace="http://schemas.microsoft.com/office/2006/metadata/properties" ma:root="true" ma:fieldsID="e64aa6025d1585bc9890330accfefc95" ns3:_="">
    <xsd:import namespace="198da8a1-c458-4694-b5ca-1bc51b1083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8da8a1-c458-4694-b5ca-1bc51b1083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AFB8FD-A71D-424B-9648-B625453A65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9D3852-4413-4D2C-AE0B-45DE09B3AE62}">
  <ds:schemaRefs>
    <ds:schemaRef ds:uri="http://purl.org/dc/dcmitype/"/>
    <ds:schemaRef ds:uri="http://schemas.microsoft.com/office/2006/documentManagement/types"/>
    <ds:schemaRef ds:uri="http://purl.org/dc/terms/"/>
    <ds:schemaRef ds:uri="198da8a1-c458-4694-b5ca-1bc51b10832e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C0168C28-E567-4194-837D-A7CA46B5F7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8da8a1-c458-4694-b5ca-1bc51b1083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05d4c80-da1e-4cd7-83a6-0d2094b20418}" enabled="0" method="" siteId="{d05d4c80-da1e-4cd7-83a6-0d2094b2041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927</Words>
  <Application>Microsoft Office PowerPoint</Application>
  <PresentationFormat>Ecrã Panorâmico</PresentationFormat>
  <Paragraphs>139</Paragraphs>
  <Slides>12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Tema do Office</vt:lpstr>
      <vt:lpstr>Protótipo De Um Sistema De Comunicação Li-Fi Num Aeroporto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Pedro Cerqueira Baptista</dc:creator>
  <cp:lastModifiedBy>Luís Pedro Cerqueira Baptista</cp:lastModifiedBy>
  <cp:revision>48</cp:revision>
  <dcterms:created xsi:type="dcterms:W3CDTF">2026-05-21T09:16:13Z</dcterms:created>
  <dcterms:modified xsi:type="dcterms:W3CDTF">2026-06-02T19:08:12Z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0x0101003E146208AFAC6145AC36209C8BD47CD1</vt:lpwstr>
  </property>
</Properties>
</file>