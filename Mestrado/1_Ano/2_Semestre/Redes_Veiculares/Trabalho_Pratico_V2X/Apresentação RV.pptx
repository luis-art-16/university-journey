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8F875A74.xml" ContentType="application/vnd.ms-powerpoint.comments+xml"/>
  <Override PartName="/ppt/notesSlides/notesSlide2.xml" ContentType="application/vnd.openxmlformats-officedocument.presentationml.notesSlide+xml"/>
  <Override PartName="/ppt/comments/modernComment_101_1377AD75.xml" ContentType="application/vnd.ms-powerpoint.comments+xml"/>
  <Override PartName="/ppt/notesSlides/notesSlide3.xml" ContentType="application/vnd.openxmlformats-officedocument.presentationml.notesSlide+xml"/>
  <Override PartName="/ppt/comments/modernComment_109_8B8E44E2.xml" ContentType="application/vnd.ms-powerpoint.comments+xml"/>
  <Override PartName="/ppt/notesSlides/notesSlide4.xml" ContentType="application/vnd.openxmlformats-officedocument.presentationml.notesSlide+xml"/>
  <Override PartName="/ppt/comments/modernComment_112_1ADC5866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omments/modernComment_114_BCAAF75C.xml" ContentType="application/vnd.ms-powerpoint.comment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117_E26014E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5" r:id="rId4"/>
    <p:sldId id="274" r:id="rId5"/>
    <p:sldId id="276" r:id="rId6"/>
    <p:sldId id="266" r:id="rId7"/>
    <p:sldId id="279" r:id="rId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293C52-8BEA-1726-83E1-49AF8286974A}" name="Luís Baptista" initials="LB" userId="20fcfdb117550c59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D8CA"/>
    <a:srgbClr val="ADEEF5"/>
    <a:srgbClr val="156082"/>
    <a:srgbClr val="871129"/>
    <a:srgbClr val="C90303"/>
    <a:srgbClr val="EE4848"/>
    <a:srgbClr val="FF9B9B"/>
    <a:srgbClr val="C76C1A"/>
    <a:srgbClr val="FFFFFF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Estilo Médio 1 - Destaqu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Estilo Claro 2 - Destaqu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Estilo Claro 2 - Destaqu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>
      <p:cViewPr varScale="1">
        <p:scale>
          <a:sx n="51" d="100"/>
          <a:sy n="51" d="100"/>
        </p:scale>
        <p:origin x="67" y="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Livro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Livro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Adesão</a:t>
            </a:r>
            <a:endParaRPr lang="en-US" dirty="0"/>
          </a:p>
        </c:rich>
      </c:tx>
      <c:layout>
        <c:manualLayout>
          <c:xMode val="edge"/>
          <c:yMode val="edge"/>
          <c:x val="5.9417055200916169E-2"/>
          <c:y val="6.897488119484046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>
        <c:manualLayout>
          <c:layoutTarget val="inner"/>
          <c:xMode val="edge"/>
          <c:yMode val="edge"/>
          <c:x val="0.36113826376492447"/>
          <c:y val="6.1011417638708862E-2"/>
          <c:w val="0.39331866354515349"/>
          <c:h val="0.70407356662346487"/>
        </c:manualLayout>
      </c:layout>
      <c:pie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Folha1!$A$2:$A$5</c:f>
              <c:strCache>
                <c:ptCount val="2"/>
                <c:pt idx="0">
                  <c:v>1° Trim.</c:v>
                </c:pt>
                <c:pt idx="1">
                  <c:v>2° Trim.</c:v>
                </c:pt>
              </c:strCache>
            </c:strRef>
          </c:cat>
          <c:val>
            <c:numRef>
              <c:f>Folha1!$B$2:$B$5</c:f>
              <c:numCache>
                <c:formatCode>General</c:formatCode>
                <c:ptCount val="4"/>
                <c:pt idx="0">
                  <c:v>7</c:v>
                </c:pt>
                <c:pt idx="1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E6-4943-ABEF-802F037E8F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/>
              <a:t>TimeLoss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Folha1!$D$5</c:f>
              <c:strCache>
                <c:ptCount val="1"/>
                <c:pt idx="0">
                  <c:v>Média(s)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Folha1!$C$6:$C$8</c:f>
              <c:strCache>
                <c:ptCount val="3"/>
                <c:pt idx="0">
                  <c:v>100% V2X</c:v>
                </c:pt>
                <c:pt idx="1">
                  <c:v>70% V2X</c:v>
                </c:pt>
                <c:pt idx="2">
                  <c:v>0% V2X</c:v>
                </c:pt>
              </c:strCache>
            </c:strRef>
          </c:cat>
          <c:val>
            <c:numRef>
              <c:f>Folha1!$D$6:$D$8</c:f>
              <c:numCache>
                <c:formatCode>General</c:formatCode>
                <c:ptCount val="3"/>
                <c:pt idx="0">
                  <c:v>265.79000000000002</c:v>
                </c:pt>
                <c:pt idx="1">
                  <c:v>272.27</c:v>
                </c:pt>
                <c:pt idx="2">
                  <c:v>257.48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AB-4E51-81AA-3545664FCFDD}"/>
            </c:ext>
          </c:extLst>
        </c:ser>
        <c:ser>
          <c:idx val="1"/>
          <c:order val="1"/>
          <c:tx>
            <c:strRef>
              <c:f>Folha1!$E$5</c:f>
              <c:strCache>
                <c:ptCount val="1"/>
                <c:pt idx="0">
                  <c:v>Coluna1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Folha1!$C$6:$C$8</c:f>
              <c:strCache>
                <c:ptCount val="3"/>
                <c:pt idx="0">
                  <c:v>100% V2X</c:v>
                </c:pt>
                <c:pt idx="1">
                  <c:v>70% V2X</c:v>
                </c:pt>
                <c:pt idx="2">
                  <c:v>0% V2X</c:v>
                </c:pt>
              </c:strCache>
            </c:strRef>
          </c:cat>
          <c:val>
            <c:numRef>
              <c:f>Folha1!$E$6:$E$8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94AB-4E51-81AA-3545664FC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24099215"/>
        <c:axId val="1324112655"/>
      </c:barChart>
      <c:catAx>
        <c:axId val="13240992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24112655"/>
        <c:crosses val="autoZero"/>
        <c:auto val="1"/>
        <c:lblAlgn val="ctr"/>
        <c:lblOffset val="100"/>
        <c:noMultiLvlLbl val="0"/>
      </c:catAx>
      <c:valAx>
        <c:axId val="13241126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24099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PT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/>
              <a:t>Duração</a:t>
            </a:r>
            <a:r>
              <a:rPr lang="pt-PT" baseline="0"/>
              <a:t> Média</a:t>
            </a:r>
            <a:endParaRPr lang="pt-PT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Folha1!$D$5</c:f>
              <c:strCache>
                <c:ptCount val="1"/>
                <c:pt idx="0">
                  <c:v>Média(s)</c:v>
                </c:pt>
              </c:strCache>
            </c:strRef>
          </c:tx>
          <c:spPr>
            <a:solidFill>
              <a:schemeClr val="accent5">
                <a:shade val="76000"/>
              </a:schemeClr>
            </a:solidFill>
            <a:ln>
              <a:noFill/>
            </a:ln>
            <a:effectLst/>
          </c:spPr>
          <c:invertIfNegative val="0"/>
          <c:cat>
            <c:strRef>
              <c:f>Folha1!$C$6:$C$8</c:f>
              <c:strCache>
                <c:ptCount val="3"/>
                <c:pt idx="0">
                  <c:v>100% V2X</c:v>
                </c:pt>
                <c:pt idx="1">
                  <c:v>70% V2X</c:v>
                </c:pt>
                <c:pt idx="2">
                  <c:v>0% V2X</c:v>
                </c:pt>
              </c:strCache>
            </c:strRef>
          </c:cat>
          <c:val>
            <c:numRef>
              <c:f>Folha1!$D$6:$D$8</c:f>
              <c:numCache>
                <c:formatCode>General</c:formatCode>
                <c:ptCount val="3"/>
                <c:pt idx="0">
                  <c:v>265.79000000000002</c:v>
                </c:pt>
                <c:pt idx="1">
                  <c:v>272.27</c:v>
                </c:pt>
                <c:pt idx="2">
                  <c:v>257.48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06-43F3-A2DB-B5033E2BCD25}"/>
            </c:ext>
          </c:extLst>
        </c:ser>
        <c:ser>
          <c:idx val="1"/>
          <c:order val="1"/>
          <c:tx>
            <c:strRef>
              <c:f>Folha1!$E$5</c:f>
              <c:strCache>
                <c:ptCount val="1"/>
                <c:pt idx="0">
                  <c:v>Coluna1</c:v>
                </c:pt>
              </c:strCache>
            </c:strRef>
          </c:tx>
          <c:spPr>
            <a:solidFill>
              <a:schemeClr val="accent5">
                <a:tint val="77000"/>
              </a:schemeClr>
            </a:solidFill>
            <a:ln>
              <a:noFill/>
            </a:ln>
            <a:effectLst/>
          </c:spPr>
          <c:invertIfNegative val="0"/>
          <c:cat>
            <c:strRef>
              <c:f>Folha1!$C$6:$C$8</c:f>
              <c:strCache>
                <c:ptCount val="3"/>
                <c:pt idx="0">
                  <c:v>100% V2X</c:v>
                </c:pt>
                <c:pt idx="1">
                  <c:v>70% V2X</c:v>
                </c:pt>
                <c:pt idx="2">
                  <c:v>0% V2X</c:v>
                </c:pt>
              </c:strCache>
            </c:strRef>
          </c:cat>
          <c:val>
            <c:numRef>
              <c:f>Folha1!$E$6:$E$8</c:f>
              <c:numCache>
                <c:formatCode>General</c:formatCode>
                <c:ptCount val="3"/>
              </c:numCache>
            </c:numRef>
          </c:val>
          <c:extLst>
            <c:ext xmlns:c16="http://schemas.microsoft.com/office/drawing/2014/chart" uri="{C3380CC4-5D6E-409C-BE32-E72D297353CC}">
              <c16:uniqueId val="{00000001-1706-43F3-A2DB-B5033E2BCD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24099215"/>
        <c:axId val="1324112655"/>
      </c:barChart>
      <c:catAx>
        <c:axId val="13240992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24112655"/>
        <c:crosses val="autoZero"/>
        <c:auto val="1"/>
        <c:lblAlgn val="ctr"/>
        <c:lblOffset val="100"/>
        <c:noMultiLvlLbl val="0"/>
      </c:catAx>
      <c:valAx>
        <c:axId val="132411265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PT"/>
          </a:p>
        </c:txPr>
        <c:crossAx val="13240992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P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00_8F875A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9F5E3B-400F-4E54-9E04-B426A15FDEFA}" authorId="{13293C52-8BEA-1726-83E1-49AF8286974A}" created="2025-11-08T19:42:08.679">
    <pc:sldMkLst xmlns:pc="http://schemas.microsoft.com/office/powerpoint/2013/main/command">
      <pc:docMk/>
      <pc:sldMk cId="2408012404" sldId="256"/>
    </pc:sldMkLst>
    <p188:txBody>
      <a:bodyPr/>
      <a:lstStyle/>
      <a:p>
        <a:endParaRPr lang="pt-PT"/>
      </a:p>
    </p188:txBody>
  </p188:cm>
  <p188:cm id="{8A65889B-30D7-45F7-B701-D2EED2302BC0}" authorId="{13293C52-8BEA-1726-83E1-49AF8286974A}" created="2026-04-01T17:19:48.968">
    <pc:sldMkLst xmlns:pc="http://schemas.microsoft.com/office/powerpoint/2013/main/command">
      <pc:docMk/>
      <pc:sldMk cId="2408012404" sldId="256"/>
    </pc:sldMkLst>
    <p188:txBody>
      <a:bodyPr/>
      <a:lstStyle/>
      <a:p>
        <a:r>
          <a:rPr lang="pt-PT"/>
          <a:t>Bom dia a todos. O meu projeto aborda um problema clássico de tráfego urbano: o congestionamento em zonas de obras. Utilizando a plataforma Eclipse MOSAIC e o simulador SUMO, implementei um sistema de Redes Veiculares (V2X) para provar que a comunicação entre carros pode transformar uma via caótica num fluxo estável e seguro</a:t>
        </a:r>
      </a:p>
    </p188:txBody>
  </p188:cm>
</p188:cmLst>
</file>

<file path=ppt/comments/modernComment_101_1377AD7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B551B4-4744-4F2E-96D1-0AAA3EA25891}" authorId="{13293C52-8BEA-1726-83E1-49AF8286974A}" created="2025-11-08T19:42:28.163">
    <pc:sldMkLst xmlns:pc="http://schemas.microsoft.com/office/powerpoint/2013/main/command">
      <pc:docMk/>
      <pc:sldMk cId="326610293" sldId="257"/>
    </pc:sldMkLst>
    <p188:txBody>
      <a:bodyPr/>
      <a:lstStyle/>
      <a:p>
        <a:endParaRPr lang="pt-PT"/>
      </a:p>
    </p188:txBody>
  </p188:cm>
  <p188:cm id="{49CCE1DD-49AA-4417-B963-09901FE7E060}" authorId="{13293C52-8BEA-1726-83E1-49AF8286974A}" created="2026-04-01T17:22:10.826">
    <pc:sldMkLst xmlns:pc="http://schemas.microsoft.com/office/powerpoint/2013/main/command">
      <pc:docMk/>
      <pc:sldMk cId="326610293" sldId="257"/>
    </pc:sldMkLst>
    <p188:txBody>
      <a:bodyPr/>
      <a:lstStyle/>
      <a:p>
        <a:r>
          <a:rPr lang="pt-PT"/>
          <a:t>Todos nós já sofremos com obras na autoestrada. O problema não é apenas a falta de espaço, é a assimetria de informação. Como a sinalização é estática, o condutor só trava quando vê o carro da frente a travar. Isto gera um tempo de reação em cadeia que cria o chamado efeito 'acordeão' ou onda de choque, multiplicando o tempo perdido para quem vem atrás.</a:t>
        </a:r>
      </a:p>
    </p188:txBody>
  </p188:cm>
</p188:cmLst>
</file>

<file path=ppt/comments/modernComment_109_8B8E44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7AECFD6-571E-4D76-A916-CA85CFA5D597}" authorId="{13293C52-8BEA-1726-83E1-49AF8286974A}" created="2026-04-01T17:40:39.622">
    <pc:sldMkLst xmlns:pc="http://schemas.microsoft.com/office/powerpoint/2013/main/command">
      <pc:docMk/>
      <pc:sldMk cId="2341356770" sldId="265"/>
    </pc:sldMkLst>
    <p188:txBody>
      <a:bodyPr/>
      <a:lstStyle/>
      <a:p>
        <a:r>
          <a:rPr lang="pt-PT"/>
          <a:t>Para resolver isto, usámos uma arquitetura de co-simulação. O SUMO trata da física dos carros e do motor de tráfego, enquanto o MOSAIC simula o espetro de rádio e a norma europeia ITS-G5. A nossa solução passou por colocar uma antena (RSU) 1 km antes da obra. A RSU funciona como um maestro: interceta as mensagens CAM dos carros, calcula a velocidade média da via e envia avisos dinâmicos em modo Geocast.</a:t>
        </a:r>
      </a:p>
    </p188:txBody>
  </p188:cm>
</p188:cmLst>
</file>

<file path=ppt/comments/modernComment_112_1ADC58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809BBB-54B7-4AB2-B718-B1EDDAAAEF8E}" authorId="{13293C52-8BEA-1726-83E1-49AF8286974A}" created="2026-04-01T18:15:52.234">
    <pc:sldMkLst xmlns:pc="http://schemas.microsoft.com/office/powerpoint/2013/main/command">
      <pc:docMk/>
      <pc:sldMk cId="450648166" sldId="274"/>
    </pc:sldMkLst>
    <p188:txBody>
      <a:bodyPr/>
      <a:lstStyle/>
      <a:p>
        <a:r>
          <a:rPr lang="pt-PT"/>
          <a:t>A nossa análise revelou um paradoxo interessante: o tempo médio de viagem aumentou 8 segundos com a rede V2X ligada. Terá o sistema falhado? Pelo contrário. Um veículo cego acelera a fundo até ter de travar de emergência no gargalo. Um veículo conectado aceita uma recomendação preventiva e aproxima-se de forma lenta, mas contínua, durante 1 quilómetro. Trocámos uns meros 8 segundos de viagem por uma segurança rodoviária brutal, estabilizando o fluxo. O facto de o pelotão V2X terminar a simulação com menos veículos concluídos espelha exatamente esta marcha preventiva e agrupada.</a:t>
        </a:r>
      </a:p>
    </p188:txBody>
  </p188:cm>
</p188:cmLst>
</file>

<file path=ppt/comments/modernComment_114_BCAAF75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285EF9D-4DF4-46AD-9EF6-3B98F3115703}" authorId="{13293C52-8BEA-1726-83E1-49AF8286974A}" created="2026-04-01T18:09:00.892">
    <pc:sldMkLst xmlns:pc="http://schemas.microsoft.com/office/powerpoint/2013/main/command">
      <pc:docMk/>
      <pc:sldMk cId="3165321052" sldId="276"/>
    </pc:sldMkLst>
    <p188:txBody>
      <a:bodyPr/>
      <a:lstStyle/>
      <a:p>
        <a:r>
          <a:rPr lang="pt-PT"/>
          <a:t>Avançando para os resultados, testámos 3 cenários: 0% de V2X (a nossa baseline), 70% e 100% de veículos conectados, durante 1000 segundos de simulação. Como podem ver no gráfico da direita, o cenário sem conectividade gerou atrasos severos para os 5% de condutores mais azarados (o Percentil 95), que ficaram retidos quase 400 segundos. Quando ligámos a rede V2X a 100%, esse tempo perdido máximo caiu uns estrondosos 47%, para apenas 210 segundos. Conseguimos efetivamente erradicar o núcleo duro do congestionamento.</a:t>
        </a:r>
      </a:p>
    </p188:txBody>
  </p188:cm>
</p188:cmLst>
</file>

<file path=ppt/comments/modernComment_117_E26014E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E11F504-4576-4FE8-A7F6-10E60FCB4C51}" authorId="{13293C52-8BEA-1726-83E1-49AF8286974A}" created="2026-04-01T18:26:18.856">
    <pc:sldMkLst xmlns:pc="http://schemas.microsoft.com/office/powerpoint/2013/main/command">
      <pc:docMk/>
      <pc:sldMk cId="3797947617" sldId="279"/>
    </pc:sldMkLst>
    <p188:txBody>
      <a:bodyPr/>
      <a:lstStyle/>
      <a:p>
        <a:r>
          <a:rPr lang="pt-PT"/>
          <a:t>Em suma, provámos que a tecnologia ITS-G5 consegue atenuar os estrangulamentos físicos através de algoritmos de controlo de tráfego. Respondendo ao desafio inicial: em vez de tentarmos fazer os carros andarem mais depressa, conseguimos fazê-los andar de forma mais inteligente. Muito obrigado pela vossa atenção, estou disponível para as vossas questões.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48F21-65F0-4585-B74D-4DE7C21418C9}" type="datetimeFigureOut">
              <a:rPr lang="pt-PT" smtClean="0"/>
              <a:t>01/04/2026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692395-64DF-44BB-9800-A7E320F7CEC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436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Boa tarde, o meu projeto foca-se na análise de dados de sensores wearables de enfermeiras para prever indicadores de stress. 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99744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dataset escolhido foi o 'Continuous Stress Monitoring of Hospital Nurses', com 11.5 milhões de registos. Como podem ver na Figura 1, a análise exploratória foi o passo mais importante. Descobri que a coluna label (o alvo de stress) não era constante, mas sim categórica, com três valores: 0, 1 e 2. Isto validou a tarefa principal de Classificação.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dataset era rico, permitindo-me definir três abordagens de análise distintas: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Classificação: Prever o label (stress).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Regressão: Prever os sinais fisiológicos HR (Ritmo Cardíaco) e EDA (Stress da Pele).</a:t>
            </a:r>
            <a:b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Clustering: Tentar descobrir grupos naturais nos dados.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527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804683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3BF0A-A3DE-2967-4729-DF3F4E893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C97962CA-F68B-072F-833B-CD16139828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C90C4528-6397-CDAF-52C6-245A91031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FCA81473-D319-C6C5-1D21-9E7CF66DB1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68804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52EBF-986D-F06E-EDAC-923D90E9B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48CEB311-81F6-E275-41DF-D0D058CE0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E3E8EE21-14C5-5BEC-47B4-9540FAB40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5064BD93-2F6E-0B7F-53FB-389CBA445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4531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20C5-4898-6F26-E205-F6253575A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15E43EF2-9C9C-6BB1-A6A0-A8A29F71C3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2A5EA2D2-F2C2-91D6-F46C-AFD0DBE02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699D6E1-75E1-CE7E-D22C-54E4471CFD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34440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F60C-3B95-F31E-E3C3-EF2F5978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62F09065-077E-C025-6B57-C241FCF47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3F9BA934-BB18-DC6D-F3CB-47A458F9B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slide mostra o processo essencial para preparar os dados antes de treinar os modelos. Comecei por ler todas as medições, criei amostras representativas, tratei datas e valores em falta, e normalizei as variáveis. A inteligência na preparação foi a criação de novas métricas que ajudam os modelos a compreender padrões reais, como ‘MoveMagnitude’, que resume o movimento das enfermeiras ao longo do tempo. Também tive atenção à remoção de campos que poderiam causar fuga de dados e afetar a validade da análise.</a:t>
            </a:r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ECA1C47B-F9FC-2321-F16F-4A27CC13A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692395-64DF-44BB-9800-A7E320F7CEC0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14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3A426-EB14-6EA3-7688-BA921C0B4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5E906EC-E92A-9048-FAED-F688C27D6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8203ABB-48D3-C3DB-C19D-37F14C0BB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A480A-B23A-41F5-982E-EF5ECD632D62}" type="datetime1">
              <a:rPr lang="pt-PT" smtClean="0"/>
              <a:t>01/04/2026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9765AA9-07E5-01BD-68DA-34458946D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F7FF1DD-C60F-7336-AF73-8945E173E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6120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116C23-C136-B5B5-7774-3E6C3E796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E9695F5-3D2B-FDAE-8A9C-A54D2AF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3891B5-E793-740A-78A5-AB71876B6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46712-3041-4987-A732-B236BF4F9FF3}" type="datetime1">
              <a:rPr lang="pt-PT" smtClean="0"/>
              <a:t>01/04/2026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671BEB2-1E33-9A5D-AAC0-2DB715D6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6064D3C-2A85-36BB-ABA2-4EBC4DCB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01770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29302B-7CD2-535E-5106-4DAB5395F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8443AF8-F08F-47EA-3198-5BBE003B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A4D3115-CE5D-B258-DD7E-5D80B5C1D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AB1AF-1CC1-43C8-B2FC-3A7E7BD2E0AA}" type="datetime1">
              <a:rPr lang="pt-PT" smtClean="0"/>
              <a:t>01/04/2026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29D5962D-C5EC-28EF-5280-0B85D4D3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BF849AB-0813-D2AE-5CD4-BEFBEBC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12047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32CF37-326F-7898-A797-0BBBA880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AC49BDA-C55A-9190-A5AA-9995A59A2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AD717AFD-8606-2592-7709-88C34E82AB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E67C0DDA-90A3-AF6B-520C-C0A571D0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7DEA-C6EC-48FA-86C0-039F48109252}" type="datetime1">
              <a:rPr lang="pt-PT" smtClean="0"/>
              <a:t>01/04/2026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1539A36-6D61-6517-9DAC-EE8229795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A040648-02C2-1C5D-B099-C99BBBCE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092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E1835-37D8-845D-69A0-DFF07C83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915BD69-5B39-EAE2-81C0-5A8CAB3F2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A93EE65-4B62-ABB3-F478-EAA329EDF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5462E51B-EAF6-6358-0E4E-C2EC89626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12C99265-C348-7C28-8E0A-D5534D0E05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6F9B286A-7994-D80A-8D6D-31DAF810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439B5-D1F0-40A2-8356-E3DC08904C62}" type="datetime1">
              <a:rPr lang="pt-PT" smtClean="0"/>
              <a:t>01/04/2026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798D077-05FA-A9AA-C14F-AB5F258D3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76346275-2183-4A11-0072-D9D30AD5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6304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9CB57-EAC3-436A-3527-CF6182860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6B19BA0B-E51E-5B95-F4E6-CEC39BBC2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02BE0-8825-4D55-B147-E208EB8C3541}" type="datetime1">
              <a:rPr lang="pt-PT" smtClean="0"/>
              <a:t>01/04/2026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6F2332B4-AA05-E19A-A82F-CC1B1D86B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EFEBC615-1198-B718-2D81-15D1EA25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38555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0CDEBAE-5A03-FD2B-A0C2-DDDC8039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04839-8EA6-4C99-A495-7EB758D4470F}" type="datetime1">
              <a:rPr lang="pt-PT" smtClean="0"/>
              <a:t>01/04/2026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61C3EB4-7DEC-DD66-178C-4D0F63B51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CC6B211-13AE-AA62-D0E4-D5711371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1537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3945-1FD5-A4DB-49FB-00B0E5611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0126BC1-1258-6703-3CAF-6BB31B898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67633CC-32FB-6E22-A87F-D9186C84B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ADC7D05-48F1-4687-69E5-2F500C52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D5C5F-EE56-40ED-94EF-EFEE270A2409}" type="datetime1">
              <a:rPr lang="pt-PT" smtClean="0"/>
              <a:t>01/04/2026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4191F82-0C87-F6C7-07D8-7BFBDCBF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B5A17E8-D233-42BB-3150-84D1E130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287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2E20C2-0C16-C7FB-FD1B-CE44B6C3A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43F40AA0-CF00-D5EA-01FF-2262C2F70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B64765C3-AF85-2EC0-7954-D1BA7BD70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3A27A198-1198-5144-6497-DE8C65FA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0FDB6-A7DB-4127-A116-FB8413ABA203}" type="datetime1">
              <a:rPr lang="pt-PT" smtClean="0"/>
              <a:t>01/04/2026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B482D34-66C1-0483-6414-EACEACE00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2999395-18DA-44DF-9F1A-F65B9005F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80299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289D02-98A5-8B51-B4E8-39E8FFEF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6F21A530-2C54-A6DF-E0A7-0740B3CE2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3A5EFEC-2042-2AD6-9D18-3BBB1FA53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7FD54-50AD-45C5-8AE8-6B88B6287FA6}" type="datetime1">
              <a:rPr lang="pt-PT" smtClean="0"/>
              <a:t>01/04/2026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AA798AE4-26DD-59E1-2986-D0327EBB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485632F-85B4-C1C9-D4A7-2B17FCD9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730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E0B6E04-F964-2B0B-92CA-15DF75294D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B2580C6-CD06-88DF-DDD0-6985C46BC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B5C20B1-E35F-108A-65CF-40AE6ED20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5A6A9-2938-4476-BB8F-F5C357308439}" type="datetime1">
              <a:rPr lang="pt-PT" smtClean="0"/>
              <a:t>01/04/2026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C2E39D8-F14C-2E18-E736-5FDDC0D6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CB7E06D-55C5-DB45-AF8D-C2EC47059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395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CB08DA5-8E45-4525-2EDC-2D7988C88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2364359-8D46-32A9-763C-EDF2DAC2D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A625105-ACCC-77C3-31CC-A141431FAE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F14C80-9D44-4599-8FE2-EE4CAEBB6CEE}" type="datetime1">
              <a:rPr lang="pt-PT" smtClean="0"/>
              <a:t>01/04/2026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F5C4E16-D623-6FFA-6063-25668684E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034D9DF-C769-CC10-A98F-38A9322B7C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9F1308-AC66-449D-8605-344313727AC3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58861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8F875A74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microsoft.com/office/2018/10/relationships/comments" Target="../comments/modernComment_101_1377AD75.xml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microsoft.com/office/2018/10/relationships/comments" Target="../comments/modernComment_109_8B8E44E2.xml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1.jpe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2_1ADC586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.xml"/><Relationship Id="rId5" Type="http://schemas.openxmlformats.org/officeDocument/2006/relationships/image" Target="../media/image12.svg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BCAAF75C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7_E26014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1EE61-2F39-8481-E437-94DEEE01CC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4908" y="1142159"/>
            <a:ext cx="9353323" cy="13115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t-PT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Gestão Cooperativa de Tráfego em Zona de Obras com V2X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AED611-176D-0120-C3B8-4A7229363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1425" y="3794016"/>
            <a:ext cx="9002139" cy="3379049"/>
          </a:xfrm>
        </p:spPr>
        <p:txBody>
          <a:bodyPr>
            <a:normAutofit/>
          </a:bodyPr>
          <a:lstStyle/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Grupo 3: </a:t>
            </a:r>
            <a:b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Luis Baptista PG61434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Bernardo Salgado PG59972</a:t>
            </a:r>
          </a:p>
          <a:p>
            <a:pPr algn="l">
              <a:lnSpc>
                <a:spcPct val="17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Luis Oliveira  A89380 </a:t>
            </a:r>
          </a:p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2025/26</a:t>
            </a:r>
          </a:p>
        </p:txBody>
      </p:sp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B8A7FF0E-B58B-DFA0-1C3D-2D836C86840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7" name="Conexão reta 6">
            <a:extLst>
              <a:ext uri="{FF2B5EF4-FFF2-40B4-BE49-F238E27FC236}">
                <a16:creationId xmlns:a16="http://schemas.microsoft.com/office/drawing/2014/main" id="{AB5E098C-9123-BBDD-C5EF-C78CFB5B9E8E}"/>
              </a:ext>
            </a:extLst>
          </p:cNvPr>
          <p:cNvCxnSpPr>
            <a:cxnSpLocks/>
          </p:cNvCxnSpPr>
          <p:nvPr/>
        </p:nvCxnSpPr>
        <p:spPr>
          <a:xfrm flipV="1">
            <a:off x="1845507" y="3274785"/>
            <a:ext cx="10346493" cy="1562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654EECC-81D5-163B-6B3B-B7125AF28A05}"/>
              </a:ext>
            </a:extLst>
          </p:cNvPr>
          <p:cNvSpPr txBox="1"/>
          <p:nvPr/>
        </p:nvSpPr>
        <p:spPr>
          <a:xfrm>
            <a:off x="2164908" y="2613320"/>
            <a:ext cx="944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Redes Veiculares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4E91423-771B-2FCB-8DB7-B03D30A94C92}"/>
              </a:ext>
            </a:extLst>
          </p:cNvPr>
          <p:cNvSpPr txBox="1"/>
          <p:nvPr/>
        </p:nvSpPr>
        <p:spPr>
          <a:xfrm>
            <a:off x="3594424" y="3274785"/>
            <a:ext cx="93391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Mestrado Em Engenharia De Telecomunicações E Informática</a:t>
            </a:r>
          </a:p>
          <a:p>
            <a:endParaRPr lang="pt-PT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B4E474-DD53-922F-E9AF-695DE9109DF7}"/>
              </a:ext>
            </a:extLst>
          </p:cNvPr>
          <p:cNvSpPr txBox="1"/>
          <p:nvPr/>
        </p:nvSpPr>
        <p:spPr>
          <a:xfrm>
            <a:off x="289154" y="1024101"/>
            <a:ext cx="4211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Universidade do Minho</a:t>
            </a:r>
          </a:p>
          <a:p>
            <a:r>
              <a:rPr lang="pt-PT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Escola de Engenharia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65310C6-A67B-06C6-5953-D3CE308D62E2}"/>
              </a:ext>
            </a:extLst>
          </p:cNvPr>
          <p:cNvSpPr/>
          <p:nvPr/>
        </p:nvSpPr>
        <p:spPr>
          <a:xfrm>
            <a:off x="360948" y="1558978"/>
            <a:ext cx="741560" cy="5306442"/>
          </a:xfrm>
          <a:prstGeom prst="rect">
            <a:avLst/>
          </a:prstGeom>
          <a:solidFill>
            <a:srgbClr val="87112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A8786C4-3D82-08D6-047B-BDD2C4E85192}"/>
              </a:ext>
            </a:extLst>
          </p:cNvPr>
          <p:cNvSpPr/>
          <p:nvPr/>
        </p:nvSpPr>
        <p:spPr>
          <a:xfrm>
            <a:off x="1103947" y="1558978"/>
            <a:ext cx="741560" cy="5306442"/>
          </a:xfrm>
          <a:prstGeom prst="rect">
            <a:avLst/>
          </a:prstGeom>
          <a:solidFill>
            <a:srgbClr val="C76C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36E22007-A0E2-995A-0A0D-99A128F3E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08012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E17ED0E6-E4F8-8CD5-1552-FE5EF5DE68F0}"/>
              </a:ext>
            </a:extLst>
          </p:cNvPr>
          <p:cNvSpPr/>
          <p:nvPr/>
        </p:nvSpPr>
        <p:spPr>
          <a:xfrm>
            <a:off x="8687834" y="2204842"/>
            <a:ext cx="2519865" cy="21969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63EF94A3-20E5-FA3C-BBB6-C90FF3B9660D}"/>
              </a:ext>
            </a:extLst>
          </p:cNvPr>
          <p:cNvSpPr/>
          <p:nvPr/>
        </p:nvSpPr>
        <p:spPr>
          <a:xfrm>
            <a:off x="8672712" y="2189832"/>
            <a:ext cx="753155" cy="6318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22EC56D6-5C9C-72B1-E32D-90649FAAF83A}"/>
              </a:ext>
            </a:extLst>
          </p:cNvPr>
          <p:cNvSpPr/>
          <p:nvPr/>
        </p:nvSpPr>
        <p:spPr>
          <a:xfrm>
            <a:off x="4471911" y="2240065"/>
            <a:ext cx="2519865" cy="21969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8A0CAB8C-62AE-BA36-3692-876099945869}"/>
              </a:ext>
            </a:extLst>
          </p:cNvPr>
          <p:cNvSpPr/>
          <p:nvPr/>
        </p:nvSpPr>
        <p:spPr>
          <a:xfrm>
            <a:off x="192505" y="2263029"/>
            <a:ext cx="2519865" cy="21969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5143B22-344B-AC0D-6984-70B7376D4676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DFB57B3F-B865-2E59-CBC8-F759D8271DD1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B949F51-05E1-A57C-D2FD-555C45FB9E42}"/>
              </a:ext>
            </a:extLst>
          </p:cNvPr>
          <p:cNvSpPr txBox="1"/>
          <p:nvPr/>
        </p:nvSpPr>
        <p:spPr>
          <a:xfrm>
            <a:off x="192505" y="1366684"/>
            <a:ext cx="11790948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Introdução e Motivação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1DE551-30E2-6AB8-43C7-E4D1CE42F51A}"/>
              </a:ext>
            </a:extLst>
          </p:cNvPr>
          <p:cNvSpPr txBox="1"/>
          <p:nvPr/>
        </p:nvSpPr>
        <p:spPr>
          <a:xfrm>
            <a:off x="203433" y="4594971"/>
            <a:ext cx="2730577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Sinalização vertical estática = Reação Tardia.</a:t>
            </a:r>
          </a:p>
        </p:txBody>
      </p:sp>
      <p:pic>
        <p:nvPicPr>
          <p:cNvPr id="8" name="Gráfico 7" descr="Cone de trânsito destaque">
            <a:extLst>
              <a:ext uri="{FF2B5EF4-FFF2-40B4-BE49-F238E27FC236}">
                <a16:creationId xmlns:a16="http://schemas.microsoft.com/office/drawing/2014/main" id="{BE97D976-A56B-77EE-5FBE-BAA5AB89AC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096" y="2508842"/>
            <a:ext cx="1751350" cy="1751350"/>
          </a:xfrm>
          <a:prstGeom prst="rect">
            <a:avLst/>
          </a:prstGeom>
        </p:spPr>
      </p:pic>
      <p:grpSp>
        <p:nvGrpSpPr>
          <p:cNvPr id="15" name="Agrupar 14">
            <a:extLst>
              <a:ext uri="{FF2B5EF4-FFF2-40B4-BE49-F238E27FC236}">
                <a16:creationId xmlns:a16="http://schemas.microsoft.com/office/drawing/2014/main" id="{1BDA7DA3-FF6A-E5F7-AAD6-D75DCD2E281A}"/>
              </a:ext>
            </a:extLst>
          </p:cNvPr>
          <p:cNvGrpSpPr/>
          <p:nvPr/>
        </p:nvGrpSpPr>
        <p:grpSpPr>
          <a:xfrm>
            <a:off x="4408427" y="2398031"/>
            <a:ext cx="2492509" cy="2061937"/>
            <a:chOff x="3882868" y="1951458"/>
            <a:chExt cx="2492509" cy="2061937"/>
          </a:xfrm>
        </p:grpSpPr>
        <p:pic>
          <p:nvPicPr>
            <p:cNvPr id="10" name="Gráfico 9" descr="Aquisição destaque">
              <a:extLst>
                <a:ext uri="{FF2B5EF4-FFF2-40B4-BE49-F238E27FC236}">
                  <a16:creationId xmlns:a16="http://schemas.microsoft.com/office/drawing/2014/main" id="{456888AD-CA67-C566-6B6C-C865E2D3B7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1150871">
              <a:off x="3882868" y="2627510"/>
              <a:ext cx="914400" cy="914400"/>
            </a:xfrm>
            <a:prstGeom prst="rect">
              <a:avLst/>
            </a:prstGeom>
          </p:spPr>
        </p:pic>
        <p:pic>
          <p:nvPicPr>
            <p:cNvPr id="12" name="Gráfico 11" descr="Descapotável destaque">
              <a:extLst>
                <a:ext uri="{FF2B5EF4-FFF2-40B4-BE49-F238E27FC236}">
                  <a16:creationId xmlns:a16="http://schemas.microsoft.com/office/drawing/2014/main" id="{45D26BEF-F470-3D0E-F0F8-180D55380C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13440" y="1951458"/>
              <a:ext cx="2061937" cy="2061937"/>
            </a:xfrm>
            <a:prstGeom prst="rect">
              <a:avLst/>
            </a:prstGeom>
          </p:spPr>
        </p:pic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0787644-3BBA-DA7F-1AAC-9FB50B5F978E}"/>
              </a:ext>
            </a:extLst>
          </p:cNvPr>
          <p:cNvSpPr txBox="1"/>
          <p:nvPr/>
        </p:nvSpPr>
        <p:spPr>
          <a:xfrm>
            <a:off x="8345310" y="4594971"/>
            <a:ext cx="3257423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Geração do efeito "Acordeão" (Ondas de Choque).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53AEEE0-55D4-5C91-47D0-F4F0A911360C}"/>
              </a:ext>
            </a:extLst>
          </p:cNvPr>
          <p:cNvSpPr txBox="1"/>
          <p:nvPr/>
        </p:nvSpPr>
        <p:spPr>
          <a:xfrm>
            <a:off x="4199135" y="4594971"/>
            <a:ext cx="2881050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Travagens individuais não coordenadas.</a:t>
            </a:r>
          </a:p>
        </p:txBody>
      </p: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D70D613B-342F-311E-788A-7E1541F585DB}"/>
              </a:ext>
            </a:extLst>
          </p:cNvPr>
          <p:cNvGrpSpPr/>
          <p:nvPr/>
        </p:nvGrpSpPr>
        <p:grpSpPr>
          <a:xfrm>
            <a:off x="9118405" y="2592533"/>
            <a:ext cx="1708879" cy="1672934"/>
            <a:chOff x="8669161" y="1843065"/>
            <a:chExt cx="2905743" cy="2593939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69193D5-BEE6-8A74-A07E-2096C72D9A36}"/>
                </a:ext>
              </a:extLst>
            </p:cNvPr>
            <p:cNvSpPr/>
            <p:nvPr/>
          </p:nvSpPr>
          <p:spPr>
            <a:xfrm>
              <a:off x="8669161" y="1967102"/>
              <a:ext cx="2881049" cy="2469902"/>
            </a:xfrm>
            <a:prstGeom prst="ellipse">
              <a:avLst/>
            </a:prstGeom>
            <a:gradFill flip="none" rotWithShape="1">
              <a:gsLst>
                <a:gs pos="0">
                  <a:srgbClr val="FF0000">
                    <a:tint val="66000"/>
                    <a:satMod val="160000"/>
                  </a:srgbClr>
                </a:gs>
                <a:gs pos="50000">
                  <a:srgbClr val="FF0000">
                    <a:tint val="44500"/>
                    <a:satMod val="160000"/>
                  </a:srgbClr>
                </a:gs>
                <a:gs pos="100000">
                  <a:srgbClr val="FF0000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5" name="Agrupar 34">
              <a:extLst>
                <a:ext uri="{FF2B5EF4-FFF2-40B4-BE49-F238E27FC236}">
                  <a16:creationId xmlns:a16="http://schemas.microsoft.com/office/drawing/2014/main" id="{B116B6AF-7EB5-16A3-19D6-4E0E796D452F}"/>
                </a:ext>
              </a:extLst>
            </p:cNvPr>
            <p:cNvGrpSpPr/>
            <p:nvPr/>
          </p:nvGrpSpPr>
          <p:grpSpPr>
            <a:xfrm>
              <a:off x="8700456" y="1843065"/>
              <a:ext cx="2874448" cy="2449117"/>
              <a:chOff x="8487426" y="1875815"/>
              <a:chExt cx="2874448" cy="2449117"/>
            </a:xfrm>
          </p:grpSpPr>
          <p:pic>
            <p:nvPicPr>
              <p:cNvPr id="20" name="Gráfico 19" descr="Táxi com preenchimento sólido">
                <a:extLst>
                  <a:ext uri="{FF2B5EF4-FFF2-40B4-BE49-F238E27FC236}">
                    <a16:creationId xmlns:a16="http://schemas.microsoft.com/office/drawing/2014/main" id="{DFD71DC4-1D37-5376-E42A-30690C97B5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040469" y="273898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1" name="Gráfico 20" descr="Táxi com preenchimento sólido">
                <a:extLst>
                  <a:ext uri="{FF2B5EF4-FFF2-40B4-BE49-F238E27FC236}">
                    <a16:creationId xmlns:a16="http://schemas.microsoft.com/office/drawing/2014/main" id="{CF12C6C6-2482-A768-6CB8-A6F791049D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929955" y="341053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2" name="Gráfico 21" descr="Táxi com preenchimento sólido">
                <a:extLst>
                  <a:ext uri="{FF2B5EF4-FFF2-40B4-BE49-F238E27FC236}">
                    <a16:creationId xmlns:a16="http://schemas.microsoft.com/office/drawing/2014/main" id="{FDA45017-6384-F10C-83CB-1FABAE994F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851574" y="1875815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3" name="Gráfico 22" descr="Táxi com preenchimento sólido">
                <a:extLst>
                  <a:ext uri="{FF2B5EF4-FFF2-40B4-BE49-F238E27FC236}">
                    <a16:creationId xmlns:a16="http://schemas.microsoft.com/office/drawing/2014/main" id="{E99C5BF5-A8FA-31C4-ED42-1524A45821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109029" y="2027391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4" name="Gráfico 23" descr="Táxi com preenchimento sólido">
                <a:extLst>
                  <a:ext uri="{FF2B5EF4-FFF2-40B4-BE49-F238E27FC236}">
                    <a16:creationId xmlns:a16="http://schemas.microsoft.com/office/drawing/2014/main" id="{AC8DFC4E-824E-127E-4DA6-4EF6086908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187410" y="3405614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5" name="Gráfico 24" descr="Táxi com preenchimento sólido">
                <a:extLst>
                  <a:ext uri="{FF2B5EF4-FFF2-40B4-BE49-F238E27FC236}">
                    <a16:creationId xmlns:a16="http://schemas.microsoft.com/office/drawing/2014/main" id="{FDA45017-6384-F10C-83CB-1FABAE994F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840308" y="2589394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6" name="Gráfico 25" descr="Táxi com preenchimento sólido">
                <a:extLst>
                  <a:ext uri="{FF2B5EF4-FFF2-40B4-BE49-F238E27FC236}">
                    <a16:creationId xmlns:a16="http://schemas.microsoft.com/office/drawing/2014/main" id="{5DDD374F-0CAB-6BBA-A201-9690B51F83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8487426" y="2577000"/>
                <a:ext cx="780221" cy="780221"/>
              </a:xfrm>
              <a:prstGeom prst="rect">
                <a:avLst/>
              </a:prstGeom>
            </p:spPr>
          </p:pic>
          <p:pic>
            <p:nvPicPr>
              <p:cNvPr id="27" name="Gráfico 26" descr="Táxi com preenchimento sólido">
                <a:extLst>
                  <a:ext uri="{FF2B5EF4-FFF2-40B4-BE49-F238E27FC236}">
                    <a16:creationId xmlns:a16="http://schemas.microsoft.com/office/drawing/2014/main" id="{852A62FF-5DAC-8828-100E-E9BADC01C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0564318" y="2540979"/>
                <a:ext cx="797556" cy="797556"/>
              </a:xfrm>
              <a:prstGeom prst="rect">
                <a:avLst/>
              </a:prstGeom>
            </p:spPr>
          </p:pic>
        </p:grpSp>
      </p:grp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64CFF539-4759-F3F5-3E59-B39095DF8520}"/>
              </a:ext>
            </a:extLst>
          </p:cNvPr>
          <p:cNvSpPr/>
          <p:nvPr/>
        </p:nvSpPr>
        <p:spPr>
          <a:xfrm>
            <a:off x="180014" y="2240065"/>
            <a:ext cx="753155" cy="6318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681758A4-83C2-6A9B-721C-00360903415D}"/>
              </a:ext>
            </a:extLst>
          </p:cNvPr>
          <p:cNvSpPr/>
          <p:nvPr/>
        </p:nvSpPr>
        <p:spPr>
          <a:xfrm>
            <a:off x="4456789" y="2225055"/>
            <a:ext cx="753155" cy="63184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4" name="Seta: Para a Direita 33">
            <a:extLst>
              <a:ext uri="{FF2B5EF4-FFF2-40B4-BE49-F238E27FC236}">
                <a16:creationId xmlns:a16="http://schemas.microsoft.com/office/drawing/2014/main" id="{936F3030-5501-C497-63A2-709046EB8E04}"/>
              </a:ext>
            </a:extLst>
          </p:cNvPr>
          <p:cNvSpPr/>
          <p:nvPr/>
        </p:nvSpPr>
        <p:spPr>
          <a:xfrm>
            <a:off x="2773453" y="3094683"/>
            <a:ext cx="1660982" cy="58477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eta: Para a Direita 38">
            <a:extLst>
              <a:ext uri="{FF2B5EF4-FFF2-40B4-BE49-F238E27FC236}">
                <a16:creationId xmlns:a16="http://schemas.microsoft.com/office/drawing/2014/main" id="{CB294947-B428-7343-B0E0-CA3B377C4A3D}"/>
              </a:ext>
            </a:extLst>
          </p:cNvPr>
          <p:cNvSpPr/>
          <p:nvPr/>
        </p:nvSpPr>
        <p:spPr>
          <a:xfrm>
            <a:off x="7018884" y="3069110"/>
            <a:ext cx="1660982" cy="58477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Marcador de Posição do Número do Diapositivo 39">
            <a:extLst>
              <a:ext uri="{FF2B5EF4-FFF2-40B4-BE49-F238E27FC236}">
                <a16:creationId xmlns:a16="http://schemas.microsoft.com/office/drawing/2014/main" id="{A6B10DB0-460C-A0BC-C280-4B530EB9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6610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ED4D8-82CA-BACF-ECB7-6CF4BE251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Conexão reta 78">
            <a:extLst>
              <a:ext uri="{FF2B5EF4-FFF2-40B4-BE49-F238E27FC236}">
                <a16:creationId xmlns:a16="http://schemas.microsoft.com/office/drawing/2014/main" id="{727AA94E-AA9E-05E4-D369-1B322D50C63A}"/>
              </a:ext>
            </a:extLst>
          </p:cNvPr>
          <p:cNvCxnSpPr>
            <a:cxnSpLocks/>
          </p:cNvCxnSpPr>
          <p:nvPr/>
        </p:nvCxnSpPr>
        <p:spPr>
          <a:xfrm>
            <a:off x="9854447" y="4853451"/>
            <a:ext cx="1240890" cy="6195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DE95ED8E-BCA8-008C-8DEF-05C7A2AC2167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A9297DAD-453F-29D1-71D4-2C7C2F94F857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08A112D6-A38E-EB8B-1128-BAB225AA5A7F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Arquitetura do Sistema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A58EB0-3E1B-BFC7-1C1B-A4F8ACCA8F7E}"/>
              </a:ext>
            </a:extLst>
          </p:cNvPr>
          <p:cNvSpPr txBox="1"/>
          <p:nvPr/>
        </p:nvSpPr>
        <p:spPr>
          <a:xfrm>
            <a:off x="222702" y="6010997"/>
            <a:ext cx="518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SUMO: 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 a parte física, visualização e colisões.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22D189-5300-2654-A28F-A9B2016E3C9B}"/>
              </a:ext>
            </a:extLst>
          </p:cNvPr>
          <p:cNvSpPr txBox="1"/>
          <p:nvPr/>
        </p:nvSpPr>
        <p:spPr>
          <a:xfrm>
            <a:off x="6447252" y="5968677"/>
            <a:ext cx="5853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MOSAIC: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Simula a rede ad-hoc ITS-G5 (Latência, Rádio).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515236F-CABD-3356-E911-B649CC9D6006}"/>
              </a:ext>
            </a:extLst>
          </p:cNvPr>
          <p:cNvSpPr txBox="1"/>
          <p:nvPr/>
        </p:nvSpPr>
        <p:spPr>
          <a:xfrm>
            <a:off x="3842706" y="6457426"/>
            <a:ext cx="4870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Solução: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RSU inteligente a 1000m da obra.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6004C3B-D2BB-31CE-1303-86BC1B354EF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558" t="9006" r="19902" b="36884"/>
          <a:stretch>
            <a:fillRect/>
          </a:stretch>
        </p:blipFill>
        <p:spPr>
          <a:xfrm>
            <a:off x="690856" y="2653489"/>
            <a:ext cx="3617799" cy="2142913"/>
          </a:xfrm>
          <a:prstGeom prst="rect">
            <a:avLst/>
          </a:prstGeom>
        </p:spPr>
      </p:pic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322E7FE9-A607-7262-3604-26DA915FE86B}"/>
              </a:ext>
            </a:extLst>
          </p:cNvPr>
          <p:cNvCxnSpPr>
            <a:cxnSpLocks/>
          </p:cNvCxnSpPr>
          <p:nvPr/>
        </p:nvCxnSpPr>
        <p:spPr>
          <a:xfrm>
            <a:off x="9330545" y="4428662"/>
            <a:ext cx="0" cy="326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xão reta unidirecional 18">
            <a:extLst>
              <a:ext uri="{FF2B5EF4-FFF2-40B4-BE49-F238E27FC236}">
                <a16:creationId xmlns:a16="http://schemas.microsoft.com/office/drawing/2014/main" id="{A410C89A-A06A-2C8F-B5AE-5C6E0CF49E8C}"/>
              </a:ext>
            </a:extLst>
          </p:cNvPr>
          <p:cNvCxnSpPr>
            <a:cxnSpLocks/>
          </p:cNvCxnSpPr>
          <p:nvPr/>
        </p:nvCxnSpPr>
        <p:spPr>
          <a:xfrm flipV="1">
            <a:off x="9665825" y="3849181"/>
            <a:ext cx="0" cy="724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xão reta unidirecional 20">
            <a:extLst>
              <a:ext uri="{FF2B5EF4-FFF2-40B4-BE49-F238E27FC236}">
                <a16:creationId xmlns:a16="http://schemas.microsoft.com/office/drawing/2014/main" id="{86A52307-1658-7C3E-DD57-7763286ED828}"/>
              </a:ext>
            </a:extLst>
          </p:cNvPr>
          <p:cNvCxnSpPr>
            <a:cxnSpLocks/>
          </p:cNvCxnSpPr>
          <p:nvPr/>
        </p:nvCxnSpPr>
        <p:spPr>
          <a:xfrm flipV="1">
            <a:off x="9963005" y="4428662"/>
            <a:ext cx="0" cy="3261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xão reta unidirecional 22">
            <a:extLst>
              <a:ext uri="{FF2B5EF4-FFF2-40B4-BE49-F238E27FC236}">
                <a16:creationId xmlns:a16="http://schemas.microsoft.com/office/drawing/2014/main" id="{B0C71D3F-6751-4CD5-2E94-884B72F0CAA0}"/>
              </a:ext>
            </a:extLst>
          </p:cNvPr>
          <p:cNvCxnSpPr>
            <a:cxnSpLocks/>
          </p:cNvCxnSpPr>
          <p:nvPr/>
        </p:nvCxnSpPr>
        <p:spPr>
          <a:xfrm flipV="1">
            <a:off x="8713325" y="3869807"/>
            <a:ext cx="0" cy="48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xão reta unidirecional 23">
            <a:extLst>
              <a:ext uri="{FF2B5EF4-FFF2-40B4-BE49-F238E27FC236}">
                <a16:creationId xmlns:a16="http://schemas.microsoft.com/office/drawing/2014/main" id="{57655A77-725B-739D-E0BA-B373D034BB56}"/>
              </a:ext>
            </a:extLst>
          </p:cNvPr>
          <p:cNvCxnSpPr>
            <a:cxnSpLocks/>
          </p:cNvCxnSpPr>
          <p:nvPr/>
        </p:nvCxnSpPr>
        <p:spPr>
          <a:xfrm flipV="1">
            <a:off x="8713325" y="3283688"/>
            <a:ext cx="0" cy="48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xão reta unidirecional 24">
            <a:extLst>
              <a:ext uri="{FF2B5EF4-FFF2-40B4-BE49-F238E27FC236}">
                <a16:creationId xmlns:a16="http://schemas.microsoft.com/office/drawing/2014/main" id="{6187CB1E-FD98-4FDB-878D-2D7B91BA3F3A}"/>
              </a:ext>
            </a:extLst>
          </p:cNvPr>
          <p:cNvCxnSpPr>
            <a:cxnSpLocks/>
          </p:cNvCxnSpPr>
          <p:nvPr/>
        </p:nvCxnSpPr>
        <p:spPr>
          <a:xfrm flipV="1">
            <a:off x="9650585" y="3283688"/>
            <a:ext cx="0" cy="4539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21180FFF-B0CF-D410-0EC5-E34876A46CEB}"/>
              </a:ext>
            </a:extLst>
          </p:cNvPr>
          <p:cNvSpPr/>
          <p:nvPr/>
        </p:nvSpPr>
        <p:spPr>
          <a:xfrm>
            <a:off x="8240885" y="4091789"/>
            <a:ext cx="2926080" cy="3368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Access Technologies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B8235E5-D841-EED6-36D4-5507E6259D4F}"/>
              </a:ext>
            </a:extLst>
          </p:cNvPr>
          <p:cNvSpPr/>
          <p:nvPr/>
        </p:nvSpPr>
        <p:spPr>
          <a:xfrm>
            <a:off x="8240885" y="3528530"/>
            <a:ext cx="2926080" cy="336873"/>
          </a:xfrm>
          <a:prstGeom prst="rect">
            <a:avLst/>
          </a:prstGeom>
          <a:solidFill>
            <a:srgbClr val="48D8C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Networking &amp; Transport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ED3DF1E-241B-28AE-2BBB-A79F622CB93C}"/>
              </a:ext>
            </a:extLst>
          </p:cNvPr>
          <p:cNvSpPr/>
          <p:nvPr/>
        </p:nvSpPr>
        <p:spPr>
          <a:xfrm>
            <a:off x="8240885" y="2965271"/>
            <a:ext cx="2926080" cy="336873"/>
          </a:xfrm>
          <a:prstGeom prst="rect">
            <a:avLst/>
          </a:prstGeom>
          <a:solidFill>
            <a:srgbClr val="ADEE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Facilities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0F5DE2D-4FA5-2F8D-973B-44F80BCF6FED}"/>
              </a:ext>
            </a:extLst>
          </p:cNvPr>
          <p:cNvSpPr/>
          <p:nvPr/>
        </p:nvSpPr>
        <p:spPr>
          <a:xfrm>
            <a:off x="8240885" y="2423475"/>
            <a:ext cx="2926080" cy="336873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/>
              <a:t>ETSI ITS-G5</a:t>
            </a:r>
          </a:p>
        </p:txBody>
      </p: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0EB9684D-FB85-E0AA-863A-8ADE86C1BA41}"/>
              </a:ext>
            </a:extLst>
          </p:cNvPr>
          <p:cNvCxnSpPr>
            <a:cxnSpLocks/>
          </p:cNvCxnSpPr>
          <p:nvPr/>
        </p:nvCxnSpPr>
        <p:spPr>
          <a:xfrm>
            <a:off x="10580225" y="3869807"/>
            <a:ext cx="0" cy="240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A4E30908-378F-1A00-AE62-B2BA38583301}"/>
              </a:ext>
            </a:extLst>
          </p:cNvPr>
          <p:cNvCxnSpPr>
            <a:cxnSpLocks/>
          </p:cNvCxnSpPr>
          <p:nvPr/>
        </p:nvCxnSpPr>
        <p:spPr>
          <a:xfrm>
            <a:off x="10580225" y="3302144"/>
            <a:ext cx="0" cy="2400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65EA8326-B4C6-DD52-558C-51B37C21A546}"/>
              </a:ext>
            </a:extLst>
          </p:cNvPr>
          <p:cNvGrpSpPr/>
          <p:nvPr/>
        </p:nvGrpSpPr>
        <p:grpSpPr>
          <a:xfrm>
            <a:off x="8518008" y="4742870"/>
            <a:ext cx="566418" cy="656802"/>
            <a:chOff x="7912608" y="4954922"/>
            <a:chExt cx="566418" cy="656802"/>
          </a:xfrm>
        </p:grpSpPr>
        <p:pic>
          <p:nvPicPr>
            <p:cNvPr id="36" name="Gráfico 35" descr="Papel destaque">
              <a:extLst>
                <a:ext uri="{FF2B5EF4-FFF2-40B4-BE49-F238E27FC236}">
                  <a16:creationId xmlns:a16="http://schemas.microsoft.com/office/drawing/2014/main" id="{A4B9A2A3-7DF9-54F8-68D9-1A3DEAD8E51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4954922"/>
              <a:ext cx="566418" cy="566418"/>
            </a:xfrm>
            <a:prstGeom prst="rect">
              <a:avLst/>
            </a:prstGeom>
          </p:spPr>
        </p:pic>
        <p:pic>
          <p:nvPicPr>
            <p:cNvPr id="37" name="Gráfico 36" descr="Papel destaque">
              <a:extLst>
                <a:ext uri="{FF2B5EF4-FFF2-40B4-BE49-F238E27FC236}">
                  <a16:creationId xmlns:a16="http://schemas.microsoft.com/office/drawing/2014/main" id="{FF45A8E0-CAB4-DA2F-36B1-2B1ADAE0258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5001895"/>
              <a:ext cx="566418" cy="566418"/>
            </a:xfrm>
            <a:prstGeom prst="rect">
              <a:avLst/>
            </a:prstGeom>
          </p:spPr>
        </p:pic>
        <p:pic>
          <p:nvPicPr>
            <p:cNvPr id="38" name="Gráfico 37" descr="Papel destaque">
              <a:extLst>
                <a:ext uri="{FF2B5EF4-FFF2-40B4-BE49-F238E27FC236}">
                  <a16:creationId xmlns:a16="http://schemas.microsoft.com/office/drawing/2014/main" id="{262A1841-BD9F-23FB-BB6E-34931BB8DD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5045306"/>
              <a:ext cx="566418" cy="566418"/>
            </a:xfrm>
            <a:prstGeom prst="rect">
              <a:avLst/>
            </a:prstGeom>
          </p:spPr>
        </p:pic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71C498B9-52EE-E6F8-15BB-7CB702BA6565}"/>
              </a:ext>
            </a:extLst>
          </p:cNvPr>
          <p:cNvGrpSpPr/>
          <p:nvPr/>
        </p:nvGrpSpPr>
        <p:grpSpPr>
          <a:xfrm>
            <a:off x="7888841" y="4742871"/>
            <a:ext cx="566418" cy="656802"/>
            <a:chOff x="7912608" y="4954922"/>
            <a:chExt cx="566418" cy="656802"/>
          </a:xfrm>
        </p:grpSpPr>
        <p:pic>
          <p:nvPicPr>
            <p:cNvPr id="41" name="Gráfico 40" descr="Papel destaque">
              <a:extLst>
                <a:ext uri="{FF2B5EF4-FFF2-40B4-BE49-F238E27FC236}">
                  <a16:creationId xmlns:a16="http://schemas.microsoft.com/office/drawing/2014/main" id="{AF5EDAC9-13B7-C7C9-E1E9-B9C2119E82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4954922"/>
              <a:ext cx="566418" cy="566418"/>
            </a:xfrm>
            <a:prstGeom prst="rect">
              <a:avLst/>
            </a:prstGeom>
          </p:spPr>
        </p:pic>
        <p:pic>
          <p:nvPicPr>
            <p:cNvPr id="42" name="Gráfico 41" descr="Papel destaque">
              <a:extLst>
                <a:ext uri="{FF2B5EF4-FFF2-40B4-BE49-F238E27FC236}">
                  <a16:creationId xmlns:a16="http://schemas.microsoft.com/office/drawing/2014/main" id="{E0B68F0B-87A9-1F39-73B0-90C8FD53F93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5001895"/>
              <a:ext cx="566418" cy="566418"/>
            </a:xfrm>
            <a:prstGeom prst="rect">
              <a:avLst/>
            </a:prstGeom>
          </p:spPr>
        </p:pic>
        <p:pic>
          <p:nvPicPr>
            <p:cNvPr id="43" name="Gráfico 42" descr="Papel destaque">
              <a:extLst>
                <a:ext uri="{FF2B5EF4-FFF2-40B4-BE49-F238E27FC236}">
                  <a16:creationId xmlns:a16="http://schemas.microsoft.com/office/drawing/2014/main" id="{13F0DD0A-010A-0402-212F-2F04840165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5045306"/>
              <a:ext cx="566418" cy="566418"/>
            </a:xfrm>
            <a:prstGeom prst="rect">
              <a:avLst/>
            </a:prstGeom>
          </p:spPr>
        </p:pic>
      </p:grpSp>
      <p:grpSp>
        <p:nvGrpSpPr>
          <p:cNvPr id="44" name="Agrupar 43">
            <a:extLst>
              <a:ext uri="{FF2B5EF4-FFF2-40B4-BE49-F238E27FC236}">
                <a16:creationId xmlns:a16="http://schemas.microsoft.com/office/drawing/2014/main" id="{A8D75DF3-2F02-03AD-6514-171E1D1824CA}"/>
              </a:ext>
            </a:extLst>
          </p:cNvPr>
          <p:cNvGrpSpPr/>
          <p:nvPr/>
        </p:nvGrpSpPr>
        <p:grpSpPr>
          <a:xfrm>
            <a:off x="9420716" y="5058420"/>
            <a:ext cx="566418" cy="656802"/>
            <a:chOff x="7912608" y="4954922"/>
            <a:chExt cx="566418" cy="656802"/>
          </a:xfrm>
        </p:grpSpPr>
        <p:pic>
          <p:nvPicPr>
            <p:cNvPr id="45" name="Gráfico 44" descr="Papel destaque">
              <a:extLst>
                <a:ext uri="{FF2B5EF4-FFF2-40B4-BE49-F238E27FC236}">
                  <a16:creationId xmlns:a16="http://schemas.microsoft.com/office/drawing/2014/main" id="{931DB112-FC82-3A51-42D4-BFEC18C787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4954922"/>
              <a:ext cx="566418" cy="566418"/>
            </a:xfrm>
            <a:prstGeom prst="rect">
              <a:avLst/>
            </a:prstGeom>
          </p:spPr>
        </p:pic>
        <p:pic>
          <p:nvPicPr>
            <p:cNvPr id="46" name="Gráfico 45" descr="Papel destaque">
              <a:extLst>
                <a:ext uri="{FF2B5EF4-FFF2-40B4-BE49-F238E27FC236}">
                  <a16:creationId xmlns:a16="http://schemas.microsoft.com/office/drawing/2014/main" id="{2D6B345B-3FBC-47D0-128A-CD11397D6B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5001895"/>
              <a:ext cx="566418" cy="566418"/>
            </a:xfrm>
            <a:prstGeom prst="rect">
              <a:avLst/>
            </a:prstGeom>
          </p:spPr>
        </p:pic>
        <p:pic>
          <p:nvPicPr>
            <p:cNvPr id="47" name="Gráfico 46" descr="Papel destaque">
              <a:extLst>
                <a:ext uri="{FF2B5EF4-FFF2-40B4-BE49-F238E27FC236}">
                  <a16:creationId xmlns:a16="http://schemas.microsoft.com/office/drawing/2014/main" id="{F68B6E11-8477-52D3-9996-20EA221D572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5045306"/>
              <a:ext cx="566418" cy="566418"/>
            </a:xfrm>
            <a:prstGeom prst="rect">
              <a:avLst/>
            </a:prstGeom>
          </p:spPr>
        </p:pic>
      </p:grp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B70AB148-A55D-4FAF-84F1-2D23E70D6626}"/>
              </a:ext>
            </a:extLst>
          </p:cNvPr>
          <p:cNvGrpSpPr/>
          <p:nvPr/>
        </p:nvGrpSpPr>
        <p:grpSpPr>
          <a:xfrm>
            <a:off x="10943448" y="4699755"/>
            <a:ext cx="566418" cy="656802"/>
            <a:chOff x="7912608" y="4954922"/>
            <a:chExt cx="566418" cy="656802"/>
          </a:xfrm>
        </p:grpSpPr>
        <p:pic>
          <p:nvPicPr>
            <p:cNvPr id="53" name="Gráfico 52" descr="Papel destaque">
              <a:extLst>
                <a:ext uri="{FF2B5EF4-FFF2-40B4-BE49-F238E27FC236}">
                  <a16:creationId xmlns:a16="http://schemas.microsoft.com/office/drawing/2014/main" id="{9830CE39-C8CD-71C3-E94E-DCA6FBEF01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4954922"/>
              <a:ext cx="566418" cy="566418"/>
            </a:xfrm>
            <a:prstGeom prst="rect">
              <a:avLst/>
            </a:prstGeom>
          </p:spPr>
        </p:pic>
        <p:pic>
          <p:nvPicPr>
            <p:cNvPr id="54" name="Gráfico 53" descr="Papel destaque">
              <a:extLst>
                <a:ext uri="{FF2B5EF4-FFF2-40B4-BE49-F238E27FC236}">
                  <a16:creationId xmlns:a16="http://schemas.microsoft.com/office/drawing/2014/main" id="{F65D7512-4646-8DEF-5B9B-B62C5EB841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5001895"/>
              <a:ext cx="566418" cy="566418"/>
            </a:xfrm>
            <a:prstGeom prst="rect">
              <a:avLst/>
            </a:prstGeom>
          </p:spPr>
        </p:pic>
        <p:pic>
          <p:nvPicPr>
            <p:cNvPr id="55" name="Gráfico 54" descr="Papel destaque">
              <a:extLst>
                <a:ext uri="{FF2B5EF4-FFF2-40B4-BE49-F238E27FC236}">
                  <a16:creationId xmlns:a16="http://schemas.microsoft.com/office/drawing/2014/main" id="{DFA6D778-3D9A-A5DE-4BC5-FBB9C58C6FF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5045306"/>
              <a:ext cx="566418" cy="566418"/>
            </a:xfrm>
            <a:prstGeom prst="rect">
              <a:avLst/>
            </a:prstGeom>
          </p:spPr>
        </p:pic>
      </p:grpSp>
      <p:cxnSp>
        <p:nvCxnSpPr>
          <p:cNvPr id="57" name="Conexão reta 56">
            <a:extLst>
              <a:ext uri="{FF2B5EF4-FFF2-40B4-BE49-F238E27FC236}">
                <a16:creationId xmlns:a16="http://schemas.microsoft.com/office/drawing/2014/main" id="{48572CC5-5B26-8FE0-6CE3-C140F8BCAE15}"/>
              </a:ext>
            </a:extLst>
          </p:cNvPr>
          <p:cNvCxnSpPr/>
          <p:nvPr/>
        </p:nvCxnSpPr>
        <p:spPr>
          <a:xfrm flipH="1">
            <a:off x="9084426" y="4921744"/>
            <a:ext cx="169168" cy="5311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xão reta 57">
            <a:extLst>
              <a:ext uri="{FF2B5EF4-FFF2-40B4-BE49-F238E27FC236}">
                <a16:creationId xmlns:a16="http://schemas.microsoft.com/office/drawing/2014/main" id="{0E03E99C-A552-C078-666B-20B229D42C16}"/>
              </a:ext>
            </a:extLst>
          </p:cNvPr>
          <p:cNvCxnSpPr>
            <a:cxnSpLocks/>
          </p:cNvCxnSpPr>
          <p:nvPr/>
        </p:nvCxnSpPr>
        <p:spPr>
          <a:xfrm flipH="1">
            <a:off x="9074774" y="5174677"/>
            <a:ext cx="345942" cy="30092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xão reta 60">
            <a:extLst>
              <a:ext uri="{FF2B5EF4-FFF2-40B4-BE49-F238E27FC236}">
                <a16:creationId xmlns:a16="http://schemas.microsoft.com/office/drawing/2014/main" id="{85758ABA-9DFD-E2DA-7B35-566BFA775714}"/>
              </a:ext>
            </a:extLst>
          </p:cNvPr>
          <p:cNvCxnSpPr>
            <a:cxnSpLocks/>
          </p:cNvCxnSpPr>
          <p:nvPr/>
        </p:nvCxnSpPr>
        <p:spPr>
          <a:xfrm flipH="1" flipV="1">
            <a:off x="9247745" y="4952597"/>
            <a:ext cx="179840" cy="222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exão reta 63">
            <a:extLst>
              <a:ext uri="{FF2B5EF4-FFF2-40B4-BE49-F238E27FC236}">
                <a16:creationId xmlns:a16="http://schemas.microsoft.com/office/drawing/2014/main" id="{06329E28-1DAA-7E6B-06AE-BF70F00BC30B}"/>
              </a:ext>
            </a:extLst>
          </p:cNvPr>
          <p:cNvCxnSpPr>
            <a:cxnSpLocks/>
          </p:cNvCxnSpPr>
          <p:nvPr/>
        </p:nvCxnSpPr>
        <p:spPr>
          <a:xfrm flipH="1">
            <a:off x="9253968" y="4865476"/>
            <a:ext cx="613094" cy="734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exão reta 65">
            <a:extLst>
              <a:ext uri="{FF2B5EF4-FFF2-40B4-BE49-F238E27FC236}">
                <a16:creationId xmlns:a16="http://schemas.microsoft.com/office/drawing/2014/main" id="{F417ACDF-2742-B118-A13B-F66804DF4641}"/>
              </a:ext>
            </a:extLst>
          </p:cNvPr>
          <p:cNvCxnSpPr>
            <a:cxnSpLocks/>
          </p:cNvCxnSpPr>
          <p:nvPr/>
        </p:nvCxnSpPr>
        <p:spPr>
          <a:xfrm flipH="1">
            <a:off x="9409417" y="4865352"/>
            <a:ext cx="457645" cy="304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xão reta 67">
            <a:extLst>
              <a:ext uri="{FF2B5EF4-FFF2-40B4-BE49-F238E27FC236}">
                <a16:creationId xmlns:a16="http://schemas.microsoft.com/office/drawing/2014/main" id="{CAEA88DE-E69F-7D41-3B9E-559A1412338E}"/>
              </a:ext>
            </a:extLst>
          </p:cNvPr>
          <p:cNvCxnSpPr>
            <a:cxnSpLocks/>
            <a:stCxn id="96" idx="5"/>
            <a:endCxn id="99" idx="5"/>
          </p:cNvCxnSpPr>
          <p:nvPr/>
        </p:nvCxnSpPr>
        <p:spPr>
          <a:xfrm flipH="1" flipV="1">
            <a:off x="9153955" y="5486177"/>
            <a:ext cx="190510" cy="282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xão reta 70">
            <a:extLst>
              <a:ext uri="{FF2B5EF4-FFF2-40B4-BE49-F238E27FC236}">
                <a16:creationId xmlns:a16="http://schemas.microsoft.com/office/drawing/2014/main" id="{386AB3C3-D1B6-E9B0-5A47-F86D0A748639}"/>
              </a:ext>
            </a:extLst>
          </p:cNvPr>
          <p:cNvCxnSpPr>
            <a:cxnSpLocks/>
          </p:cNvCxnSpPr>
          <p:nvPr/>
        </p:nvCxnSpPr>
        <p:spPr>
          <a:xfrm flipH="1" flipV="1">
            <a:off x="9247745" y="5729472"/>
            <a:ext cx="963672" cy="846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xão reta 76">
            <a:extLst>
              <a:ext uri="{FF2B5EF4-FFF2-40B4-BE49-F238E27FC236}">
                <a16:creationId xmlns:a16="http://schemas.microsoft.com/office/drawing/2014/main" id="{00FBF738-6514-A732-03E9-A38AA01455BE}"/>
              </a:ext>
            </a:extLst>
          </p:cNvPr>
          <p:cNvCxnSpPr>
            <a:cxnSpLocks/>
          </p:cNvCxnSpPr>
          <p:nvPr/>
        </p:nvCxnSpPr>
        <p:spPr>
          <a:xfrm>
            <a:off x="9854447" y="4876984"/>
            <a:ext cx="356970" cy="8536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1" name="Agrupar 80">
            <a:extLst>
              <a:ext uri="{FF2B5EF4-FFF2-40B4-BE49-F238E27FC236}">
                <a16:creationId xmlns:a16="http://schemas.microsoft.com/office/drawing/2014/main" id="{9D6AE78C-1D79-D70B-60FB-937503652E8D}"/>
              </a:ext>
            </a:extLst>
          </p:cNvPr>
          <p:cNvGrpSpPr/>
          <p:nvPr/>
        </p:nvGrpSpPr>
        <p:grpSpPr>
          <a:xfrm>
            <a:off x="10227167" y="4766925"/>
            <a:ext cx="566418" cy="656802"/>
            <a:chOff x="7912608" y="4954922"/>
            <a:chExt cx="566418" cy="656802"/>
          </a:xfrm>
        </p:grpSpPr>
        <p:pic>
          <p:nvPicPr>
            <p:cNvPr id="82" name="Gráfico 81" descr="Papel destaque">
              <a:extLst>
                <a:ext uri="{FF2B5EF4-FFF2-40B4-BE49-F238E27FC236}">
                  <a16:creationId xmlns:a16="http://schemas.microsoft.com/office/drawing/2014/main" id="{FA89E662-8A13-DBB7-2BCE-FE6FABD5F1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4954922"/>
              <a:ext cx="566418" cy="566418"/>
            </a:xfrm>
            <a:prstGeom prst="rect">
              <a:avLst/>
            </a:prstGeom>
          </p:spPr>
        </p:pic>
        <p:pic>
          <p:nvPicPr>
            <p:cNvPr id="83" name="Gráfico 82" descr="Papel destaque">
              <a:extLst>
                <a:ext uri="{FF2B5EF4-FFF2-40B4-BE49-F238E27FC236}">
                  <a16:creationId xmlns:a16="http://schemas.microsoft.com/office/drawing/2014/main" id="{80AFF8A7-DAFF-F50D-6129-FA01CD2EA13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5001895"/>
              <a:ext cx="566418" cy="566418"/>
            </a:xfrm>
            <a:prstGeom prst="rect">
              <a:avLst/>
            </a:prstGeom>
          </p:spPr>
        </p:pic>
        <p:pic>
          <p:nvPicPr>
            <p:cNvPr id="84" name="Gráfico 83" descr="Papel destaque">
              <a:extLst>
                <a:ext uri="{FF2B5EF4-FFF2-40B4-BE49-F238E27FC236}">
                  <a16:creationId xmlns:a16="http://schemas.microsoft.com/office/drawing/2014/main" id="{A1829AA5-0598-23A8-D1BB-AB8C9701F5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7912608" y="5045306"/>
              <a:ext cx="566418" cy="566418"/>
            </a:xfrm>
            <a:prstGeom prst="rect">
              <a:avLst/>
            </a:prstGeom>
          </p:spPr>
        </p:pic>
      </p:grpSp>
      <p:cxnSp>
        <p:nvCxnSpPr>
          <p:cNvPr id="85" name="Conexão reta 84">
            <a:extLst>
              <a:ext uri="{FF2B5EF4-FFF2-40B4-BE49-F238E27FC236}">
                <a16:creationId xmlns:a16="http://schemas.microsoft.com/office/drawing/2014/main" id="{6A9D36EF-C08B-D550-B065-0F601667800B}"/>
              </a:ext>
            </a:extLst>
          </p:cNvPr>
          <p:cNvCxnSpPr>
            <a:cxnSpLocks/>
          </p:cNvCxnSpPr>
          <p:nvPr/>
        </p:nvCxnSpPr>
        <p:spPr>
          <a:xfrm flipV="1">
            <a:off x="10205620" y="5481581"/>
            <a:ext cx="889717" cy="2406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exão reta 87">
            <a:extLst>
              <a:ext uri="{FF2B5EF4-FFF2-40B4-BE49-F238E27FC236}">
                <a16:creationId xmlns:a16="http://schemas.microsoft.com/office/drawing/2014/main" id="{2BDDB994-FB43-C180-DD8C-5E39E5173F5F}"/>
              </a:ext>
            </a:extLst>
          </p:cNvPr>
          <p:cNvCxnSpPr>
            <a:cxnSpLocks/>
          </p:cNvCxnSpPr>
          <p:nvPr/>
        </p:nvCxnSpPr>
        <p:spPr>
          <a:xfrm flipV="1">
            <a:off x="9867062" y="4627837"/>
            <a:ext cx="889717" cy="2406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exão reta 88">
            <a:extLst>
              <a:ext uri="{FF2B5EF4-FFF2-40B4-BE49-F238E27FC236}">
                <a16:creationId xmlns:a16="http://schemas.microsoft.com/office/drawing/2014/main" id="{45E7BF2C-7FF5-FE6A-3156-10FF36B1CCF2}"/>
              </a:ext>
            </a:extLst>
          </p:cNvPr>
          <p:cNvCxnSpPr>
            <a:cxnSpLocks/>
          </p:cNvCxnSpPr>
          <p:nvPr/>
        </p:nvCxnSpPr>
        <p:spPr>
          <a:xfrm>
            <a:off x="10756779" y="4627837"/>
            <a:ext cx="333987" cy="8445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Oval 91">
            <a:extLst>
              <a:ext uri="{FF2B5EF4-FFF2-40B4-BE49-F238E27FC236}">
                <a16:creationId xmlns:a16="http://schemas.microsoft.com/office/drawing/2014/main" id="{22D344AC-5355-8C09-C17F-C6AC98339641}"/>
              </a:ext>
            </a:extLst>
          </p:cNvPr>
          <p:cNvSpPr/>
          <p:nvPr/>
        </p:nvSpPr>
        <p:spPr>
          <a:xfrm>
            <a:off x="10657946" y="4550544"/>
            <a:ext cx="202238" cy="1694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C49951FF-616F-4AC7-B816-B622889C8336}"/>
              </a:ext>
            </a:extLst>
          </p:cNvPr>
          <p:cNvSpPr/>
          <p:nvPr/>
        </p:nvSpPr>
        <p:spPr>
          <a:xfrm>
            <a:off x="10964727" y="5366851"/>
            <a:ext cx="202238" cy="1694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A535DC0-7B6C-9DC3-B403-72E672800F44}"/>
              </a:ext>
            </a:extLst>
          </p:cNvPr>
          <p:cNvSpPr/>
          <p:nvPr/>
        </p:nvSpPr>
        <p:spPr>
          <a:xfrm>
            <a:off x="9805563" y="4788144"/>
            <a:ext cx="202238" cy="1694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1B24F115-B26C-97A5-F338-32DF27BC20EE}"/>
              </a:ext>
            </a:extLst>
          </p:cNvPr>
          <p:cNvSpPr/>
          <p:nvPr/>
        </p:nvSpPr>
        <p:spPr>
          <a:xfrm>
            <a:off x="10116148" y="5624072"/>
            <a:ext cx="202238" cy="1694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9A71E0C0-6E28-D6D8-98D8-29B9418FFCD4}"/>
              </a:ext>
            </a:extLst>
          </p:cNvPr>
          <p:cNvSpPr/>
          <p:nvPr/>
        </p:nvSpPr>
        <p:spPr>
          <a:xfrm>
            <a:off x="9171844" y="5624072"/>
            <a:ext cx="202238" cy="1694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0F052750-E5EF-7752-F9DE-B95430D3E315}"/>
              </a:ext>
            </a:extLst>
          </p:cNvPr>
          <p:cNvSpPr/>
          <p:nvPr/>
        </p:nvSpPr>
        <p:spPr>
          <a:xfrm>
            <a:off x="9341142" y="5087313"/>
            <a:ext cx="202238" cy="1694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0F0F0FA7-401A-A4D7-0FB2-32818C14339E}"/>
              </a:ext>
            </a:extLst>
          </p:cNvPr>
          <p:cNvSpPr/>
          <p:nvPr/>
        </p:nvSpPr>
        <p:spPr>
          <a:xfrm>
            <a:off x="9157849" y="4860585"/>
            <a:ext cx="202238" cy="1694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7D775A2C-B911-E6AA-6A5D-3298DBF7C19B}"/>
              </a:ext>
            </a:extLst>
          </p:cNvPr>
          <p:cNvSpPr/>
          <p:nvPr/>
        </p:nvSpPr>
        <p:spPr>
          <a:xfrm>
            <a:off x="8981334" y="5341578"/>
            <a:ext cx="202238" cy="1694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7DF0B79D-A923-C884-49BA-1EE61E039371}"/>
              </a:ext>
            </a:extLst>
          </p:cNvPr>
          <p:cNvSpPr txBox="1"/>
          <p:nvPr/>
        </p:nvSpPr>
        <p:spPr>
          <a:xfrm>
            <a:off x="7991109" y="4975577"/>
            <a:ext cx="4489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54E5536A-5362-3237-6706-226B5DEEA40E}"/>
              </a:ext>
            </a:extLst>
          </p:cNvPr>
          <p:cNvSpPr txBox="1"/>
          <p:nvPr/>
        </p:nvSpPr>
        <p:spPr>
          <a:xfrm>
            <a:off x="10344597" y="4986345"/>
            <a:ext cx="4489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B21A4005-A328-A454-B9C1-423CFBD04892}"/>
              </a:ext>
            </a:extLst>
          </p:cNvPr>
          <p:cNvSpPr txBox="1"/>
          <p:nvPr/>
        </p:nvSpPr>
        <p:spPr>
          <a:xfrm>
            <a:off x="8557347" y="5014460"/>
            <a:ext cx="5228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DENM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1B780D24-0969-B8A5-AD56-2AAED07401DB}"/>
              </a:ext>
            </a:extLst>
          </p:cNvPr>
          <p:cNvSpPr txBox="1"/>
          <p:nvPr/>
        </p:nvSpPr>
        <p:spPr>
          <a:xfrm>
            <a:off x="9466616" y="5331655"/>
            <a:ext cx="5228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DENM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1393384A-E4DA-192E-947B-7CFC922F1264}"/>
              </a:ext>
            </a:extLst>
          </p:cNvPr>
          <p:cNvSpPr txBox="1"/>
          <p:nvPr/>
        </p:nvSpPr>
        <p:spPr>
          <a:xfrm>
            <a:off x="11065846" y="4938920"/>
            <a:ext cx="522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sp>
        <p:nvSpPr>
          <p:cNvPr id="105" name="Marcador de Posição do Número do Diapositivo 104">
            <a:extLst>
              <a:ext uri="{FF2B5EF4-FFF2-40B4-BE49-F238E27FC236}">
                <a16:creationId xmlns:a16="http://schemas.microsoft.com/office/drawing/2014/main" id="{3863E975-B30E-1939-D950-7E71A64E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3</a:t>
            </a:fld>
            <a:endParaRPr lang="pt-PT"/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E4E0FBB9-1492-2991-ED53-246D5214B44F}"/>
              </a:ext>
            </a:extLst>
          </p:cNvPr>
          <p:cNvSpPr txBox="1"/>
          <p:nvPr/>
        </p:nvSpPr>
        <p:spPr>
          <a:xfrm rot="5400000">
            <a:off x="3242250" y="4611736"/>
            <a:ext cx="537432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accent1"/>
                </a:solidFill>
              </a:rPr>
              <a:t>--------------------------------------------------------</a:t>
            </a:r>
          </a:p>
        </p:txBody>
      </p:sp>
      <p:pic>
        <p:nvPicPr>
          <p:cNvPr id="108" name="Gráfico 107" descr="Wi-Fi destaque">
            <a:extLst>
              <a:ext uri="{FF2B5EF4-FFF2-40B4-BE49-F238E27FC236}">
                <a16:creationId xmlns:a16="http://schemas.microsoft.com/office/drawing/2014/main" id="{07558ACA-82BF-8EE1-260F-67DFA103BB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5645258" y="2724361"/>
            <a:ext cx="1839454" cy="1839454"/>
          </a:xfrm>
          <a:prstGeom prst="rect">
            <a:avLst/>
          </a:prstGeom>
        </p:spPr>
      </p:pic>
      <p:pic>
        <p:nvPicPr>
          <p:cNvPr id="111" name="Gráfico 110" descr="Wi-Fi destaque">
            <a:extLst>
              <a:ext uri="{FF2B5EF4-FFF2-40B4-BE49-F238E27FC236}">
                <a16:creationId xmlns:a16="http://schemas.microsoft.com/office/drawing/2014/main" id="{F2C3B6AD-C188-510C-7B7B-5C60D2E93D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4300744" y="2750188"/>
            <a:ext cx="1839454" cy="1839454"/>
          </a:xfrm>
          <a:prstGeom prst="rect">
            <a:avLst/>
          </a:prstGeom>
        </p:spPr>
      </p:pic>
      <p:pic>
        <p:nvPicPr>
          <p:cNvPr id="110" name="Gráfico 109" descr="Antena de energia elétrica com preenchimento sólido">
            <a:extLst>
              <a:ext uri="{FF2B5EF4-FFF2-40B4-BE49-F238E27FC236}">
                <a16:creationId xmlns:a16="http://schemas.microsoft.com/office/drawing/2014/main" id="{21CB2AAE-3CD7-56B3-22F2-8D453F320C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69060" y="3083734"/>
            <a:ext cx="1120708" cy="1120708"/>
          </a:xfrm>
          <a:prstGeom prst="rect">
            <a:avLst/>
          </a:prstGeom>
        </p:spPr>
      </p:pic>
      <p:pic>
        <p:nvPicPr>
          <p:cNvPr id="114" name="Gráfico 113" descr="Wi-Fi destaque">
            <a:extLst>
              <a:ext uri="{FF2B5EF4-FFF2-40B4-BE49-F238E27FC236}">
                <a16:creationId xmlns:a16="http://schemas.microsoft.com/office/drawing/2014/main" id="{B714E83A-3BC7-F0FE-1758-2B868CE07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5792421" y="2706020"/>
            <a:ext cx="742495" cy="742495"/>
          </a:xfrm>
          <a:prstGeom prst="rect">
            <a:avLst/>
          </a:prstGeom>
        </p:spPr>
      </p:pic>
      <p:pic>
        <p:nvPicPr>
          <p:cNvPr id="115" name="Gráfico 114" descr="Wi-Fi destaque">
            <a:extLst>
              <a:ext uri="{FF2B5EF4-FFF2-40B4-BE49-F238E27FC236}">
                <a16:creationId xmlns:a16="http://schemas.microsoft.com/office/drawing/2014/main" id="{092235CD-761E-F196-4495-F3055ED901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6200000">
            <a:off x="5319825" y="2706020"/>
            <a:ext cx="742495" cy="74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356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E1A68-10E2-2777-6E90-6F6BFD95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804CB8D-0CAC-BBF3-64B5-FCE49F5BEA38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4EEE5B1A-4D76-40E5-4C61-37A70C43B7AB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D19AFBA-B317-3F31-9DE7-4F891B2ACDFF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 – Opção A</a:t>
            </a:r>
          </a:p>
        </p:txBody>
      </p:sp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B2041BB3-E1C4-65F3-0275-BB8D39C1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F1308-AC66-449D-8605-344313727AC3}" type="slidenum">
              <a:rPr lang="pt-PT" smtClean="0"/>
              <a:t>4</a:t>
            </a:fld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80FD5CE-9357-F6D4-C049-BA02BF0A8A70}"/>
              </a:ext>
            </a:extLst>
          </p:cNvPr>
          <p:cNvSpPr txBox="1"/>
          <p:nvPr/>
        </p:nvSpPr>
        <p:spPr>
          <a:xfrm>
            <a:off x="3446488" y="5145224"/>
            <a:ext cx="6535712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Histerese: &lt; 11 m/s (Alerta) | &gt; 13 m/s (Livre)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Anti-Flooding: sequenceNumber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Adesão Não Determinística: 70% de probabilidade.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8F8A828-1F1D-AAE3-B9EB-9C61385947FF}"/>
              </a:ext>
            </a:extLst>
          </p:cNvPr>
          <p:cNvSpPr/>
          <p:nvPr/>
        </p:nvSpPr>
        <p:spPr>
          <a:xfrm>
            <a:off x="-1" y="2531235"/>
            <a:ext cx="4572001" cy="2398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0E4F10FB-8BE6-FC40-7220-96760200BDEA}"/>
              </a:ext>
            </a:extLst>
          </p:cNvPr>
          <p:cNvSpPr txBox="1"/>
          <p:nvPr/>
        </p:nvSpPr>
        <p:spPr>
          <a:xfrm>
            <a:off x="1520348" y="2589430"/>
            <a:ext cx="2161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Decisão RSU</a:t>
            </a:r>
          </a:p>
        </p:txBody>
      </p:sp>
      <p:sp>
        <p:nvSpPr>
          <p:cNvPr id="37" name="Seta: Para a Direita 36">
            <a:extLst>
              <a:ext uri="{FF2B5EF4-FFF2-40B4-BE49-F238E27FC236}">
                <a16:creationId xmlns:a16="http://schemas.microsoft.com/office/drawing/2014/main" id="{01856948-36DA-4D44-70BF-4E172A8BD8B1}"/>
              </a:ext>
            </a:extLst>
          </p:cNvPr>
          <p:cNvSpPr/>
          <p:nvPr/>
        </p:nvSpPr>
        <p:spPr>
          <a:xfrm rot="5400000">
            <a:off x="91366" y="3074267"/>
            <a:ext cx="531088" cy="4284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8" name="Seta: Para a Direita 37">
            <a:extLst>
              <a:ext uri="{FF2B5EF4-FFF2-40B4-BE49-F238E27FC236}">
                <a16:creationId xmlns:a16="http://schemas.microsoft.com/office/drawing/2014/main" id="{3AFEA082-3E09-2765-3268-A6EE3DD00CAA}"/>
              </a:ext>
            </a:extLst>
          </p:cNvPr>
          <p:cNvSpPr/>
          <p:nvPr/>
        </p:nvSpPr>
        <p:spPr>
          <a:xfrm rot="16200000">
            <a:off x="91372" y="4181729"/>
            <a:ext cx="531084" cy="428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70649353-1C28-DB8D-715A-EAB15DA24C3C}"/>
              </a:ext>
            </a:extLst>
          </p:cNvPr>
          <p:cNvSpPr txBox="1"/>
          <p:nvPr/>
        </p:nvSpPr>
        <p:spPr>
          <a:xfrm>
            <a:off x="693422" y="3019851"/>
            <a:ext cx="4328283" cy="458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média &lt; 11 m/s – Recomenda 10 m/s 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E1CB9EA3-351D-2926-A708-CC314B8D7906}"/>
              </a:ext>
            </a:extLst>
          </p:cNvPr>
          <p:cNvSpPr txBox="1"/>
          <p:nvPr/>
        </p:nvSpPr>
        <p:spPr>
          <a:xfrm>
            <a:off x="636618" y="4159970"/>
            <a:ext cx="4328283" cy="458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 média  &gt; 13 m/s – Recomenda 15 m/s 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520FD172-D59E-ED7F-7F3A-2845440DA77E}"/>
              </a:ext>
            </a:extLst>
          </p:cNvPr>
          <p:cNvSpPr txBox="1"/>
          <p:nvPr/>
        </p:nvSpPr>
        <p:spPr>
          <a:xfrm>
            <a:off x="2188081" y="3595247"/>
            <a:ext cx="1383388" cy="458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Banda Morta</a:t>
            </a:r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B1CAF4A2-3900-8F05-1206-CD3EF390E20A}"/>
              </a:ext>
            </a:extLst>
          </p:cNvPr>
          <p:cNvSpPr/>
          <p:nvPr/>
        </p:nvSpPr>
        <p:spPr>
          <a:xfrm>
            <a:off x="4637467" y="2531235"/>
            <a:ext cx="3502192" cy="23984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B7A07E1B-6A29-0EDF-9290-A2192E316293}"/>
              </a:ext>
            </a:extLst>
          </p:cNvPr>
          <p:cNvSpPr/>
          <p:nvPr/>
        </p:nvSpPr>
        <p:spPr>
          <a:xfrm>
            <a:off x="8205126" y="2508116"/>
            <a:ext cx="3844197" cy="24215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pic>
        <p:nvPicPr>
          <p:cNvPr id="45" name="Gráfico 44" descr="Carro com preenchimento sólido">
            <a:extLst>
              <a:ext uri="{FF2B5EF4-FFF2-40B4-BE49-F238E27FC236}">
                <a16:creationId xmlns:a16="http://schemas.microsoft.com/office/drawing/2014/main" id="{C20273B4-36A2-EF68-8E44-0055B0302A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96048" y="2760363"/>
            <a:ext cx="582247" cy="582247"/>
          </a:xfrm>
          <a:prstGeom prst="rect">
            <a:avLst/>
          </a:prstGeom>
        </p:spPr>
      </p:pic>
      <p:cxnSp>
        <p:nvCxnSpPr>
          <p:cNvPr id="48" name="Conexão reta unidirecional 47">
            <a:extLst>
              <a:ext uri="{FF2B5EF4-FFF2-40B4-BE49-F238E27FC236}">
                <a16:creationId xmlns:a16="http://schemas.microsoft.com/office/drawing/2014/main" id="{98B25872-428F-6080-E0C9-B15C137AA387}"/>
              </a:ext>
            </a:extLst>
          </p:cNvPr>
          <p:cNvCxnSpPr/>
          <p:nvPr/>
        </p:nvCxnSpPr>
        <p:spPr>
          <a:xfrm>
            <a:off x="5087171" y="3342609"/>
            <a:ext cx="22280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3E50A6C2-3762-5A06-049F-79AC794C0986}"/>
              </a:ext>
            </a:extLst>
          </p:cNvPr>
          <p:cNvSpPr txBox="1"/>
          <p:nvPr/>
        </p:nvSpPr>
        <p:spPr>
          <a:xfrm>
            <a:off x="5493916" y="2975929"/>
            <a:ext cx="168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Mensagem nº150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02BFEA85-71C5-8303-EBDC-2BDA2B0C99B8}"/>
              </a:ext>
            </a:extLst>
          </p:cNvPr>
          <p:cNvSpPr txBox="1"/>
          <p:nvPr/>
        </p:nvSpPr>
        <p:spPr>
          <a:xfrm>
            <a:off x="4880916" y="2574320"/>
            <a:ext cx="449684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grpSp>
        <p:nvGrpSpPr>
          <p:cNvPr id="52" name="Agrupar 51">
            <a:extLst>
              <a:ext uri="{FF2B5EF4-FFF2-40B4-BE49-F238E27FC236}">
                <a16:creationId xmlns:a16="http://schemas.microsoft.com/office/drawing/2014/main" id="{CDD8C31F-EE3A-40E6-143F-9F731E4CB05D}"/>
              </a:ext>
            </a:extLst>
          </p:cNvPr>
          <p:cNvGrpSpPr/>
          <p:nvPr/>
        </p:nvGrpSpPr>
        <p:grpSpPr>
          <a:xfrm>
            <a:off x="7170297" y="2589822"/>
            <a:ext cx="582247" cy="752787"/>
            <a:chOff x="7170297" y="2589822"/>
            <a:chExt cx="582247" cy="752787"/>
          </a:xfrm>
        </p:grpSpPr>
        <p:pic>
          <p:nvPicPr>
            <p:cNvPr id="46" name="Gráfico 45" descr="Carro com preenchimento sólido">
              <a:extLst>
                <a:ext uri="{FF2B5EF4-FFF2-40B4-BE49-F238E27FC236}">
                  <a16:creationId xmlns:a16="http://schemas.microsoft.com/office/drawing/2014/main" id="{8F64EE37-11FE-17FA-1710-7B10B8C58C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70297" y="2760362"/>
              <a:ext cx="582247" cy="582247"/>
            </a:xfrm>
            <a:prstGeom prst="rect">
              <a:avLst/>
            </a:prstGeom>
          </p:spPr>
        </p:pic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id="{06E239C9-8034-836B-4EA1-905562052DBC}"/>
                </a:ext>
              </a:extLst>
            </p:cNvPr>
            <p:cNvSpPr txBox="1"/>
            <p:nvPr/>
          </p:nvSpPr>
          <p:spPr>
            <a:xfrm>
              <a:off x="7246865" y="2589822"/>
              <a:ext cx="449684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3D410055-AE62-E4FE-E7D8-8DED6AD35569}"/>
              </a:ext>
            </a:extLst>
          </p:cNvPr>
          <p:cNvGrpSpPr/>
          <p:nvPr/>
        </p:nvGrpSpPr>
        <p:grpSpPr>
          <a:xfrm>
            <a:off x="4796048" y="3447889"/>
            <a:ext cx="582247" cy="752787"/>
            <a:chOff x="7170297" y="2589822"/>
            <a:chExt cx="582247" cy="752787"/>
          </a:xfrm>
        </p:grpSpPr>
        <p:pic>
          <p:nvPicPr>
            <p:cNvPr id="54" name="Gráfico 53" descr="Carro com preenchimento sólido">
              <a:extLst>
                <a:ext uri="{FF2B5EF4-FFF2-40B4-BE49-F238E27FC236}">
                  <a16:creationId xmlns:a16="http://schemas.microsoft.com/office/drawing/2014/main" id="{52CBD979-4106-5161-1DD0-45E83B5553C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70297" y="2760362"/>
              <a:ext cx="582247" cy="582247"/>
            </a:xfrm>
            <a:prstGeom prst="rect">
              <a:avLst/>
            </a:prstGeom>
          </p:spPr>
        </p:pic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id="{74D1CACA-C9B9-C15A-C0EF-4E3EFDE8916A}"/>
                </a:ext>
              </a:extLst>
            </p:cNvPr>
            <p:cNvSpPr txBox="1"/>
            <p:nvPr/>
          </p:nvSpPr>
          <p:spPr>
            <a:xfrm>
              <a:off x="7246865" y="2589822"/>
              <a:ext cx="449684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</a:p>
          </p:txBody>
        </p:sp>
      </p:grpSp>
      <p:cxnSp>
        <p:nvCxnSpPr>
          <p:cNvPr id="56" name="Conexão reta unidirecional 55">
            <a:extLst>
              <a:ext uri="{FF2B5EF4-FFF2-40B4-BE49-F238E27FC236}">
                <a16:creationId xmlns:a16="http://schemas.microsoft.com/office/drawing/2014/main" id="{498E14C9-EA08-32AE-6872-5B140F04872D}"/>
              </a:ext>
            </a:extLst>
          </p:cNvPr>
          <p:cNvCxnSpPr/>
          <p:nvPr/>
        </p:nvCxnSpPr>
        <p:spPr>
          <a:xfrm>
            <a:off x="5098480" y="4153983"/>
            <a:ext cx="22280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86D00711-B1A0-0AC3-CD4C-2A1A46968A78}"/>
              </a:ext>
            </a:extLst>
          </p:cNvPr>
          <p:cNvSpPr txBox="1"/>
          <p:nvPr/>
        </p:nvSpPr>
        <p:spPr>
          <a:xfrm>
            <a:off x="5505225" y="3787303"/>
            <a:ext cx="16838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Mensagem nº150</a:t>
            </a:r>
          </a:p>
        </p:txBody>
      </p:sp>
      <p:grpSp>
        <p:nvGrpSpPr>
          <p:cNvPr id="58" name="Agrupar 57">
            <a:extLst>
              <a:ext uri="{FF2B5EF4-FFF2-40B4-BE49-F238E27FC236}">
                <a16:creationId xmlns:a16="http://schemas.microsoft.com/office/drawing/2014/main" id="{F80CE7A0-D940-357D-32D7-2D86D5B41AFB}"/>
              </a:ext>
            </a:extLst>
          </p:cNvPr>
          <p:cNvGrpSpPr/>
          <p:nvPr/>
        </p:nvGrpSpPr>
        <p:grpSpPr>
          <a:xfrm>
            <a:off x="7181606" y="3401196"/>
            <a:ext cx="582247" cy="752787"/>
            <a:chOff x="7170297" y="2589822"/>
            <a:chExt cx="582247" cy="752787"/>
          </a:xfrm>
        </p:grpSpPr>
        <p:pic>
          <p:nvPicPr>
            <p:cNvPr id="59" name="Gráfico 58" descr="Carro com preenchimento sólido">
              <a:extLst>
                <a:ext uri="{FF2B5EF4-FFF2-40B4-BE49-F238E27FC236}">
                  <a16:creationId xmlns:a16="http://schemas.microsoft.com/office/drawing/2014/main" id="{B2EBFCC6-FAFE-DB91-5D02-6958D4438E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70297" y="2760362"/>
              <a:ext cx="582247" cy="582247"/>
            </a:xfrm>
            <a:prstGeom prst="rect">
              <a:avLst/>
            </a:prstGeom>
          </p:spPr>
        </p:pic>
        <p:sp>
          <p:nvSpPr>
            <p:cNvPr id="60" name="CaixaDeTexto 59">
              <a:extLst>
                <a:ext uri="{FF2B5EF4-FFF2-40B4-BE49-F238E27FC236}">
                  <a16:creationId xmlns:a16="http://schemas.microsoft.com/office/drawing/2014/main" id="{3742CC08-3003-1B3B-4A77-F6847E11B271}"/>
                </a:ext>
              </a:extLst>
            </p:cNvPr>
            <p:cNvSpPr txBox="1"/>
            <p:nvPr/>
          </p:nvSpPr>
          <p:spPr>
            <a:xfrm>
              <a:off x="7246865" y="2589822"/>
              <a:ext cx="449684" cy="307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61" name="Sinal de Multiplicação 60">
            <a:extLst>
              <a:ext uri="{FF2B5EF4-FFF2-40B4-BE49-F238E27FC236}">
                <a16:creationId xmlns:a16="http://schemas.microsoft.com/office/drawing/2014/main" id="{984EEED9-59E4-68CB-E01F-2B21C63BF914}"/>
              </a:ext>
            </a:extLst>
          </p:cNvPr>
          <p:cNvSpPr/>
          <p:nvPr/>
        </p:nvSpPr>
        <p:spPr>
          <a:xfrm>
            <a:off x="7174072" y="3899049"/>
            <a:ext cx="470386" cy="5075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13AF5CB7-0DBC-B444-EC58-24107379BDA5}"/>
              </a:ext>
            </a:extLst>
          </p:cNvPr>
          <p:cNvSpPr txBox="1"/>
          <p:nvPr/>
        </p:nvSpPr>
        <p:spPr>
          <a:xfrm>
            <a:off x="4937845" y="4424516"/>
            <a:ext cx="3395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dirty="0"/>
              <a:t>Descarta: sequenceNumber repetido</a:t>
            </a:r>
            <a:endParaRPr lang="pt-PT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5" name="Gráfico 64">
            <a:extLst>
              <a:ext uri="{FF2B5EF4-FFF2-40B4-BE49-F238E27FC236}">
                <a16:creationId xmlns:a16="http://schemas.microsoft.com/office/drawing/2014/main" id="{B7EE6153-9BD3-33B8-6A3B-FD603807C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4315167"/>
              </p:ext>
            </p:extLst>
          </p:nvPr>
        </p:nvGraphicFramePr>
        <p:xfrm>
          <a:off x="8340630" y="2706918"/>
          <a:ext cx="3625592" cy="2025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6" name="CaixaDeTexto 65">
            <a:extLst>
              <a:ext uri="{FF2B5EF4-FFF2-40B4-BE49-F238E27FC236}">
                <a16:creationId xmlns:a16="http://schemas.microsoft.com/office/drawing/2014/main" id="{14A64E20-0E47-3F78-E051-02036A95C8BF}"/>
              </a:ext>
            </a:extLst>
          </p:cNvPr>
          <p:cNvSpPr txBox="1"/>
          <p:nvPr/>
        </p:nvSpPr>
        <p:spPr>
          <a:xfrm>
            <a:off x="9758497" y="3184715"/>
            <a:ext cx="737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30%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9C3CE33B-6D69-BD04-4D4D-188B32C4C35D}"/>
              </a:ext>
            </a:extLst>
          </p:cNvPr>
          <p:cNvSpPr txBox="1"/>
          <p:nvPr/>
        </p:nvSpPr>
        <p:spPr>
          <a:xfrm>
            <a:off x="10348830" y="3545782"/>
            <a:ext cx="737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70%</a:t>
            </a:r>
          </a:p>
        </p:txBody>
      </p:sp>
    </p:spTree>
    <p:extLst>
      <p:ext uri="{BB962C8B-B14F-4D97-AF65-F5344CB8AC3E}">
        <p14:creationId xmlns:p14="http://schemas.microsoft.com/office/powerpoint/2010/main" val="4506481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115D-4EBA-F13B-37D0-D0C45A2D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286C3F6-37EE-72B9-DCEE-D30E045C033E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C5FFE745-6B42-700A-42D7-659CE368C3C6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4621C9F-2B60-30A9-422F-4EFD67BE5660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 Quantitativos</a:t>
            </a: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3E814653-FB29-CD02-5567-6C52870A73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2614452"/>
              </p:ext>
            </p:extLst>
          </p:nvPr>
        </p:nvGraphicFramePr>
        <p:xfrm>
          <a:off x="6388308" y="2147066"/>
          <a:ext cx="5442744" cy="38846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3E814653-FB29-CD02-5567-6C52870A73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9577885"/>
              </p:ext>
            </p:extLst>
          </p:nvPr>
        </p:nvGraphicFramePr>
        <p:xfrm>
          <a:off x="430902" y="2475830"/>
          <a:ext cx="6027360" cy="3555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165321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BC29E-2889-A919-E085-75F89D785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655A49C0-C09E-340A-26D6-F349C52097E5}"/>
              </a:ext>
            </a:extLst>
          </p:cNvPr>
          <p:cNvPicPr/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A4D27B4C-9497-C16F-2AD5-36EB2FE0D5C8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519224B-1AB9-2FE7-B76B-843C8618BD4A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Análise dos Resultados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6E776F-A090-DA9F-FD41-0E75F0B6F7F5}"/>
              </a:ext>
            </a:extLst>
          </p:cNvPr>
          <p:cNvSpPr txBox="1"/>
          <p:nvPr/>
        </p:nvSpPr>
        <p:spPr>
          <a:xfrm>
            <a:off x="3275504" y="5397812"/>
            <a:ext cx="6130977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+8 Segundos no Tempo de Viagem.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-186 Segundos no Tempo Perdido Extremo.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Menos veículos a concluir a rota (Marcha conservadora).</a:t>
            </a:r>
          </a:p>
        </p:txBody>
      </p:sp>
      <p:cxnSp>
        <p:nvCxnSpPr>
          <p:cNvPr id="6" name="Conexão reta 5">
            <a:extLst>
              <a:ext uri="{FF2B5EF4-FFF2-40B4-BE49-F238E27FC236}">
                <a16:creationId xmlns:a16="http://schemas.microsoft.com/office/drawing/2014/main" id="{0A59DC79-0F13-79C9-B1C7-05A0CBC1F3AB}"/>
              </a:ext>
            </a:extLst>
          </p:cNvPr>
          <p:cNvCxnSpPr/>
          <p:nvPr/>
        </p:nvCxnSpPr>
        <p:spPr>
          <a:xfrm>
            <a:off x="1576154" y="5338399"/>
            <a:ext cx="83345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6125DBB-7B06-73DC-A56E-E739D5C974E9}"/>
              </a:ext>
            </a:extLst>
          </p:cNvPr>
          <p:cNvSpPr/>
          <p:nvPr/>
        </p:nvSpPr>
        <p:spPr>
          <a:xfrm rot="457097">
            <a:off x="2559948" y="3851122"/>
            <a:ext cx="5435533" cy="256707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 dirty="0"/>
          </a:p>
        </p:txBody>
      </p:sp>
      <p:sp>
        <p:nvSpPr>
          <p:cNvPr id="8" name="Triângulo isósceles 7">
            <a:extLst>
              <a:ext uri="{FF2B5EF4-FFF2-40B4-BE49-F238E27FC236}">
                <a16:creationId xmlns:a16="http://schemas.microsoft.com/office/drawing/2014/main" id="{D1BD3BA7-E507-CEE1-9FEC-23DC8F79EDEF}"/>
              </a:ext>
            </a:extLst>
          </p:cNvPr>
          <p:cNvSpPr/>
          <p:nvPr/>
        </p:nvSpPr>
        <p:spPr>
          <a:xfrm>
            <a:off x="4105587" y="3417940"/>
            <a:ext cx="2128604" cy="1905859"/>
          </a:xfrm>
          <a:prstGeom prst="triangle">
            <a:avLst>
              <a:gd name="adj" fmla="val 52113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442A6B-EDCC-E487-30D0-9C4AC47AC4C1}"/>
              </a:ext>
            </a:extLst>
          </p:cNvPr>
          <p:cNvSpPr/>
          <p:nvPr/>
        </p:nvSpPr>
        <p:spPr>
          <a:xfrm>
            <a:off x="2566920" y="2147068"/>
            <a:ext cx="1423942" cy="1344886"/>
          </a:xfrm>
          <a:prstGeom prst="ellipse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763E44C-2B8B-DCCA-D861-80F75D36788F}"/>
              </a:ext>
            </a:extLst>
          </p:cNvPr>
          <p:cNvSpPr txBox="1"/>
          <p:nvPr/>
        </p:nvSpPr>
        <p:spPr>
          <a:xfrm>
            <a:off x="2214589" y="2381190"/>
            <a:ext cx="212860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+8</a:t>
            </a:r>
          </a:p>
          <a:p>
            <a:pPr algn="ctr"/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Segundos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0798D1-3ABF-FE11-2274-505C61F60FBE}"/>
              </a:ext>
            </a:extLst>
          </p:cNvPr>
          <p:cNvSpPr/>
          <p:nvPr/>
        </p:nvSpPr>
        <p:spPr>
          <a:xfrm>
            <a:off x="6348916" y="2177444"/>
            <a:ext cx="2128604" cy="1879382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írculo: Oco 13">
            <a:extLst>
              <a:ext uri="{FF2B5EF4-FFF2-40B4-BE49-F238E27FC236}">
                <a16:creationId xmlns:a16="http://schemas.microsoft.com/office/drawing/2014/main" id="{BC12FCA4-1979-A2ED-3CE4-ED74182E4D3B}"/>
              </a:ext>
            </a:extLst>
          </p:cNvPr>
          <p:cNvSpPr/>
          <p:nvPr/>
        </p:nvSpPr>
        <p:spPr>
          <a:xfrm>
            <a:off x="4975017" y="3762662"/>
            <a:ext cx="449705" cy="404734"/>
          </a:xfrm>
          <a:prstGeom prst="donu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tx1"/>
              </a:solidFill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28888CE-F9FF-511C-0A54-6E8EF7DC1926}"/>
              </a:ext>
            </a:extLst>
          </p:cNvPr>
          <p:cNvSpPr txBox="1"/>
          <p:nvPr/>
        </p:nvSpPr>
        <p:spPr>
          <a:xfrm>
            <a:off x="6348916" y="2527730"/>
            <a:ext cx="21286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186</a:t>
            </a:r>
          </a:p>
          <a:p>
            <a:pPr algn="ctr"/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Segundos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BDAE7CB-F039-9A5C-D54E-6DE3753EC594}"/>
              </a:ext>
            </a:extLst>
          </p:cNvPr>
          <p:cNvSpPr txBox="1"/>
          <p:nvPr/>
        </p:nvSpPr>
        <p:spPr>
          <a:xfrm>
            <a:off x="1876927" y="4155033"/>
            <a:ext cx="246626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 médio de viagem aumenta ligeiramente </a:t>
            </a:r>
          </a:p>
        </p:txBody>
      </p: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3503BDEF-881F-37D7-F7EC-1DB3098F37FE}"/>
              </a:ext>
            </a:extLst>
          </p:cNvPr>
          <p:cNvCxnSpPr/>
          <p:nvPr/>
        </p:nvCxnSpPr>
        <p:spPr>
          <a:xfrm>
            <a:off x="1742338" y="3762662"/>
            <a:ext cx="0" cy="15611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7A3AC80-B377-2CDB-F68A-17CC1EE6277F}"/>
              </a:ext>
            </a:extLst>
          </p:cNvPr>
          <p:cNvSpPr txBox="1"/>
          <p:nvPr/>
        </p:nvSpPr>
        <p:spPr>
          <a:xfrm>
            <a:off x="6539725" y="4450227"/>
            <a:ext cx="2466266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Pior cenário de trânsito eliminado</a:t>
            </a:r>
          </a:p>
        </p:txBody>
      </p:sp>
      <p:sp>
        <p:nvSpPr>
          <p:cNvPr id="20" name="Seta: Para a Direita 19">
            <a:extLst>
              <a:ext uri="{FF2B5EF4-FFF2-40B4-BE49-F238E27FC236}">
                <a16:creationId xmlns:a16="http://schemas.microsoft.com/office/drawing/2014/main" id="{A3C5490A-467F-E72C-B8FA-2C4D876F2B25}"/>
              </a:ext>
            </a:extLst>
          </p:cNvPr>
          <p:cNvSpPr/>
          <p:nvPr/>
        </p:nvSpPr>
        <p:spPr>
          <a:xfrm rot="5400000">
            <a:off x="8457337" y="3477603"/>
            <a:ext cx="1700465" cy="873559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34140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00D28-BAE5-DF6D-81A8-39729ECD2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1" descr="Uma imagem com Gráficos, símbolo, design gráfico, logótipo&#10;&#10;Descrição gerada automaticamente">
            <a:extLst>
              <a:ext uri="{FF2B5EF4-FFF2-40B4-BE49-F238E27FC236}">
                <a16:creationId xmlns:a16="http://schemas.microsoft.com/office/drawing/2014/main" id="{A5BACBC5-75DB-616A-A13C-3CD263F0AF1C}"/>
              </a:ext>
            </a:extLst>
          </p:cNvPr>
          <p:cNvPicPr/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60948" y="226595"/>
            <a:ext cx="1515979" cy="739940"/>
          </a:xfrm>
          <a:prstGeom prst="rect">
            <a:avLst/>
          </a:prstGeom>
          <a:noFill/>
          <a:ln>
            <a:noFill/>
            <a:prstDash/>
          </a:ln>
        </p:spPr>
      </p:pic>
      <p:cxnSp>
        <p:nvCxnSpPr>
          <p:cNvPr id="5" name="Conexão reta 4">
            <a:extLst>
              <a:ext uri="{FF2B5EF4-FFF2-40B4-BE49-F238E27FC236}">
                <a16:creationId xmlns:a16="http://schemas.microsoft.com/office/drawing/2014/main" id="{C8337660-5FC5-E07A-54C7-440878C2C069}"/>
              </a:ext>
            </a:extLst>
          </p:cNvPr>
          <p:cNvCxnSpPr/>
          <p:nvPr/>
        </p:nvCxnSpPr>
        <p:spPr>
          <a:xfrm>
            <a:off x="-1" y="1171074"/>
            <a:ext cx="12192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0618AC4-D6B9-7D73-D544-2661F045CFC0}"/>
              </a:ext>
            </a:extLst>
          </p:cNvPr>
          <p:cNvSpPr txBox="1"/>
          <p:nvPr/>
        </p:nvSpPr>
        <p:spPr>
          <a:xfrm>
            <a:off x="629264" y="1366684"/>
            <a:ext cx="11090785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967F85-5BC7-18E1-0CBB-A84F549EDD14}"/>
              </a:ext>
            </a:extLst>
          </p:cNvPr>
          <p:cNvSpPr txBox="1"/>
          <p:nvPr/>
        </p:nvSpPr>
        <p:spPr>
          <a:xfrm>
            <a:off x="629264" y="3238886"/>
            <a:ext cx="9233941" cy="1298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Integração funcional ITS-G5 entre Eclipse MOSAIC e SUMO.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Histerese eliminou flutuações e </a:t>
            </a:r>
            <a:r>
              <a:rPr lang="pt-PT" i="1" dirty="0"/>
              <a:t>Sequence Numbers</a:t>
            </a:r>
            <a:r>
              <a:rPr lang="pt-PT" dirty="0"/>
              <a:t> evitaram </a:t>
            </a:r>
            <a:r>
              <a:rPr lang="pt-PT" i="1" dirty="0"/>
              <a:t>Broadcast Storms</a:t>
            </a:r>
            <a:r>
              <a:rPr lang="pt-PT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PT" dirty="0"/>
              <a:t>Fim do efeito "Acordeão": Redução de 47% no congestionamento crítico (p95).</a:t>
            </a:r>
          </a:p>
        </p:txBody>
      </p:sp>
    </p:spTree>
    <p:extLst>
      <p:ext uri="{BB962C8B-B14F-4D97-AF65-F5344CB8AC3E}">
        <p14:creationId xmlns:p14="http://schemas.microsoft.com/office/powerpoint/2010/main" val="3797947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1015</TotalTime>
  <Words>911</Words>
  <Application>Microsoft Office PowerPoint</Application>
  <PresentationFormat>Ecrã Panorâmico</PresentationFormat>
  <Paragraphs>83</Paragraphs>
  <Slides>7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Times New Roman</vt:lpstr>
      <vt:lpstr>Tema do Office</vt:lpstr>
      <vt:lpstr>Gestão Cooperativa de Tráfego em Zona de Obras com V2X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Luís Baptista</dc:creator>
  <cp:lastModifiedBy>Luís Baptista</cp:lastModifiedBy>
  <cp:revision>310</cp:revision>
  <dcterms:created xsi:type="dcterms:W3CDTF">2025-11-08T19:02:28Z</dcterms:created>
  <dcterms:modified xsi:type="dcterms:W3CDTF">2026-04-01T18:53:07Z</dcterms:modified>
</cp:coreProperties>
</file>