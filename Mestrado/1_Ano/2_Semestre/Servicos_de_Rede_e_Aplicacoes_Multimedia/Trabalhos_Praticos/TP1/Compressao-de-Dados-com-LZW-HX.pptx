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 bookmarkIdSeed="4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2" r:id="rId9"/>
    <p:sldId id="263" r:id="rId10"/>
  </p:sldIdLst>
  <p:sldSz cx="14630400" cy="8229600"/>
  <p:notesSz cx="8229600" cy="14630400"/>
  <p:embeddedFontLst>
    <p:embeddedFont>
      <p:font typeface="Cambria Math" panose="02040503050406030204" pitchFamily="18" charset="0"/>
      <p:regular r:id="rId12"/>
    </p:embeddedFont>
    <p:embeddedFont>
      <p:font typeface="Tahoma" panose="020B0604030504040204" pitchFamily="34" charset="0"/>
      <p:regular r:id="rId13"/>
      <p:bold r:id="rId14"/>
    </p:embeddedFont>
  </p:embeddedFontLst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E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62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591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20775-482F-4090-0CE5-DD53729E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40EEE7-1E0D-9512-6BB5-414F50541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D692D-8528-1AF3-5A25-C295DF73B3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A7087-5157-3219-11CC-41F060A3DF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3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C35A-6ED8-B588-C4F7-3A4297808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A9A35-DA30-10D1-1313-75C89E620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C4501-DE13-130C-95A3-884A405D8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1F07A-2FDC-362F-B975-AD6A939FD3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589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5078" y="1672728"/>
            <a:ext cx="8580243" cy="745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Compressão de Dados com LZW-HX</a:t>
            </a:r>
            <a:endParaRPr lang="en-US" sz="44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1058" y="2772635"/>
            <a:ext cx="13042821" cy="673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Implementação e Análise de Estruturas de Dicionário Dinâmico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53155" y="4114800"/>
            <a:ext cx="5094052" cy="113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200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Trabalho Realizado por: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Luís Baptista PG61434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Bernardo Salgado PG59972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43344" y="6556872"/>
            <a:ext cx="6878247" cy="1471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Serviços de Rede e Aplicações </a:t>
            </a:r>
            <a:r>
              <a:rPr lang="en-US" sz="1750" dirty="0" err="1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Multimédia</a:t>
            </a:r>
            <a:endParaRPr lang="en-US" sz="1750" dirty="0">
              <a:solidFill>
                <a:srgbClr val="EBECEF"/>
              </a:solidFill>
              <a:latin typeface="Times New Roman" panose="02020603050405020304" pitchFamily="18" charset="0"/>
              <a:ea typeface="Epilogue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Mestrado</a:t>
            </a: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 em Engenharia de Telecomunicações e </a:t>
            </a:r>
            <a:r>
              <a:rPr lang="en-US" sz="1750" dirty="0" err="1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Informática</a:t>
            </a:r>
            <a:endParaRPr lang="en-US" sz="1750" dirty="0">
              <a:solidFill>
                <a:srgbClr val="EBECEF"/>
              </a:solidFill>
              <a:latin typeface="Times New Roman" panose="02020603050405020304" pitchFamily="18" charset="0"/>
              <a:ea typeface="Epilogue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2025/2026</a:t>
            </a:r>
          </a:p>
        </p:txBody>
      </p:sp>
      <p:pic>
        <p:nvPicPr>
          <p:cNvPr id="6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9B65978-2BB2-B8F3-19FA-C5C040074EE2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26EA3236-3D1B-5B53-ABB2-CEA51F224E54}"/>
              </a:ext>
            </a:extLst>
          </p:cNvPr>
          <p:cNvSpPr txBox="1"/>
          <p:nvPr/>
        </p:nvSpPr>
        <p:spPr>
          <a:xfrm>
            <a:off x="11831444" y="7095104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0CAA638A-6756-C45E-1F19-E6D595CAE189}"/>
              </a:ext>
            </a:extLst>
          </p:cNvPr>
          <p:cNvCxnSpPr/>
          <p:nvPr/>
        </p:nvCxnSpPr>
        <p:spPr>
          <a:xfrm>
            <a:off x="0" y="2524498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58D299-D32F-A88D-E519-FA72EA415912}"/>
              </a:ext>
            </a:extLst>
          </p:cNvPr>
          <p:cNvSpPr txBox="1"/>
          <p:nvPr/>
        </p:nvSpPr>
        <p:spPr>
          <a:xfrm>
            <a:off x="313899" y="1225458"/>
            <a:ext cx="1985695" cy="6131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pPr algn="ctr">
              <a:lnSpc>
                <a:spcPct val="150000"/>
              </a:lnSpc>
            </a:pPr>
            <a:r>
              <a:rPr lang="pt-PT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C1DB5BB-34E1-891C-CD04-89DAA8339827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F58FC5C-E0CF-0E45-DD91-51C91D0DB1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49" b="849"/>
          <a:stretch>
            <a:fillRect/>
          </a:stretch>
        </p:blipFill>
        <p:spPr>
          <a:xfrm>
            <a:off x="9845266" y="3832628"/>
            <a:ext cx="2152650" cy="251796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3E361E4-2B3A-8FCE-5094-1263B7C433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4597" y="3832628"/>
            <a:ext cx="2152650" cy="2517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9071" y="1102876"/>
            <a:ext cx="88181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pt-PT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Introdução e Abordagem ao LZW-HX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0748" y="2199190"/>
            <a:ext cx="4196358" cy="2629155"/>
          </a:xfrm>
          <a:prstGeom prst="roundRect">
            <a:avLst>
              <a:gd name="adj" fmla="val 39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96781" y="2308678"/>
            <a:ext cx="2016059" cy="37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Algoritmo LZW-HX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1028649" y="2791827"/>
                <a:ext cx="3735110" cy="145161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>
                  <a:lnSpc>
                    <a:spcPts val="2850"/>
                  </a:lnSpc>
                </a:pPr>
                <a:r>
                  <a:rPr lang="pt-PT" sz="175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Geração de novos padrões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750" i="1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75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pt-PT" sz="175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pt-PT" sz="1750" b="0" i="1" smtClean="0">
                        <a:solidFill>
                          <a:srgbClr val="EBECEF"/>
                        </a:solidFill>
                        <a:latin typeface="Cambria Math" panose="02040503050406030204" pitchFamily="18" charset="0"/>
                        <a:ea typeface="Epilogue" pitchFamily="34" charset="-122"/>
                        <a:cs typeface="Times New Roman" panose="02020603050405020304" pitchFamily="18" charset="0"/>
                      </a:rPr>
                      <m:t>)</m:t>
                    </m:r>
                    <m:r>
                      <a:rPr lang="pt-PT" sz="1750" i="1">
                        <a:solidFill>
                          <a:srgbClr val="EBECEF"/>
                        </a:solidFill>
                        <a:latin typeface="Cambria Math" panose="02040503050406030204" pitchFamily="18" charset="0"/>
                        <a:ea typeface="Epilogue" pitchFamily="34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pt-PT" sz="175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através da concatenação de sequências conhecidas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75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75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pt-PT" sz="175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  <m:r>
                      <a:rPr lang="pt-PT" sz="1750" b="0" i="1" smtClean="0">
                        <a:solidFill>
                          <a:srgbClr val="EBECEF"/>
                        </a:solidFill>
                        <a:latin typeface="Cambria Math" panose="02040503050406030204" pitchFamily="18" charset="0"/>
                        <a:ea typeface="Epilogue" pitchFamily="34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pt-PT" sz="1750" dirty="0">
                    <a:solidFill>
                      <a:srgbClr val="EBECEF"/>
                    </a:solidFill>
                    <a:ea typeface="Epilogue" pitchFamily="34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750" i="1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750" i="1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pt-PT" sz="175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pt-PT" sz="175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), acelerando o crescimento dos padrões face ao LZW clássico.</a:t>
                </a:r>
                <a:endParaRPr lang="en-US" sz="17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649" y="2791827"/>
                <a:ext cx="3735110" cy="1451610"/>
              </a:xfrm>
              <a:prstGeom prst="rect">
                <a:avLst/>
              </a:prstGeom>
              <a:blipFill>
                <a:blip r:embed="rId3"/>
                <a:stretch>
                  <a:fillRect l="-3105" r="-4575" b="-8403"/>
                </a:stretch>
              </a:blipFill>
              <a:ln/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216962" y="2199190"/>
            <a:ext cx="4196358" cy="2620699"/>
          </a:xfrm>
          <a:prstGeom prst="roundRect">
            <a:avLst>
              <a:gd name="adj" fmla="val 39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50526" y="2315573"/>
            <a:ext cx="2473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Política de Memória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94068" y="2791083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Aplicação de uma política de substituição dinâmica de prefixos sempre que o limite do dicionário é atingido, evitando a reinicialização da tabela e a perda de histórico.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40133" y="2199190"/>
            <a:ext cx="4196358" cy="2620699"/>
          </a:xfrm>
          <a:prstGeom prst="roundRect">
            <a:avLst>
              <a:gd name="adj" fmla="val 3952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238271" y="2281147"/>
            <a:ext cx="29858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Processamento por Blocos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19797" y="2748229"/>
            <a:ext cx="4037029" cy="1852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 leitura e codificação ocorrem em memória através de um buffer de entrada (com blocos de 64 KByte), garantindo maior eficiência e adaptação à memória cache do processador.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790" y="5075039"/>
            <a:ext cx="13042821" cy="1907858"/>
          </a:xfrm>
          <a:prstGeom prst="roundRect">
            <a:avLst>
              <a:gd name="adj" fmla="val 4993"/>
            </a:avLst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078268" y="5260062"/>
            <a:ext cx="2473863" cy="31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Variantes em Estudo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116088" y="5754450"/>
            <a:ext cx="120080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850"/>
              </a:lnSpc>
            </a:pPr>
            <a:r>
              <a:rPr lang="pt-PT" sz="1750" dirty="0">
                <a:solidFill>
                  <a:srgbClr val="FFFFF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Para avaliar o impacto no desempenho da procura, o algoritmo foi desenvolvido e testado em três estruturas de dados distintas: Pesquisa Linear, Hash Tables e Árvores de Prefixos (Tries).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6CA6C28-C480-143A-E24F-05CE83481D5F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04835D3-458E-9A09-A650-9C6D4E28A2ED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F7CDC8-2B33-1C0F-E185-83D218331144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7087" y="1086403"/>
            <a:ext cx="47300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Arquitetura Sistema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C920BEA-8CB1-999B-AD26-6A4D3A448A73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27B082BE-7CB4-796A-D549-F9EF0C03AACE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pic>
        <p:nvPicPr>
          <p:cNvPr id="85" name="Imagem 84">
            <a:extLst>
              <a:ext uri="{FF2B5EF4-FFF2-40B4-BE49-F238E27FC236}">
                <a16:creationId xmlns:a16="http://schemas.microsoft.com/office/drawing/2014/main" id="{81199A84-4B05-C6BE-7E15-901919832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199" y="2254502"/>
            <a:ext cx="8095842" cy="5662122"/>
          </a:xfrm>
          <a:prstGeom prst="rect">
            <a:avLst/>
          </a:prstGeom>
        </p:spPr>
      </p:pic>
      <p:cxnSp>
        <p:nvCxnSpPr>
          <p:cNvPr id="86" name="Conexão reta 85">
            <a:extLst>
              <a:ext uri="{FF2B5EF4-FFF2-40B4-BE49-F238E27FC236}">
                <a16:creationId xmlns:a16="http://schemas.microsoft.com/office/drawing/2014/main" id="{AB653F7C-2FAC-84FB-7B05-361606DABB74}"/>
              </a:ext>
            </a:extLst>
          </p:cNvPr>
          <p:cNvCxnSpPr/>
          <p:nvPr/>
        </p:nvCxnSpPr>
        <p:spPr>
          <a:xfrm>
            <a:off x="0" y="1948765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tângulo 88">
            <a:extLst>
              <a:ext uri="{FF2B5EF4-FFF2-40B4-BE49-F238E27FC236}">
                <a16:creationId xmlns:a16="http://schemas.microsoft.com/office/drawing/2014/main" id="{8C77D35E-8CAD-74F0-8241-48337F8A32DE}"/>
              </a:ext>
            </a:extLst>
          </p:cNvPr>
          <p:cNvSpPr/>
          <p:nvPr/>
        </p:nvSpPr>
        <p:spPr>
          <a:xfrm>
            <a:off x="3584199" y="5632584"/>
            <a:ext cx="3987479" cy="228404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90" name="Retângulo 89">
            <a:extLst>
              <a:ext uri="{FF2B5EF4-FFF2-40B4-BE49-F238E27FC236}">
                <a16:creationId xmlns:a16="http://schemas.microsoft.com/office/drawing/2014/main" id="{2573290D-DD70-8A17-C6F0-A12B40FAAEB3}"/>
              </a:ext>
            </a:extLst>
          </p:cNvPr>
          <p:cNvSpPr/>
          <p:nvPr/>
        </p:nvSpPr>
        <p:spPr>
          <a:xfrm>
            <a:off x="7571678" y="5632584"/>
            <a:ext cx="4108363" cy="2284040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C3D14B-F0B1-0F07-5553-D5AC2B9C6343}"/>
              </a:ext>
            </a:extLst>
          </p:cNvPr>
          <p:cNvSpPr txBox="1"/>
          <p:nvPr/>
        </p:nvSpPr>
        <p:spPr>
          <a:xfrm>
            <a:off x="6195060" y="3705106"/>
            <a:ext cx="1051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std::vector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D5D434-7F58-682F-9C35-3E310C5EAA5C}"/>
              </a:ext>
            </a:extLst>
          </p:cNvPr>
          <p:cNvSpPr txBox="1"/>
          <p:nvPr/>
        </p:nvSpPr>
        <p:spPr>
          <a:xfrm>
            <a:off x="6634480" y="4665319"/>
            <a:ext cx="21869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Pattern, SearchResult e </a:t>
            </a:r>
            <a:r>
              <a:rPr lang="pt-PT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  <a:p>
            <a:endParaRPr lang="pt-PT"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0D70DB1-78DB-29DC-29CC-93450ED94582}"/>
              </a:ext>
            </a:extLst>
          </p:cNvPr>
          <p:cNvSpPr txBox="1"/>
          <p:nvPr/>
        </p:nvSpPr>
        <p:spPr>
          <a:xfrm>
            <a:off x="10520421" y="3705106"/>
            <a:ext cx="10515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256 buckets</a:t>
            </a:r>
          </a:p>
        </p:txBody>
      </p:sp>
      <p:sp>
        <p:nvSpPr>
          <p:cNvPr id="88" name="Retângulo 87">
            <a:extLst>
              <a:ext uri="{FF2B5EF4-FFF2-40B4-BE49-F238E27FC236}">
                <a16:creationId xmlns:a16="http://schemas.microsoft.com/office/drawing/2014/main" id="{C5081429-9198-F37A-57E1-32C5AF5D0BF8}"/>
              </a:ext>
            </a:extLst>
          </p:cNvPr>
          <p:cNvSpPr/>
          <p:nvPr/>
        </p:nvSpPr>
        <p:spPr>
          <a:xfrm>
            <a:off x="7571677" y="2254502"/>
            <a:ext cx="4108363" cy="2309936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7" name="Retângulo 86">
            <a:extLst>
              <a:ext uri="{FF2B5EF4-FFF2-40B4-BE49-F238E27FC236}">
                <a16:creationId xmlns:a16="http://schemas.microsoft.com/office/drawing/2014/main" id="{82424ACE-69C9-5631-6525-50BC9B93563D}"/>
              </a:ext>
            </a:extLst>
          </p:cNvPr>
          <p:cNvSpPr/>
          <p:nvPr/>
        </p:nvSpPr>
        <p:spPr>
          <a:xfrm>
            <a:off x="3584199" y="2254502"/>
            <a:ext cx="3987480" cy="2309936"/>
          </a:xfrm>
          <a:prstGeom prst="rect">
            <a:avLst/>
          </a:prstGeom>
          <a:solidFill>
            <a:srgbClr val="080E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395F61-D4C7-AC81-754E-0BE6554D199B}"/>
              </a:ext>
            </a:extLst>
          </p:cNvPr>
          <p:cNvSpPr txBox="1"/>
          <p:nvPr/>
        </p:nvSpPr>
        <p:spPr>
          <a:xfrm>
            <a:off x="3744340" y="6964844"/>
            <a:ext cx="1355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Descendent_index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" grpId="0" animBg="1"/>
      <p:bldP spid="90" grpId="0" animBg="1"/>
      <p:bldP spid="3" grpId="0"/>
      <p:bldP spid="4" grpId="0"/>
      <p:bldP spid="5" grpId="0"/>
      <p:bldP spid="88" grpId="0" animBg="1"/>
      <p:bldP spid="87" grpId="0" animBg="1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8599" y="987733"/>
            <a:ext cx="57484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Funções Implementadas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2332" y="2657128"/>
            <a:ext cx="5917754" cy="488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pt-PT" sz="220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Atualização do Dicionário (update_dictionary)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472332" y="3346976"/>
                <a:ext cx="5726696" cy="240861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PT" sz="190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Substituição: Padrão candidato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90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90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pt-PT" sz="190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PT" sz="190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) substitui o seu prefixo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PT" sz="1900" i="1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pt-PT" sz="190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pt-PT" sz="1900" b="0" i="1" smtClean="0">
                            <a:solidFill>
                              <a:srgbClr val="EBECEF"/>
                            </a:solidFill>
                            <a:latin typeface="Cambria Math" panose="02040503050406030204" pitchFamily="18" charset="0"/>
                            <a:ea typeface="Epilogue" pitchFamily="34" charset="-122"/>
                            <a:cs typeface="Times New Roman" panose="02020603050405020304" pitchFamily="18" charset="0"/>
                          </a:rPr>
                          <m:t>𝑜𝑙𝑑</m:t>
                        </m:r>
                      </m:sub>
                    </m:sSub>
                  </m:oMath>
                </a14:m>
                <a:r>
                  <a:rPr lang="pt-PT" sz="190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PT" sz="190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Recurso (Cheio): Elimina o padrão mais curto e menos utilizado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PT" sz="1900" dirty="0">
                    <a:solidFill>
                      <a:srgbClr val="EBECEF"/>
                    </a:solidFill>
                    <a:latin typeface="Times New Roman" panose="02020603050405020304" pitchFamily="18" charset="0"/>
                    <a:ea typeface="Epilogue" pitchFamily="34" charset="-122"/>
                    <a:cs typeface="Times New Roman" panose="02020603050405020304" pitchFamily="18" charset="0"/>
                  </a:rPr>
                  <a:t>Envelhecimento: Bitshift &gt;&gt; 1 a cada 4096 trocas para controlo de overflow</a:t>
                </a:r>
                <a:endParaRPr lang="en-US" sz="19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332" y="3346976"/>
                <a:ext cx="5726696" cy="2408614"/>
              </a:xfrm>
              <a:prstGeom prst="rect">
                <a:avLst/>
              </a:prstGeom>
              <a:blipFill>
                <a:blip r:embed="rId3"/>
                <a:stretch>
                  <a:fillRect l="-2340" r="-2553" b="-12658"/>
                </a:stretch>
              </a:blipFill>
              <a:ln/>
            </p:spPr>
            <p:txBody>
              <a:bodyPr/>
              <a:lstStyle/>
              <a:p>
                <a:r>
                  <a:rPr lang="pt-P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8240316" y="2657128"/>
            <a:ext cx="5564384" cy="488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750"/>
              </a:lnSpc>
            </a:pPr>
            <a:r>
              <a:rPr lang="pt-PT" sz="220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Pesquisa e Ambiguidade (find_longest_match)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40316" y="3311366"/>
            <a:ext cx="5726696" cy="2293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Sub-padrões: Suporte a tuplos &lt;índice, comprimento&gt;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Desempate: Conflitos resolvidos pela maior utilidade estatística (use_count)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E0CEF36-88D6-8CEE-20BC-2E731D79DAC8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C877DAE5-EF48-3737-C1CB-A37061324691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DD2689-0438-8432-6AD8-6F1DB994E85A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cxnSp>
        <p:nvCxnSpPr>
          <p:cNvPr id="13" name="Conexão reta 12">
            <a:extLst>
              <a:ext uri="{FF2B5EF4-FFF2-40B4-BE49-F238E27FC236}">
                <a16:creationId xmlns:a16="http://schemas.microsoft.com/office/drawing/2014/main" id="{F52974BB-B0CF-DB7F-CF3C-68E948D1201B}"/>
              </a:ext>
            </a:extLst>
          </p:cNvPr>
          <p:cNvCxnSpPr/>
          <p:nvPr/>
        </p:nvCxnSpPr>
        <p:spPr>
          <a:xfrm>
            <a:off x="94526" y="1959835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xão reta 13">
            <a:extLst>
              <a:ext uri="{FF2B5EF4-FFF2-40B4-BE49-F238E27FC236}">
                <a16:creationId xmlns:a16="http://schemas.microsoft.com/office/drawing/2014/main" id="{560227CA-5CF0-8C07-462A-2D0EE45FF8EB}"/>
              </a:ext>
            </a:extLst>
          </p:cNvPr>
          <p:cNvCxnSpPr/>
          <p:nvPr/>
        </p:nvCxnSpPr>
        <p:spPr>
          <a:xfrm>
            <a:off x="0" y="6547026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4CDC7DB-5FC9-84B2-754E-B81A8E669A39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" name="Text 0"/>
          <p:cNvSpPr/>
          <p:nvPr/>
        </p:nvSpPr>
        <p:spPr>
          <a:xfrm>
            <a:off x="3570831" y="1328456"/>
            <a:ext cx="761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u="sng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Resultados dos Testes Efetuados</a:t>
            </a:r>
            <a:endParaRPr lang="en-US" sz="445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29" y="2146864"/>
            <a:ext cx="13042821" cy="4128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Cenário: </a:t>
            </a: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Validação Teórica e Desempenho Base (65536 entradas)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F2EB5C7A-02A0-7E7F-14D9-D00ED130F862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52B6F2BA-7934-0B4D-5BB3-CBF4D30793A2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8B9A222-819C-2C76-FFAD-A262CE4C970C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40F4604-2E60-5CA2-A5FF-A9CE7D81F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50766"/>
              </p:ext>
            </p:extLst>
          </p:nvPr>
        </p:nvGraphicFramePr>
        <p:xfrm>
          <a:off x="950258" y="2803465"/>
          <a:ext cx="12729883" cy="1464431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70622">
                  <a:extLst>
                    <a:ext uri="{9D8B030D-6E8A-4147-A177-3AD203B41FA5}">
                      <a16:colId xmlns:a16="http://schemas.microsoft.com/office/drawing/2014/main" val="1212884732"/>
                    </a:ext>
                  </a:extLst>
                </a:gridCol>
                <a:gridCol w="2473089">
                  <a:extLst>
                    <a:ext uri="{9D8B030D-6E8A-4147-A177-3AD203B41FA5}">
                      <a16:colId xmlns:a16="http://schemas.microsoft.com/office/drawing/2014/main" val="3755631376"/>
                    </a:ext>
                  </a:extLst>
                </a:gridCol>
                <a:gridCol w="2539078">
                  <a:extLst>
                    <a:ext uri="{9D8B030D-6E8A-4147-A177-3AD203B41FA5}">
                      <a16:colId xmlns:a16="http://schemas.microsoft.com/office/drawing/2014/main" val="116931932"/>
                    </a:ext>
                  </a:extLst>
                </a:gridCol>
                <a:gridCol w="2497085">
                  <a:extLst>
                    <a:ext uri="{9D8B030D-6E8A-4147-A177-3AD203B41FA5}">
                      <a16:colId xmlns:a16="http://schemas.microsoft.com/office/drawing/2014/main" val="1946023415"/>
                    </a:ext>
                  </a:extLst>
                </a:gridCol>
                <a:gridCol w="2950009">
                  <a:extLst>
                    <a:ext uri="{9D8B030D-6E8A-4147-A177-3AD203B41FA5}">
                      <a16:colId xmlns:a16="http://schemas.microsoft.com/office/drawing/2014/main" val="1966242094"/>
                    </a:ext>
                  </a:extLst>
                </a:gridCol>
              </a:tblGrid>
              <a:tr h="2733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Versão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Tempo de Execução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Taxa de Compressão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Rendimento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Comprimento Médio do Padrão Inserido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4171732"/>
                  </a:ext>
                </a:extLst>
              </a:tr>
              <a:tr h="3219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Pesquisa Linear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60.14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1.75:1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100.44%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10.43 bytes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86721460"/>
                  </a:ext>
                </a:extLst>
              </a:tr>
              <a:tr h="32249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Hash Table (Buckets)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3.44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1.75:1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100.44%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10.43 bytes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32999420"/>
                  </a:ext>
                </a:extLst>
              </a:tr>
              <a:tr h="2733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Trie (Prefix Tree)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0.26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1.75:1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100.57%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10.43 bytes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9640713"/>
                  </a:ext>
                </a:extLst>
              </a:tr>
              <a:tr h="2733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Standard LZW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0.04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2.19:1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125.81%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 dirty="0">
                          <a:effectLst/>
                        </a:rPr>
                        <a:t>5.40 bytes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0404588"/>
                  </a:ext>
                </a:extLst>
              </a:tr>
            </a:tbl>
          </a:graphicData>
        </a:graphic>
      </p:graphicFrame>
      <p:sp>
        <p:nvSpPr>
          <p:cNvPr id="21" name="Text 2">
            <a:extLst>
              <a:ext uri="{FF2B5EF4-FFF2-40B4-BE49-F238E27FC236}">
                <a16:creationId xmlns:a16="http://schemas.microsoft.com/office/drawing/2014/main" id="{5BB4BC5A-C74B-0E5F-A68C-F9F545D1F0ED}"/>
              </a:ext>
            </a:extLst>
          </p:cNvPr>
          <p:cNvSpPr/>
          <p:nvPr/>
        </p:nvSpPr>
        <p:spPr>
          <a:xfrm>
            <a:off x="286809" y="462097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Testes com alfabeto reduzido (K=2) e modo --debug confirmaram a correta extração de prefixos e resolução de ambiguidades, validando a lógica de índices descendentes (Trie) e a pesquisa por buckets (Hash Table).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AA6E4BB8-E831-C5EF-A499-CC9A12D12D96}"/>
              </a:ext>
            </a:extLst>
          </p:cNvPr>
          <p:cNvSpPr/>
          <p:nvPr/>
        </p:nvSpPr>
        <p:spPr>
          <a:xfrm>
            <a:off x="286809" y="582245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Num cenário sem limite de memória, a Trie atingiu 0.26s, demonstrando a eficiência da procura em tempo O(L), face aos 3.44s da Hash Table e 60.14s da Pesquisa Linear.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837EABD-3287-80D3-051F-5F5FE4BA836B}"/>
              </a:ext>
            </a:extLst>
          </p:cNvPr>
          <p:cNvSpPr/>
          <p:nvPr/>
        </p:nvSpPr>
        <p:spPr>
          <a:xfrm>
            <a:off x="286807" y="6995819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Todas as variantes LZW-HX mantiveram o rácio de 1.75:1 exceto o LZW Standard (2.19:1), que é superior neste cenário por utilizar índices fixos de 16 bits, enquanto o LZW-HX utiliza tuplos de 24 bits (índice + tamanho).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B9A5023C-D675-8CB4-B0CE-BB2A1DBDE176}"/>
              </a:ext>
            </a:extLst>
          </p:cNvPr>
          <p:cNvCxnSpPr/>
          <p:nvPr/>
        </p:nvCxnSpPr>
        <p:spPr>
          <a:xfrm>
            <a:off x="0" y="4549257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73C21BF8-3CAB-AA6C-F971-994FE771CE77}"/>
              </a:ext>
            </a:extLst>
          </p:cNvPr>
          <p:cNvCxnSpPr/>
          <p:nvPr/>
        </p:nvCxnSpPr>
        <p:spPr>
          <a:xfrm>
            <a:off x="0" y="569695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552A9983-1892-F65B-4C72-4EC1BADF954F}"/>
              </a:ext>
            </a:extLst>
          </p:cNvPr>
          <p:cNvCxnSpPr/>
          <p:nvPr/>
        </p:nvCxnSpPr>
        <p:spPr>
          <a:xfrm>
            <a:off x="0" y="6856381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0148C5AE-0F3C-E6AC-4503-0C990947978D}"/>
              </a:ext>
            </a:extLst>
          </p:cNvPr>
          <p:cNvCxnSpPr/>
          <p:nvPr/>
        </p:nvCxnSpPr>
        <p:spPr>
          <a:xfrm>
            <a:off x="0" y="797596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allAtOnce" animBg="1"/>
      <p:bldP spid="22" grpId="0" build="allAtOnce" animBg="1"/>
      <p:bldP spid="23" grpId="0" build="allAtOnce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8499A-85B0-6E33-EA22-91DC4B346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044262-48E0-7E5B-1C9E-CCE97A10EDB9}"/>
              </a:ext>
            </a:extLst>
          </p:cNvPr>
          <p:cNvSpPr/>
          <p:nvPr/>
        </p:nvSpPr>
        <p:spPr>
          <a:xfrm>
            <a:off x="3570831" y="1163540"/>
            <a:ext cx="761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Resultados dos Testes Efetuados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565771F-C7C2-4060-980E-977A11B8C18C}"/>
              </a:ext>
            </a:extLst>
          </p:cNvPr>
          <p:cNvSpPr/>
          <p:nvPr/>
        </p:nvSpPr>
        <p:spPr>
          <a:xfrm>
            <a:off x="793729" y="1930741"/>
            <a:ext cx="13042821" cy="4128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Cenário: </a:t>
            </a: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Gestão de Dicionário: Política de Recurso vs. Reset (4096 entradas)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797E413-9465-D602-257B-ADE90E6EBC99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8E3B358C-8FE4-60C2-738B-32EF627B56C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F084D3-BEB5-2DF4-9E0C-778046D6B57A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79E31432-4235-BCFC-66AC-062ADC5114DC}"/>
              </a:ext>
            </a:extLst>
          </p:cNvPr>
          <p:cNvSpPr/>
          <p:nvPr/>
        </p:nvSpPr>
        <p:spPr>
          <a:xfrm>
            <a:off x="286809" y="462097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Política de Recurso (Substituição): Com o limite de 4096 entradas, a Hash Table (0.81s) superou a Trie (3.52s) sendo mais eficiente a encontrar padrões curtos para substituição ao iterar sobre buckets pequenos.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75AEC6D9-4E40-5E38-BF3A-9CC140219F91}"/>
              </a:ext>
            </a:extLst>
          </p:cNvPr>
          <p:cNvSpPr/>
          <p:nvPr/>
        </p:nvSpPr>
        <p:spPr>
          <a:xfrm>
            <a:off x="286809" y="582245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A Trie revelou-se ineficiente a ordenar nós por profundidade, sendo obrigada a realizar pesquisas exaustivas sempre que o dicionário atinge a capacidade máxima.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38AA36FD-48DE-55CD-B29C-019FC57CED8F}"/>
              </a:ext>
            </a:extLst>
          </p:cNvPr>
          <p:cNvSpPr/>
          <p:nvPr/>
        </p:nvSpPr>
        <p:spPr>
          <a:xfrm>
            <a:off x="286807" y="6995819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Embora a opção de Reset seja mais rápida (Trie: 0.19s) reduz o rendimento para ~62%. A política de substituição do LZW-HX é superior por manter padrões longos e úteis no dicionário.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334CF5AE-F3D1-F779-41B9-1423D9FB2C91}"/>
              </a:ext>
            </a:extLst>
          </p:cNvPr>
          <p:cNvCxnSpPr/>
          <p:nvPr/>
        </p:nvCxnSpPr>
        <p:spPr>
          <a:xfrm>
            <a:off x="0" y="4549257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0DDABDBE-9EA8-13F4-2590-0348D6B8A36D}"/>
              </a:ext>
            </a:extLst>
          </p:cNvPr>
          <p:cNvCxnSpPr/>
          <p:nvPr/>
        </p:nvCxnSpPr>
        <p:spPr>
          <a:xfrm>
            <a:off x="0" y="569695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2F2DC685-082D-6B39-B458-08B2240E6AB9}"/>
              </a:ext>
            </a:extLst>
          </p:cNvPr>
          <p:cNvCxnSpPr/>
          <p:nvPr/>
        </p:nvCxnSpPr>
        <p:spPr>
          <a:xfrm>
            <a:off x="0" y="6856381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95A841F3-5715-275D-EDC4-6DF3778E5AE3}"/>
              </a:ext>
            </a:extLst>
          </p:cNvPr>
          <p:cNvCxnSpPr/>
          <p:nvPr/>
        </p:nvCxnSpPr>
        <p:spPr>
          <a:xfrm>
            <a:off x="0" y="797596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0EAD98C1-EFF3-6A13-8A71-4F14D4650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476638"/>
              </p:ext>
            </p:extLst>
          </p:nvPr>
        </p:nvGraphicFramePr>
        <p:xfrm>
          <a:off x="444566" y="2946614"/>
          <a:ext cx="6252530" cy="151299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250506">
                  <a:extLst>
                    <a:ext uri="{9D8B030D-6E8A-4147-A177-3AD203B41FA5}">
                      <a16:colId xmlns:a16="http://schemas.microsoft.com/office/drawing/2014/main" val="1298528293"/>
                    </a:ext>
                  </a:extLst>
                </a:gridCol>
                <a:gridCol w="1250506">
                  <a:extLst>
                    <a:ext uri="{9D8B030D-6E8A-4147-A177-3AD203B41FA5}">
                      <a16:colId xmlns:a16="http://schemas.microsoft.com/office/drawing/2014/main" val="1574526778"/>
                    </a:ext>
                  </a:extLst>
                </a:gridCol>
                <a:gridCol w="1250506">
                  <a:extLst>
                    <a:ext uri="{9D8B030D-6E8A-4147-A177-3AD203B41FA5}">
                      <a16:colId xmlns:a16="http://schemas.microsoft.com/office/drawing/2014/main" val="1893124099"/>
                    </a:ext>
                  </a:extLst>
                </a:gridCol>
                <a:gridCol w="1250506">
                  <a:extLst>
                    <a:ext uri="{9D8B030D-6E8A-4147-A177-3AD203B41FA5}">
                      <a16:colId xmlns:a16="http://schemas.microsoft.com/office/drawing/2014/main" val="1682332483"/>
                    </a:ext>
                  </a:extLst>
                </a:gridCol>
                <a:gridCol w="1250506">
                  <a:extLst>
                    <a:ext uri="{9D8B030D-6E8A-4147-A177-3AD203B41FA5}">
                      <a16:colId xmlns:a16="http://schemas.microsoft.com/office/drawing/2014/main" val="314659274"/>
                    </a:ext>
                  </a:extLst>
                </a:gridCol>
              </a:tblGrid>
              <a:tr h="4272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Versão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Tempo de Execução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Substituições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Taxa de Compressão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Rendimento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2030184"/>
                  </a:ext>
                </a:extLst>
              </a:tr>
              <a:tr h="2888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Pesquisa Linear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14.14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83.462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1.14:1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65.63%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9593841"/>
                  </a:ext>
                </a:extLst>
              </a:tr>
              <a:tr h="42721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Hash Table (Buckets)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0.81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83.462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1.14:1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 dirty="0">
                          <a:effectLst/>
                        </a:rPr>
                        <a:t>65.63%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71859966"/>
                  </a:ext>
                </a:extLst>
              </a:tr>
              <a:tr h="3697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Trie (Prefix Tree)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3.52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83.084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>
                          <a:effectLst/>
                        </a:rPr>
                        <a:t>1.18:1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100" kern="100" dirty="0">
                          <a:effectLst/>
                        </a:rPr>
                        <a:t>67.70%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94409863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8D5DAC22-CBFA-9201-6A42-06E111C730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5720892"/>
              </p:ext>
            </p:extLst>
          </p:nvPr>
        </p:nvGraphicFramePr>
        <p:xfrm>
          <a:off x="7530354" y="2962624"/>
          <a:ext cx="6813114" cy="151715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452162">
                  <a:extLst>
                    <a:ext uri="{9D8B030D-6E8A-4147-A177-3AD203B41FA5}">
                      <a16:colId xmlns:a16="http://schemas.microsoft.com/office/drawing/2014/main" val="1979416745"/>
                    </a:ext>
                  </a:extLst>
                </a:gridCol>
                <a:gridCol w="1380242">
                  <a:extLst>
                    <a:ext uri="{9D8B030D-6E8A-4147-A177-3AD203B41FA5}">
                      <a16:colId xmlns:a16="http://schemas.microsoft.com/office/drawing/2014/main" val="576505958"/>
                    </a:ext>
                  </a:extLst>
                </a:gridCol>
                <a:gridCol w="1239402">
                  <a:extLst>
                    <a:ext uri="{9D8B030D-6E8A-4147-A177-3AD203B41FA5}">
                      <a16:colId xmlns:a16="http://schemas.microsoft.com/office/drawing/2014/main" val="3067595149"/>
                    </a:ext>
                  </a:extLst>
                </a:gridCol>
                <a:gridCol w="1435981">
                  <a:extLst>
                    <a:ext uri="{9D8B030D-6E8A-4147-A177-3AD203B41FA5}">
                      <a16:colId xmlns:a16="http://schemas.microsoft.com/office/drawing/2014/main" val="4275689839"/>
                    </a:ext>
                  </a:extLst>
                </a:gridCol>
                <a:gridCol w="1305327">
                  <a:extLst>
                    <a:ext uri="{9D8B030D-6E8A-4147-A177-3AD203B41FA5}">
                      <a16:colId xmlns:a16="http://schemas.microsoft.com/office/drawing/2014/main" val="974875894"/>
                    </a:ext>
                  </a:extLst>
                </a:gridCol>
              </a:tblGrid>
              <a:tr h="398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Versão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Tempo de Execução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Vezes que encheu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Taxa de Compressão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Rendimento (Yield)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2974735"/>
                  </a:ext>
                </a:extLst>
              </a:tr>
              <a:tr h="3544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Pesquisa Linear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8.61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1.08 1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62.39%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73324130"/>
                  </a:ext>
                </a:extLst>
              </a:tr>
              <a:tr h="3985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Hash Table (Buckets)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0.49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1.08:1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62.39%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000324"/>
                  </a:ext>
                </a:extLst>
              </a:tr>
              <a:tr h="35443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Trie (Prefix Tree)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0.19 s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19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>
                          <a:effectLst/>
                        </a:rPr>
                        <a:t>1.09:1</a:t>
                      </a:r>
                      <a:endParaRPr lang="pt-PT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kern="100" dirty="0">
                          <a:effectLst/>
                        </a:rPr>
                        <a:t>62.53%</a:t>
                      </a:r>
                      <a:endParaRPr lang="pt-PT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746468"/>
                  </a:ext>
                </a:extLst>
              </a:tr>
            </a:tbl>
          </a:graphicData>
        </a:graphic>
      </p:graphicFrame>
      <p:sp>
        <p:nvSpPr>
          <p:cNvPr id="8" name="Text 2">
            <a:extLst>
              <a:ext uri="{FF2B5EF4-FFF2-40B4-BE49-F238E27FC236}">
                <a16:creationId xmlns:a16="http://schemas.microsoft.com/office/drawing/2014/main" id="{F66F7D46-3D74-C8EB-845A-645C6F8EA715}"/>
              </a:ext>
            </a:extLst>
          </p:cNvPr>
          <p:cNvSpPr/>
          <p:nvPr/>
        </p:nvSpPr>
        <p:spPr>
          <a:xfrm>
            <a:off x="856763" y="2352019"/>
            <a:ext cx="4808932" cy="355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Política de Recurso 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50084C9-816F-4447-C3F6-BE0491AB9904}"/>
              </a:ext>
            </a:extLst>
          </p:cNvPr>
          <p:cNvSpPr/>
          <p:nvPr/>
        </p:nvSpPr>
        <p:spPr>
          <a:xfrm>
            <a:off x="8902108" y="2341202"/>
            <a:ext cx="4808932" cy="3553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Reset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28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allAtOnce" animBg="1"/>
      <p:bldP spid="22" grpId="0" build="allAtOnce" animBg="1"/>
      <p:bldP spid="23" grpId="0" build="allAtOnce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CAD9-F52A-FB01-8B07-5CC7F8F9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6E180EF-5738-340A-4A48-5E709960A391}"/>
              </a:ext>
            </a:extLst>
          </p:cNvPr>
          <p:cNvSpPr/>
          <p:nvPr/>
        </p:nvSpPr>
        <p:spPr>
          <a:xfrm>
            <a:off x="3570831" y="1163540"/>
            <a:ext cx="76146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ea typeface="Fraunces Medium" pitchFamily="34" charset="-122"/>
                <a:cs typeface="Times New Roman" panose="02020603050405020304" pitchFamily="18" charset="0"/>
              </a:rPr>
              <a:t>Resultados dos Testes Efetuados</a:t>
            </a:r>
            <a:endParaRPr lang="en-US" sz="4450" dirty="0"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7BD992-F333-9BAC-CE0C-DAF9C6F7BEB0}"/>
              </a:ext>
            </a:extLst>
          </p:cNvPr>
          <p:cNvSpPr/>
          <p:nvPr/>
        </p:nvSpPr>
        <p:spPr>
          <a:xfrm>
            <a:off x="793729" y="1930741"/>
            <a:ext cx="13042821" cy="4128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Cenário: </a:t>
            </a:r>
            <a:r>
              <a:rPr lang="pt-PT" sz="175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Impacto da Alta Entropia (ZIP, JPEG e PDF)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3123179-71F3-8173-3174-EF54ED50E609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cs typeface="Times New Roman" panose="02020603050405020304" pitchFamily="18" charset="0"/>
            </a:endParaRPr>
          </a:p>
        </p:txBody>
      </p:sp>
      <p:pic>
        <p:nvPicPr>
          <p:cNvPr id="18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4D441D1-DC50-4DF5-C26B-17F7D14AB158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3DD00005-F25B-3EC1-B0BF-FF2B1272D0BA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86F2E996-097C-D8B2-0D61-5EED383005CA}"/>
              </a:ext>
            </a:extLst>
          </p:cNvPr>
          <p:cNvSpPr/>
          <p:nvPr/>
        </p:nvSpPr>
        <p:spPr>
          <a:xfrm>
            <a:off x="286809" y="462097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Em ficheiros já comprimidos, a entropia próxima do limite teórico impede a criação de padrões longos. O rácio de compressão foi sempre inferior a 1 (ex: 0.61:1 no JPEG), resultando na expansão do ficheiro original.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1B68EFEE-4ECD-37C8-F0ED-D30016067E28}"/>
              </a:ext>
            </a:extLst>
          </p:cNvPr>
          <p:cNvSpPr/>
          <p:nvPr/>
        </p:nvSpPr>
        <p:spPr>
          <a:xfrm>
            <a:off x="286809" y="5822453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Degradação de Desempenho na Trie: Com elevadas substituições (&gt;250.000 no PDF) a performance da Trie diminui bastante (199.66s) comparada com a Hash Table (7.12s).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6C2A3690-F573-3CC4-19E3-D9342DD8C863}"/>
              </a:ext>
            </a:extLst>
          </p:cNvPr>
          <p:cNvCxnSpPr/>
          <p:nvPr/>
        </p:nvCxnSpPr>
        <p:spPr>
          <a:xfrm>
            <a:off x="0" y="4549257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24">
            <a:extLst>
              <a:ext uri="{FF2B5EF4-FFF2-40B4-BE49-F238E27FC236}">
                <a16:creationId xmlns:a16="http://schemas.microsoft.com/office/drawing/2014/main" id="{78F6716D-E1E5-7409-7558-4ED48B606C9E}"/>
              </a:ext>
            </a:extLst>
          </p:cNvPr>
          <p:cNvCxnSpPr/>
          <p:nvPr/>
        </p:nvCxnSpPr>
        <p:spPr>
          <a:xfrm>
            <a:off x="0" y="569695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xão reta 25">
            <a:extLst>
              <a:ext uri="{FF2B5EF4-FFF2-40B4-BE49-F238E27FC236}">
                <a16:creationId xmlns:a16="http://schemas.microsoft.com/office/drawing/2014/main" id="{9A1D941B-7B41-A30D-54F3-681F71BCEE15}"/>
              </a:ext>
            </a:extLst>
          </p:cNvPr>
          <p:cNvCxnSpPr/>
          <p:nvPr/>
        </p:nvCxnSpPr>
        <p:spPr>
          <a:xfrm>
            <a:off x="0" y="6856381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2">
            <a:extLst>
              <a:ext uri="{FF2B5EF4-FFF2-40B4-BE49-F238E27FC236}">
                <a16:creationId xmlns:a16="http://schemas.microsoft.com/office/drawing/2014/main" id="{1111831E-3E4E-5A83-E94E-7BC4431C2161}"/>
              </a:ext>
            </a:extLst>
          </p:cNvPr>
          <p:cNvSpPr/>
          <p:nvPr/>
        </p:nvSpPr>
        <p:spPr>
          <a:xfrm>
            <a:off x="919360" y="2352019"/>
            <a:ext cx="2367850" cy="4128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pt-PT" sz="175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ZIP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DCB6364-E677-638F-2EF7-6E39631E0769}"/>
              </a:ext>
            </a:extLst>
          </p:cNvPr>
          <p:cNvSpPr/>
          <p:nvPr/>
        </p:nvSpPr>
        <p:spPr>
          <a:xfrm>
            <a:off x="10907750" y="2356347"/>
            <a:ext cx="2625888" cy="42016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pt-PT" sz="175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PDF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DBABF0E-5923-0E69-4B8F-BDD9010FCD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122457"/>
              </p:ext>
            </p:extLst>
          </p:nvPr>
        </p:nvGraphicFramePr>
        <p:xfrm>
          <a:off x="92626" y="2870610"/>
          <a:ext cx="4098374" cy="1675904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35544">
                  <a:extLst>
                    <a:ext uri="{9D8B030D-6E8A-4147-A177-3AD203B41FA5}">
                      <a16:colId xmlns:a16="http://schemas.microsoft.com/office/drawing/2014/main" val="267247974"/>
                    </a:ext>
                  </a:extLst>
                </a:gridCol>
                <a:gridCol w="678724">
                  <a:extLst>
                    <a:ext uri="{9D8B030D-6E8A-4147-A177-3AD203B41FA5}">
                      <a16:colId xmlns:a16="http://schemas.microsoft.com/office/drawing/2014/main" val="2052028173"/>
                    </a:ext>
                  </a:extLst>
                </a:gridCol>
                <a:gridCol w="929535">
                  <a:extLst>
                    <a:ext uri="{9D8B030D-6E8A-4147-A177-3AD203B41FA5}">
                      <a16:colId xmlns:a16="http://schemas.microsoft.com/office/drawing/2014/main" val="3691885266"/>
                    </a:ext>
                  </a:extLst>
                </a:gridCol>
                <a:gridCol w="860774">
                  <a:extLst>
                    <a:ext uri="{9D8B030D-6E8A-4147-A177-3AD203B41FA5}">
                      <a16:colId xmlns:a16="http://schemas.microsoft.com/office/drawing/2014/main" val="3451662946"/>
                    </a:ext>
                  </a:extLst>
                </a:gridCol>
                <a:gridCol w="793797">
                  <a:extLst>
                    <a:ext uri="{9D8B030D-6E8A-4147-A177-3AD203B41FA5}">
                      <a16:colId xmlns:a16="http://schemas.microsoft.com/office/drawing/2014/main" val="3203762511"/>
                    </a:ext>
                  </a:extLst>
                </a:gridCol>
              </a:tblGrid>
              <a:tr h="4851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Versão / Arquitetura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Tempo de Execução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Substituições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Taxa de Compressão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Rendimento (Yield)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9972609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Hash Table (Buckets)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0.47 s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16.024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0.72:1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70.89%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25224406"/>
                  </a:ext>
                </a:extLst>
              </a:tr>
              <a:tr h="16475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Trie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0.22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16.024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0.72:1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70.89%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9695925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Pesquisa Linear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71.03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16.024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0.72:1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70.89%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4060607"/>
                  </a:ext>
                </a:extLst>
              </a:tr>
              <a:tr h="33483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Standard LZW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0.04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N/A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0.81:1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79.81%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8205987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51FE920-6431-E5EE-D2C9-4E1455B14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95893"/>
              </p:ext>
            </p:extLst>
          </p:nvPr>
        </p:nvGraphicFramePr>
        <p:xfrm>
          <a:off x="4511040" y="2846229"/>
          <a:ext cx="4470399" cy="169794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895618">
                  <a:extLst>
                    <a:ext uri="{9D8B030D-6E8A-4147-A177-3AD203B41FA5}">
                      <a16:colId xmlns:a16="http://schemas.microsoft.com/office/drawing/2014/main" val="474882699"/>
                    </a:ext>
                  </a:extLst>
                </a:gridCol>
                <a:gridCol w="728708">
                  <a:extLst>
                    <a:ext uri="{9D8B030D-6E8A-4147-A177-3AD203B41FA5}">
                      <a16:colId xmlns:a16="http://schemas.microsoft.com/office/drawing/2014/main" val="3849119452"/>
                    </a:ext>
                  </a:extLst>
                </a:gridCol>
                <a:gridCol w="996940">
                  <a:extLst>
                    <a:ext uri="{9D8B030D-6E8A-4147-A177-3AD203B41FA5}">
                      <a16:colId xmlns:a16="http://schemas.microsoft.com/office/drawing/2014/main" val="3535085555"/>
                    </a:ext>
                  </a:extLst>
                </a:gridCol>
                <a:gridCol w="923662">
                  <a:extLst>
                    <a:ext uri="{9D8B030D-6E8A-4147-A177-3AD203B41FA5}">
                      <a16:colId xmlns:a16="http://schemas.microsoft.com/office/drawing/2014/main" val="475623174"/>
                    </a:ext>
                  </a:extLst>
                </a:gridCol>
                <a:gridCol w="925471">
                  <a:extLst>
                    <a:ext uri="{9D8B030D-6E8A-4147-A177-3AD203B41FA5}">
                      <a16:colId xmlns:a16="http://schemas.microsoft.com/office/drawing/2014/main" val="2983168101"/>
                    </a:ext>
                  </a:extLst>
                </a:gridCol>
              </a:tblGrid>
              <a:tr h="39928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Versão / Arquitetura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Tempo de Execução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Substituições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Taxa de Compressão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Rendimento (Yield)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9232411"/>
                  </a:ext>
                </a:extLst>
              </a:tr>
              <a:tr h="3232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Hash Table (Buckets)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4.97 s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151.891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0.61:1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60.76%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9152568"/>
                  </a:ext>
                </a:extLst>
              </a:tr>
              <a:tr h="3232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Trie (Prefix Tree)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116.75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151.892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0.61:1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60.84%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28686439"/>
                  </a:ext>
                </a:extLst>
              </a:tr>
              <a:tr h="3232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Pesquisa Linear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799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151.891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0.61:1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60.76%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8834035"/>
                  </a:ext>
                </a:extLst>
              </a:tr>
              <a:tr h="2741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Standard LZW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0.11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N/A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0.80:1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79.45%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5609734"/>
                  </a:ext>
                </a:extLst>
              </a:tr>
            </a:tbl>
          </a:graphicData>
        </a:graphic>
      </p:graphicFrame>
      <p:sp>
        <p:nvSpPr>
          <p:cNvPr id="10" name="Text 2">
            <a:extLst>
              <a:ext uri="{FF2B5EF4-FFF2-40B4-BE49-F238E27FC236}">
                <a16:creationId xmlns:a16="http://schemas.microsoft.com/office/drawing/2014/main" id="{86624C06-049E-CF9E-B214-D99C494F9AC3}"/>
              </a:ext>
            </a:extLst>
          </p:cNvPr>
          <p:cNvSpPr/>
          <p:nvPr/>
        </p:nvSpPr>
        <p:spPr>
          <a:xfrm>
            <a:off x="5444134" y="2343753"/>
            <a:ext cx="2367850" cy="41283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pt-PT" sz="175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JPEG</a:t>
            </a:r>
            <a:endParaRPr lang="en-US" sz="1750" dirty="0">
              <a:cs typeface="Times New Roman" panose="02020603050405020304" pitchFamily="18" charset="0"/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B9908095-009B-6831-88C9-7377FDFE4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090007"/>
              </p:ext>
            </p:extLst>
          </p:nvPr>
        </p:nvGraphicFramePr>
        <p:xfrm>
          <a:off x="9242428" y="2846229"/>
          <a:ext cx="5295345" cy="1705772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74868">
                  <a:extLst>
                    <a:ext uri="{9D8B030D-6E8A-4147-A177-3AD203B41FA5}">
                      <a16:colId xmlns:a16="http://schemas.microsoft.com/office/drawing/2014/main" val="1282865952"/>
                    </a:ext>
                  </a:extLst>
                </a:gridCol>
                <a:gridCol w="880173">
                  <a:extLst>
                    <a:ext uri="{9D8B030D-6E8A-4147-A177-3AD203B41FA5}">
                      <a16:colId xmlns:a16="http://schemas.microsoft.com/office/drawing/2014/main" val="4013927170"/>
                    </a:ext>
                  </a:extLst>
                </a:gridCol>
                <a:gridCol w="1157599">
                  <a:extLst>
                    <a:ext uri="{9D8B030D-6E8A-4147-A177-3AD203B41FA5}">
                      <a16:colId xmlns:a16="http://schemas.microsoft.com/office/drawing/2014/main" val="2658285598"/>
                    </a:ext>
                  </a:extLst>
                </a:gridCol>
                <a:gridCol w="1094774">
                  <a:extLst>
                    <a:ext uri="{9D8B030D-6E8A-4147-A177-3AD203B41FA5}">
                      <a16:colId xmlns:a16="http://schemas.microsoft.com/office/drawing/2014/main" val="2566028782"/>
                    </a:ext>
                  </a:extLst>
                </a:gridCol>
                <a:gridCol w="1087931">
                  <a:extLst>
                    <a:ext uri="{9D8B030D-6E8A-4147-A177-3AD203B41FA5}">
                      <a16:colId xmlns:a16="http://schemas.microsoft.com/office/drawing/2014/main" val="1856177081"/>
                    </a:ext>
                  </a:extLst>
                </a:gridCol>
              </a:tblGrid>
              <a:tr h="3801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Versão / Arquitetura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Tempo de Execução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Substituições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Taxa de Compressão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Rendimento (Yield)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9441483"/>
                  </a:ext>
                </a:extLst>
              </a:tr>
              <a:tr h="3801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Hash Table (Buckets)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7.12 s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252.113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0.63:1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63.20%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97066793"/>
                  </a:ext>
                </a:extLst>
              </a:tr>
              <a:tr h="3801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Trie (Prefix Tree)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199.66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252.066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0.63:1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63.23%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1591011"/>
                  </a:ext>
                </a:extLst>
              </a:tr>
              <a:tr h="38017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Pesquisa Linear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748.88 s 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252.113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0.63:1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63.20%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9615502"/>
                  </a:ext>
                </a:extLst>
              </a:tr>
              <a:tr h="18506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Standard LZW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0.10 s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N/A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>
                          <a:effectLst/>
                        </a:rPr>
                        <a:t>0.80:1</a:t>
                      </a:r>
                      <a:endParaRPr lang="pt-PT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kern="100" dirty="0">
                          <a:effectLst/>
                        </a:rPr>
                        <a:t>80.19%</a:t>
                      </a:r>
                      <a:endParaRPr lang="pt-PT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1902825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4F479E32-D1AE-28E0-5E34-44981F60483E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2426D93-F36F-7AFE-0B82-BDB7B6BEF753}"/>
              </a:ext>
            </a:extLst>
          </p:cNvPr>
          <p:cNvSpPr/>
          <p:nvPr/>
        </p:nvSpPr>
        <p:spPr>
          <a:xfrm>
            <a:off x="286807" y="6995819"/>
            <a:ext cx="14056659" cy="944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pt-PT" sz="1900" dirty="0">
                <a:solidFill>
                  <a:srgbClr val="EBECEF"/>
                </a:solidFill>
                <a:ea typeface="Epilogue" pitchFamily="34" charset="-122"/>
                <a:cs typeface="Times New Roman" panose="02020603050405020304" pitchFamily="18" charset="0"/>
              </a:rPr>
              <a:t>Conclusão: A Trie é melhor para pesquisas de prefixos em texto, mas a Hash Table demonstra ser a arquitetura mais robusta para isolar o impacto de substituições em ficheiros de alta entropia.</a:t>
            </a:r>
            <a:endParaRPr lang="en-US" sz="1900" dirty="0">
              <a:cs typeface="Times New Roman" panose="02020603050405020304" pitchFamily="18" charset="0"/>
            </a:endParaRPr>
          </a:p>
        </p:txBody>
      </p:sp>
      <p:cxnSp>
        <p:nvCxnSpPr>
          <p:cNvPr id="27" name="Conexão reta 26">
            <a:extLst>
              <a:ext uri="{FF2B5EF4-FFF2-40B4-BE49-F238E27FC236}">
                <a16:creationId xmlns:a16="http://schemas.microsoft.com/office/drawing/2014/main" id="{43183B81-4304-91A8-EB35-EF1F54C0281B}"/>
              </a:ext>
            </a:extLst>
          </p:cNvPr>
          <p:cNvCxnSpPr/>
          <p:nvPr/>
        </p:nvCxnSpPr>
        <p:spPr>
          <a:xfrm>
            <a:off x="0" y="7975960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83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allAtOnce" animBg="1"/>
      <p:bldP spid="22" grpId="0" build="allAtOnce" animBg="1"/>
      <p:bldP spid="23" grpId="0" build="allAtOnce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3107" y="1230649"/>
            <a:ext cx="78282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Conclusão e Trabalho Futuro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55120"/>
            <a:ext cx="5129561" cy="1298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075" y="26360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Não existe uma Arquitetura universal perfeita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6071" y="3217146"/>
            <a:ext cx="4137344" cy="3339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Trie: Boa para compressão de texto (procura O(L), mas ineficiente na política de substituição com alta entropia.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Hash Table: Demonstrou ser a estrutura mais robusta, garantindo tempos baixos sem diminuir a compressão.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040" y="3451653"/>
            <a:ext cx="4563859" cy="1143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9519" y="3617758"/>
            <a:ext cx="40444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pt-PT" b="1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Superioridade da Política de Substituição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757077" y="4100385"/>
            <a:ext cx="4136903" cy="245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O LZW-HX adapta-se à entropia do ficheiro ao reciclar os padrões menos úteis. O uso de reset prejudicou a compressão, baixando o rendimento para 62% porque destrói o histórico de padrões longos.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8359" y="4127108"/>
            <a:ext cx="4945970" cy="11430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04715" y="42773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EBECEF"/>
                </a:solidFill>
                <a:latin typeface="Times New Roman" panose="02020603050405020304" pitchFamily="18" charset="0"/>
                <a:ea typeface="Fraunces Medium" pitchFamily="34" charset="-122"/>
                <a:cs typeface="Times New Roman" panose="02020603050405020304" pitchFamily="18" charset="0"/>
              </a:rPr>
              <a:t>Trabalho Futuro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DF12F32-E60D-87F6-1D00-3A45D6435901}"/>
              </a:ext>
            </a:extLst>
          </p:cNvPr>
          <p:cNvSpPr txBox="1"/>
          <p:nvPr/>
        </p:nvSpPr>
        <p:spPr>
          <a:xfrm>
            <a:off x="11831444" y="7095649"/>
            <a:ext cx="2798956" cy="369332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14A438D0-B7F4-7A29-62B6-58B972C51E3D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4"/>
            <a:ext cx="1891598" cy="944283"/>
          </a:xfrm>
          <a:prstGeom prst="rect">
            <a:avLst/>
          </a:prstGeom>
          <a:noFill/>
          <a:ln>
            <a:noFill/>
            <a:prstDash/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35728F80-B564-85EE-64F1-EC357061758A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  <p:cxnSp>
        <p:nvCxnSpPr>
          <p:cNvPr id="15" name="Conexão reta 14">
            <a:extLst>
              <a:ext uri="{FF2B5EF4-FFF2-40B4-BE49-F238E27FC236}">
                <a16:creationId xmlns:a16="http://schemas.microsoft.com/office/drawing/2014/main" id="{09AF2682-7EB6-9E33-686B-47573FC7F071}"/>
              </a:ext>
            </a:extLst>
          </p:cNvPr>
          <p:cNvCxnSpPr/>
          <p:nvPr/>
        </p:nvCxnSpPr>
        <p:spPr>
          <a:xfrm>
            <a:off x="0" y="2167657"/>
            <a:ext cx="14630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6"/>
          <p:cNvSpPr/>
          <p:nvPr/>
        </p:nvSpPr>
        <p:spPr>
          <a:xfrm>
            <a:off x="9658359" y="4895197"/>
            <a:ext cx="4635494" cy="2898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Exploração de uma solução que junte a velocidade de pesquisa das Tries a um mecanismo de controlo de estado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sz="1750" dirty="0">
                <a:solidFill>
                  <a:srgbClr val="EBECEF"/>
                </a:solidFill>
                <a:latin typeface="Times New Roman" panose="02020603050405020304" pitchFamily="18" charset="0"/>
                <a:ea typeface="Epilogue" pitchFamily="34" charset="-122"/>
                <a:cs typeface="Times New Roman" panose="02020603050405020304" pitchFamily="18" charset="0"/>
              </a:rPr>
              <a:t>O objetivo é reduzir o esforço das substituições e otimizar o uso da memória cache, tornando a execução mais eficiente a nível energético.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build="allAtOnce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80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60E1B01-A1F7-FD96-2186-737B6F8DE2C7}"/>
              </a:ext>
            </a:extLst>
          </p:cNvPr>
          <p:cNvSpPr txBox="1"/>
          <p:nvPr/>
        </p:nvSpPr>
        <p:spPr>
          <a:xfrm>
            <a:off x="2682240" y="3183776"/>
            <a:ext cx="9948672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GAME OVER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7BD27BA-FE1C-1DF3-A672-2F7D037E35B1}"/>
              </a:ext>
            </a:extLst>
          </p:cNvPr>
          <p:cNvSpPr txBox="1"/>
          <p:nvPr/>
        </p:nvSpPr>
        <p:spPr>
          <a:xfrm>
            <a:off x="11831444" y="7095649"/>
            <a:ext cx="2798956" cy="1133951"/>
          </a:xfrm>
          <a:prstGeom prst="rect">
            <a:avLst/>
          </a:prstGeom>
          <a:solidFill>
            <a:srgbClr val="080E26"/>
          </a:solidFill>
        </p:spPr>
        <p:txBody>
          <a:bodyPr wrap="square" rtlCol="0">
            <a:spAutoFit/>
          </a:bodyPr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80191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1110</Words>
  <Application>Microsoft Office PowerPoint</Application>
  <PresentationFormat>Personalizados</PresentationFormat>
  <Paragraphs>211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8" baseType="lpstr">
      <vt:lpstr>Aptos</vt:lpstr>
      <vt:lpstr>Fraunces Medium</vt:lpstr>
      <vt:lpstr>Times New Roman</vt:lpstr>
      <vt:lpstr>Cambria Math</vt:lpstr>
      <vt:lpstr>Wingdings</vt:lpstr>
      <vt:lpstr>Tahoma</vt:lpstr>
      <vt:lpstr>Epilogue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Luís Baptista</cp:lastModifiedBy>
  <cp:revision>26</cp:revision>
  <dcterms:created xsi:type="dcterms:W3CDTF">2026-04-16T21:41:28Z</dcterms:created>
  <dcterms:modified xsi:type="dcterms:W3CDTF">2026-04-20T22:01:07Z</dcterms:modified>
</cp:coreProperties>
</file>