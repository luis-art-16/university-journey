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8F875A74.xml" ContentType="application/vnd.ms-powerpoint.comments+xml"/>
  <Override PartName="/ppt/notesSlides/notesSlide2.xml" ContentType="application/vnd.openxmlformats-officedocument.presentationml.notesSlide+xml"/>
  <Override PartName="/ppt/comments/modernComment_101_1377AD75.xml" ContentType="application/vnd.ms-powerpoint.comments+xml"/>
  <Override PartName="/ppt/notesSlides/notesSlide3.xml" ContentType="application/vnd.openxmlformats-officedocument.presentationml.notesSlide+xml"/>
  <Override PartName="/ppt/comments/modernComment_109_8B8E44E2.xml" ContentType="application/vnd.ms-powerpoint.comments+xml"/>
  <Override PartName="/ppt/notesSlides/notesSlide4.xml" ContentType="application/vnd.openxmlformats-officedocument.presentationml.notesSlide+xml"/>
  <Override PartName="/ppt/comments/modernComment_10A_A2B5F026.xml" ContentType="application/vnd.ms-powerpoint.comments+xml"/>
  <Override PartName="/ppt/notesSlides/notesSlide5.xml" ContentType="application/vnd.openxmlformats-officedocument.presentationml.notesSlide+xml"/>
  <Override PartName="/ppt/comments/modernComment_110_73ABD042.xml" ContentType="application/vnd.ms-powerpoint.comments+xml"/>
  <Override PartName="/ppt/notesSlides/notesSlide6.xml" ContentType="application/vnd.openxmlformats-officedocument.presentationml.notesSlide+xml"/>
  <Override PartName="/ppt/comments/modernComment_10B_DC6FD6DC.xml" ContentType="application/vnd.ms-powerpoint.comments+xml"/>
  <Override PartName="/ppt/notesSlides/notesSlide7.xml" ContentType="application/vnd.openxmlformats-officedocument.presentationml.notesSlide+xml"/>
  <Override PartName="/ppt/comments/modernComment_10C_8E4C3D1A.xml" ContentType="application/vnd.ms-powerpoint.comments+xml"/>
  <Override PartName="/ppt/notesSlides/notesSlide8.xml" ContentType="application/vnd.openxmlformats-officedocument.presentationml.notesSlide+xml"/>
  <Override PartName="/ppt/comments/modernComment_10D_36266B86.xml" ContentType="application/vnd.ms-powerpoint.comments+xml"/>
  <Override PartName="/ppt/notesSlides/notesSlide9.xml" ContentType="application/vnd.openxmlformats-officedocument.presentationml.notesSlide+xml"/>
  <Override PartName="/ppt/comments/modernComment_10E_14145552.xml" ContentType="application/vnd.ms-powerpoint.comments+xml"/>
  <Override PartName="/ppt/notesSlides/notesSlide10.xml" ContentType="application/vnd.openxmlformats-officedocument.presentationml.notesSlide+xml"/>
  <Override PartName="/ppt/comments/modernComment_10F_D081F62E.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65" r:id="rId4"/>
    <p:sldId id="266" r:id="rId5"/>
    <p:sldId id="272" r:id="rId6"/>
    <p:sldId id="267" r:id="rId7"/>
    <p:sldId id="268" r:id="rId8"/>
    <p:sldId id="269" r:id="rId9"/>
    <p:sldId id="270" r:id="rId10"/>
    <p:sldId id="271" r:id="rId11"/>
  </p:sldIdLst>
  <p:sldSz cx="12192000" cy="6858000"/>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3293C52-8BEA-1726-83E1-49AF8286974A}" name="Luís Baptista" initials="LB" userId="20fcfdb117550c5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9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8/10/relationships/authors" Targe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omments/modernComment_10A_A2B5F026.xml><?xml version="1.0" encoding="utf-8"?>
<p188:cmLst xmlns:a="http://schemas.openxmlformats.org/drawingml/2006/main" xmlns:r="http://schemas.openxmlformats.org/officeDocument/2006/relationships" xmlns:p188="http://schemas.microsoft.com/office/powerpoint/2018/8/main">
  <p188:cm id="{B33964D4-E005-48A2-A075-0659D56F24A7}" authorId="{13293C52-8BEA-1726-83E1-49AF8286974A}" created="2025-11-08T22:28:09.451">
    <pc:sldMkLst xmlns:pc="http://schemas.microsoft.com/office/powerpoint/2013/main/command">
      <pc:docMk/>
      <pc:sldMk cId="2729832486" sldId="266"/>
    </pc:sldMkLst>
    <p188:txBody>
      <a:bodyPr/>
      <a:lstStyle/>
      <a:p>
        <a:r>
          <a:rPr lang="pt-PT"/>
          <a:t>Nesta fase, apliquei diferentes algoritmos de classificação apenas com features de contexto, evitando utilizar diretamente os sinais fisiológicos alvo e assim prevenir fuga de dados.  O modelo Naive Bayes obteve um resultado excelente: 94.06% de acurácia e 0.786 de Kappa
Mas os modelos otimizados (Random Forest e XGBoost) foram perfeitos. Como podem ver, alcançaram 100% de acurácia e 1.0 de Kappa. À primeira vista, parece overfitting, mas não é overfitting. A cross validation confirmou um R²=1. Isto prova que as features de contexto (movimento e tempo) são preditores perfeitos para o label de stress neste dataset."</a:t>
        </a:r>
      </a:p>
    </p188:txBody>
  </p188:cm>
</p188:cmLst>
</file>

<file path=ppt/comments/modernComment_10B_DC6FD6DC.xml><?xml version="1.0" encoding="utf-8"?>
<p188:cmLst xmlns:a="http://schemas.openxmlformats.org/drawingml/2006/main" xmlns:r="http://schemas.openxmlformats.org/officeDocument/2006/relationships" xmlns:p188="http://schemas.microsoft.com/office/powerpoint/2018/8/main">
  <p188:cm id="{396CEB43-FA43-4E6D-A1C8-E40FA9FC4B55}" authorId="{13293C52-8BEA-1726-83E1-49AF8286974A}" created="2025-11-08T22:31:24.438">
    <pc:sldMkLst xmlns:pc="http://schemas.microsoft.com/office/powerpoint/2013/main/command">
      <pc:docMk/>
      <pc:sldMk cId="3698317020" sldId="267"/>
    </pc:sldMkLst>
    <p188:txBody>
      <a:bodyPr/>
      <a:lstStyle/>
      <a:p>
        <a:r>
          <a:rPr lang="pt-PT"/>
          <a:t>Avancei para prever sinais fisiológicos individuais, como a frequência cardíaca (HR), com regressão linear, Random Forest, XGBoost e uma rede MLP. Os modelos mais avançados explicam quase toda a variância do HR, com R^2  muito próximo de 1 e erro baixo, mas a regressão linear mostrou que existem relações não lineares difíceis de capturar por métodos simples.</a:t>
        </a:r>
      </a:p>
    </p188:txBody>
  </p188:cm>
</p188:cmLst>
</file>

<file path=ppt/comments/modernComment_10C_8E4C3D1A.xml><?xml version="1.0" encoding="utf-8"?>
<p188:cmLst xmlns:a="http://schemas.openxmlformats.org/drawingml/2006/main" xmlns:r="http://schemas.openxmlformats.org/officeDocument/2006/relationships" xmlns:p188="http://schemas.microsoft.com/office/powerpoint/2018/8/main">
  <p188:cm id="{A26FAA60-D4C9-4FC7-8B66-58CD0315B650}" authorId="{13293C52-8BEA-1726-83E1-49AF8286974A}" created="2025-11-08T22:31:43.163">
    <pc:sldMkLst xmlns:pc="http://schemas.microsoft.com/office/powerpoint/2013/main/command">
      <pc:docMk/>
      <pc:sldMk cId="2387361050" sldId="268"/>
    </pc:sldMkLst>
    <p188:txBody>
      <a:bodyPr/>
      <a:lstStyle/>
      <a:p>
        <a:r>
          <a:rPr lang="pt-PT"/>
          <a:t>Para prever a atividade eletrodérmica (EDA), todos os modelos — desde os mais simples aos mais complexos — atingiram 
R^2  muito elevados, acima de 0.98. Isto revela uma forte interdependência entre os sinais fisiológicos e o movimento, colocando em evidência a redundância do dataset. Ao mesmo tempo, demonstra o potencial dos modelos para previsão biomédica.</a:t>
        </a:r>
      </a:p>
    </p188:txBody>
  </p188:cm>
</p188:cmLst>
</file>

<file path=ppt/comments/modernComment_10D_36266B86.xml><?xml version="1.0" encoding="utf-8"?>
<p188:cmLst xmlns:a="http://schemas.openxmlformats.org/drawingml/2006/main" xmlns:r="http://schemas.openxmlformats.org/officeDocument/2006/relationships" xmlns:p188="http://schemas.microsoft.com/office/powerpoint/2018/8/main">
  <p188:cm id="{E2A3626A-2B0D-48B0-8407-D74C17124DE4}" authorId="{13293C52-8BEA-1726-83E1-49AF8286974A}" created="2025-11-08T22:31:55.197">
    <pc:sldMkLst xmlns:pc="http://schemas.microsoft.com/office/powerpoint/2013/main/command">
      <pc:docMk/>
      <pc:sldMk cId="908487558" sldId="269"/>
    </pc:sldMkLst>
    <p188:txBody>
      <a:bodyPr/>
      <a:lstStyle/>
      <a:p>
        <a:r>
          <a:rPr lang="pt-PT"/>
          <a:t>Testei métodos de clustering, como K-Means e K-Medoids, para tentar encontrar grupos naturais de stress. Os coeficientes de silhueta foram muito baixos, mostrando que os dados não se separam bem em clusters distintos, mas sim formam um contínuo fisiológico. Este resultado é importante, pois desafia a ideia de que é possível agrupar estados de stress apenas pelos sinais</a:t>
        </a:r>
      </a:p>
    </p188:txBody>
  </p188:cm>
</p188:cmLst>
</file>

<file path=ppt/comments/modernComment_10E_14145552.xml><?xml version="1.0" encoding="utf-8"?>
<p188:cmLst xmlns:a="http://schemas.openxmlformats.org/drawingml/2006/main" xmlns:r="http://schemas.openxmlformats.org/officeDocument/2006/relationships" xmlns:p188="http://schemas.microsoft.com/office/powerpoint/2018/8/main">
  <p188:cm id="{DA7E5FF4-2DA1-4F41-883F-24BA471EBB4D}" authorId="{13293C52-8BEA-1726-83E1-49AF8286974A}" created="2025-11-08T22:32:08.770">
    <pc:sldMkLst xmlns:pc="http://schemas.microsoft.com/office/powerpoint/2013/main/command">
      <pc:docMk/>
      <pc:sldMk cId="336876882" sldId="270"/>
    </pc:sldMkLst>
    <p188:txBody>
      <a:bodyPr/>
      <a:lstStyle/>
      <a:p>
        <a:r>
          <a:rPr lang="pt-PT"/>
          <a:t>Validei a performance com técnicas rigorosas, como cross validation e AutoML. Os modelos supervisionados conseguem separar completamente as classes de stress e prever sinais fisiológicos com precisão quase total. Resultados tão elevados reforçam a importância de controlar por redundância e possível fuga de dados, mas também mostram o potencial desta abordagem em ambiente clínico</a:t>
        </a:r>
      </a:p>
    </p188:txBody>
  </p188:cm>
</p188:cmLst>
</file>

<file path=ppt/comments/modernComment_10F_D081F62E.xml><?xml version="1.0" encoding="utf-8"?>
<p188:cmLst xmlns:a="http://schemas.openxmlformats.org/drawingml/2006/main" xmlns:r="http://schemas.openxmlformats.org/officeDocument/2006/relationships" xmlns:p188="http://schemas.microsoft.com/office/powerpoint/2018/8/main">
  <p188:cm id="{B89194CA-3040-4610-8865-8A2060B36250}" authorId="{13293C52-8BEA-1726-83E1-49AF8286974A}" created="2025-11-08T22:32:20.344">
    <pc:sldMkLst xmlns:pc="http://schemas.microsoft.com/office/powerpoint/2013/main/command">
      <pc:docMk/>
      <pc:sldMk cId="3498178094" sldId="271"/>
    </pc:sldMkLst>
    <p188:txBody>
      <a:bodyPr/>
      <a:lstStyle/>
      <a:p>
        <a:r>
          <a:rPr lang="pt-PT"/>
          <a:t>Em suma, a inteligência artificial aplicada a sensores vestíveis permite monitorização e previsão de stress com grande precisão. No entanto, há desafios na generalização dos modelos e na identificação de grupos naturais de stress, sugerindo que a abordagem deve ser complementada com validação em contexto real. O futuro passa por soluções integradas e éticas na saúde ocupacional</a:t>
        </a:r>
      </a:p>
    </p188:txBody>
  </p188:cm>
</p188:cmLst>
</file>

<file path=ppt/comments/modernComment_100_8F875A74.xml><?xml version="1.0" encoding="utf-8"?>
<p188:cmLst xmlns:a="http://schemas.openxmlformats.org/drawingml/2006/main" xmlns:r="http://schemas.openxmlformats.org/officeDocument/2006/relationships" xmlns:p188="http://schemas.microsoft.com/office/powerpoint/2018/8/main">
  <p188:cm id="{4D9F5E3B-400F-4E54-9E04-B426A15FDEFA}" authorId="{13293C52-8BEA-1726-83E1-49AF8286974A}" created="2025-11-08T19:42:08.679">
    <pc:sldMkLst xmlns:pc="http://schemas.microsoft.com/office/powerpoint/2013/main/command">
      <pc:docMk/>
      <pc:sldMk cId="2408012404" sldId="256"/>
    </pc:sldMkLst>
    <p188:txBody>
      <a:bodyPr/>
      <a:lstStyle/>
      <a:p>
        <a:r>
          <a:rPr lang="pt-PT"/>
          <a:t>Boa tarde, o meu projeto foca-se na análise de dados de sensores wearables de enfermeiras para prever indicadores de stress. </a:t>
        </a:r>
      </a:p>
    </p188:txBody>
  </p188:cm>
</p188:cmLst>
</file>

<file path=ppt/comments/modernComment_101_1377AD75.xml><?xml version="1.0" encoding="utf-8"?>
<p188:cmLst xmlns:a="http://schemas.openxmlformats.org/drawingml/2006/main" xmlns:r="http://schemas.openxmlformats.org/officeDocument/2006/relationships" xmlns:p188="http://schemas.microsoft.com/office/powerpoint/2018/8/main">
  <p188:cm id="{8BB551B4-4744-4F2E-96D1-0AAA3EA25891}" authorId="{13293C52-8BEA-1726-83E1-49AF8286974A}" created="2025-11-08T19:42:28.163">
    <pc:sldMkLst xmlns:pc="http://schemas.microsoft.com/office/powerpoint/2013/main/command">
      <pc:docMk/>
      <pc:sldMk cId="326610293" sldId="257"/>
    </pc:sldMkLst>
    <p188:txBody>
      <a:bodyPr/>
      <a:lstStyle/>
      <a:p>
        <a:r>
          <a:rPr lang="pt-PT"/>
          <a:t>O dataset escolhido foi o 'Continuous Stress Monitoring of Hospital Nurses', com 11.5 milhões de registos. Como podem ver na Figura , a análise exploratória foi o passo mais importante. Descobri que a coluna label (o alvo de stress) não era constante, mas sim categórica, com três valores: 0, 1 e 2. Isto validou a tarefa principal de Classificação.
O dataset era rico, permitindo-me definir três abordagens de análise distintas:
Classificação: Prever o label (stress).
Regressão: Prever os sinais fisiológicos HR (Ritmo Cardíaco) e EDA (Stress da Pele).
Clustering: Tentar descobrir grupos naturais nos dados.</a:t>
        </a:r>
      </a:p>
    </p188:txBody>
  </p188:cm>
</p188:cmLst>
</file>

<file path=ppt/comments/modernComment_109_8B8E44E2.xml><?xml version="1.0" encoding="utf-8"?>
<p188:cmLst xmlns:a="http://schemas.openxmlformats.org/drawingml/2006/main" xmlns:r="http://schemas.openxmlformats.org/officeDocument/2006/relationships" xmlns:p188="http://schemas.microsoft.com/office/powerpoint/2018/8/main">
  <p188:cm id="{F6B19A52-8988-4B6C-B6BE-0C897F82C9FC}" authorId="{13293C52-8BEA-1726-83E1-49AF8286974A}" created="2025-11-08T22:50:06.512">
    <pc:sldMkLst xmlns:pc="http://schemas.microsoft.com/office/powerpoint/2013/main/command">
      <pc:docMk/>
      <pc:sldMk cId="2341356770" sldId="265"/>
    </pc:sldMkLst>
    <p188:txBody>
      <a:bodyPr/>
      <a:lstStyle/>
      <a:p>
        <a:r>
          <a:rPr lang="pt-PT"/>
          <a:t>Este slide mostra o processo essencial para preparar os dados antes de treinar os modelos. Comecei por ler todas as medições, criei amostras representativas, tratei datas e valores em falta, e normalizei as variáveis. A inteligência na preparação foi a criação de novas métricas que ajudam os modelos a compreender padrões reais, como ‘MoveMagnitude’, que resume o movimento das enfermeiras ao longo do tempo. Também tive atenção à remoção de campos que poderiam causar fuga de dados e afetar a validade da análise.</a:t>
        </a:r>
      </a:p>
    </p188:txBody>
  </p188:cm>
</p188:cmLst>
</file>

<file path=ppt/comments/modernComment_110_73ABD042.xml><?xml version="1.0" encoding="utf-8"?>
<p188:cmLst xmlns:a="http://schemas.openxmlformats.org/drawingml/2006/main" xmlns:r="http://schemas.openxmlformats.org/officeDocument/2006/relationships" xmlns:p188="http://schemas.microsoft.com/office/powerpoint/2018/8/main">
  <p188:cm id="{7B868343-7D93-4922-8DF6-F9AF2EFC428E}" authorId="{13293C52-8BEA-1726-83E1-49AF8286974A}" created="2025-11-08T22:51:10.660">
    <pc:sldMkLst xmlns:pc="http://schemas.microsoft.com/office/powerpoint/2013/main/command">
      <pc:docMk/>
      <pc:sldMk cId="1940639810" sldId="272"/>
    </pc:sldMkLst>
    <p188:txBody>
      <a:bodyPr/>
      <a:lstStyle/>
      <a:p>
        <a:r>
          <a:rPr lang="pt-PT"/>
          <a:t>Nesta etapa, usei uma pipeline semelhante à da classificação, mas o objetivo foi diferente: queria prever sinais como frequência cardíaca e atividade eletrodérmica. Aqui é importante garantir que os dados fisiológicos são bem tratados, sobretudo porque introduzimos variáveis mais sensíveis como HR e EDA. Este cuidado na seleção e tratamento das variáveis é crítico para garantir previsões fiáveis nos modelos de regressão e evitar erros relacionados com dados inconsistentes ou redundantes.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948F21-65F0-4585-B74D-4DE7C21418C9}" type="datetimeFigureOut">
              <a:rPr lang="pt-PT" smtClean="0"/>
              <a:t>11/11/2025</a:t>
            </a:fld>
            <a:endParaRPr lang="pt-PT"/>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PT"/>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692395-64DF-44BB-9800-A7E320F7CEC0}" type="slidenum">
              <a:rPr lang="pt-PT" smtClean="0"/>
              <a:t>‹nº›</a:t>
            </a:fld>
            <a:endParaRPr lang="pt-PT"/>
          </a:p>
        </p:txBody>
      </p:sp>
    </p:spTree>
    <p:extLst>
      <p:ext uri="{BB962C8B-B14F-4D97-AF65-F5344CB8AC3E}">
        <p14:creationId xmlns:p14="http://schemas.microsoft.com/office/powerpoint/2010/main" val="544369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pt-PT" sz="1200" kern="1200" dirty="0">
                <a:solidFill>
                  <a:schemeClr val="tx1"/>
                </a:solidFill>
                <a:effectLst/>
                <a:latin typeface="+mn-lt"/>
                <a:ea typeface="+mn-ea"/>
                <a:cs typeface="+mn-cs"/>
              </a:rPr>
              <a:t>Boa tarde, o meu projeto foca-se na análise de dados de sensores wearables de enfermeiras para prever indicadores de stress. </a:t>
            </a:r>
            <a:endParaRPr lang="pt-PT" dirty="0"/>
          </a:p>
        </p:txBody>
      </p:sp>
      <p:sp>
        <p:nvSpPr>
          <p:cNvPr id="4" name="Marcador de Posição do Número do Diapositivo 3"/>
          <p:cNvSpPr>
            <a:spLocks noGrp="1"/>
          </p:cNvSpPr>
          <p:nvPr>
            <p:ph type="sldNum" sz="quarter" idx="5"/>
          </p:nvPr>
        </p:nvSpPr>
        <p:spPr/>
        <p:txBody>
          <a:bodyPr/>
          <a:lstStyle/>
          <a:p>
            <a:fld id="{9B692395-64DF-44BB-9800-A7E320F7CEC0}" type="slidenum">
              <a:rPr lang="pt-PT" smtClean="0"/>
              <a:t>1</a:t>
            </a:fld>
            <a:endParaRPr lang="pt-PT"/>
          </a:p>
        </p:txBody>
      </p:sp>
    </p:spTree>
    <p:extLst>
      <p:ext uri="{BB962C8B-B14F-4D97-AF65-F5344CB8AC3E}">
        <p14:creationId xmlns:p14="http://schemas.microsoft.com/office/powerpoint/2010/main" val="199974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kern="1200" dirty="0">
                <a:solidFill>
                  <a:schemeClr val="tx1"/>
                </a:solidFill>
                <a:effectLst/>
                <a:latin typeface="+mn-lt"/>
                <a:ea typeface="+mn-ea"/>
                <a:cs typeface="+mn-cs"/>
              </a:rPr>
              <a:t>O dataset escolhido foi o 'Continuous Stress Monitoring of Hospital Nurses', com 11.5 milhões de registos. Como podem ver na Figura 1, a análise exploratória foi o passo mais importante. Descobri que a coluna label (o alvo de stress) não era constante, mas sim categórica, com três valores: 0, 1 e 2. Isto validou a tarefa principal de Classificação.</a:t>
            </a:r>
            <a:br>
              <a:rPr lang="pt-PT" sz="1200" kern="1200" dirty="0">
                <a:solidFill>
                  <a:schemeClr val="tx1"/>
                </a:solidFill>
                <a:effectLst/>
                <a:latin typeface="+mn-lt"/>
                <a:ea typeface="+mn-ea"/>
                <a:cs typeface="+mn-cs"/>
              </a:rPr>
            </a:br>
            <a:r>
              <a:rPr lang="pt-PT" sz="1200" kern="1200" dirty="0">
                <a:solidFill>
                  <a:schemeClr val="tx1"/>
                </a:solidFill>
                <a:effectLst/>
                <a:latin typeface="+mn-lt"/>
                <a:ea typeface="+mn-ea"/>
                <a:cs typeface="+mn-cs"/>
              </a:rPr>
              <a:t>O dataset era rico, permitindo-me definir três abordagens de análise distintas:</a:t>
            </a:r>
            <a:br>
              <a:rPr lang="pt-PT" sz="1200" kern="1200" dirty="0">
                <a:solidFill>
                  <a:schemeClr val="tx1"/>
                </a:solidFill>
                <a:effectLst/>
                <a:latin typeface="+mn-lt"/>
                <a:ea typeface="+mn-ea"/>
                <a:cs typeface="+mn-cs"/>
              </a:rPr>
            </a:br>
            <a:r>
              <a:rPr lang="pt-PT" sz="1200" kern="1200" dirty="0">
                <a:solidFill>
                  <a:schemeClr val="tx1"/>
                </a:solidFill>
                <a:effectLst/>
                <a:latin typeface="+mn-lt"/>
                <a:ea typeface="+mn-ea"/>
                <a:cs typeface="+mn-cs"/>
              </a:rPr>
              <a:t>Classificação: Prever o label (stress).</a:t>
            </a:r>
            <a:br>
              <a:rPr lang="pt-PT" sz="1200" kern="1200" dirty="0">
                <a:solidFill>
                  <a:schemeClr val="tx1"/>
                </a:solidFill>
                <a:effectLst/>
                <a:latin typeface="+mn-lt"/>
                <a:ea typeface="+mn-ea"/>
                <a:cs typeface="+mn-cs"/>
              </a:rPr>
            </a:br>
            <a:r>
              <a:rPr lang="pt-PT" sz="1200" kern="1200" dirty="0">
                <a:solidFill>
                  <a:schemeClr val="tx1"/>
                </a:solidFill>
                <a:effectLst/>
                <a:latin typeface="+mn-lt"/>
                <a:ea typeface="+mn-ea"/>
                <a:cs typeface="+mn-cs"/>
              </a:rPr>
              <a:t>Regressão: Prever os sinais fisiológicos HR (Ritmo Cardíaco) e EDA (Stress da Pele).</a:t>
            </a:r>
            <a:br>
              <a:rPr lang="pt-PT" sz="1200" kern="1200" dirty="0">
                <a:solidFill>
                  <a:schemeClr val="tx1"/>
                </a:solidFill>
                <a:effectLst/>
                <a:latin typeface="+mn-lt"/>
                <a:ea typeface="+mn-ea"/>
                <a:cs typeface="+mn-cs"/>
              </a:rPr>
            </a:br>
            <a:r>
              <a:rPr lang="pt-PT" sz="1200" kern="1200" dirty="0">
                <a:solidFill>
                  <a:schemeClr val="tx1"/>
                </a:solidFill>
                <a:effectLst/>
                <a:latin typeface="+mn-lt"/>
                <a:ea typeface="+mn-ea"/>
                <a:cs typeface="+mn-cs"/>
              </a:rPr>
              <a:t>Clustering: Tentar descobrir grupos naturais nos dados.</a:t>
            </a:r>
          </a:p>
          <a:p>
            <a:endParaRPr lang="pt-PT" dirty="0"/>
          </a:p>
        </p:txBody>
      </p:sp>
      <p:sp>
        <p:nvSpPr>
          <p:cNvPr id="4" name="Marcador de Posição do Número do Diapositivo 3"/>
          <p:cNvSpPr>
            <a:spLocks noGrp="1"/>
          </p:cNvSpPr>
          <p:nvPr>
            <p:ph type="sldNum" sz="quarter" idx="5"/>
          </p:nvPr>
        </p:nvSpPr>
        <p:spPr/>
        <p:txBody>
          <a:bodyPr/>
          <a:lstStyle/>
          <a:p>
            <a:fld id="{9B692395-64DF-44BB-9800-A7E320F7CEC0}" type="slidenum">
              <a:rPr lang="pt-PT" smtClean="0"/>
              <a:t>2</a:t>
            </a:fld>
            <a:endParaRPr lang="pt-PT"/>
          </a:p>
        </p:txBody>
      </p:sp>
    </p:spTree>
    <p:extLst>
      <p:ext uri="{BB962C8B-B14F-4D97-AF65-F5344CB8AC3E}">
        <p14:creationId xmlns:p14="http://schemas.microsoft.com/office/powerpoint/2010/main" val="278527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pt-PT" sz="1200" kern="1200" dirty="0">
                <a:solidFill>
                  <a:schemeClr val="tx1"/>
                </a:solidFill>
                <a:effectLst/>
                <a:latin typeface="+mn-lt"/>
                <a:ea typeface="+mn-ea"/>
                <a:cs typeface="+mn-cs"/>
              </a:rPr>
              <a:t>Este slide mostra o processo essencial para preparar os dados antes de treinar os modelos. Comecei por ler todas as medições, criei amostras representativas, tratei datas e valores em falta, e normalizei as variáveis. A inteligência na preparação foi a criação de novas métricas que ajudam os modelos a compreender padrões reais, como ‘MoveMagnitude’, que resume o movimento das enfermeiras ao longo do tempo. Também tive atenção à remoção de campos que poderiam causar fuga de dados e afetar a validade da análise.</a:t>
            </a:r>
            <a:endParaRPr lang="pt-PT" dirty="0"/>
          </a:p>
        </p:txBody>
      </p:sp>
      <p:sp>
        <p:nvSpPr>
          <p:cNvPr id="4" name="Marcador de Posição do Número do Diapositivo 3"/>
          <p:cNvSpPr>
            <a:spLocks noGrp="1"/>
          </p:cNvSpPr>
          <p:nvPr>
            <p:ph type="sldNum" sz="quarter" idx="5"/>
          </p:nvPr>
        </p:nvSpPr>
        <p:spPr/>
        <p:txBody>
          <a:bodyPr/>
          <a:lstStyle/>
          <a:p>
            <a:fld id="{9B692395-64DF-44BB-9800-A7E320F7CEC0}" type="slidenum">
              <a:rPr lang="pt-PT" smtClean="0"/>
              <a:t>3</a:t>
            </a:fld>
            <a:endParaRPr lang="pt-PT"/>
          </a:p>
        </p:txBody>
      </p:sp>
    </p:spTree>
    <p:extLst>
      <p:ext uri="{BB962C8B-B14F-4D97-AF65-F5344CB8AC3E}">
        <p14:creationId xmlns:p14="http://schemas.microsoft.com/office/powerpoint/2010/main" val="680468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kern="1200" dirty="0">
                <a:solidFill>
                  <a:schemeClr val="tx1"/>
                </a:solidFill>
                <a:effectLst/>
                <a:latin typeface="+mn-lt"/>
                <a:ea typeface="+mn-ea"/>
                <a:cs typeface="+mn-cs"/>
              </a:rPr>
              <a:t>Nesta fase, apliquei diferentes algoritmos de classificação apenas com features de contexto, evitando utilizar diretamente os sinais fisiológicos alvo e assim prevenir fuga de dados. O modelo Naive Bayes obteve um resultado excelente: 94.06% de acurácia e 0.786 de Kappa</a:t>
            </a:r>
            <a:br>
              <a:rPr lang="pt-PT" sz="1200" kern="1200" dirty="0">
                <a:solidFill>
                  <a:schemeClr val="tx1"/>
                </a:solidFill>
                <a:effectLst/>
                <a:latin typeface="+mn-lt"/>
                <a:ea typeface="+mn-ea"/>
                <a:cs typeface="+mn-cs"/>
              </a:rPr>
            </a:br>
            <a:r>
              <a:rPr lang="pt-PT" sz="1200" kern="1200" dirty="0">
                <a:solidFill>
                  <a:schemeClr val="tx1"/>
                </a:solidFill>
                <a:effectLst/>
                <a:latin typeface="+mn-lt"/>
                <a:ea typeface="+mn-ea"/>
                <a:cs typeface="+mn-cs"/>
              </a:rPr>
              <a:t>Mas os modelos otimizados (Random Forest e XGBoost) foram perfeitos. Como podem ver, alcançaram 100% de acurácia e 1.0 de Kappa. À primeira vista, parece overfitting, mas não é overfitting. A cross validation confirmou um R²=1. Isto prova que as features de contexto (movimento e tempo) são preditores perfeitos para o label de stress neste dataset."</a:t>
            </a:r>
          </a:p>
          <a:p>
            <a:endParaRPr lang="pt-PT" dirty="0"/>
          </a:p>
        </p:txBody>
      </p:sp>
      <p:sp>
        <p:nvSpPr>
          <p:cNvPr id="4" name="Marcador de Posição do Número do Diapositivo 3"/>
          <p:cNvSpPr>
            <a:spLocks noGrp="1"/>
          </p:cNvSpPr>
          <p:nvPr>
            <p:ph type="sldNum" sz="quarter" idx="5"/>
          </p:nvPr>
        </p:nvSpPr>
        <p:spPr/>
        <p:txBody>
          <a:bodyPr/>
          <a:lstStyle/>
          <a:p>
            <a:fld id="{9B692395-64DF-44BB-9800-A7E320F7CEC0}" type="slidenum">
              <a:rPr lang="pt-PT" smtClean="0"/>
              <a:t>4</a:t>
            </a:fld>
            <a:endParaRPr lang="pt-PT"/>
          </a:p>
        </p:txBody>
      </p:sp>
    </p:spTree>
    <p:extLst>
      <p:ext uri="{BB962C8B-B14F-4D97-AF65-F5344CB8AC3E}">
        <p14:creationId xmlns:p14="http://schemas.microsoft.com/office/powerpoint/2010/main" val="10886310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pt-PT" sz="1200" kern="1200" dirty="0">
                <a:solidFill>
                  <a:schemeClr val="tx1"/>
                </a:solidFill>
                <a:effectLst/>
                <a:latin typeface="+mn-lt"/>
                <a:ea typeface="+mn-ea"/>
                <a:cs typeface="+mn-cs"/>
              </a:rPr>
              <a:t>Nesta etapa, usei uma pipeline semelhante à da classificação, mas o objetivo foi diferente: queria prever sinais como frequência cardíaca e atividade eletrodérmica. Aqui é importante garantir que os dados fisiológicos são bem tratados, sobretudo porque introduzimos variáveis mais sensíveis como HR e EDA. Este cuidado na seleção e tratamento das variáveis é crítico para garantir previsões fiáveis nos modelos de regressão e evitar erros relacionados com dados inconsistentes ou redundantes.</a:t>
            </a:r>
            <a:endParaRPr lang="pt-PT" dirty="0"/>
          </a:p>
        </p:txBody>
      </p:sp>
      <p:sp>
        <p:nvSpPr>
          <p:cNvPr id="4" name="Marcador de Posição do Número do Diapositivo 3"/>
          <p:cNvSpPr>
            <a:spLocks noGrp="1"/>
          </p:cNvSpPr>
          <p:nvPr>
            <p:ph type="sldNum" sz="quarter" idx="5"/>
          </p:nvPr>
        </p:nvSpPr>
        <p:spPr/>
        <p:txBody>
          <a:bodyPr/>
          <a:lstStyle/>
          <a:p>
            <a:fld id="{9B692395-64DF-44BB-9800-A7E320F7CEC0}" type="slidenum">
              <a:rPr lang="pt-PT" smtClean="0"/>
              <a:t>5</a:t>
            </a:fld>
            <a:endParaRPr lang="pt-PT"/>
          </a:p>
        </p:txBody>
      </p:sp>
    </p:spTree>
    <p:extLst>
      <p:ext uri="{BB962C8B-B14F-4D97-AF65-F5344CB8AC3E}">
        <p14:creationId xmlns:p14="http://schemas.microsoft.com/office/powerpoint/2010/main" val="139396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pt-PT" sz="1200" kern="1200" dirty="0">
                <a:solidFill>
                  <a:schemeClr val="tx1"/>
                </a:solidFill>
                <a:effectLst/>
                <a:latin typeface="+mn-lt"/>
                <a:ea typeface="+mn-ea"/>
                <a:cs typeface="+mn-cs"/>
              </a:rPr>
              <a:t>Avancei para prever sinais fisiológicos individuais, como a frequência cardíaca (HR), com regressão linear, Random Forest, XGBoost e uma rede MLP. Os modelos mais avançados explicam quase toda a variância do HR, com R^2 muito próximo de 1 e erro baixo, mas a regressão linear mostrou que existem relações não lineares difíceis de capturar por métodos simples.</a:t>
            </a:r>
            <a:endParaRPr lang="pt-PT" dirty="0"/>
          </a:p>
        </p:txBody>
      </p:sp>
      <p:sp>
        <p:nvSpPr>
          <p:cNvPr id="4" name="Marcador de Posição do Número do Diapositivo 3"/>
          <p:cNvSpPr>
            <a:spLocks noGrp="1"/>
          </p:cNvSpPr>
          <p:nvPr>
            <p:ph type="sldNum" sz="quarter" idx="5"/>
          </p:nvPr>
        </p:nvSpPr>
        <p:spPr/>
        <p:txBody>
          <a:bodyPr/>
          <a:lstStyle/>
          <a:p>
            <a:fld id="{9B692395-64DF-44BB-9800-A7E320F7CEC0}" type="slidenum">
              <a:rPr lang="pt-PT" smtClean="0"/>
              <a:t>6</a:t>
            </a:fld>
            <a:endParaRPr lang="pt-PT"/>
          </a:p>
        </p:txBody>
      </p:sp>
    </p:spTree>
    <p:extLst>
      <p:ext uri="{BB962C8B-B14F-4D97-AF65-F5344CB8AC3E}">
        <p14:creationId xmlns:p14="http://schemas.microsoft.com/office/powerpoint/2010/main" val="3467918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kern="1200" dirty="0">
                <a:solidFill>
                  <a:schemeClr val="tx1"/>
                </a:solidFill>
                <a:effectLst/>
                <a:latin typeface="+mn-lt"/>
                <a:ea typeface="+mn-ea"/>
                <a:cs typeface="+mn-cs"/>
              </a:rPr>
              <a:t>Para prever a atividade eletrodérmica (EDA), todos os modelos — desde os mais simples aos mais complexos — atingiram </a:t>
            </a:r>
            <a:br>
              <a:rPr lang="pt-PT" sz="1200" kern="1200" dirty="0">
                <a:solidFill>
                  <a:schemeClr val="tx1"/>
                </a:solidFill>
                <a:effectLst/>
                <a:latin typeface="+mn-lt"/>
                <a:ea typeface="+mn-ea"/>
                <a:cs typeface="+mn-cs"/>
              </a:rPr>
            </a:br>
            <a:r>
              <a:rPr lang="pt-PT" sz="1200" kern="1200" dirty="0">
                <a:solidFill>
                  <a:schemeClr val="tx1"/>
                </a:solidFill>
                <a:effectLst/>
                <a:latin typeface="+mn-lt"/>
                <a:ea typeface="+mn-ea"/>
                <a:cs typeface="+mn-cs"/>
              </a:rPr>
              <a:t>R^2 muito elevados, acima de 0.98. Isto revela uma forte interdependência entre os sinais fisiológicos e o movimento, colocando em evidência a redundância do dataset. Ao mesmo tempo, demonstra o potencial dos modelos para previsão biomédica.</a:t>
            </a:r>
          </a:p>
          <a:p>
            <a:endParaRPr lang="pt-PT" dirty="0"/>
          </a:p>
        </p:txBody>
      </p:sp>
      <p:sp>
        <p:nvSpPr>
          <p:cNvPr id="4" name="Marcador de Posição do Número do Diapositivo 3"/>
          <p:cNvSpPr>
            <a:spLocks noGrp="1"/>
          </p:cNvSpPr>
          <p:nvPr>
            <p:ph type="sldNum" sz="quarter" idx="5"/>
          </p:nvPr>
        </p:nvSpPr>
        <p:spPr/>
        <p:txBody>
          <a:bodyPr/>
          <a:lstStyle/>
          <a:p>
            <a:fld id="{9B692395-64DF-44BB-9800-A7E320F7CEC0}" type="slidenum">
              <a:rPr lang="pt-PT" smtClean="0"/>
              <a:t>7</a:t>
            </a:fld>
            <a:endParaRPr lang="pt-PT"/>
          </a:p>
        </p:txBody>
      </p:sp>
    </p:spTree>
    <p:extLst>
      <p:ext uri="{BB962C8B-B14F-4D97-AF65-F5344CB8AC3E}">
        <p14:creationId xmlns:p14="http://schemas.microsoft.com/office/powerpoint/2010/main" val="26718806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pt-PT" sz="1200" kern="1200" dirty="0">
                <a:solidFill>
                  <a:schemeClr val="tx1"/>
                </a:solidFill>
                <a:effectLst/>
                <a:latin typeface="+mn-lt"/>
                <a:ea typeface="+mn-ea"/>
                <a:cs typeface="+mn-cs"/>
              </a:rPr>
              <a:t>Testei métodos de clustering, como K-Means e K-Medoids, para tentar encontrar grupos naturais de stress. Os coeficientes de silhueta foram muito baixos, mostrando que os dados não se separam bem em clusters distintos, mas sim formam um contínuo fisiológico. Este resultado é importante, pois desafia a ideia de que é possível agrupar estados de stress apenas pelos sinais</a:t>
            </a:r>
            <a:endParaRPr lang="pt-PT" dirty="0"/>
          </a:p>
        </p:txBody>
      </p:sp>
      <p:sp>
        <p:nvSpPr>
          <p:cNvPr id="4" name="Marcador de Posição do Número do Diapositivo 3"/>
          <p:cNvSpPr>
            <a:spLocks noGrp="1"/>
          </p:cNvSpPr>
          <p:nvPr>
            <p:ph type="sldNum" sz="quarter" idx="5"/>
          </p:nvPr>
        </p:nvSpPr>
        <p:spPr/>
        <p:txBody>
          <a:bodyPr/>
          <a:lstStyle/>
          <a:p>
            <a:fld id="{9B692395-64DF-44BB-9800-A7E320F7CEC0}" type="slidenum">
              <a:rPr lang="pt-PT" smtClean="0"/>
              <a:t>8</a:t>
            </a:fld>
            <a:endParaRPr lang="pt-PT"/>
          </a:p>
        </p:txBody>
      </p:sp>
    </p:spTree>
    <p:extLst>
      <p:ext uri="{BB962C8B-B14F-4D97-AF65-F5344CB8AC3E}">
        <p14:creationId xmlns:p14="http://schemas.microsoft.com/office/powerpoint/2010/main" val="20099905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pt-PT" sz="1200" kern="1200" dirty="0">
                <a:solidFill>
                  <a:schemeClr val="tx1"/>
                </a:solidFill>
                <a:effectLst/>
                <a:latin typeface="+mn-lt"/>
                <a:ea typeface="+mn-ea"/>
                <a:cs typeface="+mn-cs"/>
              </a:rPr>
              <a:t>Validei a performance com técnicas rigorosas, como cross validation e AutoML. Os modelos supervisionados conseguem separar completamente as classes de stress e prever sinais fisiológicos com precisão quase total. Resultados tão elevados reforçam a importância de controlar por redundância e possível fuga de dados, mas também mostram o potencial desta abordagem em ambiente clínico</a:t>
            </a:r>
            <a:endParaRPr lang="pt-PT" dirty="0"/>
          </a:p>
        </p:txBody>
      </p:sp>
      <p:sp>
        <p:nvSpPr>
          <p:cNvPr id="4" name="Marcador de Posição do Número do Diapositivo 3"/>
          <p:cNvSpPr>
            <a:spLocks noGrp="1"/>
          </p:cNvSpPr>
          <p:nvPr>
            <p:ph type="sldNum" sz="quarter" idx="5"/>
          </p:nvPr>
        </p:nvSpPr>
        <p:spPr/>
        <p:txBody>
          <a:bodyPr/>
          <a:lstStyle/>
          <a:p>
            <a:fld id="{9B692395-64DF-44BB-9800-A7E320F7CEC0}" type="slidenum">
              <a:rPr lang="pt-PT" smtClean="0"/>
              <a:t>9</a:t>
            </a:fld>
            <a:endParaRPr lang="pt-PT"/>
          </a:p>
        </p:txBody>
      </p:sp>
    </p:spTree>
    <p:extLst>
      <p:ext uri="{BB962C8B-B14F-4D97-AF65-F5344CB8AC3E}">
        <p14:creationId xmlns:p14="http://schemas.microsoft.com/office/powerpoint/2010/main" val="130037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pt-PT" sz="1200" kern="1200" dirty="0">
                <a:solidFill>
                  <a:schemeClr val="tx1"/>
                </a:solidFill>
                <a:effectLst/>
                <a:latin typeface="+mn-lt"/>
                <a:ea typeface="+mn-ea"/>
                <a:cs typeface="+mn-cs"/>
              </a:rPr>
              <a:t>Em suma, a inteligência artificial aplicada a sensores vestíveis permite monitorização e previsão de stress com grande precisão. No entanto, há desafios na generalização dos modelos e na identificação de grupos naturais de stress, sugerindo que a abordagem deve ser complementada com validação em contexto real. </a:t>
            </a:r>
            <a:r>
              <a:rPr lang="pt-PT" sz="1200" kern="1200">
                <a:solidFill>
                  <a:schemeClr val="tx1"/>
                </a:solidFill>
                <a:effectLst/>
                <a:latin typeface="+mn-lt"/>
                <a:ea typeface="+mn-ea"/>
                <a:cs typeface="+mn-cs"/>
              </a:rPr>
              <a:t>O futuro passa por soluções integradas e éticas na saúde ocupacional</a:t>
            </a:r>
            <a:endParaRPr lang="pt-PT"/>
          </a:p>
        </p:txBody>
      </p:sp>
      <p:sp>
        <p:nvSpPr>
          <p:cNvPr id="4" name="Marcador de Posição do Número do Diapositivo 3"/>
          <p:cNvSpPr>
            <a:spLocks noGrp="1"/>
          </p:cNvSpPr>
          <p:nvPr>
            <p:ph type="sldNum" sz="quarter" idx="5"/>
          </p:nvPr>
        </p:nvSpPr>
        <p:spPr/>
        <p:txBody>
          <a:bodyPr/>
          <a:lstStyle/>
          <a:p>
            <a:fld id="{9B692395-64DF-44BB-9800-A7E320F7CEC0}" type="slidenum">
              <a:rPr lang="pt-PT" smtClean="0"/>
              <a:t>10</a:t>
            </a:fld>
            <a:endParaRPr lang="pt-PT"/>
          </a:p>
        </p:txBody>
      </p:sp>
    </p:spTree>
    <p:extLst>
      <p:ext uri="{BB962C8B-B14F-4D97-AF65-F5344CB8AC3E}">
        <p14:creationId xmlns:p14="http://schemas.microsoft.com/office/powerpoint/2010/main" val="4088965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o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43A426-EB14-6EA3-7688-BA921C0B486A}"/>
              </a:ext>
            </a:extLst>
          </p:cNvPr>
          <p:cNvSpPr>
            <a:spLocks noGrp="1"/>
          </p:cNvSpPr>
          <p:nvPr>
            <p:ph type="ctrTitle"/>
          </p:nvPr>
        </p:nvSpPr>
        <p:spPr>
          <a:xfrm>
            <a:off x="1524000" y="1122363"/>
            <a:ext cx="9144000" cy="2387600"/>
          </a:xfrm>
        </p:spPr>
        <p:txBody>
          <a:bodyPr anchor="b"/>
          <a:lstStyle>
            <a:lvl1pPr algn="ctr">
              <a:defRPr sz="6000"/>
            </a:lvl1pPr>
          </a:lstStyle>
          <a:p>
            <a:r>
              <a:rPr lang="pt-PT"/>
              <a:t>Clique para editar o estilo de título do Modelo Global</a:t>
            </a:r>
          </a:p>
        </p:txBody>
      </p:sp>
      <p:sp>
        <p:nvSpPr>
          <p:cNvPr id="3" name="Subtítulo 2">
            <a:extLst>
              <a:ext uri="{FF2B5EF4-FFF2-40B4-BE49-F238E27FC236}">
                <a16:creationId xmlns:a16="http://schemas.microsoft.com/office/drawing/2014/main" id="{45E906EC-E92A-9048-FAED-F688C27D6E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PT"/>
              <a:t>Clique para editar o estilo de subtítulo do Modelo Global</a:t>
            </a:r>
          </a:p>
        </p:txBody>
      </p:sp>
      <p:sp>
        <p:nvSpPr>
          <p:cNvPr id="4" name="Marcador de Posição da Data 3">
            <a:extLst>
              <a:ext uri="{FF2B5EF4-FFF2-40B4-BE49-F238E27FC236}">
                <a16:creationId xmlns:a16="http://schemas.microsoft.com/office/drawing/2014/main" id="{98203ABB-48D3-C3DB-C19D-37F14C0BB5C7}"/>
              </a:ext>
            </a:extLst>
          </p:cNvPr>
          <p:cNvSpPr>
            <a:spLocks noGrp="1"/>
          </p:cNvSpPr>
          <p:nvPr>
            <p:ph type="dt" sz="half" idx="10"/>
          </p:nvPr>
        </p:nvSpPr>
        <p:spPr/>
        <p:txBody>
          <a:bodyPr/>
          <a:lstStyle/>
          <a:p>
            <a:fld id="{89C5723F-1371-495A-8067-455C650E7737}" type="datetimeFigureOut">
              <a:rPr lang="pt-PT" smtClean="0"/>
              <a:t>11/11/2025</a:t>
            </a:fld>
            <a:endParaRPr lang="pt-PT"/>
          </a:p>
        </p:txBody>
      </p:sp>
      <p:sp>
        <p:nvSpPr>
          <p:cNvPr id="5" name="Marcador de Posição do Rodapé 4">
            <a:extLst>
              <a:ext uri="{FF2B5EF4-FFF2-40B4-BE49-F238E27FC236}">
                <a16:creationId xmlns:a16="http://schemas.microsoft.com/office/drawing/2014/main" id="{89765AA9-07E5-01BD-68DA-34458946DFAC}"/>
              </a:ext>
            </a:extLst>
          </p:cNvPr>
          <p:cNvSpPr>
            <a:spLocks noGrp="1"/>
          </p:cNvSpPr>
          <p:nvPr>
            <p:ph type="ftr" sz="quarter" idx="11"/>
          </p:nvPr>
        </p:nvSpPr>
        <p:spPr/>
        <p:txBody>
          <a:bodyPr/>
          <a:lstStyle/>
          <a:p>
            <a:endParaRPr lang="pt-PT"/>
          </a:p>
        </p:txBody>
      </p:sp>
      <p:sp>
        <p:nvSpPr>
          <p:cNvPr id="6" name="Marcador de Posição do Número do Diapositivo 5">
            <a:extLst>
              <a:ext uri="{FF2B5EF4-FFF2-40B4-BE49-F238E27FC236}">
                <a16:creationId xmlns:a16="http://schemas.microsoft.com/office/drawing/2014/main" id="{1F7FF1DD-C60F-7336-AF73-8945E173EDA5}"/>
              </a:ext>
            </a:extLst>
          </p:cNvPr>
          <p:cNvSpPr>
            <a:spLocks noGrp="1"/>
          </p:cNvSpPr>
          <p:nvPr>
            <p:ph type="sldNum" sz="quarter" idx="12"/>
          </p:nvPr>
        </p:nvSpPr>
        <p:spPr/>
        <p:txBody>
          <a:bodyPr/>
          <a:lstStyle/>
          <a:p>
            <a:fld id="{FC9F1308-AC66-449D-8605-344313727AC3}" type="slidenum">
              <a:rPr lang="pt-PT" smtClean="0"/>
              <a:t>‹nº›</a:t>
            </a:fld>
            <a:endParaRPr lang="pt-PT"/>
          </a:p>
        </p:txBody>
      </p:sp>
    </p:spTree>
    <p:extLst>
      <p:ext uri="{BB962C8B-B14F-4D97-AF65-F5344CB8AC3E}">
        <p14:creationId xmlns:p14="http://schemas.microsoft.com/office/powerpoint/2010/main" val="3661207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Obje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116C23-C136-B5B5-7774-3E6C3E79623E}"/>
              </a:ext>
            </a:extLst>
          </p:cNvPr>
          <p:cNvSpPr>
            <a:spLocks noGrp="1"/>
          </p:cNvSpPr>
          <p:nvPr>
            <p:ph type="title"/>
          </p:nvPr>
        </p:nvSpPr>
        <p:spPr/>
        <p:txBody>
          <a:bodyPr/>
          <a:lstStyle/>
          <a:p>
            <a:r>
              <a:rPr lang="pt-PT"/>
              <a:t>Clique para editar o estilo de título do Modelo Global</a:t>
            </a:r>
          </a:p>
        </p:txBody>
      </p:sp>
      <p:sp>
        <p:nvSpPr>
          <p:cNvPr id="3" name="Marcador de Posição de Conteúdo 2">
            <a:extLst>
              <a:ext uri="{FF2B5EF4-FFF2-40B4-BE49-F238E27FC236}">
                <a16:creationId xmlns:a16="http://schemas.microsoft.com/office/drawing/2014/main" id="{8E9695F5-3D2B-FDAE-8A9C-A54D2AF3E642}"/>
              </a:ext>
            </a:extLst>
          </p:cNvPr>
          <p:cNvSpPr>
            <a:spLocks noGrp="1"/>
          </p:cNvSpPr>
          <p:nvPr>
            <p:ph idx="1"/>
          </p:nvPr>
        </p:nvSpPr>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Data 3">
            <a:extLst>
              <a:ext uri="{FF2B5EF4-FFF2-40B4-BE49-F238E27FC236}">
                <a16:creationId xmlns:a16="http://schemas.microsoft.com/office/drawing/2014/main" id="{C73891B5-E793-740A-78A5-AB71876B68A3}"/>
              </a:ext>
            </a:extLst>
          </p:cNvPr>
          <p:cNvSpPr>
            <a:spLocks noGrp="1"/>
          </p:cNvSpPr>
          <p:nvPr>
            <p:ph type="dt" sz="half" idx="10"/>
          </p:nvPr>
        </p:nvSpPr>
        <p:spPr/>
        <p:txBody>
          <a:bodyPr/>
          <a:lstStyle/>
          <a:p>
            <a:fld id="{89C5723F-1371-495A-8067-455C650E7737}" type="datetimeFigureOut">
              <a:rPr lang="pt-PT" smtClean="0"/>
              <a:t>11/11/2025</a:t>
            </a:fld>
            <a:endParaRPr lang="pt-PT"/>
          </a:p>
        </p:txBody>
      </p:sp>
      <p:sp>
        <p:nvSpPr>
          <p:cNvPr id="5" name="Marcador de Posição do Rodapé 4">
            <a:extLst>
              <a:ext uri="{FF2B5EF4-FFF2-40B4-BE49-F238E27FC236}">
                <a16:creationId xmlns:a16="http://schemas.microsoft.com/office/drawing/2014/main" id="{2671BEB2-1E33-9A5D-AAC0-2DB715D664B2}"/>
              </a:ext>
            </a:extLst>
          </p:cNvPr>
          <p:cNvSpPr>
            <a:spLocks noGrp="1"/>
          </p:cNvSpPr>
          <p:nvPr>
            <p:ph type="ftr" sz="quarter" idx="11"/>
          </p:nvPr>
        </p:nvSpPr>
        <p:spPr/>
        <p:txBody>
          <a:bodyPr/>
          <a:lstStyle/>
          <a:p>
            <a:endParaRPr lang="pt-PT"/>
          </a:p>
        </p:txBody>
      </p:sp>
      <p:sp>
        <p:nvSpPr>
          <p:cNvPr id="6" name="Marcador de Posição do Número do Diapositivo 5">
            <a:extLst>
              <a:ext uri="{FF2B5EF4-FFF2-40B4-BE49-F238E27FC236}">
                <a16:creationId xmlns:a16="http://schemas.microsoft.com/office/drawing/2014/main" id="{36064D3C-2A85-36BB-ABA2-4EBC4DCBE019}"/>
              </a:ext>
            </a:extLst>
          </p:cNvPr>
          <p:cNvSpPr>
            <a:spLocks noGrp="1"/>
          </p:cNvSpPr>
          <p:nvPr>
            <p:ph type="sldNum" sz="quarter" idx="12"/>
          </p:nvPr>
        </p:nvSpPr>
        <p:spPr/>
        <p:txBody>
          <a:bodyPr/>
          <a:lstStyle/>
          <a:p>
            <a:fld id="{FC9F1308-AC66-449D-8605-344313727AC3}" type="slidenum">
              <a:rPr lang="pt-PT" smtClean="0"/>
              <a:t>‹nº›</a:t>
            </a:fld>
            <a:endParaRPr lang="pt-PT"/>
          </a:p>
        </p:txBody>
      </p:sp>
    </p:spTree>
    <p:extLst>
      <p:ext uri="{BB962C8B-B14F-4D97-AF65-F5344CB8AC3E}">
        <p14:creationId xmlns:p14="http://schemas.microsoft.com/office/powerpoint/2010/main" val="1101770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c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29302B-7CD2-535E-5106-4DAB5395F516}"/>
              </a:ext>
            </a:extLst>
          </p:cNvPr>
          <p:cNvSpPr>
            <a:spLocks noGrp="1"/>
          </p:cNvSpPr>
          <p:nvPr>
            <p:ph type="title"/>
          </p:nvPr>
        </p:nvSpPr>
        <p:spPr>
          <a:xfrm>
            <a:off x="831850" y="1709738"/>
            <a:ext cx="10515600" cy="2852737"/>
          </a:xfrm>
        </p:spPr>
        <p:txBody>
          <a:bodyPr anchor="b"/>
          <a:lstStyle>
            <a:lvl1pPr>
              <a:defRPr sz="6000"/>
            </a:lvl1pPr>
          </a:lstStyle>
          <a:p>
            <a:r>
              <a:rPr lang="pt-PT"/>
              <a:t>Clique para editar o estilo de título do Modelo Global</a:t>
            </a:r>
          </a:p>
        </p:txBody>
      </p:sp>
      <p:sp>
        <p:nvSpPr>
          <p:cNvPr id="3" name="Marcador de Posição do Texto 2">
            <a:extLst>
              <a:ext uri="{FF2B5EF4-FFF2-40B4-BE49-F238E27FC236}">
                <a16:creationId xmlns:a16="http://schemas.microsoft.com/office/drawing/2014/main" id="{78443AF8-F08F-47EA-3198-5BBE003B1F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PT"/>
              <a:t>Clique para editar os estilos do texto de Modelo Global</a:t>
            </a:r>
          </a:p>
        </p:txBody>
      </p:sp>
      <p:sp>
        <p:nvSpPr>
          <p:cNvPr id="4" name="Marcador de Posição da Data 3">
            <a:extLst>
              <a:ext uri="{FF2B5EF4-FFF2-40B4-BE49-F238E27FC236}">
                <a16:creationId xmlns:a16="http://schemas.microsoft.com/office/drawing/2014/main" id="{4A4D3115-CE5D-B258-DD7E-5D80B5C1D1C3}"/>
              </a:ext>
            </a:extLst>
          </p:cNvPr>
          <p:cNvSpPr>
            <a:spLocks noGrp="1"/>
          </p:cNvSpPr>
          <p:nvPr>
            <p:ph type="dt" sz="half" idx="10"/>
          </p:nvPr>
        </p:nvSpPr>
        <p:spPr/>
        <p:txBody>
          <a:bodyPr/>
          <a:lstStyle/>
          <a:p>
            <a:fld id="{89C5723F-1371-495A-8067-455C650E7737}" type="datetimeFigureOut">
              <a:rPr lang="pt-PT" smtClean="0"/>
              <a:t>11/11/2025</a:t>
            </a:fld>
            <a:endParaRPr lang="pt-PT"/>
          </a:p>
        </p:txBody>
      </p:sp>
      <p:sp>
        <p:nvSpPr>
          <p:cNvPr id="5" name="Marcador de Posição do Rodapé 4">
            <a:extLst>
              <a:ext uri="{FF2B5EF4-FFF2-40B4-BE49-F238E27FC236}">
                <a16:creationId xmlns:a16="http://schemas.microsoft.com/office/drawing/2014/main" id="{29D5962D-C5EC-28EF-5280-0B85D4D3B47D}"/>
              </a:ext>
            </a:extLst>
          </p:cNvPr>
          <p:cNvSpPr>
            <a:spLocks noGrp="1"/>
          </p:cNvSpPr>
          <p:nvPr>
            <p:ph type="ftr" sz="quarter" idx="11"/>
          </p:nvPr>
        </p:nvSpPr>
        <p:spPr/>
        <p:txBody>
          <a:bodyPr/>
          <a:lstStyle/>
          <a:p>
            <a:endParaRPr lang="pt-PT"/>
          </a:p>
        </p:txBody>
      </p:sp>
      <p:sp>
        <p:nvSpPr>
          <p:cNvPr id="6" name="Marcador de Posição do Número do Diapositivo 5">
            <a:extLst>
              <a:ext uri="{FF2B5EF4-FFF2-40B4-BE49-F238E27FC236}">
                <a16:creationId xmlns:a16="http://schemas.microsoft.com/office/drawing/2014/main" id="{3BF849AB-0813-D2AE-5CD4-BEFBEBC5D84A}"/>
              </a:ext>
            </a:extLst>
          </p:cNvPr>
          <p:cNvSpPr>
            <a:spLocks noGrp="1"/>
          </p:cNvSpPr>
          <p:nvPr>
            <p:ph type="sldNum" sz="quarter" idx="12"/>
          </p:nvPr>
        </p:nvSpPr>
        <p:spPr/>
        <p:txBody>
          <a:bodyPr/>
          <a:lstStyle/>
          <a:p>
            <a:fld id="{FC9F1308-AC66-449D-8605-344313727AC3}" type="slidenum">
              <a:rPr lang="pt-PT" smtClean="0"/>
              <a:t>‹nº›</a:t>
            </a:fld>
            <a:endParaRPr lang="pt-PT"/>
          </a:p>
        </p:txBody>
      </p:sp>
    </p:spTree>
    <p:extLst>
      <p:ext uri="{BB962C8B-B14F-4D97-AF65-F5344CB8AC3E}">
        <p14:creationId xmlns:p14="http://schemas.microsoft.com/office/powerpoint/2010/main" val="3212047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údo Dup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32CF37-326F-7898-A797-0BBBA880ECCF}"/>
              </a:ext>
            </a:extLst>
          </p:cNvPr>
          <p:cNvSpPr>
            <a:spLocks noGrp="1"/>
          </p:cNvSpPr>
          <p:nvPr>
            <p:ph type="title"/>
          </p:nvPr>
        </p:nvSpPr>
        <p:spPr/>
        <p:txBody>
          <a:bodyPr/>
          <a:lstStyle/>
          <a:p>
            <a:r>
              <a:rPr lang="pt-PT"/>
              <a:t>Clique para editar o estilo de título do Modelo Global</a:t>
            </a:r>
          </a:p>
        </p:txBody>
      </p:sp>
      <p:sp>
        <p:nvSpPr>
          <p:cNvPr id="3" name="Marcador de Posição de Conteúdo 2">
            <a:extLst>
              <a:ext uri="{FF2B5EF4-FFF2-40B4-BE49-F238E27FC236}">
                <a16:creationId xmlns:a16="http://schemas.microsoft.com/office/drawing/2014/main" id="{EAC49BDA-C55A-9190-A5AA-9995A59A2DAC}"/>
              </a:ext>
            </a:extLst>
          </p:cNvPr>
          <p:cNvSpPr>
            <a:spLocks noGrp="1"/>
          </p:cNvSpPr>
          <p:nvPr>
            <p:ph sz="half" idx="1"/>
          </p:nvPr>
        </p:nvSpPr>
        <p:spPr>
          <a:xfrm>
            <a:off x="838200" y="1825625"/>
            <a:ext cx="5181600" cy="435133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e Conteúdo 3">
            <a:extLst>
              <a:ext uri="{FF2B5EF4-FFF2-40B4-BE49-F238E27FC236}">
                <a16:creationId xmlns:a16="http://schemas.microsoft.com/office/drawing/2014/main" id="{AD717AFD-8606-2592-7709-88C34E82AB0E}"/>
              </a:ext>
            </a:extLst>
          </p:cNvPr>
          <p:cNvSpPr>
            <a:spLocks noGrp="1"/>
          </p:cNvSpPr>
          <p:nvPr>
            <p:ph sz="half" idx="2"/>
          </p:nvPr>
        </p:nvSpPr>
        <p:spPr>
          <a:xfrm>
            <a:off x="6172200" y="1825625"/>
            <a:ext cx="5181600" cy="435133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a Data 4">
            <a:extLst>
              <a:ext uri="{FF2B5EF4-FFF2-40B4-BE49-F238E27FC236}">
                <a16:creationId xmlns:a16="http://schemas.microsoft.com/office/drawing/2014/main" id="{E67C0DDA-90A3-AF6B-520C-C0A571D0814F}"/>
              </a:ext>
            </a:extLst>
          </p:cNvPr>
          <p:cNvSpPr>
            <a:spLocks noGrp="1"/>
          </p:cNvSpPr>
          <p:nvPr>
            <p:ph type="dt" sz="half" idx="10"/>
          </p:nvPr>
        </p:nvSpPr>
        <p:spPr/>
        <p:txBody>
          <a:bodyPr/>
          <a:lstStyle/>
          <a:p>
            <a:fld id="{89C5723F-1371-495A-8067-455C650E7737}" type="datetimeFigureOut">
              <a:rPr lang="pt-PT" smtClean="0"/>
              <a:t>11/11/2025</a:t>
            </a:fld>
            <a:endParaRPr lang="pt-PT"/>
          </a:p>
        </p:txBody>
      </p:sp>
      <p:sp>
        <p:nvSpPr>
          <p:cNvPr id="6" name="Marcador de Posição do Rodapé 5">
            <a:extLst>
              <a:ext uri="{FF2B5EF4-FFF2-40B4-BE49-F238E27FC236}">
                <a16:creationId xmlns:a16="http://schemas.microsoft.com/office/drawing/2014/main" id="{21539A36-6D61-6517-9DAC-EE8229795738}"/>
              </a:ext>
            </a:extLst>
          </p:cNvPr>
          <p:cNvSpPr>
            <a:spLocks noGrp="1"/>
          </p:cNvSpPr>
          <p:nvPr>
            <p:ph type="ftr" sz="quarter" idx="11"/>
          </p:nvPr>
        </p:nvSpPr>
        <p:spPr/>
        <p:txBody>
          <a:bodyPr/>
          <a:lstStyle/>
          <a:p>
            <a:endParaRPr lang="pt-PT"/>
          </a:p>
        </p:txBody>
      </p:sp>
      <p:sp>
        <p:nvSpPr>
          <p:cNvPr id="7" name="Marcador de Posição do Número do Diapositivo 6">
            <a:extLst>
              <a:ext uri="{FF2B5EF4-FFF2-40B4-BE49-F238E27FC236}">
                <a16:creationId xmlns:a16="http://schemas.microsoft.com/office/drawing/2014/main" id="{CA040648-02C2-1C5D-B099-C99BBBCE12B3}"/>
              </a:ext>
            </a:extLst>
          </p:cNvPr>
          <p:cNvSpPr>
            <a:spLocks noGrp="1"/>
          </p:cNvSpPr>
          <p:nvPr>
            <p:ph type="sldNum" sz="quarter" idx="12"/>
          </p:nvPr>
        </p:nvSpPr>
        <p:spPr/>
        <p:txBody>
          <a:bodyPr/>
          <a:lstStyle/>
          <a:p>
            <a:fld id="{FC9F1308-AC66-449D-8605-344313727AC3}" type="slidenum">
              <a:rPr lang="pt-PT" smtClean="0"/>
              <a:t>‹nº›</a:t>
            </a:fld>
            <a:endParaRPr lang="pt-PT"/>
          </a:p>
        </p:txBody>
      </p:sp>
    </p:spTree>
    <p:extLst>
      <p:ext uri="{BB962C8B-B14F-4D97-AF65-F5344CB8AC3E}">
        <p14:creationId xmlns:p14="http://schemas.microsoft.com/office/powerpoint/2010/main" val="2170921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CE1835-37D8-845D-69A0-DFF07C83315C}"/>
              </a:ext>
            </a:extLst>
          </p:cNvPr>
          <p:cNvSpPr>
            <a:spLocks noGrp="1"/>
          </p:cNvSpPr>
          <p:nvPr>
            <p:ph type="title"/>
          </p:nvPr>
        </p:nvSpPr>
        <p:spPr>
          <a:xfrm>
            <a:off x="839788" y="365125"/>
            <a:ext cx="10515600" cy="1325563"/>
          </a:xfrm>
        </p:spPr>
        <p:txBody>
          <a:bodyPr/>
          <a:lstStyle/>
          <a:p>
            <a:r>
              <a:rPr lang="pt-PT"/>
              <a:t>Clique para editar o estilo de título do Modelo Global</a:t>
            </a:r>
          </a:p>
        </p:txBody>
      </p:sp>
      <p:sp>
        <p:nvSpPr>
          <p:cNvPr id="3" name="Marcador de Posição do Texto 2">
            <a:extLst>
              <a:ext uri="{FF2B5EF4-FFF2-40B4-BE49-F238E27FC236}">
                <a16:creationId xmlns:a16="http://schemas.microsoft.com/office/drawing/2014/main" id="{9915BD69-5B39-EAE2-81C0-5A8CAB3F25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4" name="Marcador de Posição de Conteúdo 3">
            <a:extLst>
              <a:ext uri="{FF2B5EF4-FFF2-40B4-BE49-F238E27FC236}">
                <a16:creationId xmlns:a16="http://schemas.microsoft.com/office/drawing/2014/main" id="{0A93EE65-4B62-ABB3-F478-EAA329EDFE4A}"/>
              </a:ext>
            </a:extLst>
          </p:cNvPr>
          <p:cNvSpPr>
            <a:spLocks noGrp="1"/>
          </p:cNvSpPr>
          <p:nvPr>
            <p:ph sz="half" idx="2"/>
          </p:nvPr>
        </p:nvSpPr>
        <p:spPr>
          <a:xfrm>
            <a:off x="839788" y="2505075"/>
            <a:ext cx="5157787" cy="368458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o Texto 4">
            <a:extLst>
              <a:ext uri="{FF2B5EF4-FFF2-40B4-BE49-F238E27FC236}">
                <a16:creationId xmlns:a16="http://schemas.microsoft.com/office/drawing/2014/main" id="{5462E51B-EAF6-6358-0E4E-C2EC89626F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6" name="Marcador de Posição de Conteúdo 5">
            <a:extLst>
              <a:ext uri="{FF2B5EF4-FFF2-40B4-BE49-F238E27FC236}">
                <a16:creationId xmlns:a16="http://schemas.microsoft.com/office/drawing/2014/main" id="{12C99265-C348-7C28-8E0A-D5534D0E058F}"/>
              </a:ext>
            </a:extLst>
          </p:cNvPr>
          <p:cNvSpPr>
            <a:spLocks noGrp="1"/>
          </p:cNvSpPr>
          <p:nvPr>
            <p:ph sz="quarter" idx="4"/>
          </p:nvPr>
        </p:nvSpPr>
        <p:spPr>
          <a:xfrm>
            <a:off x="6172200" y="2505075"/>
            <a:ext cx="5183188" cy="368458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7" name="Marcador de Posição da Data 6">
            <a:extLst>
              <a:ext uri="{FF2B5EF4-FFF2-40B4-BE49-F238E27FC236}">
                <a16:creationId xmlns:a16="http://schemas.microsoft.com/office/drawing/2014/main" id="{6F9B286A-7994-D80A-8D6D-31DAF81028A0}"/>
              </a:ext>
            </a:extLst>
          </p:cNvPr>
          <p:cNvSpPr>
            <a:spLocks noGrp="1"/>
          </p:cNvSpPr>
          <p:nvPr>
            <p:ph type="dt" sz="half" idx="10"/>
          </p:nvPr>
        </p:nvSpPr>
        <p:spPr/>
        <p:txBody>
          <a:bodyPr/>
          <a:lstStyle/>
          <a:p>
            <a:fld id="{89C5723F-1371-495A-8067-455C650E7737}" type="datetimeFigureOut">
              <a:rPr lang="pt-PT" smtClean="0"/>
              <a:t>11/11/2025</a:t>
            </a:fld>
            <a:endParaRPr lang="pt-PT"/>
          </a:p>
        </p:txBody>
      </p:sp>
      <p:sp>
        <p:nvSpPr>
          <p:cNvPr id="8" name="Marcador de Posição do Rodapé 7">
            <a:extLst>
              <a:ext uri="{FF2B5EF4-FFF2-40B4-BE49-F238E27FC236}">
                <a16:creationId xmlns:a16="http://schemas.microsoft.com/office/drawing/2014/main" id="{1798D077-05FA-A9AA-C14F-AB5F258D3509}"/>
              </a:ext>
            </a:extLst>
          </p:cNvPr>
          <p:cNvSpPr>
            <a:spLocks noGrp="1"/>
          </p:cNvSpPr>
          <p:nvPr>
            <p:ph type="ftr" sz="quarter" idx="11"/>
          </p:nvPr>
        </p:nvSpPr>
        <p:spPr/>
        <p:txBody>
          <a:bodyPr/>
          <a:lstStyle/>
          <a:p>
            <a:endParaRPr lang="pt-PT"/>
          </a:p>
        </p:txBody>
      </p:sp>
      <p:sp>
        <p:nvSpPr>
          <p:cNvPr id="9" name="Marcador de Posição do Número do Diapositivo 8">
            <a:extLst>
              <a:ext uri="{FF2B5EF4-FFF2-40B4-BE49-F238E27FC236}">
                <a16:creationId xmlns:a16="http://schemas.microsoft.com/office/drawing/2014/main" id="{76346275-2183-4A11-0072-D9D30AD5B02C}"/>
              </a:ext>
            </a:extLst>
          </p:cNvPr>
          <p:cNvSpPr>
            <a:spLocks noGrp="1"/>
          </p:cNvSpPr>
          <p:nvPr>
            <p:ph type="sldNum" sz="quarter" idx="12"/>
          </p:nvPr>
        </p:nvSpPr>
        <p:spPr/>
        <p:txBody>
          <a:bodyPr/>
          <a:lstStyle/>
          <a:p>
            <a:fld id="{FC9F1308-AC66-449D-8605-344313727AC3}" type="slidenum">
              <a:rPr lang="pt-PT" smtClean="0"/>
              <a:t>‹nº›</a:t>
            </a:fld>
            <a:endParaRPr lang="pt-PT"/>
          </a:p>
        </p:txBody>
      </p:sp>
    </p:spTree>
    <p:extLst>
      <p:ext uri="{BB962C8B-B14F-4D97-AF65-F5344CB8AC3E}">
        <p14:creationId xmlns:p14="http://schemas.microsoft.com/office/powerpoint/2010/main" val="2163049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69CB57-EAC3-436A-3527-CF6182860B6E}"/>
              </a:ext>
            </a:extLst>
          </p:cNvPr>
          <p:cNvSpPr>
            <a:spLocks noGrp="1"/>
          </p:cNvSpPr>
          <p:nvPr>
            <p:ph type="title"/>
          </p:nvPr>
        </p:nvSpPr>
        <p:spPr/>
        <p:txBody>
          <a:bodyPr/>
          <a:lstStyle/>
          <a:p>
            <a:r>
              <a:rPr lang="pt-PT"/>
              <a:t>Clique para editar o estilo de título do Modelo Global</a:t>
            </a:r>
          </a:p>
        </p:txBody>
      </p:sp>
      <p:sp>
        <p:nvSpPr>
          <p:cNvPr id="3" name="Marcador de Posição da Data 2">
            <a:extLst>
              <a:ext uri="{FF2B5EF4-FFF2-40B4-BE49-F238E27FC236}">
                <a16:creationId xmlns:a16="http://schemas.microsoft.com/office/drawing/2014/main" id="{6B19BA0B-E51E-5B95-F4E6-CEC39BBC2703}"/>
              </a:ext>
            </a:extLst>
          </p:cNvPr>
          <p:cNvSpPr>
            <a:spLocks noGrp="1"/>
          </p:cNvSpPr>
          <p:nvPr>
            <p:ph type="dt" sz="half" idx="10"/>
          </p:nvPr>
        </p:nvSpPr>
        <p:spPr/>
        <p:txBody>
          <a:bodyPr/>
          <a:lstStyle/>
          <a:p>
            <a:fld id="{89C5723F-1371-495A-8067-455C650E7737}" type="datetimeFigureOut">
              <a:rPr lang="pt-PT" smtClean="0"/>
              <a:t>11/11/2025</a:t>
            </a:fld>
            <a:endParaRPr lang="pt-PT"/>
          </a:p>
        </p:txBody>
      </p:sp>
      <p:sp>
        <p:nvSpPr>
          <p:cNvPr id="4" name="Marcador de Posição do Rodapé 3">
            <a:extLst>
              <a:ext uri="{FF2B5EF4-FFF2-40B4-BE49-F238E27FC236}">
                <a16:creationId xmlns:a16="http://schemas.microsoft.com/office/drawing/2014/main" id="{6F2332B4-AA05-E19A-A82F-CC1B1D86B1C7}"/>
              </a:ext>
            </a:extLst>
          </p:cNvPr>
          <p:cNvSpPr>
            <a:spLocks noGrp="1"/>
          </p:cNvSpPr>
          <p:nvPr>
            <p:ph type="ftr" sz="quarter" idx="11"/>
          </p:nvPr>
        </p:nvSpPr>
        <p:spPr/>
        <p:txBody>
          <a:bodyPr/>
          <a:lstStyle/>
          <a:p>
            <a:endParaRPr lang="pt-PT"/>
          </a:p>
        </p:txBody>
      </p:sp>
      <p:sp>
        <p:nvSpPr>
          <p:cNvPr id="5" name="Marcador de Posição do Número do Diapositivo 4">
            <a:extLst>
              <a:ext uri="{FF2B5EF4-FFF2-40B4-BE49-F238E27FC236}">
                <a16:creationId xmlns:a16="http://schemas.microsoft.com/office/drawing/2014/main" id="{EFEBC615-1198-B718-2D81-15D1EA25D4F3}"/>
              </a:ext>
            </a:extLst>
          </p:cNvPr>
          <p:cNvSpPr>
            <a:spLocks noGrp="1"/>
          </p:cNvSpPr>
          <p:nvPr>
            <p:ph type="sldNum" sz="quarter" idx="12"/>
          </p:nvPr>
        </p:nvSpPr>
        <p:spPr/>
        <p:txBody>
          <a:bodyPr/>
          <a:lstStyle/>
          <a:p>
            <a:fld id="{FC9F1308-AC66-449D-8605-344313727AC3}" type="slidenum">
              <a:rPr lang="pt-PT" smtClean="0"/>
              <a:t>‹nº›</a:t>
            </a:fld>
            <a:endParaRPr lang="pt-PT"/>
          </a:p>
        </p:txBody>
      </p:sp>
    </p:spTree>
    <p:extLst>
      <p:ext uri="{BB962C8B-B14F-4D97-AF65-F5344CB8AC3E}">
        <p14:creationId xmlns:p14="http://schemas.microsoft.com/office/powerpoint/2010/main" val="538555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Marcador de Posição da Data 1">
            <a:extLst>
              <a:ext uri="{FF2B5EF4-FFF2-40B4-BE49-F238E27FC236}">
                <a16:creationId xmlns:a16="http://schemas.microsoft.com/office/drawing/2014/main" id="{80CDEBAE-5A03-FD2B-A0C2-DDDC80391824}"/>
              </a:ext>
            </a:extLst>
          </p:cNvPr>
          <p:cNvSpPr>
            <a:spLocks noGrp="1"/>
          </p:cNvSpPr>
          <p:nvPr>
            <p:ph type="dt" sz="half" idx="10"/>
          </p:nvPr>
        </p:nvSpPr>
        <p:spPr/>
        <p:txBody>
          <a:bodyPr/>
          <a:lstStyle/>
          <a:p>
            <a:fld id="{89C5723F-1371-495A-8067-455C650E7737}" type="datetimeFigureOut">
              <a:rPr lang="pt-PT" smtClean="0"/>
              <a:t>11/11/2025</a:t>
            </a:fld>
            <a:endParaRPr lang="pt-PT"/>
          </a:p>
        </p:txBody>
      </p:sp>
      <p:sp>
        <p:nvSpPr>
          <p:cNvPr id="3" name="Marcador de Posição do Rodapé 2">
            <a:extLst>
              <a:ext uri="{FF2B5EF4-FFF2-40B4-BE49-F238E27FC236}">
                <a16:creationId xmlns:a16="http://schemas.microsoft.com/office/drawing/2014/main" id="{A61C3EB4-7DEC-DD66-178C-4D0F63B518A0}"/>
              </a:ext>
            </a:extLst>
          </p:cNvPr>
          <p:cNvSpPr>
            <a:spLocks noGrp="1"/>
          </p:cNvSpPr>
          <p:nvPr>
            <p:ph type="ftr" sz="quarter" idx="11"/>
          </p:nvPr>
        </p:nvSpPr>
        <p:spPr/>
        <p:txBody>
          <a:bodyPr/>
          <a:lstStyle/>
          <a:p>
            <a:endParaRPr lang="pt-PT"/>
          </a:p>
        </p:txBody>
      </p:sp>
      <p:sp>
        <p:nvSpPr>
          <p:cNvPr id="4" name="Marcador de Posição do Número do Diapositivo 3">
            <a:extLst>
              <a:ext uri="{FF2B5EF4-FFF2-40B4-BE49-F238E27FC236}">
                <a16:creationId xmlns:a16="http://schemas.microsoft.com/office/drawing/2014/main" id="{ACC6B211-13AE-AA62-D0E4-D5711371C00E}"/>
              </a:ext>
            </a:extLst>
          </p:cNvPr>
          <p:cNvSpPr>
            <a:spLocks noGrp="1"/>
          </p:cNvSpPr>
          <p:nvPr>
            <p:ph type="sldNum" sz="quarter" idx="12"/>
          </p:nvPr>
        </p:nvSpPr>
        <p:spPr/>
        <p:txBody>
          <a:bodyPr/>
          <a:lstStyle/>
          <a:p>
            <a:fld id="{FC9F1308-AC66-449D-8605-344313727AC3}" type="slidenum">
              <a:rPr lang="pt-PT" smtClean="0"/>
              <a:t>‹nº›</a:t>
            </a:fld>
            <a:endParaRPr lang="pt-PT"/>
          </a:p>
        </p:txBody>
      </p:sp>
    </p:spTree>
    <p:extLst>
      <p:ext uri="{BB962C8B-B14F-4D97-AF65-F5344CB8AC3E}">
        <p14:creationId xmlns:p14="http://schemas.microsoft.com/office/powerpoint/2010/main" val="2715372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543945-1FD5-A4DB-49FB-00B0E5611C19}"/>
              </a:ext>
            </a:extLst>
          </p:cNvPr>
          <p:cNvSpPr>
            <a:spLocks noGrp="1"/>
          </p:cNvSpPr>
          <p:nvPr>
            <p:ph type="title"/>
          </p:nvPr>
        </p:nvSpPr>
        <p:spPr>
          <a:xfrm>
            <a:off x="839788" y="457200"/>
            <a:ext cx="3932237" cy="1600200"/>
          </a:xfrm>
        </p:spPr>
        <p:txBody>
          <a:bodyPr anchor="b"/>
          <a:lstStyle>
            <a:lvl1pPr>
              <a:defRPr sz="3200"/>
            </a:lvl1pPr>
          </a:lstStyle>
          <a:p>
            <a:r>
              <a:rPr lang="pt-PT"/>
              <a:t>Clique para editar o estilo de título do Modelo Global</a:t>
            </a:r>
          </a:p>
        </p:txBody>
      </p:sp>
      <p:sp>
        <p:nvSpPr>
          <p:cNvPr id="3" name="Marcador de Posição de Conteúdo 2">
            <a:extLst>
              <a:ext uri="{FF2B5EF4-FFF2-40B4-BE49-F238E27FC236}">
                <a16:creationId xmlns:a16="http://schemas.microsoft.com/office/drawing/2014/main" id="{50126BC1-1258-6703-3CAF-6BB31B898F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o Texto 3">
            <a:extLst>
              <a:ext uri="{FF2B5EF4-FFF2-40B4-BE49-F238E27FC236}">
                <a16:creationId xmlns:a16="http://schemas.microsoft.com/office/drawing/2014/main" id="{367633CC-32FB-6E22-A87F-D9186C84B9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a:t>Clique para editar os estilos do texto de Modelo Global</a:t>
            </a:r>
          </a:p>
        </p:txBody>
      </p:sp>
      <p:sp>
        <p:nvSpPr>
          <p:cNvPr id="5" name="Marcador de Posição da Data 4">
            <a:extLst>
              <a:ext uri="{FF2B5EF4-FFF2-40B4-BE49-F238E27FC236}">
                <a16:creationId xmlns:a16="http://schemas.microsoft.com/office/drawing/2014/main" id="{7ADC7D05-48F1-4687-69E5-2F500C52CA1D}"/>
              </a:ext>
            </a:extLst>
          </p:cNvPr>
          <p:cNvSpPr>
            <a:spLocks noGrp="1"/>
          </p:cNvSpPr>
          <p:nvPr>
            <p:ph type="dt" sz="half" idx="10"/>
          </p:nvPr>
        </p:nvSpPr>
        <p:spPr/>
        <p:txBody>
          <a:bodyPr/>
          <a:lstStyle/>
          <a:p>
            <a:fld id="{89C5723F-1371-495A-8067-455C650E7737}" type="datetimeFigureOut">
              <a:rPr lang="pt-PT" smtClean="0"/>
              <a:t>11/11/2025</a:t>
            </a:fld>
            <a:endParaRPr lang="pt-PT"/>
          </a:p>
        </p:txBody>
      </p:sp>
      <p:sp>
        <p:nvSpPr>
          <p:cNvPr id="6" name="Marcador de Posição do Rodapé 5">
            <a:extLst>
              <a:ext uri="{FF2B5EF4-FFF2-40B4-BE49-F238E27FC236}">
                <a16:creationId xmlns:a16="http://schemas.microsoft.com/office/drawing/2014/main" id="{B4191F82-0C87-F6C7-07D8-7BFBDCBF9137}"/>
              </a:ext>
            </a:extLst>
          </p:cNvPr>
          <p:cNvSpPr>
            <a:spLocks noGrp="1"/>
          </p:cNvSpPr>
          <p:nvPr>
            <p:ph type="ftr" sz="quarter" idx="11"/>
          </p:nvPr>
        </p:nvSpPr>
        <p:spPr/>
        <p:txBody>
          <a:bodyPr/>
          <a:lstStyle/>
          <a:p>
            <a:endParaRPr lang="pt-PT"/>
          </a:p>
        </p:txBody>
      </p:sp>
      <p:sp>
        <p:nvSpPr>
          <p:cNvPr id="7" name="Marcador de Posição do Número do Diapositivo 6">
            <a:extLst>
              <a:ext uri="{FF2B5EF4-FFF2-40B4-BE49-F238E27FC236}">
                <a16:creationId xmlns:a16="http://schemas.microsoft.com/office/drawing/2014/main" id="{2B5A17E8-D233-42BB-3150-84D1E13069B6}"/>
              </a:ext>
            </a:extLst>
          </p:cNvPr>
          <p:cNvSpPr>
            <a:spLocks noGrp="1"/>
          </p:cNvSpPr>
          <p:nvPr>
            <p:ph type="sldNum" sz="quarter" idx="12"/>
          </p:nvPr>
        </p:nvSpPr>
        <p:spPr/>
        <p:txBody>
          <a:bodyPr/>
          <a:lstStyle/>
          <a:p>
            <a:fld id="{FC9F1308-AC66-449D-8605-344313727AC3}" type="slidenum">
              <a:rPr lang="pt-PT" smtClean="0"/>
              <a:t>‹nº›</a:t>
            </a:fld>
            <a:endParaRPr lang="pt-PT"/>
          </a:p>
        </p:txBody>
      </p:sp>
    </p:spTree>
    <p:extLst>
      <p:ext uri="{BB962C8B-B14F-4D97-AF65-F5344CB8AC3E}">
        <p14:creationId xmlns:p14="http://schemas.microsoft.com/office/powerpoint/2010/main" val="1642874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2E20C2-0C16-C7FB-FD1B-CE44B6C3A40D}"/>
              </a:ext>
            </a:extLst>
          </p:cNvPr>
          <p:cNvSpPr>
            <a:spLocks noGrp="1"/>
          </p:cNvSpPr>
          <p:nvPr>
            <p:ph type="title"/>
          </p:nvPr>
        </p:nvSpPr>
        <p:spPr>
          <a:xfrm>
            <a:off x="839788" y="457200"/>
            <a:ext cx="3932237" cy="1600200"/>
          </a:xfrm>
        </p:spPr>
        <p:txBody>
          <a:bodyPr anchor="b"/>
          <a:lstStyle>
            <a:lvl1pPr>
              <a:defRPr sz="3200"/>
            </a:lvl1pPr>
          </a:lstStyle>
          <a:p>
            <a:r>
              <a:rPr lang="pt-PT"/>
              <a:t>Clique para editar o estilo de título do Modelo Global</a:t>
            </a:r>
          </a:p>
        </p:txBody>
      </p:sp>
      <p:sp>
        <p:nvSpPr>
          <p:cNvPr id="3" name="Marcador de Posição da Imagem 2">
            <a:extLst>
              <a:ext uri="{FF2B5EF4-FFF2-40B4-BE49-F238E27FC236}">
                <a16:creationId xmlns:a16="http://schemas.microsoft.com/office/drawing/2014/main" id="{43F40AA0-CF00-D5EA-01FF-2262C2F701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PT"/>
          </a:p>
        </p:txBody>
      </p:sp>
      <p:sp>
        <p:nvSpPr>
          <p:cNvPr id="4" name="Marcador de Posição do Texto 3">
            <a:extLst>
              <a:ext uri="{FF2B5EF4-FFF2-40B4-BE49-F238E27FC236}">
                <a16:creationId xmlns:a16="http://schemas.microsoft.com/office/drawing/2014/main" id="{B64765C3-AF85-2EC0-7954-D1BA7BD70D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a:t>Clique para editar os estilos do texto de Modelo Global</a:t>
            </a:r>
          </a:p>
        </p:txBody>
      </p:sp>
      <p:sp>
        <p:nvSpPr>
          <p:cNvPr id="5" name="Marcador de Posição da Data 4">
            <a:extLst>
              <a:ext uri="{FF2B5EF4-FFF2-40B4-BE49-F238E27FC236}">
                <a16:creationId xmlns:a16="http://schemas.microsoft.com/office/drawing/2014/main" id="{3A27A198-1198-5144-6497-DE8C65FA66CA}"/>
              </a:ext>
            </a:extLst>
          </p:cNvPr>
          <p:cNvSpPr>
            <a:spLocks noGrp="1"/>
          </p:cNvSpPr>
          <p:nvPr>
            <p:ph type="dt" sz="half" idx="10"/>
          </p:nvPr>
        </p:nvSpPr>
        <p:spPr/>
        <p:txBody>
          <a:bodyPr/>
          <a:lstStyle/>
          <a:p>
            <a:fld id="{89C5723F-1371-495A-8067-455C650E7737}" type="datetimeFigureOut">
              <a:rPr lang="pt-PT" smtClean="0"/>
              <a:t>11/11/2025</a:t>
            </a:fld>
            <a:endParaRPr lang="pt-PT"/>
          </a:p>
        </p:txBody>
      </p:sp>
      <p:sp>
        <p:nvSpPr>
          <p:cNvPr id="6" name="Marcador de Posição do Rodapé 5">
            <a:extLst>
              <a:ext uri="{FF2B5EF4-FFF2-40B4-BE49-F238E27FC236}">
                <a16:creationId xmlns:a16="http://schemas.microsoft.com/office/drawing/2014/main" id="{2B482D34-66C1-0483-6414-EACEACE00DED}"/>
              </a:ext>
            </a:extLst>
          </p:cNvPr>
          <p:cNvSpPr>
            <a:spLocks noGrp="1"/>
          </p:cNvSpPr>
          <p:nvPr>
            <p:ph type="ftr" sz="quarter" idx="11"/>
          </p:nvPr>
        </p:nvSpPr>
        <p:spPr/>
        <p:txBody>
          <a:bodyPr/>
          <a:lstStyle/>
          <a:p>
            <a:endParaRPr lang="pt-PT"/>
          </a:p>
        </p:txBody>
      </p:sp>
      <p:sp>
        <p:nvSpPr>
          <p:cNvPr id="7" name="Marcador de Posição do Número do Diapositivo 6">
            <a:extLst>
              <a:ext uri="{FF2B5EF4-FFF2-40B4-BE49-F238E27FC236}">
                <a16:creationId xmlns:a16="http://schemas.microsoft.com/office/drawing/2014/main" id="{12999395-18DA-44DF-9F1A-F65B9005F7E2}"/>
              </a:ext>
            </a:extLst>
          </p:cNvPr>
          <p:cNvSpPr>
            <a:spLocks noGrp="1"/>
          </p:cNvSpPr>
          <p:nvPr>
            <p:ph type="sldNum" sz="quarter" idx="12"/>
          </p:nvPr>
        </p:nvSpPr>
        <p:spPr/>
        <p:txBody>
          <a:bodyPr/>
          <a:lstStyle/>
          <a:p>
            <a:fld id="{FC9F1308-AC66-449D-8605-344313727AC3}" type="slidenum">
              <a:rPr lang="pt-PT" smtClean="0"/>
              <a:t>‹nº›</a:t>
            </a:fld>
            <a:endParaRPr lang="pt-PT"/>
          </a:p>
        </p:txBody>
      </p:sp>
    </p:spTree>
    <p:extLst>
      <p:ext uri="{BB962C8B-B14F-4D97-AF65-F5344CB8AC3E}">
        <p14:creationId xmlns:p14="http://schemas.microsoft.com/office/powerpoint/2010/main" val="1780299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289D02-98A5-8B51-B4E8-39E8FFEF52F2}"/>
              </a:ext>
            </a:extLst>
          </p:cNvPr>
          <p:cNvSpPr>
            <a:spLocks noGrp="1"/>
          </p:cNvSpPr>
          <p:nvPr>
            <p:ph type="title"/>
          </p:nvPr>
        </p:nvSpPr>
        <p:spPr/>
        <p:txBody>
          <a:bodyPr/>
          <a:lstStyle/>
          <a:p>
            <a:r>
              <a:rPr lang="pt-PT"/>
              <a:t>Clique para editar o estilo de título do Modelo Global</a:t>
            </a:r>
          </a:p>
        </p:txBody>
      </p:sp>
      <p:sp>
        <p:nvSpPr>
          <p:cNvPr id="3" name="Marcador de Posição de Texto Vertical 2">
            <a:extLst>
              <a:ext uri="{FF2B5EF4-FFF2-40B4-BE49-F238E27FC236}">
                <a16:creationId xmlns:a16="http://schemas.microsoft.com/office/drawing/2014/main" id="{6F21A530-2C54-A6DF-E0A7-0740B3CE2AB3}"/>
              </a:ext>
            </a:extLst>
          </p:cNvPr>
          <p:cNvSpPr>
            <a:spLocks noGrp="1"/>
          </p:cNvSpPr>
          <p:nvPr>
            <p:ph type="body" orient="vert" idx="1"/>
          </p:nvPr>
        </p:nvSpPr>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Data 3">
            <a:extLst>
              <a:ext uri="{FF2B5EF4-FFF2-40B4-BE49-F238E27FC236}">
                <a16:creationId xmlns:a16="http://schemas.microsoft.com/office/drawing/2014/main" id="{B3A5EFEC-2042-2AD6-9D18-3BBB1FA53AF9}"/>
              </a:ext>
            </a:extLst>
          </p:cNvPr>
          <p:cNvSpPr>
            <a:spLocks noGrp="1"/>
          </p:cNvSpPr>
          <p:nvPr>
            <p:ph type="dt" sz="half" idx="10"/>
          </p:nvPr>
        </p:nvSpPr>
        <p:spPr/>
        <p:txBody>
          <a:bodyPr/>
          <a:lstStyle/>
          <a:p>
            <a:fld id="{89C5723F-1371-495A-8067-455C650E7737}" type="datetimeFigureOut">
              <a:rPr lang="pt-PT" smtClean="0"/>
              <a:t>11/11/2025</a:t>
            </a:fld>
            <a:endParaRPr lang="pt-PT"/>
          </a:p>
        </p:txBody>
      </p:sp>
      <p:sp>
        <p:nvSpPr>
          <p:cNvPr id="5" name="Marcador de Posição do Rodapé 4">
            <a:extLst>
              <a:ext uri="{FF2B5EF4-FFF2-40B4-BE49-F238E27FC236}">
                <a16:creationId xmlns:a16="http://schemas.microsoft.com/office/drawing/2014/main" id="{AA798AE4-26DD-59E1-2986-D0327EBB8515}"/>
              </a:ext>
            </a:extLst>
          </p:cNvPr>
          <p:cNvSpPr>
            <a:spLocks noGrp="1"/>
          </p:cNvSpPr>
          <p:nvPr>
            <p:ph type="ftr" sz="quarter" idx="11"/>
          </p:nvPr>
        </p:nvSpPr>
        <p:spPr/>
        <p:txBody>
          <a:bodyPr/>
          <a:lstStyle/>
          <a:p>
            <a:endParaRPr lang="pt-PT"/>
          </a:p>
        </p:txBody>
      </p:sp>
      <p:sp>
        <p:nvSpPr>
          <p:cNvPr id="6" name="Marcador de Posição do Número do Diapositivo 5">
            <a:extLst>
              <a:ext uri="{FF2B5EF4-FFF2-40B4-BE49-F238E27FC236}">
                <a16:creationId xmlns:a16="http://schemas.microsoft.com/office/drawing/2014/main" id="{B485632F-85B4-C1C9-D4A7-2B17FCD9D6CD}"/>
              </a:ext>
            </a:extLst>
          </p:cNvPr>
          <p:cNvSpPr>
            <a:spLocks noGrp="1"/>
          </p:cNvSpPr>
          <p:nvPr>
            <p:ph type="sldNum" sz="quarter" idx="12"/>
          </p:nvPr>
        </p:nvSpPr>
        <p:spPr/>
        <p:txBody>
          <a:bodyPr/>
          <a:lstStyle/>
          <a:p>
            <a:fld id="{FC9F1308-AC66-449D-8605-344313727AC3}" type="slidenum">
              <a:rPr lang="pt-PT" smtClean="0"/>
              <a:t>‹nº›</a:t>
            </a:fld>
            <a:endParaRPr lang="pt-PT"/>
          </a:p>
        </p:txBody>
      </p:sp>
    </p:spTree>
    <p:extLst>
      <p:ext uri="{BB962C8B-B14F-4D97-AF65-F5344CB8AC3E}">
        <p14:creationId xmlns:p14="http://schemas.microsoft.com/office/powerpoint/2010/main" val="244730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e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E0B6E04-F964-2B0B-92CA-15DF75294DDA}"/>
              </a:ext>
            </a:extLst>
          </p:cNvPr>
          <p:cNvSpPr>
            <a:spLocks noGrp="1"/>
          </p:cNvSpPr>
          <p:nvPr>
            <p:ph type="title" orient="vert"/>
          </p:nvPr>
        </p:nvSpPr>
        <p:spPr>
          <a:xfrm>
            <a:off x="8724900" y="365125"/>
            <a:ext cx="2628900" cy="5811838"/>
          </a:xfrm>
        </p:spPr>
        <p:txBody>
          <a:bodyPr vert="eaVert"/>
          <a:lstStyle/>
          <a:p>
            <a:r>
              <a:rPr lang="pt-PT"/>
              <a:t>Clique para editar o estilo de título do Modelo Global</a:t>
            </a:r>
          </a:p>
        </p:txBody>
      </p:sp>
      <p:sp>
        <p:nvSpPr>
          <p:cNvPr id="3" name="Marcador de Posição de Texto Vertical 2">
            <a:extLst>
              <a:ext uri="{FF2B5EF4-FFF2-40B4-BE49-F238E27FC236}">
                <a16:creationId xmlns:a16="http://schemas.microsoft.com/office/drawing/2014/main" id="{3B2580C6-CD06-88DF-DDD0-6985C46BCD3D}"/>
              </a:ext>
            </a:extLst>
          </p:cNvPr>
          <p:cNvSpPr>
            <a:spLocks noGrp="1"/>
          </p:cNvSpPr>
          <p:nvPr>
            <p:ph type="body" orient="vert" idx="1"/>
          </p:nvPr>
        </p:nvSpPr>
        <p:spPr>
          <a:xfrm>
            <a:off x="838200" y="365125"/>
            <a:ext cx="7734300" cy="5811838"/>
          </a:xfrm>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Data 3">
            <a:extLst>
              <a:ext uri="{FF2B5EF4-FFF2-40B4-BE49-F238E27FC236}">
                <a16:creationId xmlns:a16="http://schemas.microsoft.com/office/drawing/2014/main" id="{CB5C20B1-E35F-108A-65CF-40AE6ED20E58}"/>
              </a:ext>
            </a:extLst>
          </p:cNvPr>
          <p:cNvSpPr>
            <a:spLocks noGrp="1"/>
          </p:cNvSpPr>
          <p:nvPr>
            <p:ph type="dt" sz="half" idx="10"/>
          </p:nvPr>
        </p:nvSpPr>
        <p:spPr/>
        <p:txBody>
          <a:bodyPr/>
          <a:lstStyle/>
          <a:p>
            <a:fld id="{89C5723F-1371-495A-8067-455C650E7737}" type="datetimeFigureOut">
              <a:rPr lang="pt-PT" smtClean="0"/>
              <a:t>11/11/2025</a:t>
            </a:fld>
            <a:endParaRPr lang="pt-PT"/>
          </a:p>
        </p:txBody>
      </p:sp>
      <p:sp>
        <p:nvSpPr>
          <p:cNvPr id="5" name="Marcador de Posição do Rodapé 4">
            <a:extLst>
              <a:ext uri="{FF2B5EF4-FFF2-40B4-BE49-F238E27FC236}">
                <a16:creationId xmlns:a16="http://schemas.microsoft.com/office/drawing/2014/main" id="{EC2E39D8-F14C-2E18-E736-5FDDC0D68E66}"/>
              </a:ext>
            </a:extLst>
          </p:cNvPr>
          <p:cNvSpPr>
            <a:spLocks noGrp="1"/>
          </p:cNvSpPr>
          <p:nvPr>
            <p:ph type="ftr" sz="quarter" idx="11"/>
          </p:nvPr>
        </p:nvSpPr>
        <p:spPr/>
        <p:txBody>
          <a:bodyPr/>
          <a:lstStyle/>
          <a:p>
            <a:endParaRPr lang="pt-PT"/>
          </a:p>
        </p:txBody>
      </p:sp>
      <p:sp>
        <p:nvSpPr>
          <p:cNvPr id="6" name="Marcador de Posição do Número do Diapositivo 5">
            <a:extLst>
              <a:ext uri="{FF2B5EF4-FFF2-40B4-BE49-F238E27FC236}">
                <a16:creationId xmlns:a16="http://schemas.microsoft.com/office/drawing/2014/main" id="{3CB7E06D-55C5-DB45-AF8D-C2EC47059B17}"/>
              </a:ext>
            </a:extLst>
          </p:cNvPr>
          <p:cNvSpPr>
            <a:spLocks noGrp="1"/>
          </p:cNvSpPr>
          <p:nvPr>
            <p:ph type="sldNum" sz="quarter" idx="12"/>
          </p:nvPr>
        </p:nvSpPr>
        <p:spPr/>
        <p:txBody>
          <a:bodyPr/>
          <a:lstStyle/>
          <a:p>
            <a:fld id="{FC9F1308-AC66-449D-8605-344313727AC3}" type="slidenum">
              <a:rPr lang="pt-PT" smtClean="0"/>
              <a:t>‹nº›</a:t>
            </a:fld>
            <a:endParaRPr lang="pt-PT"/>
          </a:p>
        </p:txBody>
      </p:sp>
    </p:spTree>
    <p:extLst>
      <p:ext uri="{BB962C8B-B14F-4D97-AF65-F5344CB8AC3E}">
        <p14:creationId xmlns:p14="http://schemas.microsoft.com/office/powerpoint/2010/main" val="4103954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Título 1">
            <a:extLst>
              <a:ext uri="{FF2B5EF4-FFF2-40B4-BE49-F238E27FC236}">
                <a16:creationId xmlns:a16="http://schemas.microsoft.com/office/drawing/2014/main" id="{9CB08DA5-8E45-4525-2EDC-2D7988C882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PT"/>
              <a:t>Clique para editar o estilo de título do Modelo Global</a:t>
            </a:r>
          </a:p>
        </p:txBody>
      </p:sp>
      <p:sp>
        <p:nvSpPr>
          <p:cNvPr id="3" name="Marcador de Posição do Texto 2">
            <a:extLst>
              <a:ext uri="{FF2B5EF4-FFF2-40B4-BE49-F238E27FC236}">
                <a16:creationId xmlns:a16="http://schemas.microsoft.com/office/drawing/2014/main" id="{02364359-8D46-32A9-763C-EDF2DAC2D2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Data 3">
            <a:extLst>
              <a:ext uri="{FF2B5EF4-FFF2-40B4-BE49-F238E27FC236}">
                <a16:creationId xmlns:a16="http://schemas.microsoft.com/office/drawing/2014/main" id="{BA625105-ACCC-77C3-31CC-A141431FAE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C5723F-1371-495A-8067-455C650E7737}" type="datetimeFigureOut">
              <a:rPr lang="pt-PT" smtClean="0"/>
              <a:t>11/11/2025</a:t>
            </a:fld>
            <a:endParaRPr lang="pt-PT"/>
          </a:p>
        </p:txBody>
      </p:sp>
      <p:sp>
        <p:nvSpPr>
          <p:cNvPr id="5" name="Marcador de Posição do Rodapé 4">
            <a:extLst>
              <a:ext uri="{FF2B5EF4-FFF2-40B4-BE49-F238E27FC236}">
                <a16:creationId xmlns:a16="http://schemas.microsoft.com/office/drawing/2014/main" id="{9F5C4E16-D623-6FFA-6063-25668684E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PT"/>
          </a:p>
        </p:txBody>
      </p:sp>
      <p:sp>
        <p:nvSpPr>
          <p:cNvPr id="6" name="Marcador de Posição do Número do Diapositivo 5">
            <a:extLst>
              <a:ext uri="{FF2B5EF4-FFF2-40B4-BE49-F238E27FC236}">
                <a16:creationId xmlns:a16="http://schemas.microsoft.com/office/drawing/2014/main" id="{0034D9DF-C769-CC10-A98F-38A9322B7C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9F1308-AC66-449D-8605-344313727AC3}" type="slidenum">
              <a:rPr lang="pt-PT" smtClean="0"/>
              <a:t>‹nº›</a:t>
            </a:fld>
            <a:endParaRPr lang="pt-PT"/>
          </a:p>
        </p:txBody>
      </p:sp>
    </p:spTree>
    <p:extLst>
      <p:ext uri="{BB962C8B-B14F-4D97-AF65-F5344CB8AC3E}">
        <p14:creationId xmlns:p14="http://schemas.microsoft.com/office/powerpoint/2010/main" val="11588611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3" Type="http://schemas.microsoft.com/office/2018/10/relationships/comments" Target="../comments/modernComment_100_8F875A74.xml"/><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1.jpe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microsoft.com/office/2018/10/relationships/comments" Target="../comments/modernComment_101_1377AD75.xml"/><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1.jpeg"/><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1.png"/><Relationship Id="rId3" Type="http://schemas.microsoft.com/office/2018/10/relationships/comments" Target="../comments/modernComment_109_8B8E44E2.xml"/><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1.jpeg"/><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2.png"/><Relationship Id="rId3" Type="http://schemas.microsoft.com/office/2018/10/relationships/comments" Target="../comments/modernComment_10A_A2B5F026.xml"/><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1.jpeg"/><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3.png"/><Relationship Id="rId3" Type="http://schemas.microsoft.com/office/2018/10/relationships/comments" Target="../comments/modernComment_110_73ABD042.xml"/><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1.jpeg"/><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4.png"/><Relationship Id="rId3" Type="http://schemas.microsoft.com/office/2018/10/relationships/comments" Target="../comments/modernComment_10B_DC6FD6DC.xml"/><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1.jpeg"/><Relationship Id="rId9" Type="http://schemas.openxmlformats.org/officeDocument/2006/relationships/image" Target="../media/image6.png"/><Relationship Id="rId1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6.png"/><Relationship Id="rId3" Type="http://schemas.microsoft.com/office/2018/10/relationships/comments" Target="../comments/modernComment_10C_8E4C3D1A.xml"/><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1.jpeg"/><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7.png"/><Relationship Id="rId3" Type="http://schemas.microsoft.com/office/2018/10/relationships/comments" Target="../comments/modernComment_10D_36266B86.xml"/><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1.jpeg"/><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8.png"/><Relationship Id="rId3" Type="http://schemas.microsoft.com/office/2018/10/relationships/comments" Target="../comments/modernComment_10E_14145552.xml"/><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1.jpeg"/><Relationship Id="rId9"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9.png"/><Relationship Id="rId3" Type="http://schemas.microsoft.com/office/2018/10/relationships/comments" Target="../comments/modernComment_10F_D081F62E.xml"/><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1.jpe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61EE61-2F39-8481-E437-94DEEE01CC49}"/>
              </a:ext>
            </a:extLst>
          </p:cNvPr>
          <p:cNvSpPr>
            <a:spLocks noGrp="1"/>
          </p:cNvSpPr>
          <p:nvPr>
            <p:ph type="ctrTitle"/>
          </p:nvPr>
        </p:nvSpPr>
        <p:spPr>
          <a:xfrm>
            <a:off x="1307430" y="226595"/>
            <a:ext cx="9577137" cy="2598820"/>
          </a:xfrm>
        </p:spPr>
        <p:txBody>
          <a:bodyPr>
            <a:normAutofit/>
          </a:bodyPr>
          <a:lstStyle/>
          <a:p>
            <a:r>
              <a:rPr lang="pt-PT" sz="3600" b="1" dirty="0">
                <a:latin typeface="Times New Roman" panose="02020603050405020304" pitchFamily="18" charset="0"/>
                <a:cs typeface="Times New Roman" panose="02020603050405020304" pitchFamily="18" charset="0"/>
              </a:rPr>
              <a:t>Nurse Stress Prediction Wearables Sensors: Monitorização contínua de stress em ambiente hospitalar</a:t>
            </a:r>
          </a:p>
        </p:txBody>
      </p:sp>
      <p:sp>
        <p:nvSpPr>
          <p:cNvPr id="3" name="Subtítulo 2">
            <a:extLst>
              <a:ext uri="{FF2B5EF4-FFF2-40B4-BE49-F238E27FC236}">
                <a16:creationId xmlns:a16="http://schemas.microsoft.com/office/drawing/2014/main" id="{CAAED611-176D-0120-C3B8-4A72293630F9}"/>
              </a:ext>
            </a:extLst>
          </p:cNvPr>
          <p:cNvSpPr>
            <a:spLocks noGrp="1"/>
          </p:cNvSpPr>
          <p:nvPr>
            <p:ph type="subTitle" idx="1"/>
          </p:nvPr>
        </p:nvSpPr>
        <p:spPr>
          <a:xfrm>
            <a:off x="1524000" y="3477128"/>
            <a:ext cx="9144000" cy="3228472"/>
          </a:xfrm>
        </p:spPr>
        <p:txBody>
          <a:bodyPr>
            <a:normAutofit/>
          </a:bodyPr>
          <a:lstStyle/>
          <a:p>
            <a:r>
              <a:rPr lang="pt-PT" u="sng" dirty="0">
                <a:latin typeface="Times New Roman" panose="02020603050405020304" pitchFamily="18" charset="0"/>
                <a:cs typeface="Times New Roman" panose="02020603050405020304" pitchFamily="18" charset="0"/>
              </a:rPr>
              <a:t>Projeto individual de Inteligência Artificial para as Telecomunicações</a:t>
            </a:r>
          </a:p>
          <a:p>
            <a:endParaRPr lang="pt-PT" dirty="0">
              <a:latin typeface="Times New Roman" panose="02020603050405020304" pitchFamily="18" charset="0"/>
              <a:cs typeface="Times New Roman" panose="02020603050405020304" pitchFamily="18" charset="0"/>
            </a:endParaRPr>
          </a:p>
          <a:p>
            <a:pPr>
              <a:lnSpc>
                <a:spcPct val="150000"/>
              </a:lnSpc>
            </a:pPr>
            <a:r>
              <a:rPr lang="pt-PT" dirty="0">
                <a:latin typeface="Times New Roman" panose="02020603050405020304" pitchFamily="18" charset="0"/>
                <a:cs typeface="Times New Roman" panose="02020603050405020304" pitchFamily="18" charset="0"/>
              </a:rPr>
              <a:t>Trabalho realizado por: </a:t>
            </a:r>
            <a:br>
              <a:rPr lang="pt-PT" dirty="0">
                <a:latin typeface="Times New Roman" panose="02020603050405020304" pitchFamily="18" charset="0"/>
                <a:cs typeface="Times New Roman" panose="02020603050405020304" pitchFamily="18" charset="0"/>
              </a:rPr>
            </a:br>
            <a:r>
              <a:rPr lang="pt-PT" dirty="0">
                <a:latin typeface="Times New Roman" panose="02020603050405020304" pitchFamily="18" charset="0"/>
                <a:cs typeface="Times New Roman" panose="02020603050405020304" pitchFamily="18" charset="0"/>
              </a:rPr>
              <a:t>Luis Pedro Cerqueira Baptista PG61434</a:t>
            </a:r>
          </a:p>
          <a:p>
            <a:endParaRPr lang="pt-PT" dirty="0">
              <a:latin typeface="Times New Roman" panose="02020603050405020304" pitchFamily="18" charset="0"/>
              <a:cs typeface="Times New Roman" panose="02020603050405020304" pitchFamily="18" charset="0"/>
            </a:endParaRPr>
          </a:p>
          <a:p>
            <a:r>
              <a:rPr lang="pt-PT" dirty="0">
                <a:latin typeface="Times New Roman" panose="02020603050405020304" pitchFamily="18" charset="0"/>
                <a:cs typeface="Times New Roman" panose="02020603050405020304" pitchFamily="18" charset="0"/>
              </a:rPr>
              <a:t>2025/26</a:t>
            </a:r>
          </a:p>
        </p:txBody>
      </p:sp>
      <p:pic>
        <p:nvPicPr>
          <p:cNvPr id="4" name="Image1" descr="Uma imagem com Gráficos, símbolo, design gráfico, logótipo&#10;&#10;Descrição gerada automaticamente">
            <a:extLst>
              <a:ext uri="{FF2B5EF4-FFF2-40B4-BE49-F238E27FC236}">
                <a16:creationId xmlns:a16="http://schemas.microsoft.com/office/drawing/2014/main" id="{B8A7FF0E-B58B-DFA0-1C3D-2D836C868407}"/>
              </a:ext>
            </a:extLst>
          </p:cNvPr>
          <p:cNvPicPr/>
          <p:nvPr/>
        </p:nvPicPr>
        <p:blipFill>
          <a:blip r:embed="rId4">
            <a:lum/>
            <a:alphaModFix/>
          </a:blip>
          <a:srcRect/>
          <a:stretch>
            <a:fillRect/>
          </a:stretch>
        </p:blipFill>
        <p:spPr>
          <a:xfrm>
            <a:off x="360948" y="226595"/>
            <a:ext cx="1515979" cy="739940"/>
          </a:xfrm>
          <a:prstGeom prst="rect">
            <a:avLst/>
          </a:prstGeom>
          <a:noFill/>
          <a:ln>
            <a:noFill/>
            <a:prstDash/>
          </a:ln>
        </p:spPr>
      </p:pic>
      <p:cxnSp>
        <p:nvCxnSpPr>
          <p:cNvPr id="6" name="Conexão reta 5">
            <a:extLst>
              <a:ext uri="{FF2B5EF4-FFF2-40B4-BE49-F238E27FC236}">
                <a16:creationId xmlns:a16="http://schemas.microsoft.com/office/drawing/2014/main" id="{05C88FF9-2774-A37C-A57C-7E897D7CD49C}"/>
              </a:ext>
            </a:extLst>
          </p:cNvPr>
          <p:cNvCxnSpPr/>
          <p:nvPr/>
        </p:nvCxnSpPr>
        <p:spPr>
          <a:xfrm>
            <a:off x="-1" y="1171074"/>
            <a:ext cx="1219200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Conexão reta 6">
            <a:extLst>
              <a:ext uri="{FF2B5EF4-FFF2-40B4-BE49-F238E27FC236}">
                <a16:creationId xmlns:a16="http://schemas.microsoft.com/office/drawing/2014/main" id="{AB5E098C-9123-BBDD-C5EF-C78CFB5B9E8E}"/>
              </a:ext>
            </a:extLst>
          </p:cNvPr>
          <p:cNvCxnSpPr/>
          <p:nvPr/>
        </p:nvCxnSpPr>
        <p:spPr>
          <a:xfrm>
            <a:off x="-1" y="2890359"/>
            <a:ext cx="12192000" cy="0"/>
          </a:xfrm>
          <a:prstGeom prst="line">
            <a:avLst/>
          </a:prstGeom>
        </p:spPr>
        <p:style>
          <a:lnRef idx="3">
            <a:schemeClr val="accent2"/>
          </a:lnRef>
          <a:fillRef idx="0">
            <a:schemeClr val="accent2"/>
          </a:fillRef>
          <a:effectRef idx="2">
            <a:schemeClr val="accent2"/>
          </a:effectRef>
          <a:fontRef idx="minor">
            <a:schemeClr val="tx1"/>
          </a:fontRef>
        </p:style>
      </p:cxnSp>
      <p:grpSp>
        <p:nvGrpSpPr>
          <p:cNvPr id="19" name="Agrupar 18">
            <a:extLst>
              <a:ext uri="{FF2B5EF4-FFF2-40B4-BE49-F238E27FC236}">
                <a16:creationId xmlns:a16="http://schemas.microsoft.com/office/drawing/2014/main" id="{D956C5BD-D3DC-AD16-E454-3C1F26F5D155}"/>
              </a:ext>
            </a:extLst>
          </p:cNvPr>
          <p:cNvGrpSpPr/>
          <p:nvPr/>
        </p:nvGrpSpPr>
        <p:grpSpPr>
          <a:xfrm>
            <a:off x="10487805" y="8596"/>
            <a:ext cx="936223" cy="1191039"/>
            <a:chOff x="10487805" y="8596"/>
            <a:chExt cx="936223" cy="1191039"/>
          </a:xfrm>
        </p:grpSpPr>
        <p:pic>
          <p:nvPicPr>
            <p:cNvPr id="11" name="Gráfico 10" descr="Feminino médico destaque">
              <a:extLst>
                <a:ext uri="{FF2B5EF4-FFF2-40B4-BE49-F238E27FC236}">
                  <a16:creationId xmlns:a16="http://schemas.microsoft.com/office/drawing/2014/main" id="{D9F7DAEC-2781-71E0-C6F9-38B63D719FD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0817" y="565455"/>
              <a:ext cx="634180" cy="634180"/>
            </a:xfrm>
            <a:prstGeom prst="rect">
              <a:avLst/>
            </a:prstGeom>
          </p:spPr>
        </p:pic>
        <p:pic>
          <p:nvPicPr>
            <p:cNvPr id="13" name="Gráfico 12" descr="Médico destaque">
              <a:extLst>
                <a:ext uri="{FF2B5EF4-FFF2-40B4-BE49-F238E27FC236}">
                  <a16:creationId xmlns:a16="http://schemas.microsoft.com/office/drawing/2014/main" id="{0E1CC47E-F68A-43B9-5997-6D947EDDF14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87805" y="8596"/>
              <a:ext cx="387429" cy="387429"/>
            </a:xfrm>
            <a:prstGeom prst="rect">
              <a:avLst/>
            </a:prstGeom>
          </p:spPr>
        </p:pic>
        <p:grpSp>
          <p:nvGrpSpPr>
            <p:cNvPr id="18" name="Agrupar 17">
              <a:extLst>
                <a:ext uri="{FF2B5EF4-FFF2-40B4-BE49-F238E27FC236}">
                  <a16:creationId xmlns:a16="http://schemas.microsoft.com/office/drawing/2014/main" id="{8F95BA08-0A64-E691-86B0-6920F45A5A44}"/>
                </a:ext>
              </a:extLst>
            </p:cNvPr>
            <p:cNvGrpSpPr/>
            <p:nvPr/>
          </p:nvGrpSpPr>
          <p:grpSpPr>
            <a:xfrm>
              <a:off x="10746203" y="81221"/>
              <a:ext cx="677825" cy="544988"/>
              <a:chOff x="10746203" y="81221"/>
              <a:chExt cx="677825" cy="544988"/>
            </a:xfrm>
          </p:grpSpPr>
          <p:pic>
            <p:nvPicPr>
              <p:cNvPr id="15" name="Gráfico 14" descr="Coração com batimento destaque">
                <a:extLst>
                  <a:ext uri="{FF2B5EF4-FFF2-40B4-BE49-F238E27FC236}">
                    <a16:creationId xmlns:a16="http://schemas.microsoft.com/office/drawing/2014/main" id="{CB30DB20-4EC6-AC6F-2973-B2C7D4543B2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036599" y="81221"/>
                <a:ext cx="387429" cy="387429"/>
              </a:xfrm>
              <a:prstGeom prst="rect">
                <a:avLst/>
              </a:prstGeom>
            </p:spPr>
          </p:pic>
          <p:pic>
            <p:nvPicPr>
              <p:cNvPr id="17" name="Gráfico 16" descr="Cérebro na cabeça destaque">
                <a:extLst>
                  <a:ext uri="{FF2B5EF4-FFF2-40B4-BE49-F238E27FC236}">
                    <a16:creationId xmlns:a16="http://schemas.microsoft.com/office/drawing/2014/main" id="{409072E3-46D4-8863-E744-80953FF6A3C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746203" y="142098"/>
                <a:ext cx="484111" cy="484111"/>
              </a:xfrm>
              <a:prstGeom prst="rect">
                <a:avLst/>
              </a:prstGeom>
            </p:spPr>
          </p:pic>
        </p:grpSp>
      </p:grpSp>
    </p:spTree>
    <p:extLst>
      <p:ext uri="{BB962C8B-B14F-4D97-AF65-F5344CB8AC3E}">
        <p14:creationId xmlns:p14="http://schemas.microsoft.com/office/powerpoint/2010/main" val="24080124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 descr="Uma imagem com Gráficos, símbolo, design gráfico, logótipo&#10;&#10;Descrição gerada automaticamente">
            <a:extLst>
              <a:ext uri="{FF2B5EF4-FFF2-40B4-BE49-F238E27FC236}">
                <a16:creationId xmlns:a16="http://schemas.microsoft.com/office/drawing/2014/main" id="{65143B22-344B-AC0D-6984-70B7376D4676}"/>
              </a:ext>
            </a:extLst>
          </p:cNvPr>
          <p:cNvPicPr/>
          <p:nvPr/>
        </p:nvPicPr>
        <p:blipFill>
          <a:blip r:embed="rId4">
            <a:lum/>
            <a:alphaModFix/>
          </a:blip>
          <a:srcRect/>
          <a:stretch>
            <a:fillRect/>
          </a:stretch>
        </p:blipFill>
        <p:spPr>
          <a:xfrm>
            <a:off x="360948" y="226595"/>
            <a:ext cx="1515979" cy="739940"/>
          </a:xfrm>
          <a:prstGeom prst="rect">
            <a:avLst/>
          </a:prstGeom>
          <a:noFill/>
          <a:ln>
            <a:noFill/>
            <a:prstDash/>
          </a:ln>
        </p:spPr>
      </p:pic>
      <p:cxnSp>
        <p:nvCxnSpPr>
          <p:cNvPr id="5" name="Conexão reta 4">
            <a:extLst>
              <a:ext uri="{FF2B5EF4-FFF2-40B4-BE49-F238E27FC236}">
                <a16:creationId xmlns:a16="http://schemas.microsoft.com/office/drawing/2014/main" id="{DFB57B3F-B865-2E59-CBC8-F759D8271DD1}"/>
              </a:ext>
            </a:extLst>
          </p:cNvPr>
          <p:cNvCxnSpPr/>
          <p:nvPr/>
        </p:nvCxnSpPr>
        <p:spPr>
          <a:xfrm>
            <a:off x="-1" y="1171074"/>
            <a:ext cx="12192000" cy="0"/>
          </a:xfrm>
          <a:prstGeom prst="line">
            <a:avLst/>
          </a:prstGeom>
        </p:spPr>
        <p:style>
          <a:lnRef idx="3">
            <a:schemeClr val="accent2"/>
          </a:lnRef>
          <a:fillRef idx="0">
            <a:schemeClr val="accent2"/>
          </a:fillRef>
          <a:effectRef idx="2">
            <a:schemeClr val="accent2"/>
          </a:effectRef>
          <a:fontRef idx="minor">
            <a:schemeClr val="tx1"/>
          </a:fontRef>
        </p:style>
      </p:cxnSp>
      <p:grpSp>
        <p:nvGrpSpPr>
          <p:cNvPr id="7" name="Agrupar 6">
            <a:extLst>
              <a:ext uri="{FF2B5EF4-FFF2-40B4-BE49-F238E27FC236}">
                <a16:creationId xmlns:a16="http://schemas.microsoft.com/office/drawing/2014/main" id="{CE5FD871-659C-C30B-7BB2-9C9CAD820546}"/>
              </a:ext>
            </a:extLst>
          </p:cNvPr>
          <p:cNvGrpSpPr/>
          <p:nvPr/>
        </p:nvGrpSpPr>
        <p:grpSpPr>
          <a:xfrm>
            <a:off x="10487805" y="8596"/>
            <a:ext cx="936223" cy="1191039"/>
            <a:chOff x="10487805" y="8596"/>
            <a:chExt cx="936223" cy="1191039"/>
          </a:xfrm>
        </p:grpSpPr>
        <p:pic>
          <p:nvPicPr>
            <p:cNvPr id="8" name="Gráfico 7" descr="Feminino médico destaque">
              <a:extLst>
                <a:ext uri="{FF2B5EF4-FFF2-40B4-BE49-F238E27FC236}">
                  <a16:creationId xmlns:a16="http://schemas.microsoft.com/office/drawing/2014/main" id="{791D0B15-C1ED-3848-2915-C8B0413C823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0817" y="565455"/>
              <a:ext cx="634180" cy="634180"/>
            </a:xfrm>
            <a:prstGeom prst="rect">
              <a:avLst/>
            </a:prstGeom>
          </p:spPr>
        </p:pic>
        <p:pic>
          <p:nvPicPr>
            <p:cNvPr id="9" name="Gráfico 8" descr="Médico destaque">
              <a:extLst>
                <a:ext uri="{FF2B5EF4-FFF2-40B4-BE49-F238E27FC236}">
                  <a16:creationId xmlns:a16="http://schemas.microsoft.com/office/drawing/2014/main" id="{ADA3A9B8-6C7A-F77B-C325-48ED8FF4A72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87805" y="8596"/>
              <a:ext cx="387429" cy="387429"/>
            </a:xfrm>
            <a:prstGeom prst="rect">
              <a:avLst/>
            </a:prstGeom>
          </p:spPr>
        </p:pic>
        <p:grpSp>
          <p:nvGrpSpPr>
            <p:cNvPr id="10" name="Agrupar 9">
              <a:extLst>
                <a:ext uri="{FF2B5EF4-FFF2-40B4-BE49-F238E27FC236}">
                  <a16:creationId xmlns:a16="http://schemas.microsoft.com/office/drawing/2014/main" id="{382F9EB7-1235-2F57-B1A5-2436BB68C788}"/>
                </a:ext>
              </a:extLst>
            </p:cNvPr>
            <p:cNvGrpSpPr/>
            <p:nvPr/>
          </p:nvGrpSpPr>
          <p:grpSpPr>
            <a:xfrm>
              <a:off x="10746203" y="81221"/>
              <a:ext cx="677825" cy="544988"/>
              <a:chOff x="10746203" y="81221"/>
              <a:chExt cx="677825" cy="544988"/>
            </a:xfrm>
          </p:grpSpPr>
          <p:pic>
            <p:nvPicPr>
              <p:cNvPr id="11" name="Gráfico 10" descr="Coração com batimento destaque">
                <a:extLst>
                  <a:ext uri="{FF2B5EF4-FFF2-40B4-BE49-F238E27FC236}">
                    <a16:creationId xmlns:a16="http://schemas.microsoft.com/office/drawing/2014/main" id="{956807BD-39D1-711A-A434-72B6542D9AC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036599" y="81221"/>
                <a:ext cx="387429" cy="387429"/>
              </a:xfrm>
              <a:prstGeom prst="rect">
                <a:avLst/>
              </a:prstGeom>
            </p:spPr>
          </p:pic>
          <p:pic>
            <p:nvPicPr>
              <p:cNvPr id="12" name="Gráfico 11" descr="Cérebro na cabeça destaque">
                <a:extLst>
                  <a:ext uri="{FF2B5EF4-FFF2-40B4-BE49-F238E27FC236}">
                    <a16:creationId xmlns:a16="http://schemas.microsoft.com/office/drawing/2014/main" id="{45B63D9E-1C6E-95E3-B7E8-D8D1C0EB7A3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746203" y="142098"/>
                <a:ext cx="484111" cy="484111"/>
              </a:xfrm>
              <a:prstGeom prst="rect">
                <a:avLst/>
              </a:prstGeom>
            </p:spPr>
          </p:pic>
        </p:grpSp>
      </p:grpSp>
      <p:sp>
        <p:nvSpPr>
          <p:cNvPr id="13" name="CaixaDeTexto 12">
            <a:extLst>
              <a:ext uri="{FF2B5EF4-FFF2-40B4-BE49-F238E27FC236}">
                <a16:creationId xmlns:a16="http://schemas.microsoft.com/office/drawing/2014/main" id="{4B949F51-05E1-A57C-D2FD-555C45FB9E42}"/>
              </a:ext>
            </a:extLst>
          </p:cNvPr>
          <p:cNvSpPr txBox="1"/>
          <p:nvPr/>
        </p:nvSpPr>
        <p:spPr>
          <a:xfrm>
            <a:off x="599770" y="1366684"/>
            <a:ext cx="10962966" cy="58477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pt-PT" sz="3200" b="1" dirty="0">
                <a:latin typeface="Times New Roman" panose="02020603050405020304" pitchFamily="18" charset="0"/>
                <a:cs typeface="Times New Roman" panose="02020603050405020304" pitchFamily="18" charset="0"/>
              </a:rPr>
              <a:t>Dataset</a:t>
            </a:r>
          </a:p>
        </p:txBody>
      </p:sp>
      <p:sp>
        <p:nvSpPr>
          <p:cNvPr id="14" name="CaixaDeTexto 13">
            <a:extLst>
              <a:ext uri="{FF2B5EF4-FFF2-40B4-BE49-F238E27FC236}">
                <a16:creationId xmlns:a16="http://schemas.microsoft.com/office/drawing/2014/main" id="{1CF77160-4A56-33A7-2ADB-791841605D5F}"/>
              </a:ext>
            </a:extLst>
          </p:cNvPr>
          <p:cNvSpPr txBox="1"/>
          <p:nvPr/>
        </p:nvSpPr>
        <p:spPr>
          <a:xfrm>
            <a:off x="599769" y="2290916"/>
            <a:ext cx="11090786" cy="923330"/>
          </a:xfrm>
          <a:prstGeom prst="rect">
            <a:avLst/>
          </a:prstGeom>
          <a:noFill/>
        </p:spPr>
        <p:txBody>
          <a:bodyPr wrap="square" rtlCol="0">
            <a:spAutoFit/>
          </a:bodyPr>
          <a:lstStyle/>
          <a:p>
            <a:pPr algn="just"/>
            <a:r>
              <a:rPr lang="pt-PT" dirty="0">
                <a:latin typeface="Times New Roman" panose="02020603050405020304" pitchFamily="18" charset="0"/>
                <a:cs typeface="Times New Roman" panose="02020603050405020304" pitchFamily="18" charset="0"/>
              </a:rPr>
              <a:t>O dataset ‘Continuous Stress Monitoring of Hospital Nurses’ contém cerca de 11.5 milhões de registos fisiológicos de 15 enfermeiras durante o trabalho. Inclui EDA, HR, movimento, temperatura e marca temporal, mais um label de stress com três níveis. Desafio: elevada volumetria, dados reais, contexto COVID-19</a:t>
            </a:r>
          </a:p>
        </p:txBody>
      </p:sp>
      <p:pic>
        <p:nvPicPr>
          <p:cNvPr id="17" name="Imagem 16">
            <a:extLst>
              <a:ext uri="{FF2B5EF4-FFF2-40B4-BE49-F238E27FC236}">
                <a16:creationId xmlns:a16="http://schemas.microsoft.com/office/drawing/2014/main" id="{C15EAAFD-A27B-5AC9-0452-2FDBB2B462C0}"/>
              </a:ext>
            </a:extLst>
          </p:cNvPr>
          <p:cNvPicPr>
            <a:picLocks noChangeAspect="1"/>
          </p:cNvPicPr>
          <p:nvPr/>
        </p:nvPicPr>
        <p:blipFill>
          <a:blip r:embed="rId13"/>
          <a:stretch>
            <a:fillRect/>
          </a:stretch>
        </p:blipFill>
        <p:spPr>
          <a:xfrm>
            <a:off x="82878" y="3351645"/>
            <a:ext cx="11996749" cy="3109793"/>
          </a:xfrm>
          <a:prstGeom prst="rect">
            <a:avLst/>
          </a:prstGeom>
        </p:spPr>
      </p:pic>
    </p:spTree>
    <p:extLst>
      <p:ext uri="{BB962C8B-B14F-4D97-AF65-F5344CB8AC3E}">
        <p14:creationId xmlns:p14="http://schemas.microsoft.com/office/powerpoint/2010/main" val="3266102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ED4D8-82CA-BACF-ECB7-6CF4BE251F11}"/>
            </a:ext>
          </a:extLst>
        </p:cNvPr>
        <p:cNvGrpSpPr/>
        <p:nvPr/>
      </p:nvGrpSpPr>
      <p:grpSpPr>
        <a:xfrm>
          <a:off x="0" y="0"/>
          <a:ext cx="0" cy="0"/>
          <a:chOff x="0" y="0"/>
          <a:chExt cx="0" cy="0"/>
        </a:xfrm>
      </p:grpSpPr>
      <p:pic>
        <p:nvPicPr>
          <p:cNvPr id="4" name="Image1" descr="Uma imagem com Gráficos, símbolo, design gráfico, logótipo&#10;&#10;Descrição gerada automaticamente">
            <a:extLst>
              <a:ext uri="{FF2B5EF4-FFF2-40B4-BE49-F238E27FC236}">
                <a16:creationId xmlns:a16="http://schemas.microsoft.com/office/drawing/2014/main" id="{DE95ED8E-BCA8-008C-8DEF-05C7A2AC2167}"/>
              </a:ext>
            </a:extLst>
          </p:cNvPr>
          <p:cNvPicPr/>
          <p:nvPr/>
        </p:nvPicPr>
        <p:blipFill>
          <a:blip r:embed="rId4">
            <a:lum/>
            <a:alphaModFix/>
          </a:blip>
          <a:srcRect/>
          <a:stretch>
            <a:fillRect/>
          </a:stretch>
        </p:blipFill>
        <p:spPr>
          <a:xfrm>
            <a:off x="360948" y="226595"/>
            <a:ext cx="1515979" cy="739940"/>
          </a:xfrm>
          <a:prstGeom prst="rect">
            <a:avLst/>
          </a:prstGeom>
          <a:noFill/>
          <a:ln>
            <a:noFill/>
            <a:prstDash/>
          </a:ln>
        </p:spPr>
      </p:pic>
      <p:cxnSp>
        <p:nvCxnSpPr>
          <p:cNvPr id="5" name="Conexão reta 4">
            <a:extLst>
              <a:ext uri="{FF2B5EF4-FFF2-40B4-BE49-F238E27FC236}">
                <a16:creationId xmlns:a16="http://schemas.microsoft.com/office/drawing/2014/main" id="{A9297DAD-453F-29D1-71D4-2C7C2F94F857}"/>
              </a:ext>
            </a:extLst>
          </p:cNvPr>
          <p:cNvCxnSpPr/>
          <p:nvPr/>
        </p:nvCxnSpPr>
        <p:spPr>
          <a:xfrm>
            <a:off x="-1" y="1171074"/>
            <a:ext cx="12192000" cy="0"/>
          </a:xfrm>
          <a:prstGeom prst="line">
            <a:avLst/>
          </a:prstGeom>
        </p:spPr>
        <p:style>
          <a:lnRef idx="3">
            <a:schemeClr val="accent2"/>
          </a:lnRef>
          <a:fillRef idx="0">
            <a:schemeClr val="accent2"/>
          </a:fillRef>
          <a:effectRef idx="2">
            <a:schemeClr val="accent2"/>
          </a:effectRef>
          <a:fontRef idx="minor">
            <a:schemeClr val="tx1"/>
          </a:fontRef>
        </p:style>
      </p:cxnSp>
      <p:grpSp>
        <p:nvGrpSpPr>
          <p:cNvPr id="7" name="Agrupar 6">
            <a:extLst>
              <a:ext uri="{FF2B5EF4-FFF2-40B4-BE49-F238E27FC236}">
                <a16:creationId xmlns:a16="http://schemas.microsoft.com/office/drawing/2014/main" id="{B6A8E09C-E439-C07C-7232-8204EA559407}"/>
              </a:ext>
            </a:extLst>
          </p:cNvPr>
          <p:cNvGrpSpPr/>
          <p:nvPr/>
        </p:nvGrpSpPr>
        <p:grpSpPr>
          <a:xfrm>
            <a:off x="10487805" y="8596"/>
            <a:ext cx="936223" cy="1191039"/>
            <a:chOff x="10487805" y="8596"/>
            <a:chExt cx="936223" cy="1191039"/>
          </a:xfrm>
        </p:grpSpPr>
        <p:pic>
          <p:nvPicPr>
            <p:cNvPr id="8" name="Gráfico 7" descr="Feminino médico destaque">
              <a:extLst>
                <a:ext uri="{FF2B5EF4-FFF2-40B4-BE49-F238E27FC236}">
                  <a16:creationId xmlns:a16="http://schemas.microsoft.com/office/drawing/2014/main" id="{F7668C7C-812B-EB05-ACD9-E7BA7C0FDA2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0817" y="565455"/>
              <a:ext cx="634180" cy="634180"/>
            </a:xfrm>
            <a:prstGeom prst="rect">
              <a:avLst/>
            </a:prstGeom>
          </p:spPr>
        </p:pic>
        <p:pic>
          <p:nvPicPr>
            <p:cNvPr id="9" name="Gráfico 8" descr="Médico destaque">
              <a:extLst>
                <a:ext uri="{FF2B5EF4-FFF2-40B4-BE49-F238E27FC236}">
                  <a16:creationId xmlns:a16="http://schemas.microsoft.com/office/drawing/2014/main" id="{6603019F-C506-04D0-E203-45D603A7862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87805" y="8596"/>
              <a:ext cx="387429" cy="387429"/>
            </a:xfrm>
            <a:prstGeom prst="rect">
              <a:avLst/>
            </a:prstGeom>
          </p:spPr>
        </p:pic>
        <p:grpSp>
          <p:nvGrpSpPr>
            <p:cNvPr id="10" name="Agrupar 9">
              <a:extLst>
                <a:ext uri="{FF2B5EF4-FFF2-40B4-BE49-F238E27FC236}">
                  <a16:creationId xmlns:a16="http://schemas.microsoft.com/office/drawing/2014/main" id="{FADF9DB9-66F1-2A66-A962-368E4E4DBC8E}"/>
                </a:ext>
              </a:extLst>
            </p:cNvPr>
            <p:cNvGrpSpPr/>
            <p:nvPr/>
          </p:nvGrpSpPr>
          <p:grpSpPr>
            <a:xfrm>
              <a:off x="10746203" y="81221"/>
              <a:ext cx="677825" cy="544988"/>
              <a:chOff x="10746203" y="81221"/>
              <a:chExt cx="677825" cy="544988"/>
            </a:xfrm>
          </p:grpSpPr>
          <p:pic>
            <p:nvPicPr>
              <p:cNvPr id="11" name="Gráfico 10" descr="Coração com batimento destaque">
                <a:extLst>
                  <a:ext uri="{FF2B5EF4-FFF2-40B4-BE49-F238E27FC236}">
                    <a16:creationId xmlns:a16="http://schemas.microsoft.com/office/drawing/2014/main" id="{D9EF8B78-D527-8128-76EC-95A2B1E9C88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036599" y="81221"/>
                <a:ext cx="387429" cy="387429"/>
              </a:xfrm>
              <a:prstGeom prst="rect">
                <a:avLst/>
              </a:prstGeom>
            </p:spPr>
          </p:pic>
          <p:pic>
            <p:nvPicPr>
              <p:cNvPr id="12" name="Gráfico 11" descr="Cérebro na cabeça destaque">
                <a:extLst>
                  <a:ext uri="{FF2B5EF4-FFF2-40B4-BE49-F238E27FC236}">
                    <a16:creationId xmlns:a16="http://schemas.microsoft.com/office/drawing/2014/main" id="{F07FF61C-792B-4525-863D-4A5DB08949B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746203" y="142098"/>
                <a:ext cx="484111" cy="484111"/>
              </a:xfrm>
              <a:prstGeom prst="rect">
                <a:avLst/>
              </a:prstGeom>
            </p:spPr>
          </p:pic>
        </p:grpSp>
      </p:grpSp>
      <p:sp>
        <p:nvSpPr>
          <p:cNvPr id="13" name="CaixaDeTexto 12">
            <a:extLst>
              <a:ext uri="{FF2B5EF4-FFF2-40B4-BE49-F238E27FC236}">
                <a16:creationId xmlns:a16="http://schemas.microsoft.com/office/drawing/2014/main" id="{08A112D6-A38E-EB8B-1128-BAB225AA5A7F}"/>
              </a:ext>
            </a:extLst>
          </p:cNvPr>
          <p:cNvSpPr txBox="1"/>
          <p:nvPr/>
        </p:nvSpPr>
        <p:spPr>
          <a:xfrm>
            <a:off x="629264" y="1366684"/>
            <a:ext cx="11090785" cy="58477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pt-PT" sz="3200" b="1" dirty="0">
                <a:latin typeface="Times New Roman" panose="02020603050405020304" pitchFamily="18" charset="0"/>
                <a:cs typeface="Times New Roman" panose="02020603050405020304" pitchFamily="18" charset="0"/>
              </a:rPr>
              <a:t>Pré-processamento e Engenharia de Features - Classificação</a:t>
            </a:r>
          </a:p>
        </p:txBody>
      </p:sp>
      <p:sp>
        <p:nvSpPr>
          <p:cNvPr id="14" name="CaixaDeTexto 13">
            <a:extLst>
              <a:ext uri="{FF2B5EF4-FFF2-40B4-BE49-F238E27FC236}">
                <a16:creationId xmlns:a16="http://schemas.microsoft.com/office/drawing/2014/main" id="{CD17FCC8-B8D3-9007-87B6-CCFDB8E6A819}"/>
              </a:ext>
            </a:extLst>
          </p:cNvPr>
          <p:cNvSpPr txBox="1"/>
          <p:nvPr/>
        </p:nvSpPr>
        <p:spPr>
          <a:xfrm>
            <a:off x="629264" y="2147068"/>
            <a:ext cx="11090786" cy="923330"/>
          </a:xfrm>
          <a:prstGeom prst="rect">
            <a:avLst/>
          </a:prstGeom>
          <a:noFill/>
        </p:spPr>
        <p:txBody>
          <a:bodyPr wrap="square" rtlCol="0">
            <a:spAutoFit/>
          </a:bodyPr>
          <a:lstStyle/>
          <a:p>
            <a:pPr algn="just"/>
            <a:r>
              <a:rPr lang="pt-PT" dirty="0">
                <a:latin typeface="Times New Roman" panose="02020603050405020304" pitchFamily="18" charset="0"/>
                <a:cs typeface="Times New Roman" panose="02020603050405020304" pitchFamily="18" charset="0"/>
              </a:rPr>
              <a:t>Workflow de leitura, amostragem, manipulação temporal, limpeza e normalização dos dados. Feature Engineering cria métricas como ‘Move_Magnitude’ para comprimir a variável movimento. Remoção de campos com fuga de dados assegura modelos robustos.</a:t>
            </a:r>
          </a:p>
        </p:txBody>
      </p:sp>
      <p:pic>
        <p:nvPicPr>
          <p:cNvPr id="17" name="Imagem 16">
            <a:extLst>
              <a:ext uri="{FF2B5EF4-FFF2-40B4-BE49-F238E27FC236}">
                <a16:creationId xmlns:a16="http://schemas.microsoft.com/office/drawing/2014/main" id="{480845E2-EC9A-109B-18A0-428C77040A37}"/>
              </a:ext>
            </a:extLst>
          </p:cNvPr>
          <p:cNvPicPr>
            <a:picLocks noChangeAspect="1"/>
          </p:cNvPicPr>
          <p:nvPr/>
        </p:nvPicPr>
        <p:blipFill>
          <a:blip r:embed="rId13">
            <a:extLst>
              <a:ext uri="{28A0092B-C50C-407E-A947-70E740481C1C}">
                <a14:useLocalDpi xmlns:a14="http://schemas.microsoft.com/office/drawing/2010/main" val="0"/>
              </a:ext>
            </a:extLst>
          </a:blip>
          <a:srcRect l="5703" t="8422" b="32297"/>
          <a:stretch>
            <a:fillRect/>
          </a:stretch>
        </p:blipFill>
        <p:spPr>
          <a:xfrm>
            <a:off x="672650" y="3120636"/>
            <a:ext cx="10846700" cy="3510769"/>
          </a:xfrm>
          <a:prstGeom prst="rect">
            <a:avLst/>
          </a:prstGeom>
        </p:spPr>
      </p:pic>
    </p:spTree>
    <p:extLst>
      <p:ext uri="{BB962C8B-B14F-4D97-AF65-F5344CB8AC3E}">
        <p14:creationId xmlns:p14="http://schemas.microsoft.com/office/powerpoint/2010/main" val="23413567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2EB81-AFAC-FBC0-3C1C-F4EA77A8701C}"/>
            </a:ext>
          </a:extLst>
        </p:cNvPr>
        <p:cNvGrpSpPr/>
        <p:nvPr/>
      </p:nvGrpSpPr>
      <p:grpSpPr>
        <a:xfrm>
          <a:off x="0" y="0"/>
          <a:ext cx="0" cy="0"/>
          <a:chOff x="0" y="0"/>
          <a:chExt cx="0" cy="0"/>
        </a:xfrm>
      </p:grpSpPr>
      <p:pic>
        <p:nvPicPr>
          <p:cNvPr id="4" name="Image1" descr="Uma imagem com Gráficos, símbolo, design gráfico, logótipo&#10;&#10;Descrição gerada automaticamente">
            <a:extLst>
              <a:ext uri="{FF2B5EF4-FFF2-40B4-BE49-F238E27FC236}">
                <a16:creationId xmlns:a16="http://schemas.microsoft.com/office/drawing/2014/main" id="{93F22C4B-356D-F50B-4362-9C9330CD15A9}"/>
              </a:ext>
            </a:extLst>
          </p:cNvPr>
          <p:cNvPicPr/>
          <p:nvPr/>
        </p:nvPicPr>
        <p:blipFill>
          <a:blip r:embed="rId4">
            <a:lum/>
            <a:alphaModFix/>
          </a:blip>
          <a:srcRect/>
          <a:stretch>
            <a:fillRect/>
          </a:stretch>
        </p:blipFill>
        <p:spPr>
          <a:xfrm>
            <a:off x="360948" y="226595"/>
            <a:ext cx="1515979" cy="739940"/>
          </a:xfrm>
          <a:prstGeom prst="rect">
            <a:avLst/>
          </a:prstGeom>
          <a:noFill/>
          <a:ln>
            <a:noFill/>
            <a:prstDash/>
          </a:ln>
        </p:spPr>
      </p:pic>
      <p:cxnSp>
        <p:nvCxnSpPr>
          <p:cNvPr id="5" name="Conexão reta 4">
            <a:extLst>
              <a:ext uri="{FF2B5EF4-FFF2-40B4-BE49-F238E27FC236}">
                <a16:creationId xmlns:a16="http://schemas.microsoft.com/office/drawing/2014/main" id="{1D1DC3F8-AAA5-AFCC-9661-47D934F1EF28}"/>
              </a:ext>
            </a:extLst>
          </p:cNvPr>
          <p:cNvCxnSpPr/>
          <p:nvPr/>
        </p:nvCxnSpPr>
        <p:spPr>
          <a:xfrm>
            <a:off x="-1" y="1171074"/>
            <a:ext cx="12192000" cy="0"/>
          </a:xfrm>
          <a:prstGeom prst="line">
            <a:avLst/>
          </a:prstGeom>
        </p:spPr>
        <p:style>
          <a:lnRef idx="3">
            <a:schemeClr val="accent2"/>
          </a:lnRef>
          <a:fillRef idx="0">
            <a:schemeClr val="accent2"/>
          </a:fillRef>
          <a:effectRef idx="2">
            <a:schemeClr val="accent2"/>
          </a:effectRef>
          <a:fontRef idx="minor">
            <a:schemeClr val="tx1"/>
          </a:fontRef>
        </p:style>
      </p:cxnSp>
      <p:grpSp>
        <p:nvGrpSpPr>
          <p:cNvPr id="7" name="Agrupar 6">
            <a:extLst>
              <a:ext uri="{FF2B5EF4-FFF2-40B4-BE49-F238E27FC236}">
                <a16:creationId xmlns:a16="http://schemas.microsoft.com/office/drawing/2014/main" id="{40533AC4-2D85-2699-69DA-1D710A5CBB41}"/>
              </a:ext>
            </a:extLst>
          </p:cNvPr>
          <p:cNvGrpSpPr/>
          <p:nvPr/>
        </p:nvGrpSpPr>
        <p:grpSpPr>
          <a:xfrm>
            <a:off x="10487805" y="8596"/>
            <a:ext cx="936223" cy="1191039"/>
            <a:chOff x="10487805" y="8596"/>
            <a:chExt cx="936223" cy="1191039"/>
          </a:xfrm>
        </p:grpSpPr>
        <p:pic>
          <p:nvPicPr>
            <p:cNvPr id="8" name="Gráfico 7" descr="Feminino médico destaque">
              <a:extLst>
                <a:ext uri="{FF2B5EF4-FFF2-40B4-BE49-F238E27FC236}">
                  <a16:creationId xmlns:a16="http://schemas.microsoft.com/office/drawing/2014/main" id="{6490A415-0D32-A42F-A477-94970B5F958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0817" y="565455"/>
              <a:ext cx="634180" cy="634180"/>
            </a:xfrm>
            <a:prstGeom prst="rect">
              <a:avLst/>
            </a:prstGeom>
          </p:spPr>
        </p:pic>
        <p:pic>
          <p:nvPicPr>
            <p:cNvPr id="9" name="Gráfico 8" descr="Médico destaque">
              <a:extLst>
                <a:ext uri="{FF2B5EF4-FFF2-40B4-BE49-F238E27FC236}">
                  <a16:creationId xmlns:a16="http://schemas.microsoft.com/office/drawing/2014/main" id="{C645E72A-E030-1069-BD7B-4CF36A66A94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87805" y="8596"/>
              <a:ext cx="387429" cy="387429"/>
            </a:xfrm>
            <a:prstGeom prst="rect">
              <a:avLst/>
            </a:prstGeom>
          </p:spPr>
        </p:pic>
        <p:grpSp>
          <p:nvGrpSpPr>
            <p:cNvPr id="10" name="Agrupar 9">
              <a:extLst>
                <a:ext uri="{FF2B5EF4-FFF2-40B4-BE49-F238E27FC236}">
                  <a16:creationId xmlns:a16="http://schemas.microsoft.com/office/drawing/2014/main" id="{03D4BCCE-80DE-4F97-9A7E-40BCB84EB134}"/>
                </a:ext>
              </a:extLst>
            </p:cNvPr>
            <p:cNvGrpSpPr/>
            <p:nvPr/>
          </p:nvGrpSpPr>
          <p:grpSpPr>
            <a:xfrm>
              <a:off x="10746203" y="81221"/>
              <a:ext cx="677825" cy="544988"/>
              <a:chOff x="10746203" y="81221"/>
              <a:chExt cx="677825" cy="544988"/>
            </a:xfrm>
          </p:grpSpPr>
          <p:pic>
            <p:nvPicPr>
              <p:cNvPr id="11" name="Gráfico 10" descr="Coração com batimento destaque">
                <a:extLst>
                  <a:ext uri="{FF2B5EF4-FFF2-40B4-BE49-F238E27FC236}">
                    <a16:creationId xmlns:a16="http://schemas.microsoft.com/office/drawing/2014/main" id="{F62DA4FB-65E4-356B-4BA9-6E99302C8E5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036599" y="81221"/>
                <a:ext cx="387429" cy="387429"/>
              </a:xfrm>
              <a:prstGeom prst="rect">
                <a:avLst/>
              </a:prstGeom>
            </p:spPr>
          </p:pic>
          <p:pic>
            <p:nvPicPr>
              <p:cNvPr id="12" name="Gráfico 11" descr="Cérebro na cabeça destaque">
                <a:extLst>
                  <a:ext uri="{FF2B5EF4-FFF2-40B4-BE49-F238E27FC236}">
                    <a16:creationId xmlns:a16="http://schemas.microsoft.com/office/drawing/2014/main" id="{0945704A-CDEB-7A08-99FB-84D64232091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746203" y="142098"/>
                <a:ext cx="484111" cy="484111"/>
              </a:xfrm>
              <a:prstGeom prst="rect">
                <a:avLst/>
              </a:prstGeom>
            </p:spPr>
          </p:pic>
        </p:grpSp>
      </p:grpSp>
      <p:sp>
        <p:nvSpPr>
          <p:cNvPr id="13" name="CaixaDeTexto 12">
            <a:extLst>
              <a:ext uri="{FF2B5EF4-FFF2-40B4-BE49-F238E27FC236}">
                <a16:creationId xmlns:a16="http://schemas.microsoft.com/office/drawing/2014/main" id="{17191EE0-5552-C86F-D53C-BFCF4780A002}"/>
              </a:ext>
            </a:extLst>
          </p:cNvPr>
          <p:cNvSpPr txBox="1"/>
          <p:nvPr/>
        </p:nvSpPr>
        <p:spPr>
          <a:xfrm>
            <a:off x="629264" y="1366684"/>
            <a:ext cx="11090785" cy="58477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pt-PT" sz="3200" b="1" dirty="0">
                <a:latin typeface="Times New Roman" panose="02020603050405020304" pitchFamily="18" charset="0"/>
                <a:cs typeface="Times New Roman" panose="02020603050405020304" pitchFamily="18" charset="0"/>
              </a:rPr>
              <a:t>Modelos de Classificação Supervisionada</a:t>
            </a:r>
          </a:p>
        </p:txBody>
      </p:sp>
      <p:sp>
        <p:nvSpPr>
          <p:cNvPr id="14" name="CaixaDeTexto 13">
            <a:extLst>
              <a:ext uri="{FF2B5EF4-FFF2-40B4-BE49-F238E27FC236}">
                <a16:creationId xmlns:a16="http://schemas.microsoft.com/office/drawing/2014/main" id="{EBBDC491-D706-B996-1BB0-0ED1EF7BA9A1}"/>
              </a:ext>
            </a:extLst>
          </p:cNvPr>
          <p:cNvSpPr txBox="1"/>
          <p:nvPr/>
        </p:nvSpPr>
        <p:spPr>
          <a:xfrm>
            <a:off x="629264" y="2147068"/>
            <a:ext cx="11090786" cy="646331"/>
          </a:xfrm>
          <a:prstGeom prst="rect">
            <a:avLst/>
          </a:prstGeom>
          <a:noFill/>
        </p:spPr>
        <p:txBody>
          <a:bodyPr wrap="square" rtlCol="0">
            <a:spAutoFit/>
          </a:bodyPr>
          <a:lstStyle/>
          <a:p>
            <a:pPr algn="just"/>
            <a:r>
              <a:rPr lang="pt-PT" dirty="0">
                <a:latin typeface="Times New Roman" panose="02020603050405020304" pitchFamily="18" charset="0"/>
                <a:cs typeface="Times New Roman" panose="02020603050405020304" pitchFamily="18" charset="0"/>
              </a:rPr>
              <a:t>Três modelos testados para prever a classe de stress: Naive Bayes, Random Forest e XGBoost. Apenas features de movimento e tempo usadas, evitando data leakage. Accuracy no teste: Naive Bayes (94%), RF e XGBoost (100%).</a:t>
            </a:r>
          </a:p>
        </p:txBody>
      </p:sp>
      <p:pic>
        <p:nvPicPr>
          <p:cNvPr id="6" name="Imagem 5" descr="Uma imagem com diagrama, texto, file, captura de ecrã&#10;&#10;Os conteúdos gerados por IA podem estar incorretos.">
            <a:extLst>
              <a:ext uri="{FF2B5EF4-FFF2-40B4-BE49-F238E27FC236}">
                <a16:creationId xmlns:a16="http://schemas.microsoft.com/office/drawing/2014/main" id="{90FCA5DE-128C-2F52-4FAD-89985F91FF3D}"/>
              </a:ext>
            </a:extLst>
          </p:cNvPr>
          <p:cNvPicPr>
            <a:picLocks noChangeAspect="1"/>
          </p:cNvPicPr>
          <p:nvPr/>
        </p:nvPicPr>
        <p:blipFill>
          <a:blip r:embed="rId13">
            <a:extLst>
              <a:ext uri="{28A0092B-C50C-407E-A947-70E740481C1C}">
                <a14:useLocalDpi xmlns:a14="http://schemas.microsoft.com/office/drawing/2010/main" val="0"/>
              </a:ext>
            </a:extLst>
          </a:blip>
          <a:srcRect l="10704" t="7051" r="13952" b="8628"/>
          <a:stretch>
            <a:fillRect/>
          </a:stretch>
        </p:blipFill>
        <p:spPr>
          <a:xfrm>
            <a:off x="3820160" y="2974741"/>
            <a:ext cx="3962400" cy="3656659"/>
          </a:xfrm>
          <a:prstGeom prst="rect">
            <a:avLst/>
          </a:prstGeom>
        </p:spPr>
      </p:pic>
    </p:spTree>
    <p:extLst>
      <p:ext uri="{BB962C8B-B14F-4D97-AF65-F5344CB8AC3E}">
        <p14:creationId xmlns:p14="http://schemas.microsoft.com/office/powerpoint/2010/main" val="27298324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714C5-E8D1-8C42-3FAE-68A9EBCBFDAF}"/>
            </a:ext>
          </a:extLst>
        </p:cNvPr>
        <p:cNvGrpSpPr/>
        <p:nvPr/>
      </p:nvGrpSpPr>
      <p:grpSpPr>
        <a:xfrm>
          <a:off x="0" y="0"/>
          <a:ext cx="0" cy="0"/>
          <a:chOff x="0" y="0"/>
          <a:chExt cx="0" cy="0"/>
        </a:xfrm>
      </p:grpSpPr>
      <p:pic>
        <p:nvPicPr>
          <p:cNvPr id="4" name="Image1" descr="Uma imagem com Gráficos, símbolo, design gráfico, logótipo&#10;&#10;Descrição gerada automaticamente">
            <a:extLst>
              <a:ext uri="{FF2B5EF4-FFF2-40B4-BE49-F238E27FC236}">
                <a16:creationId xmlns:a16="http://schemas.microsoft.com/office/drawing/2014/main" id="{9CCA9674-058D-D465-26ED-D86CFC73FB53}"/>
              </a:ext>
            </a:extLst>
          </p:cNvPr>
          <p:cNvPicPr/>
          <p:nvPr/>
        </p:nvPicPr>
        <p:blipFill>
          <a:blip r:embed="rId4">
            <a:lum/>
            <a:alphaModFix/>
          </a:blip>
          <a:srcRect/>
          <a:stretch>
            <a:fillRect/>
          </a:stretch>
        </p:blipFill>
        <p:spPr>
          <a:xfrm>
            <a:off x="360948" y="226595"/>
            <a:ext cx="1515979" cy="739940"/>
          </a:xfrm>
          <a:prstGeom prst="rect">
            <a:avLst/>
          </a:prstGeom>
          <a:noFill/>
          <a:ln>
            <a:noFill/>
            <a:prstDash/>
          </a:ln>
        </p:spPr>
      </p:pic>
      <p:cxnSp>
        <p:nvCxnSpPr>
          <p:cNvPr id="5" name="Conexão reta 4">
            <a:extLst>
              <a:ext uri="{FF2B5EF4-FFF2-40B4-BE49-F238E27FC236}">
                <a16:creationId xmlns:a16="http://schemas.microsoft.com/office/drawing/2014/main" id="{147288F0-F0E9-F8CD-CD79-3E09446829A2}"/>
              </a:ext>
            </a:extLst>
          </p:cNvPr>
          <p:cNvCxnSpPr/>
          <p:nvPr/>
        </p:nvCxnSpPr>
        <p:spPr>
          <a:xfrm>
            <a:off x="-1" y="1171074"/>
            <a:ext cx="12192000" cy="0"/>
          </a:xfrm>
          <a:prstGeom prst="line">
            <a:avLst/>
          </a:prstGeom>
        </p:spPr>
        <p:style>
          <a:lnRef idx="3">
            <a:schemeClr val="accent2"/>
          </a:lnRef>
          <a:fillRef idx="0">
            <a:schemeClr val="accent2"/>
          </a:fillRef>
          <a:effectRef idx="2">
            <a:schemeClr val="accent2"/>
          </a:effectRef>
          <a:fontRef idx="minor">
            <a:schemeClr val="tx1"/>
          </a:fontRef>
        </p:style>
      </p:cxnSp>
      <p:grpSp>
        <p:nvGrpSpPr>
          <p:cNvPr id="7" name="Agrupar 6">
            <a:extLst>
              <a:ext uri="{FF2B5EF4-FFF2-40B4-BE49-F238E27FC236}">
                <a16:creationId xmlns:a16="http://schemas.microsoft.com/office/drawing/2014/main" id="{44DBF745-E93E-40A0-1056-EE58DB4109E2}"/>
              </a:ext>
            </a:extLst>
          </p:cNvPr>
          <p:cNvGrpSpPr/>
          <p:nvPr/>
        </p:nvGrpSpPr>
        <p:grpSpPr>
          <a:xfrm>
            <a:off x="10487805" y="8596"/>
            <a:ext cx="936223" cy="1191039"/>
            <a:chOff x="10487805" y="8596"/>
            <a:chExt cx="936223" cy="1191039"/>
          </a:xfrm>
        </p:grpSpPr>
        <p:pic>
          <p:nvPicPr>
            <p:cNvPr id="8" name="Gráfico 7" descr="Feminino médico destaque">
              <a:extLst>
                <a:ext uri="{FF2B5EF4-FFF2-40B4-BE49-F238E27FC236}">
                  <a16:creationId xmlns:a16="http://schemas.microsoft.com/office/drawing/2014/main" id="{5B7839C5-0C8B-B1E9-4C00-72BCFCC7BEF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0817" y="565455"/>
              <a:ext cx="634180" cy="634180"/>
            </a:xfrm>
            <a:prstGeom prst="rect">
              <a:avLst/>
            </a:prstGeom>
          </p:spPr>
        </p:pic>
        <p:pic>
          <p:nvPicPr>
            <p:cNvPr id="9" name="Gráfico 8" descr="Médico destaque">
              <a:extLst>
                <a:ext uri="{FF2B5EF4-FFF2-40B4-BE49-F238E27FC236}">
                  <a16:creationId xmlns:a16="http://schemas.microsoft.com/office/drawing/2014/main" id="{42322D4A-2BA4-465C-1168-0A603F48556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87805" y="8596"/>
              <a:ext cx="387429" cy="387429"/>
            </a:xfrm>
            <a:prstGeom prst="rect">
              <a:avLst/>
            </a:prstGeom>
          </p:spPr>
        </p:pic>
        <p:grpSp>
          <p:nvGrpSpPr>
            <p:cNvPr id="10" name="Agrupar 9">
              <a:extLst>
                <a:ext uri="{FF2B5EF4-FFF2-40B4-BE49-F238E27FC236}">
                  <a16:creationId xmlns:a16="http://schemas.microsoft.com/office/drawing/2014/main" id="{CFA05ED2-DA68-4E12-8CF9-3F370C72E4F5}"/>
                </a:ext>
              </a:extLst>
            </p:cNvPr>
            <p:cNvGrpSpPr/>
            <p:nvPr/>
          </p:nvGrpSpPr>
          <p:grpSpPr>
            <a:xfrm>
              <a:off x="10746203" y="81221"/>
              <a:ext cx="677825" cy="544988"/>
              <a:chOff x="10746203" y="81221"/>
              <a:chExt cx="677825" cy="544988"/>
            </a:xfrm>
          </p:grpSpPr>
          <p:pic>
            <p:nvPicPr>
              <p:cNvPr id="11" name="Gráfico 10" descr="Coração com batimento destaque">
                <a:extLst>
                  <a:ext uri="{FF2B5EF4-FFF2-40B4-BE49-F238E27FC236}">
                    <a16:creationId xmlns:a16="http://schemas.microsoft.com/office/drawing/2014/main" id="{D58C3E1F-0293-A5E0-6DD0-DD4B1F1CEE2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036599" y="81221"/>
                <a:ext cx="387429" cy="387429"/>
              </a:xfrm>
              <a:prstGeom prst="rect">
                <a:avLst/>
              </a:prstGeom>
            </p:spPr>
          </p:pic>
          <p:pic>
            <p:nvPicPr>
              <p:cNvPr id="12" name="Gráfico 11" descr="Cérebro na cabeça destaque">
                <a:extLst>
                  <a:ext uri="{FF2B5EF4-FFF2-40B4-BE49-F238E27FC236}">
                    <a16:creationId xmlns:a16="http://schemas.microsoft.com/office/drawing/2014/main" id="{886E912C-6A6E-C250-07C0-B4B499C668F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746203" y="142098"/>
                <a:ext cx="484111" cy="484111"/>
              </a:xfrm>
              <a:prstGeom prst="rect">
                <a:avLst/>
              </a:prstGeom>
            </p:spPr>
          </p:pic>
        </p:grpSp>
      </p:grpSp>
      <p:sp>
        <p:nvSpPr>
          <p:cNvPr id="13" name="CaixaDeTexto 12">
            <a:extLst>
              <a:ext uri="{FF2B5EF4-FFF2-40B4-BE49-F238E27FC236}">
                <a16:creationId xmlns:a16="http://schemas.microsoft.com/office/drawing/2014/main" id="{E6DA0CC7-83D7-85F6-86CB-A5D53118E644}"/>
              </a:ext>
            </a:extLst>
          </p:cNvPr>
          <p:cNvSpPr txBox="1"/>
          <p:nvPr/>
        </p:nvSpPr>
        <p:spPr>
          <a:xfrm>
            <a:off x="629264" y="1366684"/>
            <a:ext cx="11090785" cy="58477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pt-PT" sz="3200" b="1" dirty="0">
                <a:latin typeface="Times New Roman" panose="02020603050405020304" pitchFamily="18" charset="0"/>
                <a:cs typeface="Times New Roman" panose="02020603050405020304" pitchFamily="18" charset="0"/>
              </a:rPr>
              <a:t>Pré-processamento e Engenharia de Features - Regressão</a:t>
            </a:r>
          </a:p>
        </p:txBody>
      </p:sp>
      <p:sp>
        <p:nvSpPr>
          <p:cNvPr id="14" name="CaixaDeTexto 13">
            <a:extLst>
              <a:ext uri="{FF2B5EF4-FFF2-40B4-BE49-F238E27FC236}">
                <a16:creationId xmlns:a16="http://schemas.microsoft.com/office/drawing/2014/main" id="{8F7B6451-EF3A-4A6B-4DE9-F98E9B1A834A}"/>
              </a:ext>
            </a:extLst>
          </p:cNvPr>
          <p:cNvSpPr txBox="1"/>
          <p:nvPr/>
        </p:nvSpPr>
        <p:spPr>
          <a:xfrm>
            <a:off x="629264" y="2021981"/>
            <a:ext cx="11090786" cy="1704569"/>
          </a:xfrm>
          <a:prstGeom prst="rect">
            <a:avLst/>
          </a:prstGeom>
          <a:noFill/>
        </p:spPr>
        <p:txBody>
          <a:bodyPr wrap="square" rtlCol="0">
            <a:spAutoFit/>
          </a:bodyPr>
          <a:lstStyle/>
          <a:p>
            <a:pPr algn="just">
              <a:lnSpc>
                <a:spcPct val="150000"/>
              </a:lnSpc>
            </a:pPr>
            <a:r>
              <a:rPr lang="pt-PT" dirty="0">
                <a:latin typeface="Times New Roman" panose="02020603050405020304" pitchFamily="18" charset="0"/>
                <a:cs typeface="Times New Roman" panose="02020603050405020304" pitchFamily="18" charset="0"/>
              </a:rPr>
              <a:t>Para a regressão, repeti o workflow de pré-processamento com especial atenção à limpeza e normalização, desta vez focando a previsão dos sinais fisiológicos HR e EDA. Mantive features relevantes, incluindo todas as variáveis fisiológicas, para explorar a capacidade dos modelos de prever sinais biomédicos a partir do contexto e de outras medições.</a:t>
            </a:r>
          </a:p>
        </p:txBody>
      </p:sp>
      <p:pic>
        <p:nvPicPr>
          <p:cNvPr id="17" name="Imagem 16">
            <a:extLst>
              <a:ext uri="{FF2B5EF4-FFF2-40B4-BE49-F238E27FC236}">
                <a16:creationId xmlns:a16="http://schemas.microsoft.com/office/drawing/2014/main" id="{8E22368B-74D6-F70A-0056-0A13615228AC}"/>
              </a:ext>
            </a:extLst>
          </p:cNvPr>
          <p:cNvPicPr>
            <a:picLocks noChangeAspect="1"/>
          </p:cNvPicPr>
          <p:nvPr/>
        </p:nvPicPr>
        <p:blipFill>
          <a:blip r:embed="rId13">
            <a:extLst>
              <a:ext uri="{28A0092B-C50C-407E-A947-70E740481C1C}">
                <a14:useLocalDpi xmlns:a14="http://schemas.microsoft.com/office/drawing/2010/main" val="0"/>
              </a:ext>
            </a:extLst>
          </a:blip>
          <a:srcRect l="14821" t="18300" r="9510" b="18300"/>
          <a:stretch>
            <a:fillRect/>
          </a:stretch>
        </p:blipFill>
        <p:spPr>
          <a:xfrm>
            <a:off x="2070860" y="3347231"/>
            <a:ext cx="8207592" cy="3510769"/>
          </a:xfrm>
          <a:prstGeom prst="rect">
            <a:avLst/>
          </a:prstGeom>
        </p:spPr>
      </p:pic>
    </p:spTree>
    <p:extLst>
      <p:ext uri="{BB962C8B-B14F-4D97-AF65-F5344CB8AC3E}">
        <p14:creationId xmlns:p14="http://schemas.microsoft.com/office/powerpoint/2010/main" val="19406398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D474E-B03B-3015-4687-A1C56170D138}"/>
            </a:ext>
          </a:extLst>
        </p:cNvPr>
        <p:cNvGrpSpPr/>
        <p:nvPr/>
      </p:nvGrpSpPr>
      <p:grpSpPr>
        <a:xfrm>
          <a:off x="0" y="0"/>
          <a:ext cx="0" cy="0"/>
          <a:chOff x="0" y="0"/>
          <a:chExt cx="0" cy="0"/>
        </a:xfrm>
      </p:grpSpPr>
      <p:pic>
        <p:nvPicPr>
          <p:cNvPr id="4" name="Image1" descr="Uma imagem com Gráficos, símbolo, design gráfico, logótipo&#10;&#10;Descrição gerada automaticamente">
            <a:extLst>
              <a:ext uri="{FF2B5EF4-FFF2-40B4-BE49-F238E27FC236}">
                <a16:creationId xmlns:a16="http://schemas.microsoft.com/office/drawing/2014/main" id="{D99FCF3C-C386-32C0-428C-244B2314988E}"/>
              </a:ext>
            </a:extLst>
          </p:cNvPr>
          <p:cNvPicPr/>
          <p:nvPr/>
        </p:nvPicPr>
        <p:blipFill>
          <a:blip r:embed="rId4">
            <a:lum/>
            <a:alphaModFix/>
          </a:blip>
          <a:srcRect/>
          <a:stretch>
            <a:fillRect/>
          </a:stretch>
        </p:blipFill>
        <p:spPr>
          <a:xfrm>
            <a:off x="360948" y="226595"/>
            <a:ext cx="1515979" cy="739940"/>
          </a:xfrm>
          <a:prstGeom prst="rect">
            <a:avLst/>
          </a:prstGeom>
          <a:noFill/>
          <a:ln>
            <a:noFill/>
            <a:prstDash/>
          </a:ln>
        </p:spPr>
      </p:pic>
      <p:cxnSp>
        <p:nvCxnSpPr>
          <p:cNvPr id="5" name="Conexão reta 4">
            <a:extLst>
              <a:ext uri="{FF2B5EF4-FFF2-40B4-BE49-F238E27FC236}">
                <a16:creationId xmlns:a16="http://schemas.microsoft.com/office/drawing/2014/main" id="{CA4FE39D-F760-5E71-10FA-A64BC2F57673}"/>
              </a:ext>
            </a:extLst>
          </p:cNvPr>
          <p:cNvCxnSpPr/>
          <p:nvPr/>
        </p:nvCxnSpPr>
        <p:spPr>
          <a:xfrm>
            <a:off x="-1" y="1171074"/>
            <a:ext cx="12192000" cy="0"/>
          </a:xfrm>
          <a:prstGeom prst="line">
            <a:avLst/>
          </a:prstGeom>
        </p:spPr>
        <p:style>
          <a:lnRef idx="3">
            <a:schemeClr val="accent2"/>
          </a:lnRef>
          <a:fillRef idx="0">
            <a:schemeClr val="accent2"/>
          </a:fillRef>
          <a:effectRef idx="2">
            <a:schemeClr val="accent2"/>
          </a:effectRef>
          <a:fontRef idx="minor">
            <a:schemeClr val="tx1"/>
          </a:fontRef>
        </p:style>
      </p:cxnSp>
      <p:grpSp>
        <p:nvGrpSpPr>
          <p:cNvPr id="7" name="Agrupar 6">
            <a:extLst>
              <a:ext uri="{FF2B5EF4-FFF2-40B4-BE49-F238E27FC236}">
                <a16:creationId xmlns:a16="http://schemas.microsoft.com/office/drawing/2014/main" id="{DCE87B05-D054-8552-8F9F-8960E826AA9E}"/>
              </a:ext>
            </a:extLst>
          </p:cNvPr>
          <p:cNvGrpSpPr/>
          <p:nvPr/>
        </p:nvGrpSpPr>
        <p:grpSpPr>
          <a:xfrm>
            <a:off x="10487805" y="8596"/>
            <a:ext cx="936223" cy="1191039"/>
            <a:chOff x="10487805" y="8596"/>
            <a:chExt cx="936223" cy="1191039"/>
          </a:xfrm>
        </p:grpSpPr>
        <p:pic>
          <p:nvPicPr>
            <p:cNvPr id="8" name="Gráfico 7" descr="Feminino médico destaque">
              <a:extLst>
                <a:ext uri="{FF2B5EF4-FFF2-40B4-BE49-F238E27FC236}">
                  <a16:creationId xmlns:a16="http://schemas.microsoft.com/office/drawing/2014/main" id="{A54FB19F-B858-C81F-0D38-1098BE7A880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0817" y="565455"/>
              <a:ext cx="634180" cy="634180"/>
            </a:xfrm>
            <a:prstGeom prst="rect">
              <a:avLst/>
            </a:prstGeom>
          </p:spPr>
        </p:pic>
        <p:pic>
          <p:nvPicPr>
            <p:cNvPr id="9" name="Gráfico 8" descr="Médico destaque">
              <a:extLst>
                <a:ext uri="{FF2B5EF4-FFF2-40B4-BE49-F238E27FC236}">
                  <a16:creationId xmlns:a16="http://schemas.microsoft.com/office/drawing/2014/main" id="{54C3DEF7-E4B4-E832-1FF6-3AB606AE66F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87805" y="8596"/>
              <a:ext cx="387429" cy="387429"/>
            </a:xfrm>
            <a:prstGeom prst="rect">
              <a:avLst/>
            </a:prstGeom>
          </p:spPr>
        </p:pic>
        <p:grpSp>
          <p:nvGrpSpPr>
            <p:cNvPr id="10" name="Agrupar 9">
              <a:extLst>
                <a:ext uri="{FF2B5EF4-FFF2-40B4-BE49-F238E27FC236}">
                  <a16:creationId xmlns:a16="http://schemas.microsoft.com/office/drawing/2014/main" id="{45056E14-98E7-B892-A9BA-BE1BE6B0F503}"/>
                </a:ext>
              </a:extLst>
            </p:cNvPr>
            <p:cNvGrpSpPr/>
            <p:nvPr/>
          </p:nvGrpSpPr>
          <p:grpSpPr>
            <a:xfrm>
              <a:off x="10746203" y="81221"/>
              <a:ext cx="677825" cy="544988"/>
              <a:chOff x="10746203" y="81221"/>
              <a:chExt cx="677825" cy="544988"/>
            </a:xfrm>
          </p:grpSpPr>
          <p:pic>
            <p:nvPicPr>
              <p:cNvPr id="11" name="Gráfico 10" descr="Coração com batimento destaque">
                <a:extLst>
                  <a:ext uri="{FF2B5EF4-FFF2-40B4-BE49-F238E27FC236}">
                    <a16:creationId xmlns:a16="http://schemas.microsoft.com/office/drawing/2014/main" id="{9468FE04-AF6C-C2C5-8549-8239EB70D5D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036599" y="81221"/>
                <a:ext cx="387429" cy="387429"/>
              </a:xfrm>
              <a:prstGeom prst="rect">
                <a:avLst/>
              </a:prstGeom>
            </p:spPr>
          </p:pic>
          <p:pic>
            <p:nvPicPr>
              <p:cNvPr id="12" name="Gráfico 11" descr="Cérebro na cabeça destaque">
                <a:extLst>
                  <a:ext uri="{FF2B5EF4-FFF2-40B4-BE49-F238E27FC236}">
                    <a16:creationId xmlns:a16="http://schemas.microsoft.com/office/drawing/2014/main" id="{C531C83C-7FF8-7506-ACC6-4F6863E6E1D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746203" y="142098"/>
                <a:ext cx="484111" cy="484111"/>
              </a:xfrm>
              <a:prstGeom prst="rect">
                <a:avLst/>
              </a:prstGeom>
            </p:spPr>
          </p:pic>
        </p:grpSp>
      </p:grpSp>
      <p:sp>
        <p:nvSpPr>
          <p:cNvPr id="13" name="CaixaDeTexto 12">
            <a:extLst>
              <a:ext uri="{FF2B5EF4-FFF2-40B4-BE49-F238E27FC236}">
                <a16:creationId xmlns:a16="http://schemas.microsoft.com/office/drawing/2014/main" id="{057B59CC-6946-EEFB-7900-D7BD7F3C1DC2}"/>
              </a:ext>
            </a:extLst>
          </p:cNvPr>
          <p:cNvSpPr txBox="1"/>
          <p:nvPr/>
        </p:nvSpPr>
        <p:spPr>
          <a:xfrm>
            <a:off x="629264" y="1366684"/>
            <a:ext cx="11090785" cy="58477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pt-PT" sz="3200" b="1" dirty="0">
                <a:latin typeface="Times New Roman" panose="02020603050405020304" pitchFamily="18" charset="0"/>
                <a:cs typeface="Times New Roman" panose="02020603050405020304" pitchFamily="18" charset="0"/>
              </a:rPr>
              <a:t>Modelos de Regressão Supervisionada HR</a:t>
            </a:r>
          </a:p>
        </p:txBody>
      </p:sp>
      <p:pic>
        <p:nvPicPr>
          <p:cNvPr id="15" name="Imagem 14" descr="Uma imagem com texto, diagrama, captura de ecrã, file&#10;&#10;Os conteúdos gerados por IA podem estar incorretos.">
            <a:extLst>
              <a:ext uri="{FF2B5EF4-FFF2-40B4-BE49-F238E27FC236}">
                <a16:creationId xmlns:a16="http://schemas.microsoft.com/office/drawing/2014/main" id="{6187A6C3-45E8-095A-CC35-CE9D21B6D4D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652507" y="2191312"/>
            <a:ext cx="5067542" cy="4524590"/>
          </a:xfrm>
          <a:prstGeom prst="rect">
            <a:avLst/>
          </a:prstGeom>
        </p:spPr>
      </p:pic>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FA9E556B-6419-378E-08EE-CF7A3C579D6E}"/>
                  </a:ext>
                </a:extLst>
              </p:cNvPr>
              <p:cNvSpPr txBox="1"/>
              <p:nvPr/>
            </p:nvSpPr>
            <p:spPr>
              <a:xfrm>
                <a:off x="471951" y="2480942"/>
                <a:ext cx="5912807" cy="2960875"/>
              </a:xfrm>
              <a:prstGeom prst="rect">
                <a:avLst/>
              </a:prstGeom>
              <a:noFill/>
            </p:spPr>
            <p:txBody>
              <a:bodyPr wrap="square" rtlCol="0">
                <a:spAutoFit/>
              </a:bodyPr>
              <a:lstStyle/>
              <a:p>
                <a:pPr algn="just">
                  <a:lnSpc>
                    <a:spcPct val="150000"/>
                  </a:lnSpc>
                </a:pPr>
                <a:r>
                  <a:rPr lang="pt-PT" dirty="0"/>
                  <a:t>Regressão aplicada para prever o sinal fisiológico HR (freq. cardíaca) com Regressão Linear, Random Forest, XGBoost e MLP. Modelos avançados atingem R^2</a:t>
                </a: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983</m:t>
                    </m:r>
                  </m:oMath>
                </a14:m>
                <a:r>
                  <a:rPr lang="ar-AE" dirty="0"/>
                  <a:t> </a:t>
                </a:r>
                <a:r>
                  <a:rPr lang="pt-PT" dirty="0"/>
                  <a:t>e RMSE baixo, mostrando boa capacidade preditiva. Resultados limitados para Regressão Linear indicam relações não-lineares fortes nos dados.</a:t>
                </a:r>
              </a:p>
            </p:txBody>
          </p:sp>
        </mc:Choice>
        <mc:Fallback xmlns="">
          <p:sp>
            <p:nvSpPr>
              <p:cNvPr id="16" name="CaixaDeTexto 15">
                <a:extLst>
                  <a:ext uri="{FF2B5EF4-FFF2-40B4-BE49-F238E27FC236}">
                    <a16:creationId xmlns:a16="http://schemas.microsoft.com/office/drawing/2014/main" id="{FA9E556B-6419-378E-08EE-CF7A3C579D6E}"/>
                  </a:ext>
                </a:extLst>
              </p:cNvPr>
              <p:cNvSpPr txBox="1">
                <a:spLocks noRot="1" noChangeAspect="1" noMove="1" noResize="1" noEditPoints="1" noAdjustHandles="1" noChangeArrowheads="1" noChangeShapeType="1" noTextEdit="1"/>
              </p:cNvSpPr>
              <p:nvPr/>
            </p:nvSpPr>
            <p:spPr>
              <a:xfrm>
                <a:off x="471951" y="2480942"/>
                <a:ext cx="5912807" cy="2960875"/>
              </a:xfrm>
              <a:prstGeom prst="rect">
                <a:avLst/>
              </a:prstGeom>
              <a:blipFill>
                <a:blip r:embed="rId14"/>
                <a:stretch>
                  <a:fillRect l="-825" r="-928" b="-2469"/>
                </a:stretch>
              </a:blipFill>
            </p:spPr>
            <p:txBody>
              <a:bodyPr/>
              <a:lstStyle/>
              <a:p>
                <a:r>
                  <a:rPr lang="pt-PT">
                    <a:noFill/>
                  </a:rPr>
                  <a:t> </a:t>
                </a:r>
              </a:p>
            </p:txBody>
          </p:sp>
        </mc:Fallback>
      </mc:AlternateContent>
    </p:spTree>
    <p:extLst>
      <p:ext uri="{BB962C8B-B14F-4D97-AF65-F5344CB8AC3E}">
        <p14:creationId xmlns:p14="http://schemas.microsoft.com/office/powerpoint/2010/main" val="36983170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7E1EC-1B84-6766-54BA-B477731517B2}"/>
            </a:ext>
          </a:extLst>
        </p:cNvPr>
        <p:cNvGrpSpPr/>
        <p:nvPr/>
      </p:nvGrpSpPr>
      <p:grpSpPr>
        <a:xfrm>
          <a:off x="0" y="0"/>
          <a:ext cx="0" cy="0"/>
          <a:chOff x="0" y="0"/>
          <a:chExt cx="0" cy="0"/>
        </a:xfrm>
      </p:grpSpPr>
      <p:pic>
        <p:nvPicPr>
          <p:cNvPr id="4" name="Image1" descr="Uma imagem com Gráficos, símbolo, design gráfico, logótipo&#10;&#10;Descrição gerada automaticamente">
            <a:extLst>
              <a:ext uri="{FF2B5EF4-FFF2-40B4-BE49-F238E27FC236}">
                <a16:creationId xmlns:a16="http://schemas.microsoft.com/office/drawing/2014/main" id="{062B1ECC-EF82-BF07-D0D6-38BBDA7F33DD}"/>
              </a:ext>
            </a:extLst>
          </p:cNvPr>
          <p:cNvPicPr/>
          <p:nvPr/>
        </p:nvPicPr>
        <p:blipFill>
          <a:blip r:embed="rId4">
            <a:lum/>
            <a:alphaModFix/>
          </a:blip>
          <a:srcRect/>
          <a:stretch>
            <a:fillRect/>
          </a:stretch>
        </p:blipFill>
        <p:spPr>
          <a:xfrm>
            <a:off x="360948" y="226595"/>
            <a:ext cx="1515979" cy="739940"/>
          </a:xfrm>
          <a:prstGeom prst="rect">
            <a:avLst/>
          </a:prstGeom>
          <a:noFill/>
          <a:ln>
            <a:noFill/>
            <a:prstDash/>
          </a:ln>
        </p:spPr>
      </p:pic>
      <p:cxnSp>
        <p:nvCxnSpPr>
          <p:cNvPr id="5" name="Conexão reta 4">
            <a:extLst>
              <a:ext uri="{FF2B5EF4-FFF2-40B4-BE49-F238E27FC236}">
                <a16:creationId xmlns:a16="http://schemas.microsoft.com/office/drawing/2014/main" id="{B0CEAFA5-3130-CBDB-2921-8725527DF86D}"/>
              </a:ext>
            </a:extLst>
          </p:cNvPr>
          <p:cNvCxnSpPr/>
          <p:nvPr/>
        </p:nvCxnSpPr>
        <p:spPr>
          <a:xfrm>
            <a:off x="-1" y="1171074"/>
            <a:ext cx="12192000" cy="0"/>
          </a:xfrm>
          <a:prstGeom prst="line">
            <a:avLst/>
          </a:prstGeom>
        </p:spPr>
        <p:style>
          <a:lnRef idx="3">
            <a:schemeClr val="accent2"/>
          </a:lnRef>
          <a:fillRef idx="0">
            <a:schemeClr val="accent2"/>
          </a:fillRef>
          <a:effectRef idx="2">
            <a:schemeClr val="accent2"/>
          </a:effectRef>
          <a:fontRef idx="minor">
            <a:schemeClr val="tx1"/>
          </a:fontRef>
        </p:style>
      </p:cxnSp>
      <p:grpSp>
        <p:nvGrpSpPr>
          <p:cNvPr id="7" name="Agrupar 6">
            <a:extLst>
              <a:ext uri="{FF2B5EF4-FFF2-40B4-BE49-F238E27FC236}">
                <a16:creationId xmlns:a16="http://schemas.microsoft.com/office/drawing/2014/main" id="{D3BA1CEC-030D-ABBA-7EE8-11BF6F0D5FE5}"/>
              </a:ext>
            </a:extLst>
          </p:cNvPr>
          <p:cNvGrpSpPr/>
          <p:nvPr/>
        </p:nvGrpSpPr>
        <p:grpSpPr>
          <a:xfrm>
            <a:off x="10487805" y="8596"/>
            <a:ext cx="936223" cy="1191039"/>
            <a:chOff x="10487805" y="8596"/>
            <a:chExt cx="936223" cy="1191039"/>
          </a:xfrm>
        </p:grpSpPr>
        <p:pic>
          <p:nvPicPr>
            <p:cNvPr id="8" name="Gráfico 7" descr="Feminino médico destaque">
              <a:extLst>
                <a:ext uri="{FF2B5EF4-FFF2-40B4-BE49-F238E27FC236}">
                  <a16:creationId xmlns:a16="http://schemas.microsoft.com/office/drawing/2014/main" id="{41C6884E-5686-328E-14AB-135BB377A6A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0817" y="565455"/>
              <a:ext cx="634180" cy="634180"/>
            </a:xfrm>
            <a:prstGeom prst="rect">
              <a:avLst/>
            </a:prstGeom>
          </p:spPr>
        </p:pic>
        <p:pic>
          <p:nvPicPr>
            <p:cNvPr id="9" name="Gráfico 8" descr="Médico destaque">
              <a:extLst>
                <a:ext uri="{FF2B5EF4-FFF2-40B4-BE49-F238E27FC236}">
                  <a16:creationId xmlns:a16="http://schemas.microsoft.com/office/drawing/2014/main" id="{73E8C042-35D7-E47F-56F7-AB834E4C2F4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87805" y="8596"/>
              <a:ext cx="387429" cy="387429"/>
            </a:xfrm>
            <a:prstGeom prst="rect">
              <a:avLst/>
            </a:prstGeom>
          </p:spPr>
        </p:pic>
        <p:grpSp>
          <p:nvGrpSpPr>
            <p:cNvPr id="10" name="Agrupar 9">
              <a:extLst>
                <a:ext uri="{FF2B5EF4-FFF2-40B4-BE49-F238E27FC236}">
                  <a16:creationId xmlns:a16="http://schemas.microsoft.com/office/drawing/2014/main" id="{1EB9D241-5D5E-9071-9483-34CCCDDBCD19}"/>
                </a:ext>
              </a:extLst>
            </p:cNvPr>
            <p:cNvGrpSpPr/>
            <p:nvPr/>
          </p:nvGrpSpPr>
          <p:grpSpPr>
            <a:xfrm>
              <a:off x="10746203" y="81221"/>
              <a:ext cx="677825" cy="544988"/>
              <a:chOff x="10746203" y="81221"/>
              <a:chExt cx="677825" cy="544988"/>
            </a:xfrm>
          </p:grpSpPr>
          <p:pic>
            <p:nvPicPr>
              <p:cNvPr id="11" name="Gráfico 10" descr="Coração com batimento destaque">
                <a:extLst>
                  <a:ext uri="{FF2B5EF4-FFF2-40B4-BE49-F238E27FC236}">
                    <a16:creationId xmlns:a16="http://schemas.microsoft.com/office/drawing/2014/main" id="{554A8E44-44AC-5B5D-8EE7-A9A673C6DEE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036599" y="81221"/>
                <a:ext cx="387429" cy="387429"/>
              </a:xfrm>
              <a:prstGeom prst="rect">
                <a:avLst/>
              </a:prstGeom>
            </p:spPr>
          </p:pic>
          <p:pic>
            <p:nvPicPr>
              <p:cNvPr id="12" name="Gráfico 11" descr="Cérebro na cabeça destaque">
                <a:extLst>
                  <a:ext uri="{FF2B5EF4-FFF2-40B4-BE49-F238E27FC236}">
                    <a16:creationId xmlns:a16="http://schemas.microsoft.com/office/drawing/2014/main" id="{497C9FA5-CC4C-3B6E-F463-BD3FFCF1DD5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746203" y="142098"/>
                <a:ext cx="484111" cy="484111"/>
              </a:xfrm>
              <a:prstGeom prst="rect">
                <a:avLst/>
              </a:prstGeom>
            </p:spPr>
          </p:pic>
        </p:grpSp>
      </p:grpSp>
      <p:sp>
        <p:nvSpPr>
          <p:cNvPr id="13" name="CaixaDeTexto 12">
            <a:extLst>
              <a:ext uri="{FF2B5EF4-FFF2-40B4-BE49-F238E27FC236}">
                <a16:creationId xmlns:a16="http://schemas.microsoft.com/office/drawing/2014/main" id="{8B6D34A5-0E48-3497-76A5-FE7D5D541680}"/>
              </a:ext>
            </a:extLst>
          </p:cNvPr>
          <p:cNvSpPr txBox="1"/>
          <p:nvPr/>
        </p:nvSpPr>
        <p:spPr>
          <a:xfrm>
            <a:off x="629264" y="1366684"/>
            <a:ext cx="11090785" cy="58477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pt-PT" sz="3200" b="1" dirty="0">
                <a:latin typeface="Times New Roman" panose="02020603050405020304" pitchFamily="18" charset="0"/>
                <a:cs typeface="Times New Roman" panose="02020603050405020304" pitchFamily="18" charset="0"/>
              </a:rPr>
              <a:t>Modelos de Regressão Supervisionada EDA</a:t>
            </a:r>
          </a:p>
        </p:txBody>
      </p:sp>
      <p:sp>
        <p:nvSpPr>
          <p:cNvPr id="2" name="CaixaDeTexto 1">
            <a:extLst>
              <a:ext uri="{FF2B5EF4-FFF2-40B4-BE49-F238E27FC236}">
                <a16:creationId xmlns:a16="http://schemas.microsoft.com/office/drawing/2014/main" id="{0AEF23FC-F4C3-11B1-CD47-E49632734643}"/>
              </a:ext>
            </a:extLst>
          </p:cNvPr>
          <p:cNvSpPr txBox="1"/>
          <p:nvPr/>
        </p:nvSpPr>
        <p:spPr>
          <a:xfrm>
            <a:off x="629264" y="2521079"/>
            <a:ext cx="4916771" cy="2970237"/>
          </a:xfrm>
          <a:prstGeom prst="rect">
            <a:avLst/>
          </a:prstGeom>
          <a:noFill/>
        </p:spPr>
        <p:txBody>
          <a:bodyPr wrap="square" rtlCol="0">
            <a:spAutoFit/>
          </a:bodyPr>
          <a:lstStyle/>
          <a:p>
            <a:pPr algn="just">
              <a:lnSpc>
                <a:spcPct val="150000"/>
              </a:lnSpc>
            </a:pPr>
            <a:r>
              <a:rPr lang="pt-PT" dirty="0"/>
              <a:t>Modelos de regressão para prever EDA (atividade eletrodérmica). Todos os modelos testados: Regressão Linear, Random Forest, XGBoost e MLP, mostraram valores de R^2 elevados, acima de 0.98. Revela forte interdependência fisiológica e possível redundância no dataset.</a:t>
            </a:r>
          </a:p>
        </p:txBody>
      </p:sp>
      <p:pic>
        <p:nvPicPr>
          <p:cNvPr id="6" name="Imagem 5" descr="Uma imagem com texto, captura de ecrã, diagrama, file&#10;&#10;Os conteúdos gerados por IA podem estar incorretos.">
            <a:extLst>
              <a:ext uri="{FF2B5EF4-FFF2-40B4-BE49-F238E27FC236}">
                <a16:creationId xmlns:a16="http://schemas.microsoft.com/office/drawing/2014/main" id="{05CF075A-217D-9713-5C8B-709911982BF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227321" y="2147068"/>
            <a:ext cx="6964680" cy="4700889"/>
          </a:xfrm>
          <a:prstGeom prst="rect">
            <a:avLst/>
          </a:prstGeom>
        </p:spPr>
      </p:pic>
    </p:spTree>
    <p:extLst>
      <p:ext uri="{BB962C8B-B14F-4D97-AF65-F5344CB8AC3E}">
        <p14:creationId xmlns:p14="http://schemas.microsoft.com/office/powerpoint/2010/main" val="23873610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0A898-3154-304F-1AED-B398CD650522}"/>
            </a:ext>
          </a:extLst>
        </p:cNvPr>
        <p:cNvGrpSpPr/>
        <p:nvPr/>
      </p:nvGrpSpPr>
      <p:grpSpPr>
        <a:xfrm>
          <a:off x="0" y="0"/>
          <a:ext cx="0" cy="0"/>
          <a:chOff x="0" y="0"/>
          <a:chExt cx="0" cy="0"/>
        </a:xfrm>
      </p:grpSpPr>
      <p:pic>
        <p:nvPicPr>
          <p:cNvPr id="4" name="Image1" descr="Uma imagem com Gráficos, símbolo, design gráfico, logótipo&#10;&#10;Descrição gerada automaticamente">
            <a:extLst>
              <a:ext uri="{FF2B5EF4-FFF2-40B4-BE49-F238E27FC236}">
                <a16:creationId xmlns:a16="http://schemas.microsoft.com/office/drawing/2014/main" id="{07966BA2-2B85-D46B-5156-C2EDCBD08ED3}"/>
              </a:ext>
            </a:extLst>
          </p:cNvPr>
          <p:cNvPicPr/>
          <p:nvPr/>
        </p:nvPicPr>
        <p:blipFill>
          <a:blip r:embed="rId4">
            <a:lum/>
            <a:alphaModFix/>
          </a:blip>
          <a:srcRect/>
          <a:stretch>
            <a:fillRect/>
          </a:stretch>
        </p:blipFill>
        <p:spPr>
          <a:xfrm>
            <a:off x="360948" y="226595"/>
            <a:ext cx="1515979" cy="739940"/>
          </a:xfrm>
          <a:prstGeom prst="rect">
            <a:avLst/>
          </a:prstGeom>
          <a:noFill/>
          <a:ln>
            <a:noFill/>
            <a:prstDash/>
          </a:ln>
        </p:spPr>
      </p:pic>
      <p:cxnSp>
        <p:nvCxnSpPr>
          <p:cNvPr id="5" name="Conexão reta 4">
            <a:extLst>
              <a:ext uri="{FF2B5EF4-FFF2-40B4-BE49-F238E27FC236}">
                <a16:creationId xmlns:a16="http://schemas.microsoft.com/office/drawing/2014/main" id="{289E2438-5735-AA00-ED03-9FC85295AAE1}"/>
              </a:ext>
            </a:extLst>
          </p:cNvPr>
          <p:cNvCxnSpPr/>
          <p:nvPr/>
        </p:nvCxnSpPr>
        <p:spPr>
          <a:xfrm>
            <a:off x="-1" y="1171074"/>
            <a:ext cx="12192000" cy="0"/>
          </a:xfrm>
          <a:prstGeom prst="line">
            <a:avLst/>
          </a:prstGeom>
        </p:spPr>
        <p:style>
          <a:lnRef idx="3">
            <a:schemeClr val="accent2"/>
          </a:lnRef>
          <a:fillRef idx="0">
            <a:schemeClr val="accent2"/>
          </a:fillRef>
          <a:effectRef idx="2">
            <a:schemeClr val="accent2"/>
          </a:effectRef>
          <a:fontRef idx="minor">
            <a:schemeClr val="tx1"/>
          </a:fontRef>
        </p:style>
      </p:cxnSp>
      <p:grpSp>
        <p:nvGrpSpPr>
          <p:cNvPr id="7" name="Agrupar 6">
            <a:extLst>
              <a:ext uri="{FF2B5EF4-FFF2-40B4-BE49-F238E27FC236}">
                <a16:creationId xmlns:a16="http://schemas.microsoft.com/office/drawing/2014/main" id="{0220E264-CD8E-74B2-2121-0BA40576060C}"/>
              </a:ext>
            </a:extLst>
          </p:cNvPr>
          <p:cNvGrpSpPr/>
          <p:nvPr/>
        </p:nvGrpSpPr>
        <p:grpSpPr>
          <a:xfrm>
            <a:off x="10487805" y="8596"/>
            <a:ext cx="936223" cy="1191039"/>
            <a:chOff x="10487805" y="8596"/>
            <a:chExt cx="936223" cy="1191039"/>
          </a:xfrm>
        </p:grpSpPr>
        <p:pic>
          <p:nvPicPr>
            <p:cNvPr id="8" name="Gráfico 7" descr="Feminino médico destaque">
              <a:extLst>
                <a:ext uri="{FF2B5EF4-FFF2-40B4-BE49-F238E27FC236}">
                  <a16:creationId xmlns:a16="http://schemas.microsoft.com/office/drawing/2014/main" id="{9553E0BA-6F12-D47B-058F-F70D2641EE0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0817" y="565455"/>
              <a:ext cx="634180" cy="634180"/>
            </a:xfrm>
            <a:prstGeom prst="rect">
              <a:avLst/>
            </a:prstGeom>
          </p:spPr>
        </p:pic>
        <p:pic>
          <p:nvPicPr>
            <p:cNvPr id="9" name="Gráfico 8" descr="Médico destaque">
              <a:extLst>
                <a:ext uri="{FF2B5EF4-FFF2-40B4-BE49-F238E27FC236}">
                  <a16:creationId xmlns:a16="http://schemas.microsoft.com/office/drawing/2014/main" id="{4F55756F-CC14-F010-16EB-D0693B97291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87805" y="8596"/>
              <a:ext cx="387429" cy="387429"/>
            </a:xfrm>
            <a:prstGeom prst="rect">
              <a:avLst/>
            </a:prstGeom>
          </p:spPr>
        </p:pic>
        <p:grpSp>
          <p:nvGrpSpPr>
            <p:cNvPr id="10" name="Agrupar 9">
              <a:extLst>
                <a:ext uri="{FF2B5EF4-FFF2-40B4-BE49-F238E27FC236}">
                  <a16:creationId xmlns:a16="http://schemas.microsoft.com/office/drawing/2014/main" id="{8AA5FA7C-CBCA-C09E-85E6-AF4CE8D5D96B}"/>
                </a:ext>
              </a:extLst>
            </p:cNvPr>
            <p:cNvGrpSpPr/>
            <p:nvPr/>
          </p:nvGrpSpPr>
          <p:grpSpPr>
            <a:xfrm>
              <a:off x="10746203" y="81221"/>
              <a:ext cx="677825" cy="544988"/>
              <a:chOff x="10746203" y="81221"/>
              <a:chExt cx="677825" cy="544988"/>
            </a:xfrm>
          </p:grpSpPr>
          <p:pic>
            <p:nvPicPr>
              <p:cNvPr id="11" name="Gráfico 10" descr="Coração com batimento destaque">
                <a:extLst>
                  <a:ext uri="{FF2B5EF4-FFF2-40B4-BE49-F238E27FC236}">
                    <a16:creationId xmlns:a16="http://schemas.microsoft.com/office/drawing/2014/main" id="{77ECC972-51A0-0611-A949-06E2AF618F6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036599" y="81221"/>
                <a:ext cx="387429" cy="387429"/>
              </a:xfrm>
              <a:prstGeom prst="rect">
                <a:avLst/>
              </a:prstGeom>
            </p:spPr>
          </p:pic>
          <p:pic>
            <p:nvPicPr>
              <p:cNvPr id="12" name="Gráfico 11" descr="Cérebro na cabeça destaque">
                <a:extLst>
                  <a:ext uri="{FF2B5EF4-FFF2-40B4-BE49-F238E27FC236}">
                    <a16:creationId xmlns:a16="http://schemas.microsoft.com/office/drawing/2014/main" id="{D4D13576-7F99-CB9D-DFC8-22CD65BE2E8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746203" y="142098"/>
                <a:ext cx="484111" cy="484111"/>
              </a:xfrm>
              <a:prstGeom prst="rect">
                <a:avLst/>
              </a:prstGeom>
            </p:spPr>
          </p:pic>
        </p:grpSp>
      </p:grpSp>
      <p:sp>
        <p:nvSpPr>
          <p:cNvPr id="13" name="CaixaDeTexto 12">
            <a:extLst>
              <a:ext uri="{FF2B5EF4-FFF2-40B4-BE49-F238E27FC236}">
                <a16:creationId xmlns:a16="http://schemas.microsoft.com/office/drawing/2014/main" id="{575761DE-181F-F43E-DBC7-6A18FE0CF062}"/>
              </a:ext>
            </a:extLst>
          </p:cNvPr>
          <p:cNvSpPr txBox="1"/>
          <p:nvPr/>
        </p:nvSpPr>
        <p:spPr>
          <a:xfrm>
            <a:off x="629264" y="1366684"/>
            <a:ext cx="11090785" cy="58477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pt-PT" sz="3200" b="1" dirty="0">
                <a:latin typeface="Times New Roman" panose="02020603050405020304" pitchFamily="18" charset="0"/>
                <a:cs typeface="Times New Roman" panose="02020603050405020304" pitchFamily="18" charset="0"/>
              </a:rPr>
              <a:t>Modelos de Clustering Não-Supervisionado</a:t>
            </a:r>
          </a:p>
        </p:txBody>
      </p:sp>
      <p:pic>
        <p:nvPicPr>
          <p:cNvPr id="3" name="Imagem 2" descr="Uma imagem com diagrama, file, texto, captura de ecrã&#10;&#10;Os conteúdos gerados por IA podem estar incorretos.">
            <a:extLst>
              <a:ext uri="{FF2B5EF4-FFF2-40B4-BE49-F238E27FC236}">
                <a16:creationId xmlns:a16="http://schemas.microsoft.com/office/drawing/2014/main" id="{9887A31F-67A1-5774-5D03-DCAA700AD8ED}"/>
              </a:ext>
            </a:extLst>
          </p:cNvPr>
          <p:cNvPicPr>
            <a:picLocks noChangeAspect="1"/>
          </p:cNvPicPr>
          <p:nvPr/>
        </p:nvPicPr>
        <p:blipFill>
          <a:blip r:embed="rId13">
            <a:extLst>
              <a:ext uri="{28A0092B-C50C-407E-A947-70E740481C1C}">
                <a14:useLocalDpi xmlns:a14="http://schemas.microsoft.com/office/drawing/2010/main" val="0"/>
              </a:ext>
            </a:extLst>
          </a:blip>
          <a:srcRect l="4453" t="13171" r="1389" b="2310"/>
          <a:stretch>
            <a:fillRect/>
          </a:stretch>
        </p:blipFill>
        <p:spPr>
          <a:xfrm>
            <a:off x="4984955" y="2694038"/>
            <a:ext cx="7089059" cy="3234813"/>
          </a:xfrm>
          <a:prstGeom prst="rect">
            <a:avLst/>
          </a:prstGeom>
        </p:spPr>
      </p:pic>
      <p:sp>
        <p:nvSpPr>
          <p:cNvPr id="6" name="CaixaDeTexto 5">
            <a:extLst>
              <a:ext uri="{FF2B5EF4-FFF2-40B4-BE49-F238E27FC236}">
                <a16:creationId xmlns:a16="http://schemas.microsoft.com/office/drawing/2014/main" id="{D573044D-4B1E-D66B-37FF-8B7EA639DFC9}"/>
              </a:ext>
            </a:extLst>
          </p:cNvPr>
          <p:cNvSpPr txBox="1"/>
          <p:nvPr/>
        </p:nvSpPr>
        <p:spPr>
          <a:xfrm>
            <a:off x="360948" y="2310552"/>
            <a:ext cx="4287252" cy="3376374"/>
          </a:xfrm>
          <a:prstGeom prst="rect">
            <a:avLst/>
          </a:prstGeom>
          <a:noFill/>
        </p:spPr>
        <p:txBody>
          <a:bodyPr wrap="square" rtlCol="0">
            <a:spAutoFit/>
          </a:bodyPr>
          <a:lstStyle/>
          <a:p>
            <a:pPr algn="just">
              <a:lnSpc>
                <a:spcPct val="150000"/>
              </a:lnSpc>
            </a:pPr>
            <a:r>
              <a:rPr lang="pt-PT" dirty="0"/>
              <a:t>Testes com K-Means e K-Medoids para procurar grupos de stress naturais. Coeficientes de silhueta muito baixos (K-Means: 0.16, K-Medoids: 0.18), indicando clusters pouco definidos e sobreposição entre estados fisiológicos. Conclusão: stress manifesta-se continuamente, sendo difícil separar grupos naturais.</a:t>
            </a:r>
          </a:p>
        </p:txBody>
      </p:sp>
    </p:spTree>
    <p:extLst>
      <p:ext uri="{BB962C8B-B14F-4D97-AF65-F5344CB8AC3E}">
        <p14:creationId xmlns:p14="http://schemas.microsoft.com/office/powerpoint/2010/main" val="908487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870DA-5C92-802E-D882-E28BB1A6B146}"/>
            </a:ext>
          </a:extLst>
        </p:cNvPr>
        <p:cNvGrpSpPr/>
        <p:nvPr/>
      </p:nvGrpSpPr>
      <p:grpSpPr>
        <a:xfrm>
          <a:off x="0" y="0"/>
          <a:ext cx="0" cy="0"/>
          <a:chOff x="0" y="0"/>
          <a:chExt cx="0" cy="0"/>
        </a:xfrm>
      </p:grpSpPr>
      <p:pic>
        <p:nvPicPr>
          <p:cNvPr id="4" name="Image1" descr="Uma imagem com Gráficos, símbolo, design gráfico, logótipo&#10;&#10;Descrição gerada automaticamente">
            <a:extLst>
              <a:ext uri="{FF2B5EF4-FFF2-40B4-BE49-F238E27FC236}">
                <a16:creationId xmlns:a16="http://schemas.microsoft.com/office/drawing/2014/main" id="{82853FC9-3712-DAB2-5C0C-44552F757061}"/>
              </a:ext>
            </a:extLst>
          </p:cNvPr>
          <p:cNvPicPr/>
          <p:nvPr/>
        </p:nvPicPr>
        <p:blipFill>
          <a:blip r:embed="rId4">
            <a:lum/>
            <a:alphaModFix/>
          </a:blip>
          <a:srcRect/>
          <a:stretch>
            <a:fillRect/>
          </a:stretch>
        </p:blipFill>
        <p:spPr>
          <a:xfrm>
            <a:off x="360948" y="226595"/>
            <a:ext cx="1515979" cy="739940"/>
          </a:xfrm>
          <a:prstGeom prst="rect">
            <a:avLst/>
          </a:prstGeom>
          <a:noFill/>
          <a:ln>
            <a:noFill/>
            <a:prstDash/>
          </a:ln>
        </p:spPr>
      </p:pic>
      <p:cxnSp>
        <p:nvCxnSpPr>
          <p:cNvPr id="5" name="Conexão reta 4">
            <a:extLst>
              <a:ext uri="{FF2B5EF4-FFF2-40B4-BE49-F238E27FC236}">
                <a16:creationId xmlns:a16="http://schemas.microsoft.com/office/drawing/2014/main" id="{86AB799B-5F0A-6D73-1BAC-60D87A5A8A55}"/>
              </a:ext>
            </a:extLst>
          </p:cNvPr>
          <p:cNvCxnSpPr/>
          <p:nvPr/>
        </p:nvCxnSpPr>
        <p:spPr>
          <a:xfrm>
            <a:off x="-1" y="1171074"/>
            <a:ext cx="12192000" cy="0"/>
          </a:xfrm>
          <a:prstGeom prst="line">
            <a:avLst/>
          </a:prstGeom>
        </p:spPr>
        <p:style>
          <a:lnRef idx="3">
            <a:schemeClr val="accent2"/>
          </a:lnRef>
          <a:fillRef idx="0">
            <a:schemeClr val="accent2"/>
          </a:fillRef>
          <a:effectRef idx="2">
            <a:schemeClr val="accent2"/>
          </a:effectRef>
          <a:fontRef idx="minor">
            <a:schemeClr val="tx1"/>
          </a:fontRef>
        </p:style>
      </p:cxnSp>
      <p:grpSp>
        <p:nvGrpSpPr>
          <p:cNvPr id="7" name="Agrupar 6">
            <a:extLst>
              <a:ext uri="{FF2B5EF4-FFF2-40B4-BE49-F238E27FC236}">
                <a16:creationId xmlns:a16="http://schemas.microsoft.com/office/drawing/2014/main" id="{934D30C2-5CEC-7ABD-3CBC-10BAEB7C1EA8}"/>
              </a:ext>
            </a:extLst>
          </p:cNvPr>
          <p:cNvGrpSpPr/>
          <p:nvPr/>
        </p:nvGrpSpPr>
        <p:grpSpPr>
          <a:xfrm>
            <a:off x="10487805" y="8596"/>
            <a:ext cx="936223" cy="1191039"/>
            <a:chOff x="10487805" y="8596"/>
            <a:chExt cx="936223" cy="1191039"/>
          </a:xfrm>
        </p:grpSpPr>
        <p:pic>
          <p:nvPicPr>
            <p:cNvPr id="8" name="Gráfico 7" descr="Feminino médico destaque">
              <a:extLst>
                <a:ext uri="{FF2B5EF4-FFF2-40B4-BE49-F238E27FC236}">
                  <a16:creationId xmlns:a16="http://schemas.microsoft.com/office/drawing/2014/main" id="{E71DCD5A-F329-E4EF-32D6-18C8C8EA359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0817" y="565455"/>
              <a:ext cx="634180" cy="634180"/>
            </a:xfrm>
            <a:prstGeom prst="rect">
              <a:avLst/>
            </a:prstGeom>
          </p:spPr>
        </p:pic>
        <p:pic>
          <p:nvPicPr>
            <p:cNvPr id="9" name="Gráfico 8" descr="Médico destaque">
              <a:extLst>
                <a:ext uri="{FF2B5EF4-FFF2-40B4-BE49-F238E27FC236}">
                  <a16:creationId xmlns:a16="http://schemas.microsoft.com/office/drawing/2014/main" id="{69030B87-6E97-E3B2-D070-882AFEFC091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87805" y="8596"/>
              <a:ext cx="387429" cy="387429"/>
            </a:xfrm>
            <a:prstGeom prst="rect">
              <a:avLst/>
            </a:prstGeom>
          </p:spPr>
        </p:pic>
        <p:grpSp>
          <p:nvGrpSpPr>
            <p:cNvPr id="10" name="Agrupar 9">
              <a:extLst>
                <a:ext uri="{FF2B5EF4-FFF2-40B4-BE49-F238E27FC236}">
                  <a16:creationId xmlns:a16="http://schemas.microsoft.com/office/drawing/2014/main" id="{8C4E92EB-0C36-93E8-ABEB-18A8A59FE6A0}"/>
                </a:ext>
              </a:extLst>
            </p:cNvPr>
            <p:cNvGrpSpPr/>
            <p:nvPr/>
          </p:nvGrpSpPr>
          <p:grpSpPr>
            <a:xfrm>
              <a:off x="10746203" y="81221"/>
              <a:ext cx="677825" cy="544988"/>
              <a:chOff x="10746203" y="81221"/>
              <a:chExt cx="677825" cy="544988"/>
            </a:xfrm>
          </p:grpSpPr>
          <p:pic>
            <p:nvPicPr>
              <p:cNvPr id="11" name="Gráfico 10" descr="Coração com batimento destaque">
                <a:extLst>
                  <a:ext uri="{FF2B5EF4-FFF2-40B4-BE49-F238E27FC236}">
                    <a16:creationId xmlns:a16="http://schemas.microsoft.com/office/drawing/2014/main" id="{577D0411-0CBA-7A59-C7CA-B2B2FB6004A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036599" y="81221"/>
                <a:ext cx="387429" cy="387429"/>
              </a:xfrm>
              <a:prstGeom prst="rect">
                <a:avLst/>
              </a:prstGeom>
            </p:spPr>
          </p:pic>
          <p:pic>
            <p:nvPicPr>
              <p:cNvPr id="12" name="Gráfico 11" descr="Cérebro na cabeça destaque">
                <a:extLst>
                  <a:ext uri="{FF2B5EF4-FFF2-40B4-BE49-F238E27FC236}">
                    <a16:creationId xmlns:a16="http://schemas.microsoft.com/office/drawing/2014/main" id="{98476843-132A-8D8B-7F91-C0CBE53C82C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746203" y="142098"/>
                <a:ext cx="484111" cy="484111"/>
              </a:xfrm>
              <a:prstGeom prst="rect">
                <a:avLst/>
              </a:prstGeom>
            </p:spPr>
          </p:pic>
        </p:grpSp>
      </p:grpSp>
      <p:sp>
        <p:nvSpPr>
          <p:cNvPr id="13" name="CaixaDeTexto 12">
            <a:extLst>
              <a:ext uri="{FF2B5EF4-FFF2-40B4-BE49-F238E27FC236}">
                <a16:creationId xmlns:a16="http://schemas.microsoft.com/office/drawing/2014/main" id="{34617060-2F6F-EFBE-C62D-EE02EBB0043F}"/>
              </a:ext>
            </a:extLst>
          </p:cNvPr>
          <p:cNvSpPr txBox="1"/>
          <p:nvPr/>
        </p:nvSpPr>
        <p:spPr>
          <a:xfrm>
            <a:off x="629264" y="1366684"/>
            <a:ext cx="11090785" cy="58477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pt-PT" sz="3200" b="1" dirty="0">
                <a:latin typeface="Times New Roman" panose="02020603050405020304" pitchFamily="18" charset="0"/>
                <a:cs typeface="Times New Roman" panose="02020603050405020304" pitchFamily="18" charset="0"/>
              </a:rPr>
              <a:t>Resultados e Validação dos Modelos</a:t>
            </a:r>
          </a:p>
        </p:txBody>
      </p:sp>
      <p:pic>
        <p:nvPicPr>
          <p:cNvPr id="3" name="Imagem 2" descr="Uma imagem com diagrama, file, captura de ecrã&#10;&#10;Os conteúdos gerados por IA podem estar incorretos.">
            <a:extLst>
              <a:ext uri="{FF2B5EF4-FFF2-40B4-BE49-F238E27FC236}">
                <a16:creationId xmlns:a16="http://schemas.microsoft.com/office/drawing/2014/main" id="{CC70E0BF-1F2C-0C61-25D4-C4A9C1748C43}"/>
              </a:ext>
            </a:extLst>
          </p:cNvPr>
          <p:cNvPicPr>
            <a:picLocks noChangeAspect="1"/>
          </p:cNvPicPr>
          <p:nvPr/>
        </p:nvPicPr>
        <p:blipFill>
          <a:blip r:embed="rId13">
            <a:extLst>
              <a:ext uri="{28A0092B-C50C-407E-A947-70E740481C1C}">
                <a14:useLocalDpi xmlns:a14="http://schemas.microsoft.com/office/drawing/2010/main" val="0"/>
              </a:ext>
            </a:extLst>
          </a:blip>
          <a:srcRect l="1888" t="4282" r="1033" b="25403"/>
          <a:stretch>
            <a:fillRect/>
          </a:stretch>
        </p:blipFill>
        <p:spPr>
          <a:xfrm>
            <a:off x="629264" y="3422650"/>
            <a:ext cx="10660817" cy="3291224"/>
          </a:xfrm>
          <a:prstGeom prst="rect">
            <a:avLst/>
          </a:prstGeom>
        </p:spPr>
      </p:pic>
      <p:sp>
        <p:nvSpPr>
          <p:cNvPr id="6" name="CaixaDeTexto 5">
            <a:extLst>
              <a:ext uri="{FF2B5EF4-FFF2-40B4-BE49-F238E27FC236}">
                <a16:creationId xmlns:a16="http://schemas.microsoft.com/office/drawing/2014/main" id="{DF13CA82-913D-5E63-7DD8-0B2B45925018}"/>
              </a:ext>
            </a:extLst>
          </p:cNvPr>
          <p:cNvSpPr txBox="1"/>
          <p:nvPr/>
        </p:nvSpPr>
        <p:spPr>
          <a:xfrm>
            <a:off x="629264" y="2123768"/>
            <a:ext cx="11208775" cy="1714380"/>
          </a:xfrm>
          <a:prstGeom prst="rect">
            <a:avLst/>
          </a:prstGeom>
          <a:noFill/>
        </p:spPr>
        <p:txBody>
          <a:bodyPr wrap="square" rtlCol="0">
            <a:spAutoFit/>
          </a:bodyPr>
          <a:lstStyle/>
          <a:p>
            <a:pPr algn="just">
              <a:lnSpc>
                <a:spcPct val="150000"/>
              </a:lnSpc>
            </a:pPr>
            <a:r>
              <a:rPr lang="pt-PT" dirty="0"/>
              <a:t>Validação cruzada (cross correlation) e AutoML confirmam padrões determinísticos nos dados. Matriz de confusão mostra separação perfeita das classes por alguns modelos de classificação. Para regressão, resultados elevados indicam previsão precisa dos sinais fisiológicos, mas podem refletir redundância entre variáveis.</a:t>
            </a:r>
          </a:p>
        </p:txBody>
      </p:sp>
    </p:spTree>
    <p:extLst>
      <p:ext uri="{BB962C8B-B14F-4D97-AF65-F5344CB8AC3E}">
        <p14:creationId xmlns:p14="http://schemas.microsoft.com/office/powerpoint/2010/main" val="3368768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43DDE-1011-BF13-740C-FCE086C964A4}"/>
            </a:ext>
          </a:extLst>
        </p:cNvPr>
        <p:cNvGrpSpPr/>
        <p:nvPr/>
      </p:nvGrpSpPr>
      <p:grpSpPr>
        <a:xfrm>
          <a:off x="0" y="0"/>
          <a:ext cx="0" cy="0"/>
          <a:chOff x="0" y="0"/>
          <a:chExt cx="0" cy="0"/>
        </a:xfrm>
      </p:grpSpPr>
      <p:pic>
        <p:nvPicPr>
          <p:cNvPr id="4" name="Image1" descr="Uma imagem com Gráficos, símbolo, design gráfico, logótipo&#10;&#10;Descrição gerada automaticamente">
            <a:extLst>
              <a:ext uri="{FF2B5EF4-FFF2-40B4-BE49-F238E27FC236}">
                <a16:creationId xmlns:a16="http://schemas.microsoft.com/office/drawing/2014/main" id="{91AD72CA-1496-0F34-9004-976484A9DBAD}"/>
              </a:ext>
            </a:extLst>
          </p:cNvPr>
          <p:cNvPicPr/>
          <p:nvPr/>
        </p:nvPicPr>
        <p:blipFill>
          <a:blip r:embed="rId4">
            <a:lum/>
            <a:alphaModFix/>
          </a:blip>
          <a:srcRect/>
          <a:stretch>
            <a:fillRect/>
          </a:stretch>
        </p:blipFill>
        <p:spPr>
          <a:xfrm>
            <a:off x="360948" y="226595"/>
            <a:ext cx="1515979" cy="739940"/>
          </a:xfrm>
          <a:prstGeom prst="rect">
            <a:avLst/>
          </a:prstGeom>
          <a:noFill/>
          <a:ln>
            <a:noFill/>
            <a:prstDash/>
          </a:ln>
        </p:spPr>
      </p:pic>
      <p:cxnSp>
        <p:nvCxnSpPr>
          <p:cNvPr id="5" name="Conexão reta 4">
            <a:extLst>
              <a:ext uri="{FF2B5EF4-FFF2-40B4-BE49-F238E27FC236}">
                <a16:creationId xmlns:a16="http://schemas.microsoft.com/office/drawing/2014/main" id="{28C56545-CD93-ADCB-04DE-56B729590FBA}"/>
              </a:ext>
            </a:extLst>
          </p:cNvPr>
          <p:cNvCxnSpPr/>
          <p:nvPr/>
        </p:nvCxnSpPr>
        <p:spPr>
          <a:xfrm>
            <a:off x="-1" y="1171074"/>
            <a:ext cx="12192000" cy="0"/>
          </a:xfrm>
          <a:prstGeom prst="line">
            <a:avLst/>
          </a:prstGeom>
        </p:spPr>
        <p:style>
          <a:lnRef idx="3">
            <a:schemeClr val="accent2"/>
          </a:lnRef>
          <a:fillRef idx="0">
            <a:schemeClr val="accent2"/>
          </a:fillRef>
          <a:effectRef idx="2">
            <a:schemeClr val="accent2"/>
          </a:effectRef>
          <a:fontRef idx="minor">
            <a:schemeClr val="tx1"/>
          </a:fontRef>
        </p:style>
      </p:cxnSp>
      <p:grpSp>
        <p:nvGrpSpPr>
          <p:cNvPr id="7" name="Agrupar 6">
            <a:extLst>
              <a:ext uri="{FF2B5EF4-FFF2-40B4-BE49-F238E27FC236}">
                <a16:creationId xmlns:a16="http://schemas.microsoft.com/office/drawing/2014/main" id="{08E202C6-E59A-18E1-2DF7-3B7964D03E89}"/>
              </a:ext>
            </a:extLst>
          </p:cNvPr>
          <p:cNvGrpSpPr/>
          <p:nvPr/>
        </p:nvGrpSpPr>
        <p:grpSpPr>
          <a:xfrm>
            <a:off x="10487805" y="8596"/>
            <a:ext cx="936223" cy="1191039"/>
            <a:chOff x="10487805" y="8596"/>
            <a:chExt cx="936223" cy="1191039"/>
          </a:xfrm>
        </p:grpSpPr>
        <p:pic>
          <p:nvPicPr>
            <p:cNvPr id="8" name="Gráfico 7" descr="Feminino médico destaque">
              <a:extLst>
                <a:ext uri="{FF2B5EF4-FFF2-40B4-BE49-F238E27FC236}">
                  <a16:creationId xmlns:a16="http://schemas.microsoft.com/office/drawing/2014/main" id="{A4154AAA-939E-EE47-A670-0901F1AF1C1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0817" y="565455"/>
              <a:ext cx="634180" cy="634180"/>
            </a:xfrm>
            <a:prstGeom prst="rect">
              <a:avLst/>
            </a:prstGeom>
          </p:spPr>
        </p:pic>
        <p:pic>
          <p:nvPicPr>
            <p:cNvPr id="9" name="Gráfico 8" descr="Médico destaque">
              <a:extLst>
                <a:ext uri="{FF2B5EF4-FFF2-40B4-BE49-F238E27FC236}">
                  <a16:creationId xmlns:a16="http://schemas.microsoft.com/office/drawing/2014/main" id="{29BC3CFD-366E-A8D0-9B9A-69B72B69024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87805" y="8596"/>
              <a:ext cx="387429" cy="387429"/>
            </a:xfrm>
            <a:prstGeom prst="rect">
              <a:avLst/>
            </a:prstGeom>
          </p:spPr>
        </p:pic>
        <p:grpSp>
          <p:nvGrpSpPr>
            <p:cNvPr id="10" name="Agrupar 9">
              <a:extLst>
                <a:ext uri="{FF2B5EF4-FFF2-40B4-BE49-F238E27FC236}">
                  <a16:creationId xmlns:a16="http://schemas.microsoft.com/office/drawing/2014/main" id="{3AB8F6FF-A8DF-CFDD-2A3A-47D3F6B51714}"/>
                </a:ext>
              </a:extLst>
            </p:cNvPr>
            <p:cNvGrpSpPr/>
            <p:nvPr/>
          </p:nvGrpSpPr>
          <p:grpSpPr>
            <a:xfrm>
              <a:off x="10746203" y="81221"/>
              <a:ext cx="677825" cy="544988"/>
              <a:chOff x="10746203" y="81221"/>
              <a:chExt cx="677825" cy="544988"/>
            </a:xfrm>
          </p:grpSpPr>
          <p:pic>
            <p:nvPicPr>
              <p:cNvPr id="11" name="Gráfico 10" descr="Coração com batimento destaque">
                <a:extLst>
                  <a:ext uri="{FF2B5EF4-FFF2-40B4-BE49-F238E27FC236}">
                    <a16:creationId xmlns:a16="http://schemas.microsoft.com/office/drawing/2014/main" id="{ED47CD32-8DDE-F843-CEEA-49939D8DC57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036599" y="81221"/>
                <a:ext cx="387429" cy="387429"/>
              </a:xfrm>
              <a:prstGeom prst="rect">
                <a:avLst/>
              </a:prstGeom>
            </p:spPr>
          </p:pic>
          <p:pic>
            <p:nvPicPr>
              <p:cNvPr id="12" name="Gráfico 11" descr="Cérebro na cabeça destaque">
                <a:extLst>
                  <a:ext uri="{FF2B5EF4-FFF2-40B4-BE49-F238E27FC236}">
                    <a16:creationId xmlns:a16="http://schemas.microsoft.com/office/drawing/2014/main" id="{56395FAE-D1EA-1926-988F-6BEFDB4CE06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746203" y="142098"/>
                <a:ext cx="484111" cy="484111"/>
              </a:xfrm>
              <a:prstGeom prst="rect">
                <a:avLst/>
              </a:prstGeom>
            </p:spPr>
          </p:pic>
        </p:grpSp>
      </p:grpSp>
      <p:sp>
        <p:nvSpPr>
          <p:cNvPr id="13" name="CaixaDeTexto 12">
            <a:extLst>
              <a:ext uri="{FF2B5EF4-FFF2-40B4-BE49-F238E27FC236}">
                <a16:creationId xmlns:a16="http://schemas.microsoft.com/office/drawing/2014/main" id="{30E5A6F8-6175-A5DC-B5F5-FCDC9B5BD082}"/>
              </a:ext>
            </a:extLst>
          </p:cNvPr>
          <p:cNvSpPr txBox="1"/>
          <p:nvPr/>
        </p:nvSpPr>
        <p:spPr>
          <a:xfrm>
            <a:off x="629264" y="1366684"/>
            <a:ext cx="11090785" cy="58477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pt-PT" sz="3200" b="1" dirty="0">
                <a:latin typeface="Times New Roman" panose="02020603050405020304" pitchFamily="18" charset="0"/>
                <a:cs typeface="Times New Roman" panose="02020603050405020304" pitchFamily="18" charset="0"/>
              </a:rPr>
              <a:t>Conclusão</a:t>
            </a:r>
          </a:p>
        </p:txBody>
      </p:sp>
      <p:sp>
        <p:nvSpPr>
          <p:cNvPr id="2" name="CaixaDeTexto 1">
            <a:extLst>
              <a:ext uri="{FF2B5EF4-FFF2-40B4-BE49-F238E27FC236}">
                <a16:creationId xmlns:a16="http://schemas.microsoft.com/office/drawing/2014/main" id="{153D1E88-02E7-277A-362C-84D1F9503083}"/>
              </a:ext>
            </a:extLst>
          </p:cNvPr>
          <p:cNvSpPr txBox="1"/>
          <p:nvPr/>
        </p:nvSpPr>
        <p:spPr>
          <a:xfrm>
            <a:off x="360948" y="2208028"/>
            <a:ext cx="11641999" cy="1714380"/>
          </a:xfrm>
          <a:prstGeom prst="rect">
            <a:avLst/>
          </a:prstGeom>
          <a:noFill/>
        </p:spPr>
        <p:txBody>
          <a:bodyPr wrap="square" rtlCol="0">
            <a:spAutoFit/>
          </a:bodyPr>
          <a:lstStyle/>
          <a:p>
            <a:pPr algn="just">
              <a:lnSpc>
                <a:spcPct val="150000"/>
              </a:lnSpc>
            </a:pPr>
            <a:r>
              <a:rPr lang="pt-PT" dirty="0"/>
              <a:t>Neste projeto, foi possível provar que a monitorização do stress de profissionais de saúde, com recurso a dispositivos vestíveis e inteligência artificial, oferece resultados altamente precisos e detalhados. Modelos supervisionados apresentam excelente performance na classificação e na previsão de sinais fisiológicos, enquanto métodos não-supervisionados revelam os desafios na separação natural dos estados de stress. </a:t>
            </a:r>
          </a:p>
        </p:txBody>
      </p:sp>
      <p:pic>
        <p:nvPicPr>
          <p:cNvPr id="14" name="Imagem 13" descr="Uma imagem com texto, vestuário, pessoa, desenho&#10;&#10;Os conteúdos gerados por IA podem estar incorretos.">
            <a:extLst>
              <a:ext uri="{FF2B5EF4-FFF2-40B4-BE49-F238E27FC236}">
                <a16:creationId xmlns:a16="http://schemas.microsoft.com/office/drawing/2014/main" id="{89C96AB1-B538-F34A-F116-05F4CC70C0F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972810" y="3922206"/>
            <a:ext cx="4403692" cy="2935794"/>
          </a:xfrm>
          <a:prstGeom prst="rect">
            <a:avLst/>
          </a:prstGeom>
        </p:spPr>
      </p:pic>
    </p:spTree>
    <p:extLst>
      <p:ext uri="{BB962C8B-B14F-4D97-AF65-F5344CB8AC3E}">
        <p14:creationId xmlns:p14="http://schemas.microsoft.com/office/powerpoint/2010/main" val="34981780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6950BFC3-D8DA-4A85-94F7-54DA5524770B}">
      <p188:commentRel xmlns:p188="http://schemas.microsoft.com/office/powerpoint/2018/8/main" r:id="rId3"/>
    </p:ext>
  </p:extLst>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TotalTime>
  <Words>1286</Words>
  <Application>Microsoft Office PowerPoint</Application>
  <PresentationFormat>Ecrã Panorâmico</PresentationFormat>
  <Paragraphs>44</Paragraphs>
  <Slides>10</Slides>
  <Notes>10</Notes>
  <HiddenSlides>0</HiddenSlides>
  <MMClips>0</MMClips>
  <ScaleCrop>false</ScaleCrop>
  <HeadingPairs>
    <vt:vector size="6" baseType="variant">
      <vt:variant>
        <vt:lpstr>Tipos de letra usados</vt:lpstr>
      </vt:variant>
      <vt:variant>
        <vt:i4>5</vt:i4>
      </vt:variant>
      <vt:variant>
        <vt:lpstr>Tema</vt:lpstr>
      </vt:variant>
      <vt:variant>
        <vt:i4>1</vt:i4>
      </vt:variant>
      <vt:variant>
        <vt:lpstr>Títulos dos diapositivos</vt:lpstr>
      </vt:variant>
      <vt:variant>
        <vt:i4>10</vt:i4>
      </vt:variant>
    </vt:vector>
  </HeadingPairs>
  <TitlesOfParts>
    <vt:vector size="16" baseType="lpstr">
      <vt:lpstr>Aptos</vt:lpstr>
      <vt:lpstr>Aptos Display</vt:lpstr>
      <vt:lpstr>Arial</vt:lpstr>
      <vt:lpstr>Cambria Math</vt:lpstr>
      <vt:lpstr>Times New Roman</vt:lpstr>
      <vt:lpstr>Tema do Office</vt:lpstr>
      <vt:lpstr>Nurse Stress Prediction Wearables Sensors: Monitorização contínua de stress em ambiente hospitalar</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Luís Baptista</dc:creator>
  <cp:lastModifiedBy>Luís Baptista</cp:lastModifiedBy>
  <cp:revision>34</cp:revision>
  <dcterms:created xsi:type="dcterms:W3CDTF">2025-11-08T19:02:28Z</dcterms:created>
  <dcterms:modified xsi:type="dcterms:W3CDTF">2025-11-11T23:51:52Z</dcterms:modified>
</cp:coreProperties>
</file>