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notesSlides/notesSlide3.xml" ContentType="application/vnd.openxmlformats-officedocument.presentationml.notesSlide+xml"/>
  <Override PartName="/ppt/comments/modernComment_10B_DC6FD6DC.xml" ContentType="application/vnd.ms-powerpoint.comments+xml"/>
  <Override PartName="/ppt/notesSlides/notesSlide4.xml" ContentType="application/vnd.openxmlformats-officedocument.presentationml.notesSlide+xml"/>
  <Override PartName="/ppt/comments/modernComment_109_8B8E44E2.xml" ContentType="application/vnd.ms-powerpoint.comments+xml"/>
  <Override PartName="/ppt/notesSlides/notesSlide5.xml" ContentType="application/vnd.openxmlformats-officedocument.presentationml.notesSlide+xml"/>
  <Override PartName="/ppt/comments/modernComment_112_BF466D43.xml" ContentType="application/vnd.ms-powerpoint.comments+xml"/>
  <Override PartName="/ppt/notesSlides/notesSlide6.xml" ContentType="application/vnd.openxmlformats-officedocument.presentationml.notesSlide+xml"/>
  <Override PartName="/ppt/comments/modernComment_113_9FB86976.xml" ContentType="application/vnd.ms-powerpoint.comments+xml"/>
  <Override PartName="/ppt/notesSlides/notesSlide7.xml" ContentType="application/vnd.openxmlformats-officedocument.presentationml.notesSlide+xml"/>
  <Override PartName="/ppt/comments/modernComment_116_E33278B.xml" ContentType="application/vnd.ms-powerpoint.comments+xml"/>
  <Override PartName="/ppt/notesSlides/notesSlide8.xml" ContentType="application/vnd.openxmlformats-officedocument.presentationml.notesSlide+xml"/>
  <Override PartName="/ppt/comments/modernComment_115_F9DC792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65" r:id="rId5"/>
    <p:sldId id="274" r:id="rId6"/>
    <p:sldId id="275" r:id="rId7"/>
    <p:sldId id="278" r:id="rId8"/>
    <p:sldId id="277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  <p188:author id="{A2521C6F-54BE-47E6-2B8E-A222077DBD3E}" name="Helder Freitas" initials="HF" userId="S::helder.freitas@hitachivantara.com::2f4818bc-d5a8-46d2-86b8-3f77798670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E74C3C"/>
    <a:srgbClr val="4F1A14"/>
    <a:srgbClr val="9B59B6"/>
    <a:srgbClr val="F1C40F"/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777" autoAdjust="0"/>
  </p:normalViewPr>
  <p:slideViewPr>
    <p:cSldViewPr snapToGrid="0">
      <p:cViewPr>
        <p:scale>
          <a:sx n="50" d="100"/>
          <a:sy n="50" d="100"/>
        </p:scale>
        <p:origin x="-9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B_DC6FD6D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6CEB43-FA43-4E6D-A1C8-E40FA9FC4B55}" authorId="{13293C52-8BEA-1726-83E1-49AF8286974A}" created="2025-11-08T22:31:24.438">
    <pc:sldMkLst xmlns:pc="http://schemas.microsoft.com/office/powerpoint/2013/main/command">
      <pc:docMk/>
      <pc:sldMk cId="3698317020" sldId="267"/>
    </pc:sldMkLst>
    <p188:txBody>
      <a:bodyPr/>
      <a:lstStyle/>
      <a:p>
        <a:r>
          <a:rPr lang="pt-PT"/>
          <a:t>Validamos a implementação dos algoritmos num grafo simples onde A* e Dijkstra encontraram o caminho ótimo (13), Greedy e BFS ficaram-se por caminhos sub-ótimos (15) e o DFS encontrou um caminho mas claramente menos eficiente (18). </a:t>
        </a:r>
      </a:p>
    </p188:txBody>
  </p188:cm>
</p188:cmLst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r>
          <a:rPr lang="pt-PT"/>
          <a:t>Bom tarde professoras. O nosso grupo, constituído por mim, [Teu Nome], pelo [Nome Colega 2] e pelo [Nome Colega 3], apresenta hoje o projeto desenvolvido no âmbito da unidade curricular de Inteligência Artificial para as Telecomunicações. O nosso trabalho foca-se na Otimização de Gestão de Veículos Autónomos, aplicado ao cenário da LogiBot. O objetivo principal foi desenvolver e testar algoritmos de procura capazes de navegar num ambiente dinâmico, minimizando custos operacionais e garantindo a entrega de encomendas dentro dos prazos."</a:t>
        </a:r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r>
          <a:rPr lang="pt-PT"/>
          <a:t>Analisamos o impacto das decisões de 6 algoritmos (informados e não-informados) antes de escalarmos para um problema multi-veiculo de forma a evitarmos o "ruído" da negociação multiagente (interação de vários Vas – colisões, etc) e assim isolar o efeito dos algoritmos de procura.
Processamento das encomendas: Filtrar por cliente -&gt; prioridade e depois por hora de chegada -&gt; iteração pela lista ordenada verificando a capacidade do VA contra o cumulativo do peso das encomendas</a:t>
        </a:r>
      </a:p>
    </p188:txBody>
  </p188:cm>
</p188:cmLst>
</file>

<file path=ppt/comments/modernComment_109_8B8E44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B19A52-8988-4B6C-B6BE-0C897F82C9FC}" authorId="{13293C52-8BEA-1726-83E1-49AF8286974A}" created="2025-11-08T22:50:06.512">
    <pc:sldMkLst xmlns:pc="http://schemas.microsoft.com/office/powerpoint/2013/main/command">
      <pc:docMk/>
      <pc:sldMk cId="2341356770" sldId="265"/>
    </pc:sldMkLst>
    <p188:replyLst>
      <p188:reply id="{CC13A9B3-4FB8-4245-9A98-417100CC4460}" authorId="{13293C52-8BEA-1726-83E1-49AF8286974A}" created="2026-01-14T00:54:07.372">
        <p188:txBody>
          <a:bodyPr/>
          <a:lstStyle/>
          <a:p>
            <a:r>
              <a:rPr lang="pt-PT"/>
              <a:t>O armazem surge depois dos clientes porque representa um destino logístico interno e não um cliente!</a:t>
            </a:r>
          </a:p>
        </p188:txBody>
      </p188:reply>
    </p188:replyLst>
    <p188:txBody>
      <a:bodyPr/>
      <a:lstStyle/>
      <a:p>
        <a:r>
          <a:rPr lang="pt-PT"/>
          <a:t>Falar tambem dos Tuplos</a:t>
        </a:r>
      </a:p>
    </p188:txBody>
  </p188:cm>
</p188:cmLst>
</file>

<file path=ppt/comments/modernComment_112_BF466D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0DB48D-60DD-407B-9045-EEA44B10C612}" authorId="{13293C52-8BEA-1726-83E1-49AF8286974A}" created="2026-01-14T00:54:26.510">
    <pc:sldMkLst xmlns:pc="http://schemas.microsoft.com/office/powerpoint/2013/main/command">
      <pc:docMk/>
      <pc:sldMk cId="3209063747" sldId="274"/>
    </pc:sldMkLst>
    <p188:txBody>
      <a:bodyPr/>
      <a:lstStyle/>
      <a:p>
        <a:r>
          <a:rPr lang="pt-PT"/>
          <a:t>Comparação mesmo custo e então ir pelo tempo do A* vs DIJSTKTRA
Mencionar a Heuristica das zonas A e B devido a “enganar” o GREEDY e assim se ver aqui que este realmente pode falhar.</a:t>
        </a:r>
      </a:p>
    </p188:txBody>
  </p188:cm>
</p188:cmLst>
</file>

<file path=ppt/comments/modernComment_113_9FB869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7FCCA-92C8-414C-BCCE-9A404F29434E}" authorId="{13293C52-8BEA-1726-83E1-49AF8286974A}" created="2026-01-14T00:54:39.731">
    <pc:sldMkLst xmlns:pc="http://schemas.microsoft.com/office/powerpoint/2013/main/command">
      <pc:docMk/>
      <pc:sldMk cId="2679662966" sldId="275"/>
    </pc:sldMkLst>
    <p188:txBody>
      <a:bodyPr/>
      <a:lstStyle/>
      <a:p>
        <a:r>
          <a:rPr lang="pt-PT"/>
          <a:t>O sistema suporta bloqueios temporários de rotas e manutenção de nós e, quando uma rota é bloqueada:
	o grafo é alterado em tempo real;
	o algoritmo recalcula o caminho;
	e o custo reflete o impacto operacional.</a:t>
        </a:r>
      </a:p>
    </p188:txBody>
  </p188:cm>
</p188:cmLst>
</file>

<file path=ppt/comments/modernComment_115_F9DC79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C24A0E-8EA1-4D38-9333-FE18AB484B81}" authorId="{13293C52-8BEA-1726-83E1-49AF8286974A}" created="2026-01-14T00:54:58.748">
    <pc:sldMkLst xmlns:pc="http://schemas.microsoft.com/office/powerpoint/2013/main/command">
      <pc:docMk/>
      <pc:sldMk cId="4191975721" sldId="277"/>
    </pc:sldMkLst>
    <p188:txBody>
      <a:bodyPr/>
      <a:lstStyle/>
      <a:p>
        <a:r>
          <a:rPr lang="pt-PT"/>
          <a:t>Conclusao: A escolha do algoritmo tem impacto direto no custo operacional.
Trabalho Futuro: O que falta para um sistema real é multi-agente, bateria e atribuição de tarefas — mas o núcleo de decisão já está implementado.</a:t>
        </a:r>
      </a:p>
    </p188:txBody>
  </p188:cm>
</p188:cmLst>
</file>

<file path=ppt/comments/modernComment_116_E3327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093AA9-8594-4B2E-8D5C-0BCEA396CAC0}" authorId="{13293C52-8BEA-1726-83E1-49AF8286974A}" created="2026-01-14T00:54:49.054">
    <pc:sldMkLst xmlns:pc="http://schemas.microsoft.com/office/powerpoint/2013/main/command">
      <pc:docMk/>
      <pc:sldMk cId="238233483" sldId="278"/>
    </pc:sldMkLst>
    <p188:txBody>
      <a:bodyPr/>
      <a:lstStyle/>
      <a:p>
        <a:r>
          <a:rPr lang="pt-PT"/>
          <a:t>Quando o Bloqueio acontece, o DFS encontra caminho mas completamente irreal e o A* tem um aumento no custo de ~40%.
Utilizamos principalmente o A* porque é um algoritmo ótimo e pretendemos medir o impacto do bloqueio no custo.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Analisamos o impacto das decisões de 6 algoritmos (informados e não-informados) antes de escalarmos para um problema multi-veiculo de forma a evitarmos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"ruído" da negociação multiagente (interação de vários Vas – colisões, etc) e assim isolar o efeito dos algoritmos de procura.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Processamento das encomendas: Filtrar por cliente -&gt; prioridade e depois por hora de chegada -&gt; iteração pela lista ordenada verificando a capacidade do VA contra o cumulativo do peso das encomendas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pt-PT" dirty="0"/>
              <a:t>Validamos a implementação dos algoritmos num grafo simples onde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A* e Dijkstra encontraram o caminho ótimo (13), Greedy e BFS ficaram-se por caminhos sub-ótimos (15) e o DFS encontrou um caminho mas claramente menos eficiente (18). 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791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O </a:t>
            </a:r>
            <a:r>
              <a:rPr lang="pt-PT" dirty="0" err="1"/>
              <a:t>armazem</a:t>
            </a:r>
            <a:r>
              <a:rPr lang="pt-PT" dirty="0"/>
              <a:t> surge depois dos clientes porque representa um destino logístico interno e não um cliente!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68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70BE-2738-9AD4-7942-9F0377F1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E4CA32F-C375-74FD-9A2E-DB7E6DFA1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75DB684-0F1B-F723-09F1-71CD046C3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Comparação mesmo custo e então ir pelo tempo do A* vs DIJSTKTRA</a:t>
            </a:r>
            <a:b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Mencionar a Heuristica das zonas A e B devido a “enganar” o GREEDY e assim se ver aqui que este realmente pode falhar.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962E890-7142-C57E-645B-25971AE69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9815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F363-EE65-3E48-F45C-7BAC66EC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E7970C1-1362-0AE6-333C-283CCEB78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E4369FC-971B-48CA-7F02-E13031348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sistema suporta bloqueios temporários de rotas e manutenção de nós e, quando uma rota é bloqueada:</a:t>
            </a:r>
            <a:br>
              <a:rPr lang="pt-BR" dirty="0"/>
            </a:br>
            <a:r>
              <a:rPr lang="pt-BR" dirty="0"/>
              <a:t>	o grafo é alterado em tempo real;</a:t>
            </a:r>
            <a:br>
              <a:rPr lang="pt-BR" dirty="0"/>
            </a:br>
            <a:r>
              <a:rPr lang="pt-BR" dirty="0"/>
              <a:t>	o algoritmo recalcula o caminho;</a:t>
            </a:r>
          </a:p>
          <a:p>
            <a:r>
              <a:rPr lang="pt-BR" dirty="0"/>
              <a:t>	e o custo reflete o impacto operacional.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7B68228-863F-D4D4-1EB4-6AC9EF967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3162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D311D-8575-3E1F-77F9-D8E336E7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6EE3622-EE6D-8C37-5E05-5B8E060EB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15FFD35-FE07-4A21-400E-48C8BDAB0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Quando o Bloqueio acontece, o DFS encontra caminho mas completamente irreal e o A* tem um aumento no custo de ~40%.</a:t>
            </a:r>
            <a:br>
              <a:rPr lang="pt-PT" dirty="0"/>
            </a:br>
            <a:r>
              <a:rPr lang="pt-PT" dirty="0"/>
              <a:t>Utilizamos principalmente o A* porque é um algoritmo ótimo e pretendemos medir o impacto do bloqueio no custo. 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B50DB70-87F3-C5D5-D998-7574A3510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346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F4E0-21FA-9E29-CB38-2FC0C0D0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832398F-BB38-3E2E-BAF3-6C6DA057D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44FE965-A2DA-0752-8727-CB08A8BCE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Conclusao: A escolha do algoritmo tem impacto direto no custo operacional.</a:t>
            </a:r>
          </a:p>
          <a:p>
            <a:r>
              <a:rPr lang="pt-PT" dirty="0"/>
              <a:t>Trabalho Futuro: </a:t>
            </a:r>
            <a:r>
              <a:rPr lang="pt-BR" dirty="0"/>
              <a:t>O que falta para um sistema real é multi-agente, bateria e atribuição de tarefas — mas o núcleo de decisão já está implementado.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C80FD2-9824-7E3E-A8A3-95D53CED8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000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5723F-1371-495A-8067-455C650E7737}" type="datetimeFigureOut">
              <a:rPr lang="pt-PT" smtClean="0"/>
              <a:t>14/01/2026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microsoft.com/office/2018/10/relationships/comments" Target="../comments/modernComment_100_8F875A74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microsoft.com/office/2018/10/relationships/comments" Target="../comments/modernComment_101_1377AD75.xml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2.jpeg"/><Relationship Id="rId3" Type="http://schemas.microsoft.com/office/2018/10/relationships/comments" Target="../comments/modernComment_10B_DC6FD6DC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3.png"/><Relationship Id="rId3" Type="http://schemas.microsoft.com/office/2018/10/relationships/comments" Target="../comments/modernComment_109_8B8E44E2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18/10/relationships/comments" Target="../comments/modernComment_112_BF466D43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3.png"/><Relationship Id="rId3" Type="http://schemas.microsoft.com/office/2018/10/relationships/comments" Target="../comments/modernComment_113_9FB86976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18/10/relationships/comments" Target="../comments/modernComment_116_E33278B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microsoft.com/office/2018/10/relationships/comments" Target="../comments/modernComment_115_F9DC7929.xml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jpeg"/><Relationship Id="rId15" Type="http://schemas.openxmlformats.org/officeDocument/2006/relationships/image" Target="../media/image15.sv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5.sv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430" y="226595"/>
            <a:ext cx="9577137" cy="1612035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Otimização de Gestão de Veículos Autónomos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830" y="2893754"/>
            <a:ext cx="9124335" cy="376575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pPr>
              <a:lnSpc>
                <a:spcPct val="10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Para As Telecomunicações</a:t>
            </a:r>
          </a:p>
          <a:p>
            <a:pPr>
              <a:lnSpc>
                <a:spcPct val="150000"/>
              </a:lnSpc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Trabalho realizado pelo 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       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Hélder Freitas        PG58106 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05C88FF9-2774-A37C-A57C-7E897D7CD49C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>
            <a:off x="-1" y="1936630"/>
            <a:ext cx="1227065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CD9F3201-5886-43C5-4AF2-2DED1A17409A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8" name="Gráfico 7" descr="Camião com preenchimento sólido">
              <a:extLst>
                <a:ext uri="{FF2B5EF4-FFF2-40B4-BE49-F238E27FC236}">
                  <a16:creationId xmlns:a16="http://schemas.microsoft.com/office/drawing/2014/main" id="{946ADFB6-A5B8-101B-BE25-2526637DD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10" name="Gráfico 9" descr="Trólei com preenchimento sólido">
              <a:extLst>
                <a:ext uri="{FF2B5EF4-FFF2-40B4-BE49-F238E27FC236}">
                  <a16:creationId xmlns:a16="http://schemas.microsoft.com/office/drawing/2014/main" id="{BD22A731-7A35-B788-E432-C26F3DC80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4" name="Gráfico 13" descr="Rota (dois pinos com um caminho) com preenchimento sólido">
              <a:extLst>
                <a:ext uri="{FF2B5EF4-FFF2-40B4-BE49-F238E27FC236}">
                  <a16:creationId xmlns:a16="http://schemas.microsoft.com/office/drawing/2014/main" id="{D145AE55-8ED0-CE48-155A-18FE9864F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20" name="Gráfico 19" descr="Caixa com preenchimento sólido">
              <a:extLst>
                <a:ext uri="{FF2B5EF4-FFF2-40B4-BE49-F238E27FC236}">
                  <a16:creationId xmlns:a16="http://schemas.microsoft.com/office/drawing/2014/main" id="{10BB680A-64BD-5A8E-B059-A6750D0AE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1720645" y="2163097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LogiBot - Algoritmos de Procura em Ambientes Dinâmicos</a:t>
            </a:r>
          </a:p>
        </p:txBody>
      </p:sp>
      <p:pic>
        <p:nvPicPr>
          <p:cNvPr id="25" name="Imagem 24">
            <a:hlinkClick r:id="" action="ppaction://noaction"/>
            <a:extLst>
              <a:ext uri="{FF2B5EF4-FFF2-40B4-BE49-F238E27FC236}">
                <a16:creationId xmlns:a16="http://schemas.microsoft.com/office/drawing/2014/main" id="{6C7DA6BD-81E6-CF84-D6E0-9399E02EA6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387" y="3954300"/>
            <a:ext cx="4925960" cy="25841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599770" y="1366684"/>
            <a:ext cx="10962966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Projeto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F77160-4A56-33A7-2ADB-791841605D5F}"/>
              </a:ext>
            </a:extLst>
          </p:cNvPr>
          <p:cNvSpPr txBox="1"/>
          <p:nvPr/>
        </p:nvSpPr>
        <p:spPr>
          <a:xfrm>
            <a:off x="599770" y="1951459"/>
            <a:ext cx="11090786" cy="390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Centros de distribuição modernos operam em ambientes: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Congestionados;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custos (energia, tempo, distância);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Sujeitos a bloqueios e eventos dinâmicos.</a:t>
            </a:r>
          </a:p>
          <a:p>
            <a:pPr lvl="1" algn="just">
              <a:lnSpc>
                <a:spcPct val="150000"/>
              </a:lnSpc>
            </a:pPr>
            <a:endParaRPr lang="pt-PT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7D47750-C026-25FC-E3E7-DE0BABAA42FC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B5726276-A886-84EE-5B89-D88D853F5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E6460D56-76C2-10F1-8ADD-23FB7B801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5" name="Gráfico 14" descr="Rota (dois pinos com um caminho) com preenchimento sólido">
              <a:extLst>
                <a:ext uri="{FF2B5EF4-FFF2-40B4-BE49-F238E27FC236}">
                  <a16:creationId xmlns:a16="http://schemas.microsoft.com/office/drawing/2014/main" id="{27AE84A5-1C13-64DA-A93C-E68B4FE1D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6" name="Gráfico 15" descr="Caixa com preenchimento sólido">
              <a:extLst>
                <a:ext uri="{FF2B5EF4-FFF2-40B4-BE49-F238E27FC236}">
                  <a16:creationId xmlns:a16="http://schemas.microsoft.com/office/drawing/2014/main" id="{BA928DE9-E7A2-8F85-0D8E-68408BFA3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678E7B82-940F-8BA3-D9BA-A7C9BC95AA88}"/>
              </a:ext>
            </a:extLst>
          </p:cNvPr>
          <p:cNvSpPr/>
          <p:nvPr/>
        </p:nvSpPr>
        <p:spPr>
          <a:xfrm>
            <a:off x="0" y="3676291"/>
            <a:ext cx="1550020" cy="3357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E9DE19E-DCB5-C5DF-6B04-32C1CD969D16}"/>
              </a:ext>
            </a:extLst>
          </p:cNvPr>
          <p:cNvSpPr/>
          <p:nvPr/>
        </p:nvSpPr>
        <p:spPr>
          <a:xfrm>
            <a:off x="1550018" y="3501684"/>
            <a:ext cx="10641979" cy="68497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Construção de um ambiente de testes para algoritmos de procura aplicados à logística.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6EE07E-A136-00EF-B847-F0BC562B0CAC}"/>
              </a:ext>
            </a:extLst>
          </p:cNvPr>
          <p:cNvSpPr txBox="1"/>
          <p:nvPr/>
        </p:nvSpPr>
        <p:spPr>
          <a:xfrm>
            <a:off x="3614852" y="4282068"/>
            <a:ext cx="6512312" cy="25759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permite: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Representar o centro logístico como grafo ponderado;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Executar múltiplos algoritmos de procura em cenários comparáveis;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Comparar custo, tempo e números de nós visitados;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Otimização da capacidade dos VAs;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Testar eventos dinâmicos e heurísticas.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chemeClr val="accent6">
                <a:lumMod val="20000"/>
                <a:lumOff val="80000"/>
              </a:schemeClr>
            </a:gs>
            <a:gs pos="25000">
              <a:schemeClr val="accent1">
                <a:lumMod val="5000"/>
                <a:lumOff val="95000"/>
              </a:schemeClr>
            </a:gs>
            <a:gs pos="100000">
              <a:schemeClr val="accent6">
                <a:lumMod val="75000"/>
              </a:schemeClr>
            </a:gs>
            <a:gs pos="88000">
              <a:schemeClr val="accent6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D474E-B03B-3015-4687-A1C56170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99FCF3C-C386-32C0-428C-244B2314988E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A4FE39D-F760-5E71-10FA-A64BC2F57673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7B59CC-6946-EEFB-7900-D7BD7F3C1DC2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Cenários de Teste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446461F-BC84-3505-8109-26E009F58BEE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25DC7F01-16E8-EEAC-47DF-73BEA2DC4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4C873421-25FE-17B8-BF76-9B1A592F5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4" name="Gráfico 13" descr="Rota (dois pinos com um caminho) com preenchimento sólido">
              <a:extLst>
                <a:ext uri="{FF2B5EF4-FFF2-40B4-BE49-F238E27FC236}">
                  <a16:creationId xmlns:a16="http://schemas.microsoft.com/office/drawing/2014/main" id="{06245A0D-0485-C2AC-89E1-5978A2F1D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7" name="Gráfico 16" descr="Caixa com preenchimento sólido">
              <a:extLst>
                <a:ext uri="{FF2B5EF4-FFF2-40B4-BE49-F238E27FC236}">
                  <a16:creationId xmlns:a16="http://schemas.microsoft.com/office/drawing/2014/main" id="{0A97EEFE-4F14-BAF3-4CE3-2EA42BCC5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AA49CC-A4B2-9C93-9E44-62968B727958}"/>
              </a:ext>
            </a:extLst>
          </p:cNvPr>
          <p:cNvSpPr txBox="1"/>
          <p:nvPr/>
        </p:nvSpPr>
        <p:spPr>
          <a:xfrm>
            <a:off x="823648" y="2147068"/>
            <a:ext cx="10896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Opção 11. Grafo pequeno e controlado. 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Permite validar os algoritmos visto existir solução ótima conhecida.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C247014-940E-7446-3C41-D6F220D3D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415715"/>
              </p:ext>
            </p:extLst>
          </p:nvPr>
        </p:nvGraphicFramePr>
        <p:xfrm>
          <a:off x="823648" y="3070398"/>
          <a:ext cx="6479456" cy="3224203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1486781">
                  <a:extLst>
                    <a:ext uri="{9D8B030D-6E8A-4147-A177-3AD203B41FA5}">
                      <a16:colId xmlns:a16="http://schemas.microsoft.com/office/drawing/2014/main" val="3720266492"/>
                    </a:ext>
                  </a:extLst>
                </a:gridCol>
                <a:gridCol w="3172148">
                  <a:extLst>
                    <a:ext uri="{9D8B030D-6E8A-4147-A177-3AD203B41FA5}">
                      <a16:colId xmlns:a16="http://schemas.microsoft.com/office/drawing/2014/main" val="1338999858"/>
                    </a:ext>
                  </a:extLst>
                </a:gridCol>
                <a:gridCol w="849440">
                  <a:extLst>
                    <a:ext uri="{9D8B030D-6E8A-4147-A177-3AD203B41FA5}">
                      <a16:colId xmlns:a16="http://schemas.microsoft.com/office/drawing/2014/main" val="730384506"/>
                    </a:ext>
                  </a:extLst>
                </a:gridCol>
                <a:gridCol w="971087">
                  <a:extLst>
                    <a:ext uri="{9D8B030D-6E8A-4147-A177-3AD203B41FA5}">
                      <a16:colId xmlns:a16="http://schemas.microsoft.com/office/drawing/2014/main" val="3968117768"/>
                    </a:ext>
                  </a:extLst>
                </a:gridCol>
              </a:tblGrid>
              <a:tr h="6276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Algoritmo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Caminho Encontrado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Custo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Ótimo?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736182"/>
                  </a:ext>
                </a:extLst>
              </a:tr>
              <a:tr h="2979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DFS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A → B → C → D → E → F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18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Não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6497018"/>
                  </a:ext>
                </a:extLst>
              </a:tr>
              <a:tr h="3388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BFS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A → B → D → F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15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Não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435865"/>
                  </a:ext>
                </a:extLst>
              </a:tr>
              <a:tr h="3774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GREEDY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A → C → E → F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15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Não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6718519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A*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A → C → B → D → E → F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13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Sim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924615"/>
                  </a:ext>
                </a:extLst>
              </a:tr>
              <a:tr h="5319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DIJKSTRA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A → C → B → D → E → F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13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Sim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224978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DFS_LIM</a:t>
                      </a:r>
                      <a:endParaRPr lang="pt-PT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A → B → C → D → E → F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18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Não</a:t>
                      </a:r>
                      <a:endParaRPr lang="pt-PT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8559189"/>
                  </a:ext>
                </a:extLst>
              </a:tr>
            </a:tbl>
          </a:graphicData>
        </a:graphic>
      </p:graphicFrame>
      <p:pic>
        <p:nvPicPr>
          <p:cNvPr id="10" name="Imagem 9" descr="Uma imagem com círculo, file, diagrama&#10;&#10;Os conteúdos gerados por IA podem estar incorretos.">
            <a:extLst>
              <a:ext uri="{FF2B5EF4-FFF2-40B4-BE49-F238E27FC236}">
                <a16:creationId xmlns:a16="http://schemas.microsoft.com/office/drawing/2014/main" id="{C3DC3074-8BD5-5E3A-E278-84A7DD1A12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784" y="3070398"/>
            <a:ext cx="3829608" cy="29781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8317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D4D8-82CA-BACF-ECB7-6CF4BE25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E95ED8E-BCA8-008C-8DEF-05C7A2AC216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9297DAD-453F-29D1-71D4-2C7C2F94F85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A112D6-A38E-EB8B-1128-BAB225AA5A7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do Centro Logístico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FBCB015-0BA6-1817-360C-2AFA74624DA3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10CF8E57-AC3A-6559-E3B6-5A7B8DF4D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164BAC64-36FF-B169-77AA-84C879E1C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5" name="Gráfico 14" descr="Rota (dois pinos com um caminho) com preenchimento sólido">
              <a:extLst>
                <a:ext uri="{FF2B5EF4-FFF2-40B4-BE49-F238E27FC236}">
                  <a16:creationId xmlns:a16="http://schemas.microsoft.com/office/drawing/2014/main" id="{2A0CA45A-B331-8D2A-6FD5-F08A10907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6" name="Gráfico 15" descr="Caixa com preenchimento sólido">
              <a:extLst>
                <a:ext uri="{FF2B5EF4-FFF2-40B4-BE49-F238E27FC236}">
                  <a16:creationId xmlns:a16="http://schemas.microsoft.com/office/drawing/2014/main" id="{7DEFFF89-E14F-8569-77B7-66F6D1A11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948A177-A449-1F7E-F7F9-06D6DB13D52A}"/>
              </a:ext>
            </a:extLst>
          </p:cNvPr>
          <p:cNvGrpSpPr/>
          <p:nvPr/>
        </p:nvGrpSpPr>
        <p:grpSpPr>
          <a:xfrm>
            <a:off x="3071399" y="2810107"/>
            <a:ext cx="7053908" cy="4047893"/>
            <a:chOff x="6095999" y="2451803"/>
            <a:chExt cx="6202082" cy="361770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820F07C-8FB9-E20E-5BC0-72B52413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0" r="6649" b="3480"/>
            <a:stretch>
              <a:fillRect/>
            </a:stretch>
          </p:blipFill>
          <p:spPr>
            <a:xfrm>
              <a:off x="6096000" y="2451803"/>
              <a:ext cx="5982620" cy="3401627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FAFE488-A51F-534B-F532-3C9474EAD457}"/>
                </a:ext>
              </a:extLst>
            </p:cNvPr>
            <p:cNvSpPr txBox="1"/>
            <p:nvPr/>
          </p:nvSpPr>
          <p:spPr>
            <a:xfrm>
              <a:off x="9206561" y="2779766"/>
              <a:ext cx="1876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H=30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B5E3B95-8CBC-8709-1669-6EA865178DFB}"/>
                </a:ext>
              </a:extLst>
            </p:cNvPr>
            <p:cNvSpPr txBox="1"/>
            <p:nvPr/>
          </p:nvSpPr>
          <p:spPr>
            <a:xfrm>
              <a:off x="11037771" y="3704373"/>
              <a:ext cx="824415" cy="24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H=10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814936F-B6CD-D6C2-2046-9356F7F30D40}"/>
                </a:ext>
              </a:extLst>
            </p:cNvPr>
            <p:cNvSpPr txBox="1"/>
            <p:nvPr/>
          </p:nvSpPr>
          <p:spPr>
            <a:xfrm>
              <a:off x="7406432" y="3704373"/>
              <a:ext cx="1876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H=15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7A1A2F4-5EFB-ACF9-BB45-8CB09AF70A30}"/>
                </a:ext>
              </a:extLst>
            </p:cNvPr>
            <p:cNvSpPr txBox="1"/>
            <p:nvPr/>
          </p:nvSpPr>
          <p:spPr>
            <a:xfrm>
              <a:off x="11643455" y="4327827"/>
              <a:ext cx="654626" cy="24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H=18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05230B4-FDBC-FEAE-545F-BACC549E3BD7}"/>
                </a:ext>
              </a:extLst>
            </p:cNvPr>
            <p:cNvSpPr txBox="1"/>
            <p:nvPr/>
          </p:nvSpPr>
          <p:spPr>
            <a:xfrm>
              <a:off x="8829252" y="4327826"/>
              <a:ext cx="1876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H=10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5C5DD96-441E-F55E-1451-CEE6F389786D}"/>
                </a:ext>
              </a:extLst>
            </p:cNvPr>
            <p:cNvSpPr txBox="1"/>
            <p:nvPr/>
          </p:nvSpPr>
          <p:spPr>
            <a:xfrm>
              <a:off x="6095999" y="4327826"/>
              <a:ext cx="1876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H=5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7D42367-FF9C-7133-5367-EE637A58B4F9}"/>
                </a:ext>
              </a:extLst>
            </p:cNvPr>
            <p:cNvSpPr txBox="1"/>
            <p:nvPr/>
          </p:nvSpPr>
          <p:spPr>
            <a:xfrm>
              <a:off x="8878107" y="5823291"/>
              <a:ext cx="1876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H=0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92913B-D6B3-1DD3-08A0-9512E4905C16}"/>
              </a:ext>
            </a:extLst>
          </p:cNvPr>
          <p:cNvSpPr txBox="1"/>
          <p:nvPr/>
        </p:nvSpPr>
        <p:spPr>
          <a:xfrm>
            <a:off x="197904" y="3991195"/>
            <a:ext cx="2641935" cy="26402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Arestas: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Corredores de circulação;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Peso representa o custo logístico agregado (distância, energia e tempo).</a:t>
            </a:r>
            <a:endParaRPr lang="pt-PT" sz="16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62AB108-8B76-53E8-4CF1-7DE7334141F0}"/>
              </a:ext>
            </a:extLst>
          </p:cNvPr>
          <p:cNvSpPr txBox="1"/>
          <p:nvPr/>
        </p:nvSpPr>
        <p:spPr>
          <a:xfrm>
            <a:off x="241006" y="2130019"/>
            <a:ext cx="5197665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centro LogiBot foi abstraído como um grafo ponderado: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DEPOT – origem dos veículos e ponto de recarga;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Clientes – pontos de recolha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Armazém – hub de consolidação final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CF40073-2E38-1D11-A8F8-7B7D6E8B7BF0}"/>
              </a:ext>
            </a:extLst>
          </p:cNvPr>
          <p:cNvSpPr txBox="1"/>
          <p:nvPr/>
        </p:nvSpPr>
        <p:spPr>
          <a:xfrm>
            <a:off x="9333904" y="2070313"/>
            <a:ext cx="2641935" cy="25971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Heurísticas: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nó tem um valor H(n) que estima o custo até ao Armazém;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Usadas pelo Greedy e pelo A*.</a:t>
            </a:r>
          </a:p>
        </p:txBody>
      </p:sp>
    </p:spTree>
    <p:extLst>
      <p:ext uri="{BB962C8B-B14F-4D97-AF65-F5344CB8AC3E}">
        <p14:creationId xmlns:p14="http://schemas.microsoft.com/office/powerpoint/2010/main" val="23413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chemeClr val="accent6">
                <a:lumMod val="20000"/>
                <a:lumOff val="80000"/>
              </a:schemeClr>
            </a:gs>
            <a:gs pos="25000">
              <a:schemeClr val="accent1">
                <a:lumMod val="5000"/>
                <a:lumOff val="95000"/>
              </a:schemeClr>
            </a:gs>
            <a:gs pos="100000">
              <a:schemeClr val="accent6">
                <a:lumMod val="75000"/>
              </a:schemeClr>
            </a:gs>
            <a:gs pos="88000">
              <a:schemeClr val="accent6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0AB5D-55F8-DCE7-E6AF-9DB57C2B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E140CC42-9790-A9CF-C8C0-CFB5F7AC6249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6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44513A4B-AC39-E11A-BF28-20A267DF363B}"/>
              </a:ext>
            </a:extLst>
          </p:cNvPr>
          <p:cNvCxnSpPr/>
          <p:nvPr/>
        </p:nvCxnSpPr>
        <p:spPr>
          <a:xfrm>
            <a:off x="-1" y="1171075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E3B0559-04A1-0941-DA4B-0CC55A8A17DB}"/>
              </a:ext>
            </a:extLst>
          </p:cNvPr>
          <p:cNvSpPr txBox="1"/>
          <p:nvPr/>
        </p:nvSpPr>
        <p:spPr>
          <a:xfrm>
            <a:off x="629264" y="1366685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Cenários de Teste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6992119-A8E6-43F9-25DE-337E7E3751D1}"/>
              </a:ext>
            </a:extLst>
          </p:cNvPr>
          <p:cNvGrpSpPr/>
          <p:nvPr/>
        </p:nvGrpSpPr>
        <p:grpSpPr>
          <a:xfrm>
            <a:off x="9120945" y="198492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E9D77BFF-F232-E921-AC83-FD68A3C4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C05DE077-F6E6-AD13-5ADC-934CD5FFA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4" name="Gráfico 13" descr="Rota (dois pinos com um caminho) com preenchimento sólido">
              <a:extLst>
                <a:ext uri="{FF2B5EF4-FFF2-40B4-BE49-F238E27FC236}">
                  <a16:creationId xmlns:a16="http://schemas.microsoft.com/office/drawing/2014/main" id="{9A8EA80B-95DA-0211-7BD9-903AB1AE0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7" name="Gráfico 16" descr="Caixa com preenchimento sólido">
              <a:extLst>
                <a:ext uri="{FF2B5EF4-FFF2-40B4-BE49-F238E27FC236}">
                  <a16:creationId xmlns:a16="http://schemas.microsoft.com/office/drawing/2014/main" id="{C25CAE0C-1A4A-1AD0-FBF5-F7F27CFCA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450A399-08BC-A293-0FBB-7AF26B3D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50789"/>
              </p:ext>
            </p:extLst>
          </p:nvPr>
        </p:nvGraphicFramePr>
        <p:xfrm>
          <a:off x="1866995" y="2981188"/>
          <a:ext cx="8809705" cy="32230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07090">
                  <a:extLst>
                    <a:ext uri="{9D8B030D-6E8A-4147-A177-3AD203B41FA5}">
                      <a16:colId xmlns:a16="http://schemas.microsoft.com/office/drawing/2014/main" val="1432559879"/>
                    </a:ext>
                  </a:extLst>
                </a:gridCol>
                <a:gridCol w="5522193">
                  <a:extLst>
                    <a:ext uri="{9D8B030D-6E8A-4147-A177-3AD203B41FA5}">
                      <a16:colId xmlns:a16="http://schemas.microsoft.com/office/drawing/2014/main" val="3097221891"/>
                    </a:ext>
                  </a:extLst>
                </a:gridCol>
                <a:gridCol w="714445">
                  <a:extLst>
                    <a:ext uri="{9D8B030D-6E8A-4147-A177-3AD203B41FA5}">
                      <a16:colId xmlns:a16="http://schemas.microsoft.com/office/drawing/2014/main" val="481311019"/>
                    </a:ext>
                  </a:extLst>
                </a:gridCol>
                <a:gridCol w="714445">
                  <a:extLst>
                    <a:ext uri="{9D8B030D-6E8A-4147-A177-3AD203B41FA5}">
                      <a16:colId xmlns:a16="http://schemas.microsoft.com/office/drawing/2014/main" val="1412316687"/>
                    </a:ext>
                  </a:extLst>
                </a:gridCol>
                <a:gridCol w="651532">
                  <a:extLst>
                    <a:ext uri="{9D8B030D-6E8A-4147-A177-3AD203B41FA5}">
                      <a16:colId xmlns:a16="http://schemas.microsoft.com/office/drawing/2014/main" val="2720707830"/>
                    </a:ext>
                  </a:extLst>
                </a:gridCol>
              </a:tblGrid>
              <a:tr h="388242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Algoritmo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Caminho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Nodos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(ms)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865342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DEPOT→ZONA_A→CLIENTE_1→ CLIENTE_2→ ZONA_B→ CLIENTE_3→ ARMAZEM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0.0334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8552166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BFS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DEPOT→ZONA_A→CLIENTE_1→ ARMAZEM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0.0162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753142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DEPOT→ZONA_A→CLIENTE_2→ CLIENTE_3→ARMAZEM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0.0236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817017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DEPOT→ZONA_B→CLIENTE_3→ARMAZEM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0.0272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614072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DIJKSTRA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DEPOT→ZONA_B→CLIENTE_3→ARMAZEM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0.0391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27346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DFS_LIM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DEPOT→ZONA_A→CLIENTE_1→ CLIENTE_2→ CLIENTE_3→ARMAZEM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0.0448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39468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B6A29D8D-B0ED-E58D-BD18-A920478ECC25}"/>
              </a:ext>
            </a:extLst>
          </p:cNvPr>
          <p:cNvSpPr txBox="1"/>
          <p:nvPr/>
        </p:nvSpPr>
        <p:spPr>
          <a:xfrm>
            <a:off x="823648" y="2147068"/>
            <a:ext cx="10896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Opção 12. Grafo completo do LogiBot.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Custos e heurísticas ajustados de forma a permitir comparar todos os algoritmos num ambiente realista.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063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chemeClr val="accent6">
                <a:lumMod val="20000"/>
                <a:lumOff val="80000"/>
              </a:schemeClr>
            </a:gs>
            <a:gs pos="25000">
              <a:schemeClr val="accent1">
                <a:lumMod val="5000"/>
                <a:lumOff val="95000"/>
              </a:schemeClr>
            </a:gs>
            <a:gs pos="100000">
              <a:schemeClr val="accent6">
                <a:lumMod val="75000"/>
              </a:schemeClr>
            </a:gs>
            <a:gs pos="88000">
              <a:schemeClr val="accent6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F45FC-9438-FE13-FA54-0072119A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BD81906-AC4F-90FE-31B6-2D5642A7CAF2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1771C910-FEAD-0FE5-E45F-D580D02354FA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6E8DD0D-CB27-0698-0E46-B71A647D8BE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Cenários de Teste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6F4D875-D970-3E7C-0359-D1CCE2DF89E2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2949C284-2D7E-C7E6-6F80-40757B96F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E3571E19-807F-FA78-D252-2DDD92CE6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4" name="Gráfico 13" descr="Rota (dois pinos com um caminho) com preenchimento sólido">
              <a:extLst>
                <a:ext uri="{FF2B5EF4-FFF2-40B4-BE49-F238E27FC236}">
                  <a16:creationId xmlns:a16="http://schemas.microsoft.com/office/drawing/2014/main" id="{48C0164D-E98A-EE0A-2BAF-4E2C4F510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7" name="Gráfico 16" descr="Caixa com preenchimento sólido">
              <a:extLst>
                <a:ext uri="{FF2B5EF4-FFF2-40B4-BE49-F238E27FC236}">
                  <a16:creationId xmlns:a16="http://schemas.microsoft.com/office/drawing/2014/main" id="{9DB7E914-A4C8-814B-03C7-3C7E56BB1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30757630-01B6-C6A1-8A8B-6AC1D42CCA96}"/>
              </a:ext>
            </a:extLst>
          </p:cNvPr>
          <p:cNvSpPr/>
          <p:nvPr/>
        </p:nvSpPr>
        <p:spPr>
          <a:xfrm rot="8798178">
            <a:off x="5867256" y="3288617"/>
            <a:ext cx="914400" cy="403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7797F291-BBBB-9C86-96BD-BA4F32ADFB6F}"/>
              </a:ext>
            </a:extLst>
          </p:cNvPr>
          <p:cNvGrpSpPr/>
          <p:nvPr/>
        </p:nvGrpSpPr>
        <p:grpSpPr>
          <a:xfrm>
            <a:off x="764394" y="3086891"/>
            <a:ext cx="4630636" cy="2273112"/>
            <a:chOff x="744209" y="3082633"/>
            <a:chExt cx="4630636" cy="2273112"/>
          </a:xfrm>
        </p:grpSpPr>
        <p:pic>
          <p:nvPicPr>
            <p:cNvPr id="20" name="Imagem 19" descr="Uma imagem com círculo, file, diagrama&#10;&#10;Os conteúdos gerados por IA podem estar incorretos.">
              <a:extLst>
                <a:ext uri="{FF2B5EF4-FFF2-40B4-BE49-F238E27FC236}">
                  <a16:creationId xmlns:a16="http://schemas.microsoft.com/office/drawing/2014/main" id="{546D095B-CEC4-2B82-0397-C45B0E960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209" y="3082633"/>
              <a:ext cx="4630636" cy="227311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4" name="Símbolo de &quot;Não Permitido&quot; 23">
              <a:extLst>
                <a:ext uri="{FF2B5EF4-FFF2-40B4-BE49-F238E27FC236}">
                  <a16:creationId xmlns:a16="http://schemas.microsoft.com/office/drawing/2014/main" id="{26E86B62-2289-ADED-DA77-26F928DAE678}"/>
                </a:ext>
              </a:extLst>
            </p:cNvPr>
            <p:cNvSpPr/>
            <p:nvPr/>
          </p:nvSpPr>
          <p:spPr>
            <a:xfrm>
              <a:off x="4398887" y="4051664"/>
              <a:ext cx="363794" cy="375401"/>
            </a:xfrm>
            <a:prstGeom prst="noSmoking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</p:grp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66B4429C-787F-6C0C-BE7D-B92E34F383AE}"/>
              </a:ext>
            </a:extLst>
          </p:cNvPr>
          <p:cNvSpPr/>
          <p:nvPr/>
        </p:nvSpPr>
        <p:spPr>
          <a:xfrm rot="2189232">
            <a:off x="5597618" y="4724517"/>
            <a:ext cx="914400" cy="403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69680C1-2AC9-6133-B83E-5FC11DE6B43A}"/>
              </a:ext>
            </a:extLst>
          </p:cNvPr>
          <p:cNvGrpSpPr/>
          <p:nvPr/>
        </p:nvGrpSpPr>
        <p:grpSpPr>
          <a:xfrm>
            <a:off x="7217112" y="2099928"/>
            <a:ext cx="4242298" cy="2082482"/>
            <a:chOff x="7217112" y="2099928"/>
            <a:chExt cx="4242298" cy="2082482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F950B7D5-F555-E982-A8DD-F456E6A88847}"/>
                </a:ext>
              </a:extLst>
            </p:cNvPr>
            <p:cNvGrpSpPr/>
            <p:nvPr/>
          </p:nvGrpSpPr>
          <p:grpSpPr>
            <a:xfrm>
              <a:off x="7217112" y="2099928"/>
              <a:ext cx="4242298" cy="2082482"/>
              <a:chOff x="7283442" y="2288345"/>
              <a:chExt cx="4242298" cy="2082482"/>
            </a:xfrm>
          </p:grpSpPr>
          <p:pic>
            <p:nvPicPr>
              <p:cNvPr id="10" name="Imagem 9" descr="Uma imagem com círculo, file, diagrama&#10;&#10;Os conteúdos gerados por IA podem estar incorretos.">
                <a:extLst>
                  <a:ext uri="{FF2B5EF4-FFF2-40B4-BE49-F238E27FC236}">
                    <a16:creationId xmlns:a16="http://schemas.microsoft.com/office/drawing/2014/main" id="{4515FFD7-D78E-9668-702C-535113E41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3442" y="2288345"/>
                <a:ext cx="4242298" cy="2082482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cxnSp>
            <p:nvCxnSpPr>
              <p:cNvPr id="11" name="Conexão reta unidirecional 10">
                <a:extLst>
                  <a:ext uri="{FF2B5EF4-FFF2-40B4-BE49-F238E27FC236}">
                    <a16:creationId xmlns:a16="http://schemas.microsoft.com/office/drawing/2014/main" id="{4C8E7CE0-773C-5A32-3409-9E4B143BE5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7243" y="2523951"/>
                <a:ext cx="815225" cy="377694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" name="Conexão reta unidirecional 15">
                <a:extLst>
                  <a:ext uri="{FF2B5EF4-FFF2-40B4-BE49-F238E27FC236}">
                    <a16:creationId xmlns:a16="http://schemas.microsoft.com/office/drawing/2014/main" id="{1B9C1F5B-A0A7-D302-C62C-66B5BE41D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25280" y="3147927"/>
                <a:ext cx="304018" cy="259659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10D24F7-8A24-7B71-20B6-F44B6D739E2B}"/>
                </a:ext>
              </a:extLst>
            </p:cNvPr>
            <p:cNvSpPr txBox="1"/>
            <p:nvPr/>
          </p:nvSpPr>
          <p:spPr>
            <a:xfrm>
              <a:off x="7285703" y="2147068"/>
              <a:ext cx="1180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 = 18</a:t>
              </a:r>
            </a:p>
          </p:txBody>
        </p:sp>
      </p:grpSp>
      <p:pic>
        <p:nvPicPr>
          <p:cNvPr id="28" name="Imagem 27" descr="Uma imagem com círculo, file, diagrama&#10;&#10;Os conteúdos gerados por IA podem estar incorretos.">
            <a:extLst>
              <a:ext uri="{FF2B5EF4-FFF2-40B4-BE49-F238E27FC236}">
                <a16:creationId xmlns:a16="http://schemas.microsoft.com/office/drawing/2014/main" id="{58391868-533B-43D9-330D-77C2EC5648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38" y="4338108"/>
            <a:ext cx="4411764" cy="23494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D5F8514C-C0F6-C0D6-87BA-110312FAB056}"/>
              </a:ext>
            </a:extLst>
          </p:cNvPr>
          <p:cNvCxnSpPr>
            <a:cxnSpLocks/>
          </p:cNvCxnSpPr>
          <p:nvPr/>
        </p:nvCxnSpPr>
        <p:spPr>
          <a:xfrm>
            <a:off x="9038468" y="4630338"/>
            <a:ext cx="860051" cy="39394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26222AAB-1575-CF67-A71C-D9FA97109157}"/>
              </a:ext>
            </a:extLst>
          </p:cNvPr>
          <p:cNvCxnSpPr>
            <a:cxnSpLocks/>
          </p:cNvCxnSpPr>
          <p:nvPr/>
        </p:nvCxnSpPr>
        <p:spPr>
          <a:xfrm flipH="1">
            <a:off x="8978810" y="5248489"/>
            <a:ext cx="837363" cy="40325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Símbolo de &quot;Não Permitido&quot; 33">
            <a:extLst>
              <a:ext uri="{FF2B5EF4-FFF2-40B4-BE49-F238E27FC236}">
                <a16:creationId xmlns:a16="http://schemas.microsoft.com/office/drawing/2014/main" id="{91B01BEF-E832-2B77-974E-B300A16B2531}"/>
              </a:ext>
            </a:extLst>
          </p:cNvPr>
          <p:cNvSpPr/>
          <p:nvPr/>
        </p:nvSpPr>
        <p:spPr>
          <a:xfrm>
            <a:off x="10147373" y="5394888"/>
            <a:ext cx="345681" cy="316408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A81B941A-0629-BEEF-78D5-F5BB19502BCA}"/>
              </a:ext>
            </a:extLst>
          </p:cNvPr>
          <p:cNvCxnSpPr>
            <a:cxnSpLocks/>
          </p:cNvCxnSpPr>
          <p:nvPr/>
        </p:nvCxnSpPr>
        <p:spPr>
          <a:xfrm>
            <a:off x="9038472" y="5794822"/>
            <a:ext cx="1343612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D701143-004E-E52D-F63F-523041C6003F}"/>
              </a:ext>
            </a:extLst>
          </p:cNvPr>
          <p:cNvSpPr txBox="1"/>
          <p:nvPr/>
        </p:nvSpPr>
        <p:spPr>
          <a:xfrm>
            <a:off x="6847736" y="4431323"/>
            <a:ext cx="1180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 = 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797B56-9DE5-5264-E216-A6055139981E}"/>
              </a:ext>
            </a:extLst>
          </p:cNvPr>
          <p:cNvSpPr txBox="1"/>
          <p:nvPr/>
        </p:nvSpPr>
        <p:spPr>
          <a:xfrm>
            <a:off x="823648" y="2147068"/>
            <a:ext cx="9320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/>
              <a:t>Opção 13. Cenário dinâmicos.</a:t>
            </a:r>
          </a:p>
          <a:p>
            <a:r>
              <a:rPr lang="pt-PT" dirty="0"/>
              <a:t>Bloqueio temporário.</a:t>
            </a:r>
          </a:p>
        </p:txBody>
      </p:sp>
    </p:spTree>
    <p:extLst>
      <p:ext uri="{BB962C8B-B14F-4D97-AF65-F5344CB8AC3E}">
        <p14:creationId xmlns:p14="http://schemas.microsoft.com/office/powerpoint/2010/main" val="2679662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4" grpId="0" animBg="1"/>
      <p:bldP spid="38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chemeClr val="accent6">
                <a:lumMod val="20000"/>
                <a:lumOff val="80000"/>
              </a:schemeClr>
            </a:gs>
            <a:gs pos="25000">
              <a:schemeClr val="accent1">
                <a:lumMod val="5000"/>
                <a:lumOff val="95000"/>
              </a:schemeClr>
            </a:gs>
            <a:gs pos="100000">
              <a:schemeClr val="accent6">
                <a:lumMod val="75000"/>
              </a:schemeClr>
            </a:gs>
            <a:gs pos="88000">
              <a:schemeClr val="accent6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620A-0913-C779-6EF6-523A437A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43531FA2-F28D-BB72-F751-776E41D010BE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3DD9777-FA39-4561-145E-FFBBE38643C4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41380AB-E8C1-F411-1D7E-AFB4DEC51B62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Cenários de Teste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443E754-91A9-647D-CA3F-F26BF0E1BC9E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FB35B7A5-6646-A8A4-B04B-EC9E122CD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C7126452-4A8B-9BD1-5403-FD70833C7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4" name="Gráfico 13" descr="Rota (dois pinos com um caminho) com preenchimento sólido">
              <a:extLst>
                <a:ext uri="{FF2B5EF4-FFF2-40B4-BE49-F238E27FC236}">
                  <a16:creationId xmlns:a16="http://schemas.microsoft.com/office/drawing/2014/main" id="{78CB72C2-4B53-460A-AD5A-9131BE09F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7" name="Gráfico 16" descr="Caixa com preenchimento sólido">
              <a:extLst>
                <a:ext uri="{FF2B5EF4-FFF2-40B4-BE49-F238E27FC236}">
                  <a16:creationId xmlns:a16="http://schemas.microsoft.com/office/drawing/2014/main" id="{DBF2EAD2-B883-2DB2-1C68-CEF6617B1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8F79B6-1F0C-F254-5602-12431FF0BEBE}"/>
              </a:ext>
            </a:extLst>
          </p:cNvPr>
          <p:cNvSpPr txBox="1"/>
          <p:nvPr/>
        </p:nvSpPr>
        <p:spPr>
          <a:xfrm>
            <a:off x="823648" y="2147068"/>
            <a:ext cx="9320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/>
              <a:t>Opção 13. Cenário dinâmicos.</a:t>
            </a:r>
          </a:p>
          <a:p>
            <a:r>
              <a:rPr lang="pt-PT" dirty="0"/>
              <a:t>Bloqueio temporário.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5425D7E0-AD7F-9901-6020-0A4DCC997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78436"/>
              </p:ext>
            </p:extLst>
          </p:nvPr>
        </p:nvGraphicFramePr>
        <p:xfrm>
          <a:off x="1334924" y="2918744"/>
          <a:ext cx="8809705" cy="32230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07090">
                  <a:extLst>
                    <a:ext uri="{9D8B030D-6E8A-4147-A177-3AD203B41FA5}">
                      <a16:colId xmlns:a16="http://schemas.microsoft.com/office/drawing/2014/main" val="1432559879"/>
                    </a:ext>
                  </a:extLst>
                </a:gridCol>
                <a:gridCol w="5522193">
                  <a:extLst>
                    <a:ext uri="{9D8B030D-6E8A-4147-A177-3AD203B41FA5}">
                      <a16:colId xmlns:a16="http://schemas.microsoft.com/office/drawing/2014/main" val="3097221891"/>
                    </a:ext>
                  </a:extLst>
                </a:gridCol>
                <a:gridCol w="714445">
                  <a:extLst>
                    <a:ext uri="{9D8B030D-6E8A-4147-A177-3AD203B41FA5}">
                      <a16:colId xmlns:a16="http://schemas.microsoft.com/office/drawing/2014/main" val="481311019"/>
                    </a:ext>
                  </a:extLst>
                </a:gridCol>
                <a:gridCol w="714445">
                  <a:extLst>
                    <a:ext uri="{9D8B030D-6E8A-4147-A177-3AD203B41FA5}">
                      <a16:colId xmlns:a16="http://schemas.microsoft.com/office/drawing/2014/main" val="1412316687"/>
                    </a:ext>
                  </a:extLst>
                </a:gridCol>
                <a:gridCol w="651532">
                  <a:extLst>
                    <a:ext uri="{9D8B030D-6E8A-4147-A177-3AD203B41FA5}">
                      <a16:colId xmlns:a16="http://schemas.microsoft.com/office/drawing/2014/main" val="2720707830"/>
                    </a:ext>
                  </a:extLst>
                </a:gridCol>
              </a:tblGrid>
              <a:tr h="388242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Algoritmo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Caminho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Nodos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(ms)</a:t>
                      </a:r>
                      <a:endParaRPr lang="pt-PT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865342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B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0,009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8552166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B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753142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B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CLIENTE_2 -&gt; ZONA_B -&gt; CLIENTE_3 -&gt; ARMAZEM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0,010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817017"/>
                  </a:ext>
                </a:extLst>
              </a:tr>
              <a:tr h="43957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CLIENTE_2 -&gt;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614072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B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27346"/>
                  </a:ext>
                </a:extLst>
              </a:tr>
              <a:tr h="50534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</a:t>
                      </a:r>
                      <a:endParaRPr lang="pt-PT" sz="1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B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DEPOT -&gt; ZONA_A -&gt; CLIENTE_1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pt-PT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0,017</a:t>
                      </a:r>
                      <a:endParaRPr lang="pt-PT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39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3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1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891D7-ECCD-9C9E-2669-A2A75413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E678BC51-2203-DA1D-0243-A1C1E9E95E0D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D472FEB-4BCE-2BBF-3C25-E3010F076E84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9974FA5-8C33-DA7B-B038-39EFC4424026}"/>
              </a:ext>
            </a:extLst>
          </p:cNvPr>
          <p:cNvSpPr txBox="1"/>
          <p:nvPr/>
        </p:nvSpPr>
        <p:spPr>
          <a:xfrm>
            <a:off x="599770" y="1366684"/>
            <a:ext cx="10962966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 e Trabalho Futuro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D9585B2-C9A9-673E-FD7E-C1BF12C45226}"/>
              </a:ext>
            </a:extLst>
          </p:cNvPr>
          <p:cNvGrpSpPr/>
          <p:nvPr/>
        </p:nvGrpSpPr>
        <p:grpSpPr>
          <a:xfrm>
            <a:off x="9120945" y="198491"/>
            <a:ext cx="2854894" cy="768042"/>
            <a:chOff x="9120945" y="198491"/>
            <a:chExt cx="2854894" cy="768042"/>
          </a:xfrm>
        </p:grpSpPr>
        <p:pic>
          <p:nvPicPr>
            <p:cNvPr id="3" name="Gráfico 2" descr="Camião com preenchimento sólido">
              <a:extLst>
                <a:ext uri="{FF2B5EF4-FFF2-40B4-BE49-F238E27FC236}">
                  <a16:creationId xmlns:a16="http://schemas.microsoft.com/office/drawing/2014/main" id="{05FD65AE-C195-71C3-31B6-E2470B917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14598" y="198491"/>
              <a:ext cx="739938" cy="739938"/>
            </a:xfrm>
            <a:prstGeom prst="rect">
              <a:avLst/>
            </a:prstGeom>
          </p:spPr>
        </p:pic>
        <p:pic>
          <p:nvPicPr>
            <p:cNvPr id="6" name="Gráfico 5" descr="Trólei com preenchimento sólido">
              <a:extLst>
                <a:ext uri="{FF2B5EF4-FFF2-40B4-BE49-F238E27FC236}">
                  <a16:creationId xmlns:a16="http://schemas.microsoft.com/office/drawing/2014/main" id="{CC64593A-B315-68B5-5D42-7845D0134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16175" y="240006"/>
              <a:ext cx="656908" cy="656908"/>
            </a:xfrm>
            <a:prstGeom prst="rect">
              <a:avLst/>
            </a:prstGeom>
          </p:spPr>
        </p:pic>
        <p:pic>
          <p:nvPicPr>
            <p:cNvPr id="15" name="Gráfico 14" descr="Rota (dois pinos com um caminho) com preenchimento sólido">
              <a:extLst>
                <a:ext uri="{FF2B5EF4-FFF2-40B4-BE49-F238E27FC236}">
                  <a16:creationId xmlns:a16="http://schemas.microsoft.com/office/drawing/2014/main" id="{46595DA6-3642-44FB-B2F2-D3246026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96051" y="198491"/>
              <a:ext cx="679788" cy="679788"/>
            </a:xfrm>
            <a:prstGeom prst="rect">
              <a:avLst/>
            </a:prstGeom>
          </p:spPr>
        </p:pic>
        <p:pic>
          <p:nvPicPr>
            <p:cNvPr id="16" name="Gráfico 15" descr="Caixa com preenchimento sólido">
              <a:extLst>
                <a:ext uri="{FF2B5EF4-FFF2-40B4-BE49-F238E27FC236}">
                  <a16:creationId xmlns:a16="http://schemas.microsoft.com/office/drawing/2014/main" id="{452D3BA3-9DB3-49DE-D547-D74D06A33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120945" y="226596"/>
              <a:ext cx="739937" cy="739937"/>
            </a:xfrm>
            <a:prstGeom prst="rect">
              <a:avLst/>
            </a:prstGeom>
          </p:spPr>
        </p:pic>
      </p:grpSp>
      <p:sp>
        <p:nvSpPr>
          <p:cNvPr id="12" name="Rectangle 6">
            <a:extLst>
              <a:ext uri="{FF2B5EF4-FFF2-40B4-BE49-F238E27FC236}">
                <a16:creationId xmlns:a16="http://schemas.microsoft.com/office/drawing/2014/main" id="{A0F4F2AC-D5C7-05D7-F4AB-0CFC6AC77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053" y="2182719"/>
            <a:ext cx="11090786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PT" altLang="en-US" dirty="0">
                <a:latin typeface="Arial" panose="020B0604020202020204" pitchFamily="34" charset="0"/>
              </a:rPr>
              <a:t>Para concluir vimos que: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altLang="en-US" dirty="0">
                <a:latin typeface="Arial" panose="020B0604020202020204" pitchFamily="34" charset="0"/>
              </a:rPr>
              <a:t>Algoritmos informados produzem custos mais baixos (ótimos);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Heurísticas influenciam fortemente as decisões;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dinamismo </a:t>
            </a:r>
            <a:r>
              <a:rPr lang="pt-PT" altLang="en-US" dirty="0">
                <a:latin typeface="Arial" panose="020B0604020202020204" pitchFamily="34" charset="0"/>
              </a:rPr>
              <a:t>altera significativamente os resultados.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pt-PT" altLang="en-US" dirty="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PT" altLang="en-US" dirty="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AB2EBD-2F9C-EFB5-A7A9-4EA0F5202B48}"/>
              </a:ext>
            </a:extLst>
          </p:cNvPr>
          <p:cNvSpPr txBox="1"/>
          <p:nvPr/>
        </p:nvSpPr>
        <p:spPr>
          <a:xfrm>
            <a:off x="6248205" y="4504896"/>
            <a:ext cx="4805335" cy="2364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en-US" dirty="0">
                <a:latin typeface="Arial" panose="020B0604020202020204" pitchFamily="34" charset="0"/>
              </a:rPr>
              <a:t>Como trabalho futuro acrescentar: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en-US" dirty="0">
                <a:latin typeface="Arial" panose="020B0604020202020204" pitchFamily="34" charset="0"/>
              </a:rPr>
              <a:t>Múltiplos VAs;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en-US" dirty="0">
                <a:latin typeface="Arial" panose="020B0604020202020204" pitchFamily="34" charset="0"/>
              </a:rPr>
              <a:t>Gestão de bateria e pontos de carregamento.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en-US" dirty="0">
              <a:latin typeface="Arial" panose="020B0604020202020204" pitchFamily="34" charset="0"/>
            </a:endParaRPr>
          </a:p>
          <a:p>
            <a:endParaRPr lang="pt-PT" dirty="0"/>
          </a:p>
        </p:txBody>
      </p:sp>
      <p:pic>
        <p:nvPicPr>
          <p:cNvPr id="9" name="Gráfico 8" descr="Concluído destaque">
            <a:extLst>
              <a:ext uri="{FF2B5EF4-FFF2-40B4-BE49-F238E27FC236}">
                <a16:creationId xmlns:a16="http://schemas.microsoft.com/office/drawing/2014/main" id="{13C778EC-BB4D-CEA2-43FA-0C4387EADB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36472" y="2799157"/>
            <a:ext cx="914400" cy="914400"/>
          </a:xfrm>
          <a:prstGeom prst="rect">
            <a:avLst/>
          </a:prstGeom>
        </p:spPr>
      </p:pic>
      <p:pic>
        <p:nvPicPr>
          <p:cNvPr id="11" name="Gráfico 10" descr="Futuro destaque">
            <a:extLst>
              <a:ext uri="{FF2B5EF4-FFF2-40B4-BE49-F238E27FC236}">
                <a16:creationId xmlns:a16="http://schemas.microsoft.com/office/drawing/2014/main" id="{6A75BE27-2484-13B0-B8DC-29DAD9D0AA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33015" y="47834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7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1007</Words>
  <Application>Microsoft Office PowerPoint</Application>
  <PresentationFormat>Ecrã Panorâmico</PresentationFormat>
  <Paragraphs>183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Tema do Office</vt:lpstr>
      <vt:lpstr>Otimização de Gestão de Veículos Autónomos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de Gestão de Veículos Autónomos</dc:title>
  <dc:creator>Luís Baptista</dc:creator>
  <cp:lastModifiedBy>Luís Baptista</cp:lastModifiedBy>
  <cp:revision>104</cp:revision>
  <dcterms:created xsi:type="dcterms:W3CDTF">2025-11-08T19:02:28Z</dcterms:created>
  <dcterms:modified xsi:type="dcterms:W3CDTF">2026-01-14T10:19:29Z</dcterms:modified>
</cp:coreProperties>
</file>