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8F875A74.xml" ContentType="application/vnd.ms-powerpoint.comments+xml"/>
  <Override PartName="/ppt/notesSlides/notesSlide2.xml" ContentType="application/vnd.openxmlformats-officedocument.presentationml.notesSlide+xml"/>
  <Override PartName="/ppt/comments/modernComment_101_1377AD75.xml" ContentType="application/vnd.ms-powerpoint.comments+xml"/>
  <Override PartName="/ppt/notesSlides/notesSlide3.xml" ContentType="application/vnd.openxmlformats-officedocument.presentationml.notesSlide+xml"/>
  <Override PartName="/ppt/comments/modernComment_109_8B8E44E2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5" r:id="rId4"/>
    <p:sldId id="274" r:id="rId5"/>
    <p:sldId id="276" r:id="rId6"/>
    <p:sldId id="266" r:id="rId7"/>
    <p:sldId id="279" r:id="rId8"/>
    <p:sldId id="280" r:id="rId9"/>
    <p:sldId id="281" r:id="rId10"/>
    <p:sldId id="282" r:id="rId11"/>
    <p:sldId id="283" r:id="rId12"/>
    <p:sldId id="285" r:id="rId13"/>
    <p:sldId id="284" r:id="rId14"/>
    <p:sldId id="286" r:id="rId15"/>
    <p:sldId id="287" r:id="rId16"/>
    <p:sldId id="288" r:id="rId17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3293C52-8BEA-1726-83E1-49AF8286974A}" name="Luís Baptista" initials="LB" userId="20fcfdb117550c5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1129"/>
    <a:srgbClr val="C90303"/>
    <a:srgbClr val="EE4848"/>
    <a:srgbClr val="FF9B9B"/>
    <a:srgbClr val="C76C1A"/>
    <a:srgbClr val="FFFFFF"/>
    <a:srgbClr val="FF5050"/>
    <a:srgbClr val="FF0066"/>
    <a:srgbClr val="CCCC00"/>
    <a:srgbClr val="E74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em Estilo, Tabela com Grelh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Estilo Claro 2 - Destaqu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Estilo Médio 2 - Destaqu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Estilo Médio 1 - Destaqu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Estilo Claro 1 - Destaqu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Estilo Claro 2 - Destaqu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Estilo Claro 2 - Destaqu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9" autoAdjust="0"/>
    <p:restoredTop sz="94660"/>
  </p:normalViewPr>
  <p:slideViewPr>
    <p:cSldViewPr snapToGrid="0">
      <p:cViewPr>
        <p:scale>
          <a:sx n="100" d="100"/>
          <a:sy n="100" d="100"/>
        </p:scale>
        <p:origin x="-2093" y="-9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Folha1!$B$1</c:f>
              <c:strCache>
                <c:ptCount val="1"/>
                <c:pt idx="0">
                  <c:v>Jitter (ms)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B78-40CE-83AD-2E26384A803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9B78-40CE-83AD-2E26384A8033}"/>
              </c:ext>
            </c:extLst>
          </c:dPt>
          <c:cat>
            <c:strRef>
              <c:f>Folha1!$A$2:$A$4</c:f>
              <c:strCache>
                <c:ptCount val="3"/>
                <c:pt idx="0">
                  <c:v>Chain 3 (BE)</c:v>
                </c:pt>
                <c:pt idx="1">
                  <c:v>Chain 2 (BE)</c:v>
                </c:pt>
                <c:pt idx="2">
                  <c:v>Chain 1 (Critical)</c:v>
                </c:pt>
              </c:strCache>
            </c:strRef>
          </c:cat>
          <c:val>
            <c:numRef>
              <c:f>Folha1!$B$2:$B$4</c:f>
              <c:numCache>
                <c:formatCode>General</c:formatCode>
                <c:ptCount val="3"/>
                <c:pt idx="0">
                  <c:v>2.34</c:v>
                </c:pt>
                <c:pt idx="1">
                  <c:v>2.64</c:v>
                </c:pt>
                <c:pt idx="2">
                  <c:v>1.23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78-40CE-83AD-2E26384A80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18686751"/>
        <c:axId val="1518676671"/>
      </c:barChart>
      <c:catAx>
        <c:axId val="15186867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518676671"/>
        <c:crosses val="autoZero"/>
        <c:auto val="1"/>
        <c:lblAlgn val="ctr"/>
        <c:lblOffset val="100"/>
        <c:noMultiLvlLbl val="0"/>
      </c:catAx>
      <c:valAx>
        <c:axId val="151867667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5186867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Packet</a:t>
            </a:r>
            <a:r>
              <a:rPr lang="en-US" baseline="0" dirty="0"/>
              <a:t> Loss (%)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Folha1!$B$1</c:f>
              <c:strCache>
                <c:ptCount val="1"/>
                <c:pt idx="0">
                  <c:v>Packet Loss (%)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Folha1!$A$2:$A$4</c:f>
              <c:strCache>
                <c:ptCount val="3"/>
                <c:pt idx="1">
                  <c:v>Chain 2/3</c:v>
                </c:pt>
                <c:pt idx="2">
                  <c:v>Chain 1</c:v>
                </c:pt>
              </c:strCache>
            </c:strRef>
          </c:cat>
          <c:val>
            <c:numRef>
              <c:f>Folha1!$B$2:$B$4</c:f>
              <c:numCache>
                <c:formatCode>General</c:formatCode>
                <c:ptCount val="3"/>
                <c:pt idx="1">
                  <c:v>2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64-45AA-B96B-AEA6BD3059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50454255"/>
        <c:axId val="1650460495"/>
      </c:barChart>
      <c:catAx>
        <c:axId val="165045425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650460495"/>
        <c:crosses val="autoZero"/>
        <c:auto val="1"/>
        <c:lblAlgn val="ctr"/>
        <c:lblOffset val="100"/>
        <c:noMultiLvlLbl val="0"/>
      </c:catAx>
      <c:valAx>
        <c:axId val="165046049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6504542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100_8F875A7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D9F5E3B-400F-4E54-9E04-B426A15FDEFA}" authorId="{13293C52-8BEA-1726-83E1-49AF8286974A}" created="2025-11-08T19:42:08.679">
    <pc:sldMkLst xmlns:pc="http://schemas.microsoft.com/office/powerpoint/2013/main/command">
      <pc:docMk/>
      <pc:sldMk cId="2408012404" sldId="256"/>
    </pc:sldMkLst>
    <p188:txBody>
      <a:bodyPr/>
      <a:lstStyle/>
      <a:p>
        <a:endParaRPr lang="pt-PT"/>
      </a:p>
    </p188:txBody>
  </p188:cm>
</p188:cmLst>
</file>

<file path=ppt/comments/modernComment_101_1377AD7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B551B4-4744-4F2E-96D1-0AAA3EA25891}" authorId="{13293C52-8BEA-1726-83E1-49AF8286974A}" created="2025-11-08T19:42:28.163">
    <pc:sldMkLst xmlns:pc="http://schemas.microsoft.com/office/powerpoint/2013/main/command">
      <pc:docMk/>
      <pc:sldMk cId="326610293" sldId="257"/>
    </pc:sldMkLst>
    <p188:txBody>
      <a:bodyPr/>
      <a:lstStyle/>
      <a:p>
        <a:endParaRPr lang="pt-PT"/>
      </a:p>
    </p188:txBody>
  </p188:cm>
</p188:cmLst>
</file>

<file path=ppt/comments/modernComment_109_8B8E44E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6B19A52-8988-4B6C-B6BE-0C897F82C9FC}" authorId="{13293C52-8BEA-1726-83E1-49AF8286974A}" created="2025-11-08T22:50:06.512">
    <pc:sldMkLst xmlns:pc="http://schemas.microsoft.com/office/powerpoint/2013/main/command">
      <pc:docMk/>
      <pc:sldMk cId="2341356770" sldId="265"/>
    </pc:sldMkLst>
    <p188:txBody>
      <a:bodyPr/>
      <a:lstStyle/>
      <a:p>
        <a:endParaRPr lang="pt-PT"/>
      </a:p>
    </p188:txBody>
  </p188:cm>
</p188:cmLst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0.41781</cdr:x>
      <cdr:y>0.59706</cdr:y>
    </cdr:from>
    <cdr:to>
      <cdr:x>0.58219</cdr:x>
      <cdr:y>0.68819</cdr:y>
    </cdr:to>
    <cdr:sp macro="" textlink="">
      <cdr:nvSpPr>
        <cdr:cNvPr id="2" name="CaixaDeTexto 9">
          <a:extLst xmlns:a="http://schemas.openxmlformats.org/drawingml/2006/main">
            <a:ext uri="{FF2B5EF4-FFF2-40B4-BE49-F238E27FC236}">
              <a16:creationId xmlns:a16="http://schemas.microsoft.com/office/drawing/2014/main" id="{3DA8D7B7-70AC-5860-B224-BC67B5948219}"/>
            </a:ext>
          </a:extLst>
        </cdr:cNvPr>
        <cdr:cNvSpPr txBox="1"/>
      </cdr:nvSpPr>
      <cdr:spPr>
        <a:xfrm xmlns:a="http://schemas.openxmlformats.org/drawingml/2006/main">
          <a:off x="2118231" y="2218189"/>
          <a:ext cx="833377" cy="338554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pt-PT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pt-PT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948F21-65F0-4585-B74D-4DE7C21418C9}" type="datetimeFigureOut">
              <a:rPr lang="pt-PT" smtClean="0"/>
              <a:t>14/01/2026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692395-64DF-44BB-9800-A7E320F7CEC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44369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Boa tarde, o meu projeto foca-se na análise de dados de sensores wearables de enfermeiras para prever indicadores de stress. 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9974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dataset escolhido foi o 'Continuous Stress Monitoring of Hospital Nurses', com 11.5 milhões de registos. Como podem ver na Figura 1, a análise exploratória foi o passo mais importante. Descobri que a coluna label (o alvo de stress) não era constante, mas sim categórica, com três valores: 0, 1 e 2. Isto validou a tarefa principal de Classificação.</a:t>
            </a:r>
            <a:b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dataset era rico, permitindo-me definir três abordagens de análise distintas:</a:t>
            </a:r>
            <a:b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Classificação: Prever o label (stress).</a:t>
            </a:r>
            <a:b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Regressão: Prever os sinais fisiológicos HR (Ritmo Cardíaco) e EDA (Stress da Pele).</a:t>
            </a:r>
            <a:b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Clustering: Tentar descobrir grupos naturais nos dados.</a:t>
            </a:r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8527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slide mostra o processo essencial para preparar os dados antes de treinar os modelos. Comecei por ler todas as medições, criei amostras representativas, tratei datas e valores em falta, e normalizei as variáveis. A inteligência na preparação foi a criação de novas métricas que ajudam os modelos a compreender padrões reais, como ‘MoveMagnitude’, que resume o movimento das enfermeiras ao longo do tempo. Também tive atenção à remoção de campos que poderiam causar fuga de dados e afetar a validade da análise.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80468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3BF0A-A3DE-2967-4729-DF3F4E893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C97962CA-F68B-072F-833B-CD1613982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C90C4528-6397-CDAF-52C6-245A91031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slide mostra o processo essencial para preparar os dados antes de treinar os modelos. Comecei por ler todas as medições, criei amostras representativas, tratei datas e valores em falta, e normalizei as variáveis. A inteligência na preparação foi a criação de novas métricas que ajudam os modelos a compreender padrões reais, como ‘MoveMagnitude’, que resume o movimento das enfermeiras ao longo do tempo. Também tive atenção à remoção de campos que poderiam causar fuga de dados e afetar a validade da análise.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CA81473-D319-C6C5-1D21-9E7CF66DB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688046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52EBF-986D-F06E-EDAC-923D90E9B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48CEB311-81F6-E275-41DF-D0D058CE0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3E8EE21-14C5-5BEC-47B4-9540FAB403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slide mostra o processo essencial para preparar os dados antes de treinar os modelos. Comecei por ler todas as medições, criei amostras representativas, tratei datas e valores em falta, e normalizei as variáveis. A inteligência na preparação foi a criação de novas métricas que ajudam os modelos a compreender padrões reais, como ‘MoveMagnitude’, que resume o movimento das enfermeiras ao longo do tempo. Também tive atenção à remoção de campos que poderiam causar fuga de dados e afetar a validade da análise.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064BD93-2F6E-0B7F-53FB-389CBA445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445311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420C5-4898-6F26-E205-F6253575A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15E43EF2-9C9C-6BB1-A6A0-A8A29F71C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2A5EA2D2-F2C2-91D6-F46C-AFD0DBE02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slide mostra o processo essencial para preparar os dados antes de treinar os modelos. Comecei por ler todas as medições, criei amostras representativas, tratei datas e valores em falta, e normalizei as variáveis. A inteligência na preparação foi a criação de novas métricas que ajudam os modelos a compreender padrões reais, como ‘MoveMagnitude’, que resume o movimento das enfermeiras ao longo do tempo. Também tive atenção à remoção de campos que poderiam causar fuga de dados e afetar a validade da análise.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699D6E1-75E1-CE7E-D22C-54E4471CFD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34440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5F60C-3B95-F31E-E3C3-EF2F5978D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62F09065-077E-C025-6B57-C241FCF479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3F9BA934-BB18-DC6D-F3CB-47A458F9B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slide mostra o processo essencial para preparar os dados antes de treinar os modelos. Comecei por ler todas as medições, criei amostras representativas, tratei datas e valores em falta, e normalizei as variáveis. A inteligência na preparação foi a criação de novas métricas que ajudam os modelos a compreender padrões reais, como ‘MoveMagnitude’, que resume o movimento das enfermeiras ao longo do tempo. Também tive atenção à remoção de campos que poderiam causar fuga de dados e afetar a validade da análise.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CA1C47B-F9FC-2321-F16F-4A27CC13AA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31487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1AB4B-D00D-5742-54AC-091BFE263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60CF8A0F-B564-08CE-9D66-808ED89B0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CA762671-978D-302B-38D5-06D71CEF2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slide mostra o processo essencial para preparar os dados antes de treinar os modelos. Comecei por ler todas as medições, criei amostras representativas, tratei datas e valores em falta, e normalizei as variáveis. A inteligência na preparação foi a criação de novas métricas que ajudam os modelos a compreender padrões reais, como ‘MoveMagnitude’, que resume o movimento das enfermeiras ao longo do tempo. Também tive atenção à remoção de campos que poderiam causar fuga de dados e afetar a validade da análise.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67FC62D-9BFD-8FA0-8B4C-7AB0F3F88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08963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57427-12D0-ADC1-3656-F07FB46F9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1D8177E0-A9E7-73C4-E778-F2519A67E3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AB4B214-6F66-6DB3-6221-F46984818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slide mostra o processo essencial para preparar os dados antes de treinar os modelos. Comecei por ler todas as medições, criei amostras representativas, tratei datas e valores em falta, e normalizei as variáveis. A inteligência na preparação foi a criação de novas métricas que ajudam os modelos a compreender padrões reais, como ‘MoveMagnitude’, que resume o movimento das enfermeiras ao longo do tempo. Também tive atenção à remoção de campos que poderiam causar fuga de dados e afetar a validade da análise.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2ABADB5-4B4B-A355-D9F2-08F31817E6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949222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56A1D-5042-B0FC-CCFE-FDEE61211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1F7FA355-F537-CD42-F00C-6E99F1778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BA9F061A-F1F8-3269-DDA6-5F8DDBFF8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slide mostra o processo essencial para preparar os dados antes de treinar os modelos. Comecei por ler todas as medições, criei amostras representativas, tratei datas e valores em falta, e normalizei as variáveis. A inteligência na preparação foi a criação de novas métricas que ajudam os modelos a compreender padrões reais, como ‘MoveMagnitude’, que resume o movimento das enfermeiras ao longo do tempo. Também tive atenção à remoção de campos que poderiam causar fuga de dados e afetar a validade da análise.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918E11A-854C-5F92-36D6-D1BDD7C84A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812765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A9178-839E-80E5-B379-22B805289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7FABCB67-F454-F05C-0EFA-AB6C3DD39B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21F29BEF-4103-D704-70AE-ABF218024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slide mostra o processo essencial para preparar os dados antes de treinar os modelos. Comecei por ler todas as medições, criei amostras representativas, tratei datas e valores em falta, e normalizei as variáveis. A inteligência na preparação foi a criação de novas métricas que ajudam os modelos a compreender padrões reais, como ‘MoveMagnitude’, que resume o movimento das enfermeiras ao longo do tempo. Também tive atenção à remoção de campos que poderiam causar fuga de dados e afetar a validade da análise.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1979C15-03C1-7DE0-42EF-FCA67F9EAC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11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697822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63543-58CB-C69E-0A7B-9CDFDDC6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A30E8C66-3219-C2E1-1CD4-BAD4496A1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BD609857-AB69-6816-9A65-AE687FA3B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slide mostra o processo essencial para preparar os dados antes de treinar os modelos. Comecei por ler todas as medições, criei amostras representativas, tratei datas e valores em falta, e normalizei as variáveis. A inteligência na preparação foi a criação de novas métricas que ajudam os modelos a compreender padrões reais, como ‘MoveMagnitude’, que resume o movimento das enfermeiras ao longo do tempo. Também tive atenção à remoção de campos que poderiam causar fuga de dados e afetar a validade da análise.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99CADBD-5E7E-E650-9464-76A52BBED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12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934035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581AB-7FF5-E3FE-D79E-C9D97A260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2A416E08-95AA-4E3B-91C0-3A98B7562F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7C690303-6624-59BE-4370-5548D68CA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slide mostra o processo essencial para preparar os dados antes de treinar os modelos. Comecei por ler todas as medições, criei amostras representativas, tratei datas e valores em falta, e normalizei as variáveis. A inteligência na preparação foi a criação de novas métricas que ajudam os modelos a compreender padrões reais, como ‘MoveMagnitude’, que resume o movimento das enfermeiras ao longo do tempo. Também tive atenção à remoção de campos que poderiam causar fuga de dados e afetar a validade da análise.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B8EFFBD-0904-D498-606F-695952BE33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13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926036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639FE-F301-A71B-552D-9C226DB1D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476B7833-7072-351C-706F-C76BE4D212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24755E41-C002-BD37-ADF8-EC86EBA358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slide mostra o processo essencial para preparar os dados antes de treinar os modelos. Comecei por ler todas as medições, criei amostras representativas, tratei datas e valores em falta, e normalizei as variáveis. A inteligência na preparação foi a criação de novas métricas que ajudam os modelos a compreender padrões reais, como ‘MoveMagnitude’, que resume o movimento das enfermeiras ao longo do tempo. Também tive atenção à remoção de campos que poderiam causar fuga de dados e afetar a validade da análise.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75C1534-544E-86B1-F53D-D6F1D1474A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14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529366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A17F9-5533-1024-52FD-A06DB853C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C5C6CBE0-2065-A08D-EF4B-3EB97A28F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8427AC67-5107-B2DE-E9CB-8F01BB9A8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slide mostra o processo essencial para preparar os dados antes de treinar os modelos. Comecei por ler todas as medições, criei amostras representativas, tratei datas e valores em falta, e normalizei as variáveis. A inteligência na preparação foi a criação de novas métricas que ajudam os modelos a compreender padrões reais, como ‘MoveMagnitude’, que resume o movimento das enfermeiras ao longo do tempo. Também tive atenção à remoção de campos que poderiam causar fuga de dados e afetar a validade da análise.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5C75BE5-A514-5A4B-AE78-C521DEC99F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15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357155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C3261-745F-87A4-9CE0-E850D423F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84F8C784-2047-A3A1-C641-0F2F55C216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8CF2E92D-66BC-D4A2-60D6-D532494C9D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slide mostra o processo essencial para preparar os dados antes de treinar os modelos. Comecei por ler todas as medições, criei amostras representativas, tratei datas e valores em falta, e normalizei as variáveis. A inteligência na preparação foi a criação de novas métricas que ajudam os modelos a compreender padrões reais, como ‘MoveMagnitude’, que resume o movimento das enfermeiras ao longo do tempo. Também tive atenção à remoção de campos que poderiam causar fuga de dados e afetar a validade da análise.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3DDAEE8-684A-DBDC-FC9A-918D7C6DA5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16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20447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43A426-EB14-6EA3-7688-BA921C0B48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E906EC-E92A-9048-FAED-F688C27D6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8203ABB-48D3-C3DB-C19D-37F14C0BB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14/01/2026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9765AA9-07E5-01BD-68DA-34458946D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F7FF1DD-C60F-7336-AF73-8945E173E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61207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116C23-C136-B5B5-7774-3E6C3E796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E9695F5-3D2B-FDAE-8A9C-A54D2AF3E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73891B5-E793-740A-78A5-AB71876B6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14/01/2026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671BEB2-1E33-9A5D-AAC0-2DB715D6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6064D3C-2A85-36BB-ABA2-4EBC4DCBE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01770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29302B-7CD2-535E-5106-4DAB5395F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8443AF8-F08F-47EA-3198-5BBE003B1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A4D3115-CE5D-B258-DD7E-5D80B5C1D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14/01/2026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9D5962D-C5EC-28EF-5280-0B85D4D3B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BF849AB-0813-D2AE-5CD4-BEFBEBC5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12047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2CF37-326F-7898-A797-0BBBA880E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AC49BDA-C55A-9190-A5AA-9995A59A2D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AD717AFD-8606-2592-7709-88C34E82AB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67C0DDA-90A3-AF6B-520C-C0A571D08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14/01/2026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21539A36-6D61-6517-9DAC-EE8229795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CA040648-02C2-1C5D-B099-C99BBBCE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70921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CE1835-37D8-845D-69A0-DFF07C833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915BD69-5B39-EAE2-81C0-5A8CAB3F2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0A93EE65-4B62-ABB3-F478-EAA329EDF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5462E51B-EAF6-6358-0E4E-C2EC89626F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12C99265-C348-7C28-8E0A-D5534D0E05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6F9B286A-7994-D80A-8D6D-31DAF8102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14/01/2026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1798D077-05FA-A9AA-C14F-AB5F258D3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76346275-2183-4A11-0072-D9D30AD5B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63049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69CB57-EAC3-436A-3527-CF6182860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6B19BA0B-E51E-5B95-F4E6-CEC39BBC2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14/01/2026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6F2332B4-AA05-E19A-A82F-CC1B1D86B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EFEBC615-1198-B718-2D81-15D1EA25D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38555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80CDEBAE-5A03-FD2B-A0C2-DDDC80391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14/01/2026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A61C3EB4-7DEC-DD66-178C-4D0F63B5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CC6B211-13AE-AA62-D0E4-D5711371C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15372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543945-1FD5-A4DB-49FB-00B0E5611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0126BC1-1258-6703-3CAF-6BB31B898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367633CC-32FB-6E22-A87F-D9186C84B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ADC7D05-48F1-4687-69E5-2F500C52C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14/01/2026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B4191F82-0C87-F6C7-07D8-7BFBDCBF9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2B5A17E8-D233-42BB-3150-84D1E1306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42874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2E20C2-0C16-C7FB-FD1B-CE44B6C3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43F40AA0-CF00-D5EA-01FF-2262C2F70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B64765C3-AF85-2EC0-7954-D1BA7BD70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3A27A198-1198-5144-6497-DE8C65FA6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14/01/2026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2B482D34-66C1-0483-6414-EACEACE00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2999395-18DA-44DF-9F1A-F65B9005F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80299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289D02-98A5-8B51-B4E8-39E8FFEF5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6F21A530-2C54-A6DF-E0A7-0740B3CE2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3A5EFEC-2042-2AD6-9D18-3BBB1FA53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14/01/2026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A798AE4-26DD-59E1-2986-D0327EBB8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485632F-85B4-C1C9-D4A7-2B17FCD9D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4730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0B6E04-F964-2B0B-92CA-15DF75294D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3B2580C6-CD06-88DF-DDD0-6985C46BC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B5C20B1-E35F-108A-65CF-40AE6ED20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14/01/2026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C2E39D8-F14C-2E18-E736-5FDDC0D68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CB7E06D-55C5-DB45-AF8D-C2EC47059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03954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9CB08DA5-8E45-4525-2EDC-2D7988C88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2364359-8D46-32A9-763C-EDF2DAC2D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A625105-ACCC-77C3-31CC-A141431FAE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C5723F-1371-495A-8067-455C650E7737}" type="datetimeFigureOut">
              <a:rPr lang="pt-PT" smtClean="0"/>
              <a:t>14/01/2026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F5C4E16-D623-6FFA-6063-25668684E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034D9DF-C769-CC10-A98F-38A9322B7C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5886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8F875A7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1377AD7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9_8B8E44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jpe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1EE61-2F39-8481-E437-94DEEE01CC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4908" y="943719"/>
            <a:ext cx="9353323" cy="1612035"/>
          </a:xfrm>
        </p:spPr>
        <p:txBody>
          <a:bodyPr>
            <a:normAutofit/>
          </a:bodyPr>
          <a:lstStyle/>
          <a:p>
            <a:r>
              <a:rPr lang="pt-P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Implementação de Service Function Chaining (SFC) com P4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AED611-176D-0120-C3B8-4A7229363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51425" y="3794016"/>
            <a:ext cx="9002139" cy="3379049"/>
          </a:xfrm>
        </p:spPr>
        <p:txBody>
          <a:bodyPr>
            <a:normAutofit/>
          </a:bodyPr>
          <a:lstStyle/>
          <a:p>
            <a:pPr algn="l">
              <a:lnSpc>
                <a:spcPct val="170000"/>
              </a:lnSpc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Grupo 3: </a:t>
            </a:r>
            <a:b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Luis Baptista PG61434</a:t>
            </a:r>
          </a:p>
          <a:p>
            <a:pPr algn="l">
              <a:lnSpc>
                <a:spcPct val="170000"/>
              </a:lnSpc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Bernardo Salgado PG59972</a:t>
            </a:r>
          </a:p>
          <a:p>
            <a:pPr algn="l">
              <a:lnSpc>
                <a:spcPct val="170000"/>
              </a:lnSpc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João Teixeira A101262 </a:t>
            </a:r>
          </a:p>
          <a:p>
            <a:pPr>
              <a:lnSpc>
                <a:spcPct val="150000"/>
              </a:lnSpc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2025/26</a:t>
            </a:r>
          </a:p>
        </p:txBody>
      </p:sp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B8A7FF0E-B58B-DFA0-1C3D-2D836C868407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7" name="Conexão reta 6">
            <a:extLst>
              <a:ext uri="{FF2B5EF4-FFF2-40B4-BE49-F238E27FC236}">
                <a16:creationId xmlns:a16="http://schemas.microsoft.com/office/drawing/2014/main" id="{AB5E098C-9123-BBDD-C5EF-C78CFB5B9E8E}"/>
              </a:ext>
            </a:extLst>
          </p:cNvPr>
          <p:cNvCxnSpPr>
            <a:cxnSpLocks/>
          </p:cNvCxnSpPr>
          <p:nvPr/>
        </p:nvCxnSpPr>
        <p:spPr>
          <a:xfrm flipV="1">
            <a:off x="1845507" y="3274785"/>
            <a:ext cx="10346493" cy="1562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654EECC-81D5-163B-6B3B-B7125AF28A05}"/>
              </a:ext>
            </a:extLst>
          </p:cNvPr>
          <p:cNvSpPr txBox="1"/>
          <p:nvPr/>
        </p:nvSpPr>
        <p:spPr>
          <a:xfrm>
            <a:off x="2164908" y="2613320"/>
            <a:ext cx="944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GVR – Módulo de Virtualização de Redes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4E91423-771B-2FCB-8DB7-B03D30A94C92}"/>
              </a:ext>
            </a:extLst>
          </p:cNvPr>
          <p:cNvSpPr txBox="1"/>
          <p:nvPr/>
        </p:nvSpPr>
        <p:spPr>
          <a:xfrm>
            <a:off x="3594424" y="3274785"/>
            <a:ext cx="93391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Mestrado Em Engenharia De Telecomunicações E Informática</a:t>
            </a:r>
          </a:p>
          <a:p>
            <a:endParaRPr lang="pt-PT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AB4E474-DD53-922F-E9AF-695DE9109DF7}"/>
              </a:ext>
            </a:extLst>
          </p:cNvPr>
          <p:cNvSpPr txBox="1"/>
          <p:nvPr/>
        </p:nvSpPr>
        <p:spPr>
          <a:xfrm>
            <a:off x="289154" y="1024101"/>
            <a:ext cx="4211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Universidade do Minho</a:t>
            </a:r>
          </a:p>
          <a:p>
            <a:r>
              <a:rPr lang="pt-P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Escola de Engenharia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65310C6-A67B-06C6-5953-D3CE308D62E2}"/>
              </a:ext>
            </a:extLst>
          </p:cNvPr>
          <p:cNvSpPr/>
          <p:nvPr/>
        </p:nvSpPr>
        <p:spPr>
          <a:xfrm>
            <a:off x="360948" y="1558978"/>
            <a:ext cx="741560" cy="5306442"/>
          </a:xfrm>
          <a:prstGeom prst="rect">
            <a:avLst/>
          </a:prstGeom>
          <a:solidFill>
            <a:srgbClr val="8711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A8786C4-3D82-08D6-047B-BDD2C4E85192}"/>
              </a:ext>
            </a:extLst>
          </p:cNvPr>
          <p:cNvSpPr/>
          <p:nvPr/>
        </p:nvSpPr>
        <p:spPr>
          <a:xfrm>
            <a:off x="1103947" y="1558978"/>
            <a:ext cx="741560" cy="5306442"/>
          </a:xfrm>
          <a:prstGeom prst="rect">
            <a:avLst/>
          </a:prstGeom>
          <a:solidFill>
            <a:srgbClr val="C76C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08012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65143B22-344B-AC0D-6984-70B7376D4676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DFB57B3F-B865-2E59-CBC8-F759D8271DD1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B949F51-05E1-A57C-D2FD-555C45FB9E42}"/>
              </a:ext>
            </a:extLst>
          </p:cNvPr>
          <p:cNvSpPr txBox="1"/>
          <p:nvPr/>
        </p:nvSpPr>
        <p:spPr>
          <a:xfrm>
            <a:off x="192505" y="1366684"/>
            <a:ext cx="11790948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Introdução: </a:t>
            </a:r>
            <a:r>
              <a:rPr lang="pt-PT" sz="3200" b="1" dirty="0"/>
              <a:t>Otimização de Redes em Cidades Inteligentes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CF77160-4A56-33A7-2ADB-791841605D5F}"/>
              </a:ext>
            </a:extLst>
          </p:cNvPr>
          <p:cNvSpPr txBox="1"/>
          <p:nvPr/>
        </p:nvSpPr>
        <p:spPr>
          <a:xfrm>
            <a:off x="360948" y="2712397"/>
            <a:ext cx="11083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Este trabalho aborda a otimização de infraestruturas de rede em cidades inteligentes, propondo a consolidação de serviços heterogéneos numa única backbone partilhada através de Service Function Chaining (SFC).</a:t>
            </a:r>
          </a:p>
          <a:p>
            <a:pPr algn="just">
              <a:lnSpc>
                <a:spcPct val="150000"/>
              </a:lnSpc>
            </a:pPr>
            <a:endParaRPr lang="pt-PT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PT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Utilizando a linguagem P4 para programação flexível do plano de dados, o estudo desenvolve e valida experimentalmente um protótipo capaz de diferenciar e gerir tráfego crítico, controlado e utilitário.</a:t>
            </a:r>
          </a:p>
          <a:p>
            <a:pPr algn="just"/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10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ED4D8-82CA-BACF-ECB7-6CF4BE251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DE95ED8E-BCA8-008C-8DEF-05C7A2AC2167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A9297DAD-453F-29D1-71D4-2C7C2F94F857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8A112D6-A38E-EB8B-1128-BAB225AA5A7F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Arquitetura de Alto Nível e Topologia Física</a:t>
            </a:r>
          </a:p>
        </p:txBody>
      </p:sp>
      <p:pic>
        <p:nvPicPr>
          <p:cNvPr id="2" name="Imagem 1" descr="Uma imagem com diagrama, texto, file, design&#10;&#10;Os conteúdos gerados por IA podem estar incorretos.">
            <a:extLst>
              <a:ext uri="{FF2B5EF4-FFF2-40B4-BE49-F238E27FC236}">
                <a16:creationId xmlns:a16="http://schemas.microsoft.com/office/drawing/2014/main" id="{4F3C3D29-09B6-84DA-8514-56664397D0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548" y="2147068"/>
            <a:ext cx="8814215" cy="460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356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E1A68-10E2-2777-6E90-6F6BFD95F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6804CB8D-0CAC-BBF3-64B5-FCE49F5BEA38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4EEE5B1A-4D76-40E5-4C61-37A70C43B7AB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D19AFBA-B317-3F31-9DE7-4F891B2ACDFF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Definição das Cadeias de Serviço (Service Chains)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CA545EA-5920-44F7-9F4D-0B77C3204D91}"/>
              </a:ext>
            </a:extLst>
          </p:cNvPr>
          <p:cNvSpPr/>
          <p:nvPr/>
        </p:nvSpPr>
        <p:spPr>
          <a:xfrm>
            <a:off x="629264" y="2147068"/>
            <a:ext cx="2998356" cy="43079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0960DD8A-D105-5997-30C5-E3C52A453E12}"/>
              </a:ext>
            </a:extLst>
          </p:cNvPr>
          <p:cNvSpPr/>
          <p:nvPr/>
        </p:nvSpPr>
        <p:spPr>
          <a:xfrm>
            <a:off x="629264" y="2147949"/>
            <a:ext cx="2998356" cy="164892"/>
          </a:xfrm>
          <a:prstGeom prst="rect">
            <a:avLst/>
          </a:prstGeom>
          <a:solidFill>
            <a:srgbClr val="C00000"/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71899699-D1C0-F4D2-5842-085B0B7EAC24}"/>
              </a:ext>
            </a:extLst>
          </p:cNvPr>
          <p:cNvSpPr txBox="1"/>
          <p:nvPr/>
        </p:nvSpPr>
        <p:spPr>
          <a:xfrm>
            <a:off x="787910" y="3873095"/>
            <a:ext cx="26810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Prioridade: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Alta (Expedited Forwarding)</a:t>
            </a:r>
          </a:p>
          <a:p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Requisito: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Path (Sem degradação)</a:t>
            </a:r>
          </a:p>
          <a:p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Funções: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Ingress – ACL –QoS - Egress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F7F93D3-97BE-435E-212E-7497E58F4ADA}"/>
              </a:ext>
            </a:extLst>
          </p:cNvPr>
          <p:cNvSpPr/>
          <p:nvPr/>
        </p:nvSpPr>
        <p:spPr>
          <a:xfrm>
            <a:off x="4424274" y="2147068"/>
            <a:ext cx="2998356" cy="43079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32CC001-6B9D-8A2B-B3ED-20DEC9FBB6A0}"/>
              </a:ext>
            </a:extLst>
          </p:cNvPr>
          <p:cNvSpPr/>
          <p:nvPr/>
        </p:nvSpPr>
        <p:spPr>
          <a:xfrm>
            <a:off x="4424274" y="2147949"/>
            <a:ext cx="2998356" cy="16489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1B24E35-DFD2-8BA5-7841-2CA0B8AF992E}"/>
              </a:ext>
            </a:extLst>
          </p:cNvPr>
          <p:cNvSpPr/>
          <p:nvPr/>
        </p:nvSpPr>
        <p:spPr>
          <a:xfrm>
            <a:off x="8441636" y="2166414"/>
            <a:ext cx="2998355" cy="43079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E582936-8424-AF9C-9E16-03A7B294FAF7}"/>
              </a:ext>
            </a:extLst>
          </p:cNvPr>
          <p:cNvSpPr/>
          <p:nvPr/>
        </p:nvSpPr>
        <p:spPr>
          <a:xfrm>
            <a:off x="8441637" y="2167295"/>
            <a:ext cx="2998354" cy="14554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C9FFEB9-27AB-BA4D-6D41-D3D4E934D404}"/>
              </a:ext>
            </a:extLst>
          </p:cNvPr>
          <p:cNvSpPr txBox="1"/>
          <p:nvPr/>
        </p:nvSpPr>
        <p:spPr>
          <a:xfrm>
            <a:off x="787910" y="2364990"/>
            <a:ext cx="268106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 1: Tráfego Crítico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UDP Port 5555</a:t>
            </a:r>
          </a:p>
          <a:p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5BAD99B-B6EE-F467-BDA4-73353B625301}"/>
              </a:ext>
            </a:extLst>
          </p:cNvPr>
          <p:cNvSpPr txBox="1"/>
          <p:nvPr/>
        </p:nvSpPr>
        <p:spPr>
          <a:xfrm>
            <a:off x="4487980" y="2364989"/>
            <a:ext cx="288718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 2: Tráfego Controlado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UDP Port 6666</a:t>
            </a:r>
          </a:p>
          <a:p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3DC2B79-B39A-4DF4-6EDF-216F6E7F52BD}"/>
              </a:ext>
            </a:extLst>
          </p:cNvPr>
          <p:cNvSpPr txBox="1"/>
          <p:nvPr/>
        </p:nvSpPr>
        <p:spPr>
          <a:xfrm>
            <a:off x="8634334" y="2364990"/>
            <a:ext cx="276975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 3: Tráfego Utilitário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UDP Port 80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1CCD12A-785F-ACB7-DF40-2D2304FB93E8}"/>
              </a:ext>
            </a:extLst>
          </p:cNvPr>
          <p:cNvSpPr txBox="1"/>
          <p:nvPr/>
        </p:nvSpPr>
        <p:spPr>
          <a:xfrm>
            <a:off x="4582920" y="3925242"/>
            <a:ext cx="26810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Prioridade: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Best-Effort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Requisito: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Verificação ACL Obrigatória</a:t>
            </a:r>
          </a:p>
          <a:p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Funções: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Ingress – ACL –QoS – Transit (R4) - Egress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7655DDE-492C-8138-C3F3-EC26723CC556}"/>
              </a:ext>
            </a:extLst>
          </p:cNvPr>
          <p:cNvSpPr txBox="1"/>
          <p:nvPr/>
        </p:nvSpPr>
        <p:spPr>
          <a:xfrm>
            <a:off x="8600281" y="3925242"/>
            <a:ext cx="268106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Prioridade: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Best-Effort</a:t>
            </a:r>
          </a:p>
          <a:p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Requisito: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 ACL, Caminho Degradado</a:t>
            </a:r>
          </a:p>
          <a:p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Funções: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Ingress – QoS – Transit (R4) - Egress</a:t>
            </a:r>
          </a:p>
        </p:txBody>
      </p:sp>
    </p:spTree>
    <p:extLst>
      <p:ext uri="{BB962C8B-B14F-4D97-AF65-F5344CB8AC3E}">
        <p14:creationId xmlns:p14="http://schemas.microsoft.com/office/powerpoint/2010/main" val="450648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8" grpId="0" animBg="1"/>
      <p:bldP spid="30" grpId="0"/>
      <p:bldP spid="7" grpId="0" animBg="1"/>
      <p:bldP spid="8" grpId="0" animBg="1"/>
      <p:bldP spid="11" grpId="0" animBg="1"/>
      <p:bldP spid="12" grpId="0" animBg="1"/>
      <p:bldP spid="15" grpId="0"/>
      <p:bldP spid="16" grpId="0"/>
      <p:bldP spid="17" grpId="0"/>
      <p:bldP spid="18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7115D-4EBA-F13B-37D0-D0C45A2D5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6286C3F6-37EE-72B9-DCEE-D30E045C033E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C5FFE745-6B42-700A-42D7-659CE368C3C6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4621C9F-2B60-30A9-422F-4EFD67BE5660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Inovação: O Cabeçalho SFC Personalizado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C779980-38FF-602F-4216-9DD9FBBBCA1A}"/>
              </a:ext>
            </a:extLst>
          </p:cNvPr>
          <p:cNvSpPr txBox="1"/>
          <p:nvPr/>
        </p:nvSpPr>
        <p:spPr>
          <a:xfrm>
            <a:off x="3252542" y="1962402"/>
            <a:ext cx="10838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Inserção de metadata de 48 bits entre Ethernet e IPV4</a:t>
            </a:r>
          </a:p>
        </p:txBody>
      </p:sp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795151FA-D0FB-76AA-331C-B75D66972E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148564"/>
              </p:ext>
            </p:extLst>
          </p:nvPr>
        </p:nvGraphicFramePr>
        <p:xfrm>
          <a:off x="629264" y="2597853"/>
          <a:ext cx="11090785" cy="77806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8157">
                  <a:extLst>
                    <a:ext uri="{9D8B030D-6E8A-4147-A177-3AD203B41FA5}">
                      <a16:colId xmlns:a16="http://schemas.microsoft.com/office/drawing/2014/main" val="1243770199"/>
                    </a:ext>
                  </a:extLst>
                </a:gridCol>
                <a:gridCol w="2218157">
                  <a:extLst>
                    <a:ext uri="{9D8B030D-6E8A-4147-A177-3AD203B41FA5}">
                      <a16:colId xmlns:a16="http://schemas.microsoft.com/office/drawing/2014/main" val="569958863"/>
                    </a:ext>
                  </a:extLst>
                </a:gridCol>
                <a:gridCol w="2218157">
                  <a:extLst>
                    <a:ext uri="{9D8B030D-6E8A-4147-A177-3AD203B41FA5}">
                      <a16:colId xmlns:a16="http://schemas.microsoft.com/office/drawing/2014/main" val="3665895635"/>
                    </a:ext>
                  </a:extLst>
                </a:gridCol>
                <a:gridCol w="2218157">
                  <a:extLst>
                    <a:ext uri="{9D8B030D-6E8A-4147-A177-3AD203B41FA5}">
                      <a16:colId xmlns:a16="http://schemas.microsoft.com/office/drawing/2014/main" val="15975733"/>
                    </a:ext>
                  </a:extLst>
                </a:gridCol>
                <a:gridCol w="2218157">
                  <a:extLst>
                    <a:ext uri="{9D8B030D-6E8A-4147-A177-3AD203B41FA5}">
                      <a16:colId xmlns:a16="http://schemas.microsoft.com/office/drawing/2014/main" val="2796239576"/>
                    </a:ext>
                  </a:extLst>
                </a:gridCol>
              </a:tblGrid>
              <a:tr h="778069"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  <a:p>
                      <a:pPr algn="ctr"/>
                      <a:r>
                        <a:rPr lang="pt-PT" dirty="0"/>
                        <a:t>[Ethernet (14B)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  <a:p>
                      <a:pPr algn="ctr"/>
                      <a:r>
                        <a:rPr lang="pt-PT" dirty="0">
                          <a:solidFill>
                            <a:schemeClr val="bg1"/>
                          </a:solidFill>
                        </a:rPr>
                        <a:t>[SFC Header (6B)]</a:t>
                      </a:r>
                    </a:p>
                  </a:txBody>
                  <a:tcPr>
                    <a:solidFill>
                      <a:srgbClr val="C90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  <a:p>
                      <a:pPr algn="ctr"/>
                      <a:r>
                        <a:rPr lang="pt-PT" dirty="0"/>
                        <a:t>[IPv4 (20B)]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  <a:p>
                      <a:pPr algn="ctr"/>
                      <a:r>
                        <a:rPr lang="pt-PT" dirty="0"/>
                        <a:t>[UDP]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  <a:p>
                      <a:pPr algn="ctr"/>
                      <a:r>
                        <a:rPr lang="pt-PT" dirty="0"/>
                        <a:t>[Payload]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6484053"/>
                  </a:ext>
                </a:extLst>
              </a:tr>
            </a:tbl>
          </a:graphicData>
        </a:graphic>
      </p:graphicFrame>
      <p:cxnSp>
        <p:nvCxnSpPr>
          <p:cNvPr id="24" name="Conexão reta 23">
            <a:extLst>
              <a:ext uri="{FF2B5EF4-FFF2-40B4-BE49-F238E27FC236}">
                <a16:creationId xmlns:a16="http://schemas.microsoft.com/office/drawing/2014/main" id="{4B5F3130-5BB4-C6F5-AA39-F6CC5EE5CBD2}"/>
              </a:ext>
            </a:extLst>
          </p:cNvPr>
          <p:cNvCxnSpPr>
            <a:cxnSpLocks/>
          </p:cNvCxnSpPr>
          <p:nvPr/>
        </p:nvCxnSpPr>
        <p:spPr>
          <a:xfrm flipH="1">
            <a:off x="813013" y="3375922"/>
            <a:ext cx="2005138" cy="462774"/>
          </a:xfrm>
          <a:prstGeom prst="line">
            <a:avLst/>
          </a:prstGeom>
          <a:ln>
            <a:solidFill>
              <a:srgbClr val="C903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xão reta 24">
            <a:extLst>
              <a:ext uri="{FF2B5EF4-FFF2-40B4-BE49-F238E27FC236}">
                <a16:creationId xmlns:a16="http://schemas.microsoft.com/office/drawing/2014/main" id="{8EBD53FA-A950-A308-9EBC-62B2DF645A97}"/>
              </a:ext>
            </a:extLst>
          </p:cNvPr>
          <p:cNvCxnSpPr>
            <a:cxnSpLocks/>
          </p:cNvCxnSpPr>
          <p:nvPr/>
        </p:nvCxnSpPr>
        <p:spPr>
          <a:xfrm>
            <a:off x="5081666" y="3375922"/>
            <a:ext cx="6481070" cy="466773"/>
          </a:xfrm>
          <a:prstGeom prst="line">
            <a:avLst/>
          </a:prstGeom>
          <a:ln>
            <a:solidFill>
              <a:srgbClr val="C903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ela 28">
            <a:extLst>
              <a:ext uri="{FF2B5EF4-FFF2-40B4-BE49-F238E27FC236}">
                <a16:creationId xmlns:a16="http://schemas.microsoft.com/office/drawing/2014/main" id="{DC86BA9F-094F-0E80-9D1F-DFE161385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239159"/>
              </p:ext>
            </p:extLst>
          </p:nvPr>
        </p:nvGraphicFramePr>
        <p:xfrm>
          <a:off x="813013" y="3842695"/>
          <a:ext cx="10723285" cy="12801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144657">
                  <a:extLst>
                    <a:ext uri="{9D8B030D-6E8A-4147-A177-3AD203B41FA5}">
                      <a16:colId xmlns:a16="http://schemas.microsoft.com/office/drawing/2014/main" val="2316369585"/>
                    </a:ext>
                  </a:extLst>
                </a:gridCol>
                <a:gridCol w="2144657">
                  <a:extLst>
                    <a:ext uri="{9D8B030D-6E8A-4147-A177-3AD203B41FA5}">
                      <a16:colId xmlns:a16="http://schemas.microsoft.com/office/drawing/2014/main" val="2725038994"/>
                    </a:ext>
                  </a:extLst>
                </a:gridCol>
                <a:gridCol w="2144657">
                  <a:extLst>
                    <a:ext uri="{9D8B030D-6E8A-4147-A177-3AD203B41FA5}">
                      <a16:colId xmlns:a16="http://schemas.microsoft.com/office/drawing/2014/main" val="4283020832"/>
                    </a:ext>
                  </a:extLst>
                </a:gridCol>
                <a:gridCol w="2144657">
                  <a:extLst>
                    <a:ext uri="{9D8B030D-6E8A-4147-A177-3AD203B41FA5}">
                      <a16:colId xmlns:a16="http://schemas.microsoft.com/office/drawing/2014/main" val="834970451"/>
                    </a:ext>
                  </a:extLst>
                </a:gridCol>
                <a:gridCol w="2144657">
                  <a:extLst>
                    <a:ext uri="{9D8B030D-6E8A-4147-A177-3AD203B41FA5}">
                      <a16:colId xmlns:a16="http://schemas.microsoft.com/office/drawing/2014/main" val="700390246"/>
                    </a:ext>
                  </a:extLst>
                </a:gridCol>
              </a:tblGrid>
              <a:tr h="598039">
                <a:tc>
                  <a:txBody>
                    <a:bodyPr/>
                    <a:lstStyle/>
                    <a:p>
                      <a:pPr algn="ctr"/>
                      <a:r>
                        <a:rPr lang="pt-PT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2</a:t>
                      </a:r>
                    </a:p>
                    <a:p>
                      <a:pPr algn="ctr"/>
                      <a:endParaRPr lang="pt-PT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3</a:t>
                      </a:r>
                    </a:p>
                    <a:p>
                      <a:pPr algn="ctr"/>
                      <a:endParaRPr lang="pt-PT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4</a:t>
                      </a:r>
                    </a:p>
                    <a:p>
                      <a:pPr algn="ctr"/>
                      <a:endParaRPr lang="pt-PT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5</a:t>
                      </a:r>
                    </a:p>
                    <a:p>
                      <a:pPr algn="ctr"/>
                      <a:endParaRPr lang="pt-PT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972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Proto_id </a:t>
                      </a:r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(16 bits)</a:t>
                      </a:r>
                    </a:p>
                    <a:p>
                      <a:pPr algn="ctr"/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IPV4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chain_id </a:t>
                      </a:r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 bits)</a:t>
                      </a:r>
                    </a:p>
                    <a:p>
                      <a:pPr algn="ctr"/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ID: 1,2,3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service_index </a:t>
                      </a:r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 bits) Current Hops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service_len </a:t>
                      </a:r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 bits)</a:t>
                      </a:r>
                    </a:p>
                    <a:p>
                      <a:pPr algn="ctr"/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Hops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qos_class </a:t>
                      </a:r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 bits) </a:t>
                      </a:r>
                    </a:p>
                    <a:p>
                      <a:pPr algn="ctr"/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 =BE, 1=EF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4910861"/>
                  </a:ext>
                </a:extLst>
              </a:tr>
            </a:tbl>
          </a:graphicData>
        </a:graphic>
      </p:graphicFrame>
      <p:sp>
        <p:nvSpPr>
          <p:cNvPr id="34" name="CaixaDeTexto 33">
            <a:extLst>
              <a:ext uri="{FF2B5EF4-FFF2-40B4-BE49-F238E27FC236}">
                <a16:creationId xmlns:a16="http://schemas.microsoft.com/office/drawing/2014/main" id="{52309E08-3D3A-8179-A009-30F6265171F0}"/>
              </a:ext>
            </a:extLst>
          </p:cNvPr>
          <p:cNvSpPr txBox="1"/>
          <p:nvPr/>
        </p:nvSpPr>
        <p:spPr>
          <a:xfrm>
            <a:off x="3176622" y="5194333"/>
            <a:ext cx="299803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 sfc_t {</a:t>
            </a:r>
          </a:p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</a:t>
            </a:r>
            <a:r>
              <a:rPr lang="pt-PT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&lt;16&gt; proto_id;</a:t>
            </a:r>
          </a:p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</a:t>
            </a:r>
            <a:r>
              <a:rPr lang="pt-PT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&lt;8&gt; chain_id;</a:t>
            </a:r>
          </a:p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</a:t>
            </a:r>
            <a:r>
              <a:rPr lang="pt-PT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&lt;8&gt; service_index;</a:t>
            </a:r>
          </a:p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</a:t>
            </a:r>
            <a:r>
              <a:rPr lang="pt-PT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&lt;8&gt; service_len;</a:t>
            </a:r>
          </a:p>
          <a:p>
            <a:r>
              <a:rPr lang="pt-PT" sz="1600" dirty="0"/>
              <a:t>bit </a:t>
            </a:r>
            <a:r>
              <a:rPr lang="pt-PT" sz="1600" b="1" dirty="0"/>
              <a:t>&lt;8&gt; qos_class;</a:t>
            </a:r>
          </a:p>
          <a:p>
            <a:endParaRPr lang="pt-PT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65321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BC29E-2889-A919-E085-75F89D785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655A49C0-C09E-340A-26D6-F349C52097E5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A4D27B4C-9497-C16F-2AD5-36EB2FE0D5C8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519224B-1AB9-2FE7-B76B-843C8618BD4A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Passo 1: Classificação e Encapsulamento (R1)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530FEB1-D70C-1A65-53EE-0F46A620C754}"/>
              </a:ext>
            </a:extLst>
          </p:cNvPr>
          <p:cNvSpPr/>
          <p:nvPr/>
        </p:nvSpPr>
        <p:spPr>
          <a:xfrm>
            <a:off x="707371" y="3307364"/>
            <a:ext cx="1799143" cy="12741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Pacote IPV4</a:t>
            </a:r>
          </a:p>
          <a:p>
            <a:pPr algn="ctr"/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(Host 10.0.1.X)</a:t>
            </a:r>
          </a:p>
        </p:txBody>
      </p:sp>
      <p:sp>
        <p:nvSpPr>
          <p:cNvPr id="19" name="Fluxograma: Decisão 18">
            <a:extLst>
              <a:ext uri="{FF2B5EF4-FFF2-40B4-BE49-F238E27FC236}">
                <a16:creationId xmlns:a16="http://schemas.microsoft.com/office/drawing/2014/main" id="{D92E6A1F-64B6-D1B8-B8F0-876510640168}"/>
              </a:ext>
            </a:extLst>
          </p:cNvPr>
          <p:cNvSpPr/>
          <p:nvPr/>
        </p:nvSpPr>
        <p:spPr>
          <a:xfrm>
            <a:off x="3042014" y="3362728"/>
            <a:ext cx="2427199" cy="1163433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1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Sfc_classifier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6A22E64-B2C5-4AEA-97AA-C71195163998}"/>
              </a:ext>
            </a:extLst>
          </p:cNvPr>
          <p:cNvSpPr/>
          <p:nvPr/>
        </p:nvSpPr>
        <p:spPr>
          <a:xfrm>
            <a:off x="5814892" y="2163932"/>
            <a:ext cx="1545278" cy="7331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 ID =1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BCC113FA-4241-5A68-5E58-B0A6EBFAAE74}"/>
              </a:ext>
            </a:extLst>
          </p:cNvPr>
          <p:cNvSpPr/>
          <p:nvPr/>
        </p:nvSpPr>
        <p:spPr>
          <a:xfrm>
            <a:off x="5814892" y="3577871"/>
            <a:ext cx="1545278" cy="7331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 ID =2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7105C88E-0EC2-D9F9-75B2-347C4CABCD0F}"/>
              </a:ext>
            </a:extLst>
          </p:cNvPr>
          <p:cNvSpPr/>
          <p:nvPr/>
        </p:nvSpPr>
        <p:spPr>
          <a:xfrm>
            <a:off x="5814892" y="4741304"/>
            <a:ext cx="1545278" cy="7331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 ID =3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EC52ECF5-5540-B423-8027-4349D718805C}"/>
              </a:ext>
            </a:extLst>
          </p:cNvPr>
          <p:cNvSpPr/>
          <p:nvPr/>
        </p:nvSpPr>
        <p:spPr>
          <a:xfrm>
            <a:off x="8051528" y="2840310"/>
            <a:ext cx="2591488" cy="17162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Action: sfc_encap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SFC Header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Chain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Service Index = 0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70521C9C-C971-8479-C0D2-436063C5FFA3}"/>
              </a:ext>
            </a:extLst>
          </p:cNvPr>
          <p:cNvSpPr/>
          <p:nvPr/>
        </p:nvSpPr>
        <p:spPr>
          <a:xfrm>
            <a:off x="7838080" y="5445434"/>
            <a:ext cx="4046377" cy="12272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(UDP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dest_port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5555) → Chain 1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(UDP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dest_port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6666) → Chain 2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(UDP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dest_port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80) → Chain 3 </a:t>
            </a:r>
          </a:p>
        </p:txBody>
      </p:sp>
      <p:cxnSp>
        <p:nvCxnSpPr>
          <p:cNvPr id="30" name="Conexão reta unidirecional 29">
            <a:extLst>
              <a:ext uri="{FF2B5EF4-FFF2-40B4-BE49-F238E27FC236}">
                <a16:creationId xmlns:a16="http://schemas.microsoft.com/office/drawing/2014/main" id="{D27088E6-FE57-FFF6-D041-02E678778861}"/>
              </a:ext>
            </a:extLst>
          </p:cNvPr>
          <p:cNvCxnSpPr>
            <a:cxnSpLocks/>
            <a:stCxn id="9" idx="3"/>
            <a:endCxn id="19" idx="1"/>
          </p:cNvCxnSpPr>
          <p:nvPr/>
        </p:nvCxnSpPr>
        <p:spPr>
          <a:xfrm flipV="1">
            <a:off x="2506514" y="3944445"/>
            <a:ext cx="5355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xão reta unidirecional 30">
            <a:extLst>
              <a:ext uri="{FF2B5EF4-FFF2-40B4-BE49-F238E27FC236}">
                <a16:creationId xmlns:a16="http://schemas.microsoft.com/office/drawing/2014/main" id="{3ABE4CB0-197F-4ADD-5151-682D22BEE59C}"/>
              </a:ext>
            </a:extLst>
          </p:cNvPr>
          <p:cNvCxnSpPr>
            <a:cxnSpLocks/>
            <a:stCxn id="19" idx="3"/>
            <a:endCxn id="23" idx="1"/>
          </p:cNvCxnSpPr>
          <p:nvPr/>
        </p:nvCxnSpPr>
        <p:spPr>
          <a:xfrm>
            <a:off x="5469213" y="3944445"/>
            <a:ext cx="34567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xão: Ângulo Reto 35">
            <a:extLst>
              <a:ext uri="{FF2B5EF4-FFF2-40B4-BE49-F238E27FC236}">
                <a16:creationId xmlns:a16="http://schemas.microsoft.com/office/drawing/2014/main" id="{CEEB6484-AC6B-6BE1-98ED-D1B6B368AC3E}"/>
              </a:ext>
            </a:extLst>
          </p:cNvPr>
          <p:cNvCxnSpPr>
            <a:cxnSpLocks/>
            <a:stCxn id="19" idx="0"/>
            <a:endCxn id="21" idx="1"/>
          </p:cNvCxnSpPr>
          <p:nvPr/>
        </p:nvCxnSpPr>
        <p:spPr>
          <a:xfrm rot="5400000" flipH="1" flipV="1">
            <a:off x="4619143" y="2166979"/>
            <a:ext cx="832221" cy="155927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xão: Ângulo Reto 37">
            <a:extLst>
              <a:ext uri="{FF2B5EF4-FFF2-40B4-BE49-F238E27FC236}">
                <a16:creationId xmlns:a16="http://schemas.microsoft.com/office/drawing/2014/main" id="{6D5E276D-91E9-8B70-CB8E-9D01F59480B4}"/>
              </a:ext>
            </a:extLst>
          </p:cNvPr>
          <p:cNvCxnSpPr>
            <a:cxnSpLocks/>
            <a:stCxn id="19" idx="2"/>
            <a:endCxn id="24" idx="1"/>
          </p:cNvCxnSpPr>
          <p:nvPr/>
        </p:nvCxnSpPr>
        <p:spPr>
          <a:xfrm rot="16200000" flipH="1">
            <a:off x="4744394" y="4037381"/>
            <a:ext cx="581718" cy="155927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xão: Ângulo Reto 39">
            <a:extLst>
              <a:ext uri="{FF2B5EF4-FFF2-40B4-BE49-F238E27FC236}">
                <a16:creationId xmlns:a16="http://schemas.microsoft.com/office/drawing/2014/main" id="{9E77AE23-8C0C-0CE2-6AA7-F06161A1FDA2}"/>
              </a:ext>
            </a:extLst>
          </p:cNvPr>
          <p:cNvCxnSpPr>
            <a:cxnSpLocks/>
            <a:stCxn id="21" idx="3"/>
            <a:endCxn id="27" idx="0"/>
          </p:cNvCxnSpPr>
          <p:nvPr/>
        </p:nvCxnSpPr>
        <p:spPr>
          <a:xfrm>
            <a:off x="7360170" y="2530507"/>
            <a:ext cx="1987102" cy="30980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xão reta unidirecional 41">
            <a:extLst>
              <a:ext uri="{FF2B5EF4-FFF2-40B4-BE49-F238E27FC236}">
                <a16:creationId xmlns:a16="http://schemas.microsoft.com/office/drawing/2014/main" id="{B001A154-42F3-5846-3809-6A1BD679EAF3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7360170" y="3944445"/>
            <a:ext cx="69135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xão: Ângulo Reto 50">
            <a:extLst>
              <a:ext uri="{FF2B5EF4-FFF2-40B4-BE49-F238E27FC236}">
                <a16:creationId xmlns:a16="http://schemas.microsoft.com/office/drawing/2014/main" id="{32761EC0-DD2E-086C-9651-C8B7FA8E43D8}"/>
              </a:ext>
            </a:extLst>
          </p:cNvPr>
          <p:cNvCxnSpPr>
            <a:cxnSpLocks/>
            <a:stCxn id="24" idx="3"/>
            <a:endCxn id="27" idx="2"/>
          </p:cNvCxnSpPr>
          <p:nvPr/>
        </p:nvCxnSpPr>
        <p:spPr>
          <a:xfrm flipV="1">
            <a:off x="7360170" y="4556583"/>
            <a:ext cx="1987102" cy="55129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exão reta unidirecional 61">
            <a:extLst>
              <a:ext uri="{FF2B5EF4-FFF2-40B4-BE49-F238E27FC236}">
                <a16:creationId xmlns:a16="http://schemas.microsoft.com/office/drawing/2014/main" id="{1B76B26C-F770-1D21-CE35-D27C5BAFE3A7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10643016" y="3698446"/>
            <a:ext cx="29980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8B81B361-1D81-3D6F-131A-DB657175DCA6}"/>
              </a:ext>
            </a:extLst>
          </p:cNvPr>
          <p:cNvSpPr txBox="1"/>
          <p:nvPr/>
        </p:nvSpPr>
        <p:spPr>
          <a:xfrm>
            <a:off x="4194144" y="2149262"/>
            <a:ext cx="18587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UDP Port 5555</a:t>
            </a:r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0BC90DE2-505A-F825-159A-CBAB5C51B696}"/>
              </a:ext>
            </a:extLst>
          </p:cNvPr>
          <p:cNvSpPr txBox="1"/>
          <p:nvPr/>
        </p:nvSpPr>
        <p:spPr>
          <a:xfrm>
            <a:off x="4521626" y="5107875"/>
            <a:ext cx="18587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UDP Port 80</a:t>
            </a:r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1C5C64EF-6C4F-288F-D503-A2583EC501D7}"/>
              </a:ext>
            </a:extLst>
          </p:cNvPr>
          <p:cNvSpPr txBox="1"/>
          <p:nvPr/>
        </p:nvSpPr>
        <p:spPr>
          <a:xfrm>
            <a:off x="5115739" y="3202884"/>
            <a:ext cx="12613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UDP Port 6666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26B6B84F-56FD-3221-8285-6CF354939A19}"/>
              </a:ext>
            </a:extLst>
          </p:cNvPr>
          <p:cNvSpPr txBox="1"/>
          <p:nvPr/>
        </p:nvSpPr>
        <p:spPr>
          <a:xfrm>
            <a:off x="10992443" y="3577871"/>
            <a:ext cx="1858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Next Hop</a:t>
            </a:r>
          </a:p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(R2 ou R3)</a:t>
            </a:r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D2D18CF4-026A-4565-7ED5-CE1F9A63F039}"/>
              </a:ext>
            </a:extLst>
          </p:cNvPr>
          <p:cNvSpPr txBox="1"/>
          <p:nvPr/>
        </p:nvSpPr>
        <p:spPr>
          <a:xfrm>
            <a:off x="1089589" y="2892070"/>
            <a:ext cx="18587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In</a:t>
            </a:r>
          </a:p>
        </p:txBody>
      </p:sp>
    </p:spTree>
    <p:extLst>
      <p:ext uri="{BB962C8B-B14F-4D97-AF65-F5344CB8AC3E}">
        <p14:creationId xmlns:p14="http://schemas.microsoft.com/office/powerpoint/2010/main" val="3234140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23" grpId="0" animBg="1"/>
      <p:bldP spid="24" grpId="0" animBg="1"/>
      <p:bldP spid="27" grpId="0" animBg="1"/>
      <p:bldP spid="28" grpId="0" animBg="1"/>
      <p:bldP spid="85" grpId="0"/>
      <p:bldP spid="86" grpId="0"/>
      <p:bldP spid="87" grpId="0"/>
      <p:bldP spid="8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00D28-BAE5-DF6D-81A8-39729ECD2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A5BACBC5-75DB-616A-A13C-3CD263F0AF1C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C8337660-5FC5-E07A-54C7-440878C2C069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0618AC4-D6B9-7D73-D544-2661F045CFC0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Passo 2: Segurança e ACL (R2)</a:t>
            </a:r>
          </a:p>
        </p:txBody>
      </p:sp>
      <p:sp>
        <p:nvSpPr>
          <p:cNvPr id="19" name="Fluxograma: Decisão 18">
            <a:extLst>
              <a:ext uri="{FF2B5EF4-FFF2-40B4-BE49-F238E27FC236}">
                <a16:creationId xmlns:a16="http://schemas.microsoft.com/office/drawing/2014/main" id="{107D1450-B31A-13EA-211D-DBB9669AC4E2}"/>
              </a:ext>
            </a:extLst>
          </p:cNvPr>
          <p:cNvSpPr/>
          <p:nvPr/>
        </p:nvSpPr>
        <p:spPr>
          <a:xfrm>
            <a:off x="2950438" y="3905957"/>
            <a:ext cx="1722754" cy="1163433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1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IP in Blacklist Table?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B1E45A23-5013-C582-2551-BD14DFE2173D}"/>
              </a:ext>
            </a:extLst>
          </p:cNvPr>
          <p:cNvSpPr/>
          <p:nvPr/>
        </p:nvSpPr>
        <p:spPr>
          <a:xfrm>
            <a:off x="4722208" y="3383539"/>
            <a:ext cx="1210498" cy="7331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Allow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List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516DFB00-9626-41D3-8672-B39DAB75F63B}"/>
              </a:ext>
            </a:extLst>
          </p:cNvPr>
          <p:cNvSpPr/>
          <p:nvPr/>
        </p:nvSpPr>
        <p:spPr>
          <a:xfrm>
            <a:off x="4722208" y="4766763"/>
            <a:ext cx="1210498" cy="733149"/>
          </a:xfrm>
          <a:prstGeom prst="rect">
            <a:avLst/>
          </a:prstGeom>
          <a:solidFill>
            <a:srgbClr val="FF9B9B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List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64FABC38-17EC-CC81-4BDB-3C665F408CE5}"/>
              </a:ext>
            </a:extLst>
          </p:cNvPr>
          <p:cNvSpPr/>
          <p:nvPr/>
        </p:nvSpPr>
        <p:spPr>
          <a:xfrm>
            <a:off x="8400955" y="3506743"/>
            <a:ext cx="2614302" cy="17162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Header ( Se permitido)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Service_index = service_index +1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IPV4 TTL = TTL -1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C5A3F1A1-7BA8-309D-5B6B-3D75C7B79083}"/>
              </a:ext>
            </a:extLst>
          </p:cNvPr>
          <p:cNvSpPr/>
          <p:nvPr/>
        </p:nvSpPr>
        <p:spPr>
          <a:xfrm>
            <a:off x="1193308" y="6207940"/>
            <a:ext cx="996269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Abordagem blacklist: por defeito, o tráfego é permitido, e regras explícitas bloqueiam IPs específicos. </a:t>
            </a:r>
          </a:p>
        </p:txBody>
      </p:sp>
      <p:cxnSp>
        <p:nvCxnSpPr>
          <p:cNvPr id="30" name="Conexão reta unidirecional 29">
            <a:extLst>
              <a:ext uri="{FF2B5EF4-FFF2-40B4-BE49-F238E27FC236}">
                <a16:creationId xmlns:a16="http://schemas.microsoft.com/office/drawing/2014/main" id="{15111889-46E1-9EE3-B13D-B22EECD5F52F}"/>
              </a:ext>
            </a:extLst>
          </p:cNvPr>
          <p:cNvCxnSpPr>
            <a:cxnSpLocks/>
            <a:stCxn id="59" idx="3"/>
            <a:endCxn id="19" idx="1"/>
          </p:cNvCxnSpPr>
          <p:nvPr/>
        </p:nvCxnSpPr>
        <p:spPr>
          <a:xfrm>
            <a:off x="2584881" y="4482984"/>
            <a:ext cx="365557" cy="46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xão: Ângulo Reto 37">
            <a:extLst>
              <a:ext uri="{FF2B5EF4-FFF2-40B4-BE49-F238E27FC236}">
                <a16:creationId xmlns:a16="http://schemas.microsoft.com/office/drawing/2014/main" id="{D15ADBB8-D61A-9749-C96F-26F0BBBFB8F6}"/>
              </a:ext>
            </a:extLst>
          </p:cNvPr>
          <p:cNvCxnSpPr>
            <a:cxnSpLocks/>
            <a:stCxn id="19" idx="2"/>
            <a:endCxn id="24" idx="1"/>
          </p:cNvCxnSpPr>
          <p:nvPr/>
        </p:nvCxnSpPr>
        <p:spPr>
          <a:xfrm rot="16200000" flipH="1">
            <a:off x="4235037" y="4646167"/>
            <a:ext cx="63948" cy="91039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xão reta unidirecional 41">
            <a:extLst>
              <a:ext uri="{FF2B5EF4-FFF2-40B4-BE49-F238E27FC236}">
                <a16:creationId xmlns:a16="http://schemas.microsoft.com/office/drawing/2014/main" id="{2F4D69F2-E013-CC33-98A1-AE42868333C7}"/>
              </a:ext>
            </a:extLst>
          </p:cNvPr>
          <p:cNvCxnSpPr>
            <a:cxnSpLocks/>
            <a:stCxn id="23" idx="3"/>
            <a:endCxn id="33" idx="1"/>
          </p:cNvCxnSpPr>
          <p:nvPr/>
        </p:nvCxnSpPr>
        <p:spPr>
          <a:xfrm flipV="1">
            <a:off x="5932706" y="3733391"/>
            <a:ext cx="644879" cy="1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exão reta unidirecional 61">
            <a:extLst>
              <a:ext uri="{FF2B5EF4-FFF2-40B4-BE49-F238E27FC236}">
                <a16:creationId xmlns:a16="http://schemas.microsoft.com/office/drawing/2014/main" id="{02423421-FA8D-BF16-AA1C-5AE9D7753649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11015257" y="4364879"/>
            <a:ext cx="66414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B3EF96FE-55E2-6A63-62D3-A11E4C1D22D6}"/>
              </a:ext>
            </a:extLst>
          </p:cNvPr>
          <p:cNvSpPr txBox="1"/>
          <p:nvPr/>
        </p:nvSpPr>
        <p:spPr>
          <a:xfrm>
            <a:off x="3926305" y="5253592"/>
            <a:ext cx="18587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9DA4BA35-5C27-BF5C-80F3-F6491E1B9947}"/>
              </a:ext>
            </a:extLst>
          </p:cNvPr>
          <p:cNvSpPr txBox="1"/>
          <p:nvPr/>
        </p:nvSpPr>
        <p:spPr>
          <a:xfrm>
            <a:off x="3926305" y="3416090"/>
            <a:ext cx="1261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BDCC58AB-20BF-EE12-A68E-E39F3CB9B914}"/>
              </a:ext>
            </a:extLst>
          </p:cNvPr>
          <p:cNvSpPr txBox="1"/>
          <p:nvPr/>
        </p:nvSpPr>
        <p:spPr>
          <a:xfrm>
            <a:off x="11015257" y="3963496"/>
            <a:ext cx="18587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R3</a:t>
            </a:r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8A09E442-EC4B-4296-C36A-A9231C90AD5E}"/>
              </a:ext>
            </a:extLst>
          </p:cNvPr>
          <p:cNvSpPr txBox="1"/>
          <p:nvPr/>
        </p:nvSpPr>
        <p:spPr>
          <a:xfrm>
            <a:off x="-50191" y="3780104"/>
            <a:ext cx="14081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with SFC Header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A375A8B-A583-AD0A-4CCD-774BF0FF6459}"/>
              </a:ext>
            </a:extLst>
          </p:cNvPr>
          <p:cNvSpPr txBox="1"/>
          <p:nvPr/>
        </p:nvSpPr>
        <p:spPr>
          <a:xfrm>
            <a:off x="4357026" y="2005732"/>
            <a:ext cx="4043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Aplicável apenas às Chains 1 e 2</a:t>
            </a:r>
          </a:p>
        </p:txBody>
      </p:sp>
      <p:cxnSp>
        <p:nvCxnSpPr>
          <p:cNvPr id="14" name="Conexão: Ângulo Reto 13">
            <a:extLst>
              <a:ext uri="{FF2B5EF4-FFF2-40B4-BE49-F238E27FC236}">
                <a16:creationId xmlns:a16="http://schemas.microsoft.com/office/drawing/2014/main" id="{B1A513A2-CF69-7A0D-760F-69E31D7B15E5}"/>
              </a:ext>
            </a:extLst>
          </p:cNvPr>
          <p:cNvCxnSpPr>
            <a:cxnSpLocks/>
            <a:stCxn id="19" idx="0"/>
            <a:endCxn id="23" idx="1"/>
          </p:cNvCxnSpPr>
          <p:nvPr/>
        </p:nvCxnSpPr>
        <p:spPr>
          <a:xfrm rot="5400000" flipH="1" flipV="1">
            <a:off x="4189090" y="3372840"/>
            <a:ext cx="155843" cy="91039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xão reta unidirecional 31">
            <a:extLst>
              <a:ext uri="{FF2B5EF4-FFF2-40B4-BE49-F238E27FC236}">
                <a16:creationId xmlns:a16="http://schemas.microsoft.com/office/drawing/2014/main" id="{EBC73494-03B2-92F8-23FC-BD903725A961}"/>
              </a:ext>
            </a:extLst>
          </p:cNvPr>
          <p:cNvCxnSpPr>
            <a:cxnSpLocks/>
            <a:stCxn id="24" idx="3"/>
            <a:endCxn id="46" idx="1"/>
          </p:cNvCxnSpPr>
          <p:nvPr/>
        </p:nvCxnSpPr>
        <p:spPr>
          <a:xfrm>
            <a:off x="5932706" y="5133338"/>
            <a:ext cx="6482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 32">
            <a:extLst>
              <a:ext uri="{FF2B5EF4-FFF2-40B4-BE49-F238E27FC236}">
                <a16:creationId xmlns:a16="http://schemas.microsoft.com/office/drawing/2014/main" id="{52A41E09-62D9-F376-6762-30EE13BAC3AD}"/>
              </a:ext>
            </a:extLst>
          </p:cNvPr>
          <p:cNvSpPr/>
          <p:nvPr/>
        </p:nvSpPr>
        <p:spPr>
          <a:xfrm>
            <a:off x="6577585" y="3366816"/>
            <a:ext cx="1210498" cy="73314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Action: acl_allow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3F873AAB-389F-1B7A-E310-58EB9F26E9B7}"/>
              </a:ext>
            </a:extLst>
          </p:cNvPr>
          <p:cNvSpPr/>
          <p:nvPr/>
        </p:nvSpPr>
        <p:spPr>
          <a:xfrm>
            <a:off x="6580988" y="4766763"/>
            <a:ext cx="1210498" cy="733149"/>
          </a:xfrm>
          <a:prstGeom prst="rect">
            <a:avLst/>
          </a:prstGeom>
          <a:solidFill>
            <a:srgbClr val="EE484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Action: acl_drop</a:t>
            </a:r>
          </a:p>
        </p:txBody>
      </p:sp>
      <p:cxnSp>
        <p:nvCxnSpPr>
          <p:cNvPr id="55" name="Conexão: Ângulo Reto 54">
            <a:extLst>
              <a:ext uri="{FF2B5EF4-FFF2-40B4-BE49-F238E27FC236}">
                <a16:creationId xmlns:a16="http://schemas.microsoft.com/office/drawing/2014/main" id="{017EAB64-4AAF-8F41-EEF2-7ECB21A4DEDF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7788083" y="3733391"/>
            <a:ext cx="612872" cy="63148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exão: Ângulo Reto 56">
            <a:extLst>
              <a:ext uri="{FF2B5EF4-FFF2-40B4-BE49-F238E27FC236}">
                <a16:creationId xmlns:a16="http://schemas.microsoft.com/office/drawing/2014/main" id="{45BFF7DF-0F44-893D-35BE-03467F883C89}"/>
              </a:ext>
            </a:extLst>
          </p:cNvPr>
          <p:cNvCxnSpPr>
            <a:cxnSpLocks/>
            <a:stCxn id="46" idx="3"/>
            <a:endCxn id="27" idx="1"/>
          </p:cNvCxnSpPr>
          <p:nvPr/>
        </p:nvCxnSpPr>
        <p:spPr>
          <a:xfrm flipV="1">
            <a:off x="7791486" y="4364880"/>
            <a:ext cx="609469" cy="76845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tângulo 58">
            <a:extLst>
              <a:ext uri="{FF2B5EF4-FFF2-40B4-BE49-F238E27FC236}">
                <a16:creationId xmlns:a16="http://schemas.microsoft.com/office/drawing/2014/main" id="{D8884421-9EB7-063E-AEC4-59838BE54CC2}"/>
              </a:ext>
            </a:extLst>
          </p:cNvPr>
          <p:cNvSpPr/>
          <p:nvPr/>
        </p:nvSpPr>
        <p:spPr>
          <a:xfrm>
            <a:off x="1176743" y="3901267"/>
            <a:ext cx="1408138" cy="11634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dirty="0" err="1"/>
              <a:t>Extract</a:t>
            </a:r>
            <a:r>
              <a:rPr lang="pt-PT" dirty="0"/>
              <a:t> IPV4 Destination</a:t>
            </a:r>
          </a:p>
        </p:txBody>
      </p:sp>
      <p:cxnSp>
        <p:nvCxnSpPr>
          <p:cNvPr id="70" name="Conexão reta unidirecional 69">
            <a:extLst>
              <a:ext uri="{FF2B5EF4-FFF2-40B4-BE49-F238E27FC236}">
                <a16:creationId xmlns:a16="http://schemas.microsoft.com/office/drawing/2014/main" id="{6805DB48-A19E-AE11-50AA-2EF3D9E3643D}"/>
              </a:ext>
            </a:extLst>
          </p:cNvPr>
          <p:cNvCxnSpPr>
            <a:endCxn id="59" idx="1"/>
          </p:cNvCxnSpPr>
          <p:nvPr/>
        </p:nvCxnSpPr>
        <p:spPr>
          <a:xfrm>
            <a:off x="194872" y="4482983"/>
            <a:ext cx="98187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A2402A4A-8B1A-AB78-8272-F8958C719276}"/>
              </a:ext>
            </a:extLst>
          </p:cNvPr>
          <p:cNvSpPr txBox="1"/>
          <p:nvPr/>
        </p:nvSpPr>
        <p:spPr>
          <a:xfrm>
            <a:off x="0" y="2872042"/>
            <a:ext cx="4043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Lógica do Filtro:</a:t>
            </a:r>
          </a:p>
        </p:txBody>
      </p:sp>
    </p:spTree>
    <p:extLst>
      <p:ext uri="{BB962C8B-B14F-4D97-AF65-F5344CB8AC3E}">
        <p14:creationId xmlns:p14="http://schemas.microsoft.com/office/powerpoint/2010/main" val="3797947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3" grpId="0" animBg="1"/>
      <p:bldP spid="24" grpId="0" animBg="1"/>
      <p:bldP spid="27" grpId="0" animBg="1"/>
      <p:bldP spid="28" grpId="0" animBg="1"/>
      <p:bldP spid="86" grpId="0"/>
      <p:bldP spid="87" grpId="0"/>
      <p:bldP spid="88" grpId="0"/>
      <p:bldP spid="94" grpId="0"/>
      <p:bldP spid="33" grpId="0" animBg="1"/>
      <p:bldP spid="46" grpId="0" animBg="1"/>
      <p:bldP spid="59" grpId="0" animBg="1"/>
      <p:bldP spid="7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46EDE-09EB-0D2A-E4E5-5DF6BA723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3D23002B-44BE-C40A-3BC6-CCC03E33AEB8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888F5BB4-8124-5977-3DA7-5B68484EBC0A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3D676D1-FAAE-C7A4-D278-8686ADC0C5A4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Passo 3: QoS Marker &amp; Traffic Steering (R3)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C6A8C43E-4063-ECC0-4244-F5D511722503}"/>
              </a:ext>
            </a:extLst>
          </p:cNvPr>
          <p:cNvSpPr/>
          <p:nvPr/>
        </p:nvSpPr>
        <p:spPr>
          <a:xfrm>
            <a:off x="9548735" y="3585527"/>
            <a:ext cx="2338466" cy="13535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Critical: Update IPV4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DiffServ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(DSCP)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Recalculate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Checksum</a:t>
            </a:r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65D69F46-2921-53DE-CBE8-CEF1117153F6}"/>
              </a:ext>
            </a:extLst>
          </p:cNvPr>
          <p:cNvSpPr txBox="1"/>
          <p:nvPr/>
        </p:nvSpPr>
        <p:spPr>
          <a:xfrm>
            <a:off x="7045377" y="3381566"/>
            <a:ext cx="15364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QoS ==1 (EF)</a:t>
            </a:r>
          </a:p>
        </p:txBody>
      </p:sp>
      <p:cxnSp>
        <p:nvCxnSpPr>
          <p:cNvPr id="70" name="Conexão reta unidirecional 69">
            <a:extLst>
              <a:ext uri="{FF2B5EF4-FFF2-40B4-BE49-F238E27FC236}">
                <a16:creationId xmlns:a16="http://schemas.microsoft.com/office/drawing/2014/main" id="{9B34DD9B-19F2-1113-6846-C46036E9A2E3}"/>
              </a:ext>
            </a:extLst>
          </p:cNvPr>
          <p:cNvCxnSpPr>
            <a:cxnSpLocks/>
          </p:cNvCxnSpPr>
          <p:nvPr/>
        </p:nvCxnSpPr>
        <p:spPr>
          <a:xfrm>
            <a:off x="1385991" y="4262315"/>
            <a:ext cx="6676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0735A240-C4DF-F590-B131-438444569CC8}"/>
              </a:ext>
            </a:extLst>
          </p:cNvPr>
          <p:cNvSpPr/>
          <p:nvPr/>
        </p:nvSpPr>
        <p:spPr>
          <a:xfrm>
            <a:off x="2053652" y="2493475"/>
            <a:ext cx="4838666" cy="3537679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50B623B-9CB7-63EE-81C3-EF84C4571309}"/>
              </a:ext>
            </a:extLst>
          </p:cNvPr>
          <p:cNvSpPr/>
          <p:nvPr/>
        </p:nvSpPr>
        <p:spPr>
          <a:xfrm>
            <a:off x="2413416" y="3057993"/>
            <a:ext cx="4107305" cy="161979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PT" b="1" dirty="0"/>
              <a:t>Tabela qos_marker</a:t>
            </a:r>
          </a:p>
          <a:p>
            <a:r>
              <a:rPr lang="pt-PT" dirty="0"/>
              <a:t>Match UDP 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5555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→QoS class 1 (High)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6666/80 →QoS Class 0 (Low)</a:t>
            </a:r>
            <a:endParaRPr lang="pt-PT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AD797FE-C896-32A7-FB8D-1957D60F5227}"/>
              </a:ext>
            </a:extLst>
          </p:cNvPr>
          <p:cNvSpPr/>
          <p:nvPr/>
        </p:nvSpPr>
        <p:spPr>
          <a:xfrm>
            <a:off x="2413416" y="5127746"/>
            <a:ext cx="4107305" cy="56787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Tabela traffic_steering</a:t>
            </a:r>
          </a:p>
        </p:txBody>
      </p:sp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0BCA1032-B38B-F1E6-DD1C-6556507EBD1F}"/>
              </a:ext>
            </a:extLst>
          </p:cNvPr>
          <p:cNvSpPr/>
          <p:nvPr/>
        </p:nvSpPr>
        <p:spPr>
          <a:xfrm>
            <a:off x="4192894" y="4677793"/>
            <a:ext cx="543998" cy="418864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Seta: Em Ângulo Reto Para Cima 10">
            <a:extLst>
              <a:ext uri="{FF2B5EF4-FFF2-40B4-BE49-F238E27FC236}">
                <a16:creationId xmlns:a16="http://schemas.microsoft.com/office/drawing/2014/main" id="{14B5E857-D15D-327D-FDBB-6A62281D1BE7}"/>
              </a:ext>
            </a:extLst>
          </p:cNvPr>
          <p:cNvSpPr/>
          <p:nvPr/>
        </p:nvSpPr>
        <p:spPr>
          <a:xfrm>
            <a:off x="6520721" y="3198991"/>
            <a:ext cx="2503358" cy="782690"/>
          </a:xfrm>
          <a:prstGeom prst="bentUp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020050C9-C84E-F740-7A92-6B542F5F56B0}"/>
              </a:ext>
            </a:extLst>
          </p:cNvPr>
          <p:cNvSpPr/>
          <p:nvPr/>
        </p:nvSpPr>
        <p:spPr>
          <a:xfrm>
            <a:off x="7409493" y="2147068"/>
            <a:ext cx="1961214" cy="105192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PT" b="1" dirty="0"/>
              <a:t>Saída da Porta 3</a:t>
            </a:r>
          </a:p>
          <a:p>
            <a:r>
              <a:rPr lang="pt-PT" b="1" dirty="0"/>
              <a:t>(Direto para R5)</a:t>
            </a:r>
            <a:endParaRPr lang="pt-PT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23DDB84-4FD9-DCA5-3224-C6FCBE7EC4B6}"/>
              </a:ext>
            </a:extLst>
          </p:cNvPr>
          <p:cNvSpPr txBox="1"/>
          <p:nvPr/>
        </p:nvSpPr>
        <p:spPr>
          <a:xfrm>
            <a:off x="152400" y="3999217"/>
            <a:ext cx="15364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Pacote de R2 (Chain 1/2) ou R1 (Chain 3)</a:t>
            </a:r>
          </a:p>
        </p:txBody>
      </p:sp>
      <p:sp>
        <p:nvSpPr>
          <p:cNvPr id="16" name="Seta: Em Ângulo Reto Para Cima 15">
            <a:extLst>
              <a:ext uri="{FF2B5EF4-FFF2-40B4-BE49-F238E27FC236}">
                <a16:creationId xmlns:a16="http://schemas.microsoft.com/office/drawing/2014/main" id="{3E7B7B63-F6DC-9042-F1A8-C4FB3FC8DC8B}"/>
              </a:ext>
            </a:extLst>
          </p:cNvPr>
          <p:cNvSpPr/>
          <p:nvPr/>
        </p:nvSpPr>
        <p:spPr>
          <a:xfrm rot="10800000" flipH="1">
            <a:off x="6505731" y="5136084"/>
            <a:ext cx="2518348" cy="585712"/>
          </a:xfrm>
          <a:prstGeom prst="bent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17F7A9D-04F6-9D35-9208-CFD32D7A558D}"/>
              </a:ext>
            </a:extLst>
          </p:cNvPr>
          <p:cNvSpPr/>
          <p:nvPr/>
        </p:nvSpPr>
        <p:spPr>
          <a:xfrm>
            <a:off x="7878580" y="5721796"/>
            <a:ext cx="1961214" cy="105192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PT" b="1" dirty="0"/>
              <a:t>Saída da Porta 4</a:t>
            </a:r>
          </a:p>
          <a:p>
            <a:r>
              <a:rPr lang="pt-PT" b="1" dirty="0"/>
              <a:t>(Para R4)</a:t>
            </a:r>
            <a:endParaRPr lang="pt-PT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8574329-A763-64C7-3751-319C79CA099A}"/>
              </a:ext>
            </a:extLst>
          </p:cNvPr>
          <p:cNvSpPr txBox="1"/>
          <p:nvPr/>
        </p:nvSpPr>
        <p:spPr>
          <a:xfrm>
            <a:off x="7064123" y="4786257"/>
            <a:ext cx="15364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QoS ==0 (BF)</a:t>
            </a:r>
          </a:p>
        </p:txBody>
      </p:sp>
    </p:spTree>
    <p:extLst>
      <p:ext uri="{BB962C8B-B14F-4D97-AF65-F5344CB8AC3E}">
        <p14:creationId xmlns:p14="http://schemas.microsoft.com/office/powerpoint/2010/main" val="2593455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94" grpId="0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6" grpId="0" animBg="1"/>
      <p:bldP spid="17" grpId="0" animBg="1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67CE0-F8F0-CBC4-AD48-C64F0495E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E0B29442-BFC4-269C-71F0-43063EBD3DA8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B4F0A2BB-C1C8-0508-35EC-31A8A51847BC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2A77DBE-5978-781C-2EEC-7F6E611F47F6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Passo 4: Caminho Degradado e Trânsito (R4)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D9D0A33-87D7-2C5F-4AD7-88A56A7D3DD6}"/>
              </a:ext>
            </a:extLst>
          </p:cNvPr>
          <p:cNvSpPr txBox="1"/>
          <p:nvPr/>
        </p:nvSpPr>
        <p:spPr>
          <a:xfrm>
            <a:off x="1036819" y="5968781"/>
            <a:ext cx="101183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Router 4 executa apenas ‘cross-connect’ e decremento do TTL.</a:t>
            </a:r>
          </a:p>
          <a:p>
            <a:pPr algn="ctr"/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degradação é estrutural, afetando todo o tráfego Best-Effort (Chains 2 e 3)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03626B5D-DCE6-6E63-6770-F9C029A1311A}"/>
              </a:ext>
            </a:extLst>
          </p:cNvPr>
          <p:cNvSpPr/>
          <p:nvPr/>
        </p:nvSpPr>
        <p:spPr>
          <a:xfrm>
            <a:off x="707371" y="2592700"/>
            <a:ext cx="1530450" cy="783236"/>
          </a:xfrm>
          <a:prstGeom prst="round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R3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58F6DF4-F60E-43A2-88CE-BBD78B53B258}"/>
              </a:ext>
            </a:extLst>
          </p:cNvPr>
          <p:cNvSpPr/>
          <p:nvPr/>
        </p:nvSpPr>
        <p:spPr>
          <a:xfrm>
            <a:off x="5330775" y="2645764"/>
            <a:ext cx="1530450" cy="783236"/>
          </a:xfrm>
          <a:prstGeom prst="roundRect">
            <a:avLst/>
          </a:prstGeom>
          <a:solidFill>
            <a:srgbClr val="C90303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R4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5DA8FBE-7DBD-5ECE-EA2C-4E0E7E317B26}"/>
              </a:ext>
            </a:extLst>
          </p:cNvPr>
          <p:cNvSpPr/>
          <p:nvPr/>
        </p:nvSpPr>
        <p:spPr>
          <a:xfrm>
            <a:off x="9954180" y="2666375"/>
            <a:ext cx="1498306" cy="762625"/>
          </a:xfrm>
          <a:prstGeom prst="round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3200" dirty="0">
                <a:solidFill>
                  <a:schemeClr val="tx2"/>
                </a:solidFill>
              </a:rPr>
              <a:t>R5</a:t>
            </a:r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8F53FDBF-4E2D-04A2-1098-C683C75F75F9}"/>
              </a:ext>
            </a:extLst>
          </p:cNvPr>
          <p:cNvSpPr/>
          <p:nvPr/>
        </p:nvSpPr>
        <p:spPr>
          <a:xfrm>
            <a:off x="2237819" y="2613311"/>
            <a:ext cx="3092955" cy="76262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Seta: Para a Direita 18">
            <a:extLst>
              <a:ext uri="{FF2B5EF4-FFF2-40B4-BE49-F238E27FC236}">
                <a16:creationId xmlns:a16="http://schemas.microsoft.com/office/drawing/2014/main" id="{EF5B7868-EDBE-0431-9E6C-5C3202DB3FA3}"/>
              </a:ext>
            </a:extLst>
          </p:cNvPr>
          <p:cNvSpPr/>
          <p:nvPr/>
        </p:nvSpPr>
        <p:spPr>
          <a:xfrm>
            <a:off x="6861222" y="2656069"/>
            <a:ext cx="3092955" cy="76262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21" name="Gráfico 20" descr="Aviso com preenchimento sólido">
            <a:extLst>
              <a:ext uri="{FF2B5EF4-FFF2-40B4-BE49-F238E27FC236}">
                <a16:creationId xmlns:a16="http://schemas.microsoft.com/office/drawing/2014/main" id="{DDBF2739-87F1-6F8F-CFE0-FA6710471A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12697" y="2156620"/>
            <a:ext cx="621755" cy="621755"/>
          </a:xfrm>
          <a:prstGeom prst="rect">
            <a:avLst/>
          </a:prstGeom>
        </p:spPr>
      </p:pic>
      <p:pic>
        <p:nvPicPr>
          <p:cNvPr id="22" name="Gráfico 21" descr="Aviso com preenchimento sólido">
            <a:extLst>
              <a:ext uri="{FF2B5EF4-FFF2-40B4-BE49-F238E27FC236}">
                <a16:creationId xmlns:a16="http://schemas.microsoft.com/office/drawing/2014/main" id="{0935FAC2-2DEA-9663-B916-8141454DAA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99292" y="3256349"/>
            <a:ext cx="616316" cy="616316"/>
          </a:xfrm>
          <a:prstGeom prst="rect">
            <a:avLst/>
          </a:prstGeom>
        </p:spPr>
      </p:pic>
      <p:pic>
        <p:nvPicPr>
          <p:cNvPr id="24" name="Gráfico 23" descr="Cone de trânsito destaque">
            <a:extLst>
              <a:ext uri="{FF2B5EF4-FFF2-40B4-BE49-F238E27FC236}">
                <a16:creationId xmlns:a16="http://schemas.microsoft.com/office/drawing/2014/main" id="{02E77ADA-68D9-AC8A-0A40-87079926FB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36553" y="2814316"/>
            <a:ext cx="783236" cy="783236"/>
          </a:xfrm>
          <a:prstGeom prst="rect">
            <a:avLst/>
          </a:prstGeom>
        </p:spPr>
      </p:pic>
      <p:pic>
        <p:nvPicPr>
          <p:cNvPr id="25" name="Gráfico 24" descr="Cone de trânsito destaque">
            <a:extLst>
              <a:ext uri="{FF2B5EF4-FFF2-40B4-BE49-F238E27FC236}">
                <a16:creationId xmlns:a16="http://schemas.microsoft.com/office/drawing/2014/main" id="{7796D61E-123E-1E08-CA72-5F65766CC8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36101" y="2462721"/>
            <a:ext cx="763781" cy="763781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AC975B35-CB19-BEA2-C5C4-42FCF9FBD6FF}"/>
              </a:ext>
            </a:extLst>
          </p:cNvPr>
          <p:cNvSpPr/>
          <p:nvPr/>
        </p:nvSpPr>
        <p:spPr>
          <a:xfrm>
            <a:off x="3788952" y="3937533"/>
            <a:ext cx="4618747" cy="1691266"/>
          </a:xfrm>
          <a:prstGeom prst="round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Restrições Físicas Impostas: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 Adicional: 10ms (Latência)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Packet Loss: 1% (Fiabilidade)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Bandwidth: 5 Mbps (Congestionamento)</a:t>
            </a:r>
          </a:p>
        </p:txBody>
      </p:sp>
    </p:spTree>
    <p:extLst>
      <p:ext uri="{BB962C8B-B14F-4D97-AF65-F5344CB8AC3E}">
        <p14:creationId xmlns:p14="http://schemas.microsoft.com/office/powerpoint/2010/main" val="2140119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C14D5-25F8-77E0-9F0A-EFA042051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Conexão reta unidirecional 34">
            <a:extLst>
              <a:ext uri="{FF2B5EF4-FFF2-40B4-BE49-F238E27FC236}">
                <a16:creationId xmlns:a16="http://schemas.microsoft.com/office/drawing/2014/main" id="{0ADB9159-08B6-CB1F-5F04-D590573C32E3}"/>
              </a:ext>
            </a:extLst>
          </p:cNvPr>
          <p:cNvCxnSpPr>
            <a:stCxn id="8" idx="3"/>
            <a:endCxn id="12" idx="1"/>
          </p:cNvCxnSpPr>
          <p:nvPr/>
        </p:nvCxnSpPr>
        <p:spPr>
          <a:xfrm>
            <a:off x="6543599" y="3187863"/>
            <a:ext cx="2183170" cy="12299"/>
          </a:xfrm>
          <a:prstGeom prst="straightConnector1">
            <a:avLst/>
          </a:prstGeom>
          <a:ln>
            <a:solidFill>
              <a:srgbClr val="87112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B08955B7-4968-E676-F439-5A4ABA1B5FEF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15182630-D10C-D2FF-B364-17CCA0AC5D81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C7322AD-8F41-AEEE-53D6-0A0E87280C4A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Passo 5: Egress e Visibilidade (R5)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CE7AA89-D55B-6E43-798B-EE8B6C81ABC6}"/>
              </a:ext>
            </a:extLst>
          </p:cNvPr>
          <p:cNvSpPr txBox="1"/>
          <p:nvPr/>
        </p:nvSpPr>
        <p:spPr>
          <a:xfrm>
            <a:off x="6515723" y="4693757"/>
            <a:ext cx="22810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EtherType restaurado para 0x8000 (IPV4)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D6CDB31-6068-2AC9-0B24-1A24C917A5E5}"/>
              </a:ext>
            </a:extLst>
          </p:cNvPr>
          <p:cNvSpPr/>
          <p:nvPr/>
        </p:nvSpPr>
        <p:spPr>
          <a:xfrm>
            <a:off x="224852" y="2767508"/>
            <a:ext cx="1858781" cy="824456"/>
          </a:xfrm>
          <a:prstGeom prst="rect">
            <a:avLst/>
          </a:prstGeom>
          <a:solidFill>
            <a:schemeClr val="bg1"/>
          </a:solidFill>
          <a:ln>
            <a:solidFill>
              <a:srgbClr val="8711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Match Chain ID + QoS Class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CFE98AD-1BE8-916B-EB0B-EFD13AE64BAE}"/>
              </a:ext>
            </a:extLst>
          </p:cNvPr>
          <p:cNvSpPr/>
          <p:nvPr/>
        </p:nvSpPr>
        <p:spPr>
          <a:xfrm>
            <a:off x="2440897" y="2767508"/>
            <a:ext cx="1858781" cy="824456"/>
          </a:xfrm>
          <a:prstGeom prst="rect">
            <a:avLst/>
          </a:prstGeom>
          <a:solidFill>
            <a:schemeClr val="bg1"/>
          </a:solidFill>
          <a:ln>
            <a:solidFill>
              <a:srgbClr val="8711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Counters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AC19A49-5746-63D3-DD85-64F6F369DE91}"/>
              </a:ext>
            </a:extLst>
          </p:cNvPr>
          <p:cNvSpPr/>
          <p:nvPr/>
        </p:nvSpPr>
        <p:spPr>
          <a:xfrm>
            <a:off x="4684818" y="2775635"/>
            <a:ext cx="1858781" cy="824456"/>
          </a:xfrm>
          <a:prstGeom prst="rect">
            <a:avLst/>
          </a:prstGeom>
          <a:solidFill>
            <a:schemeClr val="bg1"/>
          </a:solidFill>
          <a:ln>
            <a:solidFill>
              <a:srgbClr val="8711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Decapsulation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2D57701-EBB9-7A80-72B9-EE2FD6781572}"/>
              </a:ext>
            </a:extLst>
          </p:cNvPr>
          <p:cNvSpPr/>
          <p:nvPr/>
        </p:nvSpPr>
        <p:spPr>
          <a:xfrm>
            <a:off x="6872987" y="3161530"/>
            <a:ext cx="1496519" cy="1396011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IPV4</a:t>
            </a:r>
          </a:p>
          <a:p>
            <a:pPr algn="ctr"/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Packet</a:t>
            </a:r>
          </a:p>
          <a:p>
            <a:pPr algn="ctr"/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Pure</a:t>
            </a:r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F04D308-6731-C9D2-CE9D-A241D275C970}"/>
              </a:ext>
            </a:extLst>
          </p:cNvPr>
          <p:cNvSpPr/>
          <p:nvPr/>
        </p:nvSpPr>
        <p:spPr>
          <a:xfrm>
            <a:off x="6872986" y="3161530"/>
            <a:ext cx="1496519" cy="32215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27E1C74-74BF-6B21-EFAD-242F6640E6C8}"/>
              </a:ext>
            </a:extLst>
          </p:cNvPr>
          <p:cNvSpPr/>
          <p:nvPr/>
        </p:nvSpPr>
        <p:spPr>
          <a:xfrm>
            <a:off x="8726769" y="2787934"/>
            <a:ext cx="1858781" cy="824456"/>
          </a:xfrm>
          <a:prstGeom prst="rect">
            <a:avLst/>
          </a:prstGeom>
          <a:solidFill>
            <a:schemeClr val="bg1"/>
          </a:solidFill>
          <a:ln>
            <a:solidFill>
              <a:srgbClr val="8711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Delivey</a:t>
            </a:r>
          </a:p>
        </p:txBody>
      </p:sp>
      <p:pic>
        <p:nvPicPr>
          <p:cNvPr id="17" name="Gráfico 16" descr="Servidor com preenchimento sólido">
            <a:extLst>
              <a:ext uri="{FF2B5EF4-FFF2-40B4-BE49-F238E27FC236}">
                <a16:creationId xmlns:a16="http://schemas.microsoft.com/office/drawing/2014/main" id="{6F578EA9-ADD6-F26A-93F6-A2D9107427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7750" y="2793741"/>
            <a:ext cx="914400" cy="914400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FA6A49F6-2BE4-BE8E-3CD0-FDDC8A96C6B9}"/>
              </a:ext>
            </a:extLst>
          </p:cNvPr>
          <p:cNvSpPr/>
          <p:nvPr/>
        </p:nvSpPr>
        <p:spPr>
          <a:xfrm rot="2097364">
            <a:off x="6771375" y="2545827"/>
            <a:ext cx="1496519" cy="459616"/>
          </a:xfrm>
          <a:prstGeom prst="rect">
            <a:avLst/>
          </a:prstGeom>
          <a:solidFill>
            <a:srgbClr val="871129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SFC Header</a:t>
            </a:r>
          </a:p>
        </p:txBody>
      </p:sp>
      <p:cxnSp>
        <p:nvCxnSpPr>
          <p:cNvPr id="23" name="Conexão: Curva 22">
            <a:extLst>
              <a:ext uri="{FF2B5EF4-FFF2-40B4-BE49-F238E27FC236}">
                <a16:creationId xmlns:a16="http://schemas.microsoft.com/office/drawing/2014/main" id="{CDC73647-EBED-96AF-9B57-D07EA7B2D5BC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15830" y="2888894"/>
            <a:ext cx="604764" cy="402843"/>
          </a:xfrm>
          <a:prstGeom prst="curvedConnector3">
            <a:avLst/>
          </a:prstGeom>
          <a:ln>
            <a:solidFill>
              <a:srgbClr val="87112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xão reta unidirecional 29">
            <a:extLst>
              <a:ext uri="{FF2B5EF4-FFF2-40B4-BE49-F238E27FC236}">
                <a16:creationId xmlns:a16="http://schemas.microsoft.com/office/drawing/2014/main" id="{9CD59971-D320-E41F-8BB8-FA0BAEA975EA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083633" y="3179736"/>
            <a:ext cx="357264" cy="0"/>
          </a:xfrm>
          <a:prstGeom prst="straightConnector1">
            <a:avLst/>
          </a:prstGeom>
          <a:ln>
            <a:solidFill>
              <a:srgbClr val="87112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xão reta unidirecional 31">
            <a:extLst>
              <a:ext uri="{FF2B5EF4-FFF2-40B4-BE49-F238E27FC236}">
                <a16:creationId xmlns:a16="http://schemas.microsoft.com/office/drawing/2014/main" id="{F060F89E-C14F-57B8-D9C1-4CFC92BEDC5C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4299678" y="3179736"/>
            <a:ext cx="385140" cy="8127"/>
          </a:xfrm>
          <a:prstGeom prst="straightConnector1">
            <a:avLst/>
          </a:prstGeom>
          <a:ln>
            <a:solidFill>
              <a:srgbClr val="87112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eta: Para a Direita 35">
            <a:extLst>
              <a:ext uri="{FF2B5EF4-FFF2-40B4-BE49-F238E27FC236}">
                <a16:creationId xmlns:a16="http://schemas.microsoft.com/office/drawing/2014/main" id="{82E59E87-5AA2-158C-68B9-66C8F7A708E3}"/>
              </a:ext>
            </a:extLst>
          </p:cNvPr>
          <p:cNvSpPr/>
          <p:nvPr/>
        </p:nvSpPr>
        <p:spPr>
          <a:xfrm>
            <a:off x="10585550" y="3161530"/>
            <a:ext cx="462199" cy="231168"/>
          </a:xfrm>
          <a:prstGeom prst="rightArrow">
            <a:avLst/>
          </a:prstGeom>
          <a:solidFill>
            <a:srgbClr val="871129"/>
          </a:solidFill>
          <a:ln>
            <a:solidFill>
              <a:srgbClr val="8711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7241BD90-11D2-E67B-1254-3037B8C189FB}"/>
              </a:ext>
            </a:extLst>
          </p:cNvPr>
          <p:cNvSpPr txBox="1"/>
          <p:nvPr/>
        </p:nvSpPr>
        <p:spPr>
          <a:xfrm>
            <a:off x="1628069" y="4693757"/>
            <a:ext cx="3056749" cy="830997"/>
          </a:xfrm>
          <a:prstGeom prst="rect">
            <a:avLst/>
          </a:prstGeom>
          <a:noFill/>
          <a:ln>
            <a:solidFill>
              <a:srgbClr val="87112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 1 (Critical): 1791 </a:t>
            </a:r>
            <a:r>
              <a:rPr lang="pt-P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pkts</a:t>
            </a: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 2 (Controlled): 1764 </a:t>
            </a:r>
            <a:r>
              <a:rPr lang="pt-P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pkts</a:t>
            </a: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 3 (Utility) : 1774 </a:t>
            </a:r>
            <a:r>
              <a:rPr lang="pt-P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pkts</a:t>
            </a: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B066ADF-1701-50F7-EF9A-6A392FFFB447}"/>
              </a:ext>
            </a:extLst>
          </p:cNvPr>
          <p:cNvSpPr txBox="1"/>
          <p:nvPr/>
        </p:nvSpPr>
        <p:spPr>
          <a:xfrm>
            <a:off x="10932606" y="3708141"/>
            <a:ext cx="1144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srv1</a:t>
            </a:r>
          </a:p>
          <a:p>
            <a:pPr algn="ctr"/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(10.0.2.1)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0690CB91-D8A6-0FA5-02AD-2D4A88C35F77}"/>
              </a:ext>
            </a:extLst>
          </p:cNvPr>
          <p:cNvSpPr/>
          <p:nvPr/>
        </p:nvSpPr>
        <p:spPr>
          <a:xfrm>
            <a:off x="1628069" y="4408012"/>
            <a:ext cx="3056749" cy="28574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Análise (t=20s)</a:t>
            </a:r>
          </a:p>
        </p:txBody>
      </p:sp>
    </p:spTree>
    <p:extLst>
      <p:ext uri="{BB962C8B-B14F-4D97-AF65-F5344CB8AC3E}">
        <p14:creationId xmlns:p14="http://schemas.microsoft.com/office/powerpoint/2010/main" val="480966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7" grpId="0" animBg="1"/>
      <p:bldP spid="8" grpId="0" animBg="1"/>
      <p:bldP spid="9" grpId="0" animBg="1"/>
      <p:bldP spid="11" grpId="0" animBg="1"/>
      <p:bldP spid="12" grpId="0" animBg="1"/>
      <p:bldP spid="18" grpId="0" animBg="1"/>
      <p:bldP spid="36" grpId="0" animBg="1"/>
      <p:bldP spid="37" grpId="0" animBg="1"/>
      <p:bldP spid="38" grpId="0"/>
      <p:bldP spid="3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347F3-E552-E92F-6DBD-53A9295BE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4AA62F90-F8C7-AD31-9764-52CE6F15215C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71C1F5B3-CCF7-B00F-D256-0F7E7D72D44D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045F552-EE2D-33C3-A4A0-F3820DD2FEB7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Caminho de Retorno (Routing Convencional ) </a:t>
            </a:r>
          </a:p>
        </p:txBody>
      </p:sp>
      <p:sp>
        <p:nvSpPr>
          <p:cNvPr id="2" name="Seta: Curvada para Baixo 1">
            <a:extLst>
              <a:ext uri="{FF2B5EF4-FFF2-40B4-BE49-F238E27FC236}">
                <a16:creationId xmlns:a16="http://schemas.microsoft.com/office/drawing/2014/main" id="{09DE931C-F421-C762-6C69-BEC207D00A79}"/>
              </a:ext>
            </a:extLst>
          </p:cNvPr>
          <p:cNvSpPr/>
          <p:nvPr/>
        </p:nvSpPr>
        <p:spPr>
          <a:xfrm>
            <a:off x="3387777" y="2147068"/>
            <a:ext cx="5036696" cy="1630511"/>
          </a:xfrm>
          <a:prstGeom prst="curvedDown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3" name="Seta: Curvada para Baixo 2">
            <a:extLst>
              <a:ext uri="{FF2B5EF4-FFF2-40B4-BE49-F238E27FC236}">
                <a16:creationId xmlns:a16="http://schemas.microsoft.com/office/drawing/2014/main" id="{F3A7418A-61AB-C893-92E3-65055829C02A}"/>
              </a:ext>
            </a:extLst>
          </p:cNvPr>
          <p:cNvSpPr/>
          <p:nvPr/>
        </p:nvSpPr>
        <p:spPr>
          <a:xfrm rot="10800000">
            <a:off x="3120453" y="4948653"/>
            <a:ext cx="5304020" cy="1909347"/>
          </a:xfrm>
          <a:prstGeom prst="curvedDown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5D6BE44-230D-3CC6-3C52-70E8ABCA6E23}"/>
              </a:ext>
            </a:extLst>
          </p:cNvPr>
          <p:cNvSpPr txBox="1"/>
          <p:nvPr/>
        </p:nvSpPr>
        <p:spPr>
          <a:xfrm>
            <a:off x="4548223" y="2500395"/>
            <a:ext cx="3642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(SFC Encapsulated)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67067FC-FD49-F124-74BD-E90CD843920F}"/>
              </a:ext>
            </a:extLst>
          </p:cNvPr>
          <p:cNvSpPr txBox="1"/>
          <p:nvPr/>
        </p:nvSpPr>
        <p:spPr>
          <a:xfrm>
            <a:off x="4716863" y="6216506"/>
            <a:ext cx="3642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(Standard IPV4)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53FCDF2A-572F-6CF9-B102-768A1E83C04C}"/>
              </a:ext>
            </a:extLst>
          </p:cNvPr>
          <p:cNvSpPr/>
          <p:nvPr/>
        </p:nvSpPr>
        <p:spPr>
          <a:xfrm>
            <a:off x="1927486" y="5491316"/>
            <a:ext cx="1349115" cy="64411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Servidor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4A86063-6459-784F-0C99-A98AE68BEB07}"/>
              </a:ext>
            </a:extLst>
          </p:cNvPr>
          <p:cNvSpPr/>
          <p:nvPr/>
        </p:nvSpPr>
        <p:spPr>
          <a:xfrm>
            <a:off x="4362095" y="5478118"/>
            <a:ext cx="672058" cy="63892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R5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6F81020-1C4F-361F-1396-D3C5FED49589}"/>
              </a:ext>
            </a:extLst>
          </p:cNvPr>
          <p:cNvSpPr/>
          <p:nvPr/>
        </p:nvSpPr>
        <p:spPr>
          <a:xfrm>
            <a:off x="5513796" y="5493911"/>
            <a:ext cx="672058" cy="63892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R6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5D41F5B-DA02-CCD2-ABE8-35B664353F18}"/>
              </a:ext>
            </a:extLst>
          </p:cNvPr>
          <p:cNvSpPr/>
          <p:nvPr/>
        </p:nvSpPr>
        <p:spPr>
          <a:xfrm>
            <a:off x="6690569" y="5491314"/>
            <a:ext cx="672058" cy="63892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D7D9FB31-829E-DFBE-62EC-8BC53CDE350B}"/>
              </a:ext>
            </a:extLst>
          </p:cNvPr>
          <p:cNvSpPr/>
          <p:nvPr/>
        </p:nvSpPr>
        <p:spPr>
          <a:xfrm>
            <a:off x="8424473" y="5486122"/>
            <a:ext cx="1349115" cy="64411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</a:t>
            </a:r>
          </a:p>
          <a:p>
            <a:pPr algn="ctr"/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Cliente</a:t>
            </a:r>
          </a:p>
        </p:txBody>
      </p:sp>
      <p:cxnSp>
        <p:nvCxnSpPr>
          <p:cNvPr id="27" name="Conexão reta unidirecional 26">
            <a:extLst>
              <a:ext uri="{FF2B5EF4-FFF2-40B4-BE49-F238E27FC236}">
                <a16:creationId xmlns:a16="http://schemas.microsoft.com/office/drawing/2014/main" id="{B7FF6CA2-044A-3E81-A5CD-E03BFF45841A}"/>
              </a:ext>
            </a:extLst>
          </p:cNvPr>
          <p:cNvCxnSpPr>
            <a:stCxn id="19" idx="3"/>
            <a:endCxn id="20" idx="2"/>
          </p:cNvCxnSpPr>
          <p:nvPr/>
        </p:nvCxnSpPr>
        <p:spPr>
          <a:xfrm flipV="1">
            <a:off x="3276601" y="5797580"/>
            <a:ext cx="1085494" cy="157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xão reta unidirecional 28">
            <a:extLst>
              <a:ext uri="{FF2B5EF4-FFF2-40B4-BE49-F238E27FC236}">
                <a16:creationId xmlns:a16="http://schemas.microsoft.com/office/drawing/2014/main" id="{F975671E-D8A3-93FD-A187-7C991F9E8AF6}"/>
              </a:ext>
            </a:extLst>
          </p:cNvPr>
          <p:cNvCxnSpPr>
            <a:stCxn id="20" idx="6"/>
            <a:endCxn id="21" idx="2"/>
          </p:cNvCxnSpPr>
          <p:nvPr/>
        </p:nvCxnSpPr>
        <p:spPr>
          <a:xfrm>
            <a:off x="5034153" y="5797580"/>
            <a:ext cx="479643" cy="157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xão reta unidirecional 30">
            <a:extLst>
              <a:ext uri="{FF2B5EF4-FFF2-40B4-BE49-F238E27FC236}">
                <a16:creationId xmlns:a16="http://schemas.microsoft.com/office/drawing/2014/main" id="{03E93A3C-376F-FD1C-8553-1A658BC866C1}"/>
              </a:ext>
            </a:extLst>
          </p:cNvPr>
          <p:cNvCxnSpPr>
            <a:cxnSpLocks/>
            <a:stCxn id="21" idx="6"/>
            <a:endCxn id="22" idx="2"/>
          </p:cNvCxnSpPr>
          <p:nvPr/>
        </p:nvCxnSpPr>
        <p:spPr>
          <a:xfrm flipV="1">
            <a:off x="6185854" y="5810776"/>
            <a:ext cx="504715" cy="25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xão reta unidirecional 39">
            <a:extLst>
              <a:ext uri="{FF2B5EF4-FFF2-40B4-BE49-F238E27FC236}">
                <a16:creationId xmlns:a16="http://schemas.microsoft.com/office/drawing/2014/main" id="{6AF2C549-F64D-D8C8-A30A-944BF8985DAD}"/>
              </a:ext>
            </a:extLst>
          </p:cNvPr>
          <p:cNvCxnSpPr>
            <a:cxnSpLocks/>
            <a:stCxn id="22" idx="6"/>
            <a:endCxn id="25" idx="1"/>
          </p:cNvCxnSpPr>
          <p:nvPr/>
        </p:nvCxnSpPr>
        <p:spPr>
          <a:xfrm flipV="1">
            <a:off x="7362627" y="5808180"/>
            <a:ext cx="1061846" cy="25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E1243132-FD98-EF4E-3D93-34AA14A16029}"/>
              </a:ext>
            </a:extLst>
          </p:cNvPr>
          <p:cNvSpPr txBox="1"/>
          <p:nvPr/>
        </p:nvSpPr>
        <p:spPr>
          <a:xfrm>
            <a:off x="3951158" y="3291106"/>
            <a:ext cx="36426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Assimetria de Routing</a:t>
            </a:r>
          </a:p>
          <a:p>
            <a:pPr algn="ctr"/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tráfego de retorno evita o processamento SFC para otimizar a latência.</a:t>
            </a:r>
          </a:p>
          <a:p>
            <a:pPr algn="ctr"/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baseado apenas no IP de destino (ipv4_lpm)</a:t>
            </a:r>
          </a:p>
        </p:txBody>
      </p:sp>
    </p:spTree>
    <p:extLst>
      <p:ext uri="{BB962C8B-B14F-4D97-AF65-F5344CB8AC3E}">
        <p14:creationId xmlns:p14="http://schemas.microsoft.com/office/powerpoint/2010/main" val="2999343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4" grpId="0"/>
      <p:bldP spid="16" grpId="0"/>
      <p:bldP spid="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A9174-2F0E-A651-EB67-F6F74203E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3F3A82F4-6000-8B47-2A12-8D9DC317469E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95EDD1A3-91E1-35A3-419F-1E0C31624538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71F99E8-6573-634C-A3A3-D62AC245F3A1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Metodologia Experimental</a:t>
            </a:r>
          </a:p>
        </p:txBody>
      </p:sp>
      <p:cxnSp>
        <p:nvCxnSpPr>
          <p:cNvPr id="7" name="Conexão reta 6">
            <a:extLst>
              <a:ext uri="{FF2B5EF4-FFF2-40B4-BE49-F238E27FC236}">
                <a16:creationId xmlns:a16="http://schemas.microsoft.com/office/drawing/2014/main" id="{05CC2367-A931-5AE3-BFB4-6AD7BE41E8D3}"/>
              </a:ext>
            </a:extLst>
          </p:cNvPr>
          <p:cNvCxnSpPr/>
          <p:nvPr/>
        </p:nvCxnSpPr>
        <p:spPr>
          <a:xfrm>
            <a:off x="360948" y="4329786"/>
            <a:ext cx="11359101" cy="0"/>
          </a:xfrm>
          <a:prstGeom prst="line">
            <a:avLst/>
          </a:prstGeom>
          <a:ln>
            <a:solidFill>
              <a:srgbClr val="8711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xão reta 7">
            <a:extLst>
              <a:ext uri="{FF2B5EF4-FFF2-40B4-BE49-F238E27FC236}">
                <a16:creationId xmlns:a16="http://schemas.microsoft.com/office/drawing/2014/main" id="{20208FAF-09D1-6199-A55C-B24C449940E7}"/>
              </a:ext>
            </a:extLst>
          </p:cNvPr>
          <p:cNvCxnSpPr>
            <a:cxnSpLocks/>
          </p:cNvCxnSpPr>
          <p:nvPr/>
        </p:nvCxnSpPr>
        <p:spPr>
          <a:xfrm>
            <a:off x="5936105" y="2158584"/>
            <a:ext cx="0" cy="4242216"/>
          </a:xfrm>
          <a:prstGeom prst="line">
            <a:avLst/>
          </a:prstGeom>
          <a:ln>
            <a:solidFill>
              <a:srgbClr val="8711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5DC71AB-1A84-1601-01F4-7265BFF1C67A}"/>
              </a:ext>
            </a:extLst>
          </p:cNvPr>
          <p:cNvSpPr txBox="1"/>
          <p:nvPr/>
        </p:nvSpPr>
        <p:spPr>
          <a:xfrm>
            <a:off x="989351" y="2278505"/>
            <a:ext cx="4002370" cy="1519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800" b="1" dirty="0">
                <a:solidFill>
                  <a:srgbClr val="871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Ambiente</a:t>
            </a:r>
          </a:p>
          <a:p>
            <a:pPr>
              <a:lnSpc>
                <a:spcPct val="150000"/>
              </a:lnSpc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Mininet 2.3 Virtual Machine</a:t>
            </a:r>
          </a:p>
          <a:p>
            <a:pPr>
              <a:lnSpc>
                <a:spcPct val="150000"/>
              </a:lnSpc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BMv2 (Behavioral Model)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27FB890-FFA0-CCF2-079D-1CE5425EAA45}"/>
              </a:ext>
            </a:extLst>
          </p:cNvPr>
          <p:cNvSpPr txBox="1"/>
          <p:nvPr/>
        </p:nvSpPr>
        <p:spPr>
          <a:xfrm>
            <a:off x="989351" y="4495004"/>
            <a:ext cx="4002370" cy="1935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800" b="1" dirty="0">
                <a:solidFill>
                  <a:srgbClr val="871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Ferramentas</a:t>
            </a:r>
          </a:p>
          <a:p>
            <a:pPr>
              <a:lnSpc>
                <a:spcPct val="150000"/>
              </a:lnSpc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Ping (ICMP Connectivity)</a:t>
            </a:r>
          </a:p>
          <a:p>
            <a:pPr>
              <a:lnSpc>
                <a:spcPct val="150000"/>
              </a:lnSpc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Iperf (UDP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throughout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Jitter)</a:t>
            </a:r>
          </a:p>
          <a:p>
            <a:pPr>
              <a:lnSpc>
                <a:spcPct val="150000"/>
              </a:lnSpc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Thrift CLI (Runtime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Inspection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5D8E6AB-3AD3-C34C-B61F-2CC566A8499A}"/>
              </a:ext>
            </a:extLst>
          </p:cNvPr>
          <p:cNvSpPr txBox="1"/>
          <p:nvPr/>
        </p:nvSpPr>
        <p:spPr>
          <a:xfrm>
            <a:off x="6564508" y="2246854"/>
            <a:ext cx="4002370" cy="1935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800" b="1" dirty="0">
                <a:solidFill>
                  <a:srgbClr val="871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Tráfego</a:t>
            </a:r>
          </a:p>
          <a:p>
            <a:pPr>
              <a:lnSpc>
                <a:spcPct val="150000"/>
              </a:lnSpc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Hosts h1-h6 (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Clients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srv1 (Server)</a:t>
            </a:r>
          </a:p>
          <a:p>
            <a:pPr>
              <a:lnSpc>
                <a:spcPct val="150000"/>
              </a:lnSpc>
            </a:pP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MACs &amp;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ARPs</a:t>
            </a: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269CF48-FC78-8136-7C12-45F04D06B04B}"/>
              </a:ext>
            </a:extLst>
          </p:cNvPr>
          <p:cNvSpPr txBox="1"/>
          <p:nvPr/>
        </p:nvSpPr>
        <p:spPr>
          <a:xfrm>
            <a:off x="6255896" y="4477317"/>
            <a:ext cx="4002370" cy="1519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800" b="1" dirty="0">
                <a:solidFill>
                  <a:srgbClr val="871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Configuração de Falha</a:t>
            </a:r>
          </a:p>
          <a:p>
            <a:pPr>
              <a:lnSpc>
                <a:spcPct val="150000"/>
              </a:lnSpc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Links R3</a:t>
            </a:r>
            <a:r>
              <a:rPr lang="pt-PT">
                <a:latin typeface="Times New Roman" panose="02020603050405020304" pitchFamily="18" charset="0"/>
                <a:cs typeface="Times New Roman" panose="02020603050405020304" pitchFamily="18" charset="0"/>
              </a:rPr>
              <a:t>.R4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R4.R5</a:t>
            </a:r>
          </a:p>
          <a:p>
            <a:pPr>
              <a:lnSpc>
                <a:spcPct val="150000"/>
              </a:lnSpc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TCLink: delay=10ms, loss=1%</a:t>
            </a:r>
          </a:p>
        </p:txBody>
      </p:sp>
      <p:pic>
        <p:nvPicPr>
          <p:cNvPr id="26" name="Gráfico 25" descr="Cmd em terminal com preenchimento sólido">
            <a:extLst>
              <a:ext uri="{FF2B5EF4-FFF2-40B4-BE49-F238E27FC236}">
                <a16:creationId xmlns:a16="http://schemas.microsoft.com/office/drawing/2014/main" id="{B22F955B-333F-BA2A-BC4A-598A595896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8937" y="6086784"/>
            <a:ext cx="311441" cy="311441"/>
          </a:xfrm>
          <a:prstGeom prst="rect">
            <a:avLst/>
          </a:prstGeom>
        </p:spPr>
      </p:pic>
      <p:pic>
        <p:nvPicPr>
          <p:cNvPr id="30" name="Gráfico 29" descr="Gráfico de barras com preenchimento sólido">
            <a:extLst>
              <a:ext uri="{FF2B5EF4-FFF2-40B4-BE49-F238E27FC236}">
                <a16:creationId xmlns:a16="http://schemas.microsoft.com/office/drawing/2014/main" id="{C15705FA-DDD4-4CF4-4C6A-24AAECACFE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8937" y="5668481"/>
            <a:ext cx="307198" cy="307198"/>
          </a:xfrm>
          <a:prstGeom prst="rect">
            <a:avLst/>
          </a:prstGeom>
        </p:spPr>
      </p:pic>
      <p:pic>
        <p:nvPicPr>
          <p:cNvPr id="33" name="Gráfico 32" descr="Engrenagem com preenchimento sólido">
            <a:extLst>
              <a:ext uri="{FF2B5EF4-FFF2-40B4-BE49-F238E27FC236}">
                <a16:creationId xmlns:a16="http://schemas.microsoft.com/office/drawing/2014/main" id="{D5532990-609F-125C-A601-E4D650BDDD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6905" y="5249055"/>
            <a:ext cx="351262" cy="35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850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8" grpId="0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DF91B-3E01-228C-E61F-EDD1A13DF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14F27915-EBFA-DC35-4801-13190FD65501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810968C7-7997-E396-7C39-116BED6EFF77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3E0EEA1-431E-6F8D-017E-AF25F85D12C7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Validação Experimental: Conectividade (ICMP)</a:t>
            </a:r>
          </a:p>
        </p:txBody>
      </p:sp>
      <p:graphicFrame>
        <p:nvGraphicFramePr>
          <p:cNvPr id="34" name="Tabela 33">
            <a:extLst>
              <a:ext uri="{FF2B5EF4-FFF2-40B4-BE49-F238E27FC236}">
                <a16:creationId xmlns:a16="http://schemas.microsoft.com/office/drawing/2014/main" id="{A2ED297E-27AF-A4E8-B77D-171079D84F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301731"/>
              </p:ext>
            </p:extLst>
          </p:nvPr>
        </p:nvGraphicFramePr>
        <p:xfrm>
          <a:off x="782153" y="2492508"/>
          <a:ext cx="10937896" cy="22166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34474">
                  <a:extLst>
                    <a:ext uri="{9D8B030D-6E8A-4147-A177-3AD203B41FA5}">
                      <a16:colId xmlns:a16="http://schemas.microsoft.com/office/drawing/2014/main" val="3060828268"/>
                    </a:ext>
                  </a:extLst>
                </a:gridCol>
                <a:gridCol w="2734474">
                  <a:extLst>
                    <a:ext uri="{9D8B030D-6E8A-4147-A177-3AD203B41FA5}">
                      <a16:colId xmlns:a16="http://schemas.microsoft.com/office/drawing/2014/main" val="2991181829"/>
                    </a:ext>
                  </a:extLst>
                </a:gridCol>
                <a:gridCol w="2734474">
                  <a:extLst>
                    <a:ext uri="{9D8B030D-6E8A-4147-A177-3AD203B41FA5}">
                      <a16:colId xmlns:a16="http://schemas.microsoft.com/office/drawing/2014/main" val="451538509"/>
                    </a:ext>
                  </a:extLst>
                </a:gridCol>
                <a:gridCol w="2734474">
                  <a:extLst>
                    <a:ext uri="{9D8B030D-6E8A-4147-A177-3AD203B41FA5}">
                      <a16:colId xmlns:a16="http://schemas.microsoft.com/office/drawing/2014/main" val="4211130044"/>
                    </a:ext>
                  </a:extLst>
                </a:gridCol>
              </a:tblGrid>
              <a:tr h="443330">
                <a:tc>
                  <a:txBody>
                    <a:bodyPr/>
                    <a:lstStyle/>
                    <a:p>
                      <a:pPr algn="ctr"/>
                      <a:r>
                        <a:rPr lang="pt-PT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Host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Destino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Perda (%)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RTT Médio (ms)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52758"/>
                  </a:ext>
                </a:extLst>
              </a:tr>
              <a:tr h="443330">
                <a:tc>
                  <a:txBody>
                    <a:bodyPr/>
                    <a:lstStyle/>
                    <a:p>
                      <a:pPr algn="ctr"/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697282"/>
                  </a:ext>
                </a:extLst>
              </a:tr>
              <a:tr h="443330">
                <a:tc>
                  <a:txBody>
                    <a:bodyPr/>
                    <a:lstStyle/>
                    <a:p>
                      <a:pPr algn="ctr"/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36,4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8040175"/>
                  </a:ext>
                </a:extLst>
              </a:tr>
              <a:tr h="443330">
                <a:tc>
                  <a:txBody>
                    <a:bodyPr/>
                    <a:lstStyle/>
                    <a:p>
                      <a:pPr algn="ctr"/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32,6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851651"/>
                  </a:ext>
                </a:extLst>
              </a:tr>
              <a:tr h="443330">
                <a:tc>
                  <a:txBody>
                    <a:bodyPr/>
                    <a:lstStyle/>
                    <a:p>
                      <a:pPr algn="ctr"/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37,6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9567255"/>
                  </a:ext>
                </a:extLst>
              </a:tr>
            </a:tbl>
          </a:graphicData>
        </a:graphic>
      </p:graphicFrame>
      <p:sp>
        <p:nvSpPr>
          <p:cNvPr id="36" name="CaixaDeTexto 35">
            <a:extLst>
              <a:ext uri="{FF2B5EF4-FFF2-40B4-BE49-F238E27FC236}">
                <a16:creationId xmlns:a16="http://schemas.microsoft.com/office/drawing/2014/main" id="{7602F868-D38D-2570-2373-A1BC8DD963DF}"/>
              </a:ext>
            </a:extLst>
          </p:cNvPr>
          <p:cNvSpPr txBox="1"/>
          <p:nvPr/>
        </p:nvSpPr>
        <p:spPr>
          <a:xfrm>
            <a:off x="782153" y="4907280"/>
            <a:ext cx="10937896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Análise: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RTT médio de ~35ms confirma que o tráfego ICMP está a seguir o caminho degradado (Chain 3)</a:t>
            </a:r>
          </a:p>
          <a:p>
            <a:pPr>
              <a:lnSpc>
                <a:spcPct val="150000"/>
              </a:lnSpc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Cálculo: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hops * 10ms delay fico + processamento = ~35ms</a:t>
            </a:r>
          </a:p>
        </p:txBody>
      </p:sp>
    </p:spTree>
    <p:extLst>
      <p:ext uri="{BB962C8B-B14F-4D97-AF65-F5344CB8AC3E}">
        <p14:creationId xmlns:p14="http://schemas.microsoft.com/office/powerpoint/2010/main" val="2719059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AAF62-8419-4FAF-7FEB-D28FF10F2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E20A07A3-0681-3833-61BA-FBBD91ACA74A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E431A4C1-4E6E-7278-B1B7-648F0697A47E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8BA0612-D614-30C5-0991-C82B8838B4DC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Análise de Performance: Fast Path vs. Degraded Path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6593AE35-9B6C-BCCA-D55F-9DB0EF4D75B4}"/>
              </a:ext>
            </a:extLst>
          </p:cNvPr>
          <p:cNvSpPr txBox="1"/>
          <p:nvPr/>
        </p:nvSpPr>
        <p:spPr>
          <a:xfrm>
            <a:off x="2184233" y="6268556"/>
            <a:ext cx="10937896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mecanismo de QoS Steering isolou com sucesso o tráfego crítico das falhas da rede</a:t>
            </a: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EA23DD68-F826-183C-5AA7-09F0BBADBC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3325121"/>
              </p:ext>
            </p:extLst>
          </p:nvPr>
        </p:nvGraphicFramePr>
        <p:xfrm>
          <a:off x="782320" y="2272643"/>
          <a:ext cx="5313680" cy="35947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656DD3AF-8BAF-7C12-0FC5-ED1CF71AE6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1184649"/>
              </p:ext>
            </p:extLst>
          </p:nvPr>
        </p:nvGraphicFramePr>
        <p:xfrm>
          <a:off x="6650209" y="2152226"/>
          <a:ext cx="5069840" cy="37151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3DA8D7B7-70AC-5860-B224-BC67B5948219}"/>
              </a:ext>
            </a:extLst>
          </p:cNvPr>
          <p:cNvSpPr txBox="1"/>
          <p:nvPr/>
        </p:nvSpPr>
        <p:spPr>
          <a:xfrm>
            <a:off x="2470871" y="3036039"/>
            <a:ext cx="833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1,23ms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7D27775-62C2-2205-7D0D-1236B8E968B0}"/>
              </a:ext>
            </a:extLst>
          </p:cNvPr>
          <p:cNvSpPr txBox="1"/>
          <p:nvPr/>
        </p:nvSpPr>
        <p:spPr>
          <a:xfrm>
            <a:off x="3439160" y="3831283"/>
            <a:ext cx="833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2,64ms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CD048B6-3844-0167-DDBF-81B4CC13AD28}"/>
              </a:ext>
            </a:extLst>
          </p:cNvPr>
          <p:cNvSpPr txBox="1"/>
          <p:nvPr/>
        </p:nvSpPr>
        <p:spPr>
          <a:xfrm>
            <a:off x="3339463" y="4570993"/>
            <a:ext cx="833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2,34ms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9FA9543-040E-BD75-39DF-FCAB4EE569A4}"/>
              </a:ext>
            </a:extLst>
          </p:cNvPr>
          <p:cNvSpPr txBox="1"/>
          <p:nvPr/>
        </p:nvSpPr>
        <p:spPr>
          <a:xfrm>
            <a:off x="8971923" y="3731467"/>
            <a:ext cx="833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2 %</a:t>
            </a:r>
          </a:p>
        </p:txBody>
      </p:sp>
    </p:spTree>
    <p:extLst>
      <p:ext uri="{BB962C8B-B14F-4D97-AF65-F5344CB8AC3E}">
        <p14:creationId xmlns:p14="http://schemas.microsoft.com/office/powerpoint/2010/main" val="533167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Graphic spid="9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EF515-3B1E-D902-172D-3703EB0E8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A0271627-6EBA-29FA-E5B0-6E5247A7C1F0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77FBE0C6-7ED6-F564-DA90-9CE79CC236C0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B871832-6BC8-8876-B7D0-29D64C3B9E57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Validação de Segurança (ACL)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E8F2E79-F75C-7E27-7719-C6486DED1BF0}"/>
              </a:ext>
            </a:extLst>
          </p:cNvPr>
          <p:cNvSpPr txBox="1"/>
          <p:nvPr/>
        </p:nvSpPr>
        <p:spPr>
          <a:xfrm>
            <a:off x="985020" y="6283546"/>
            <a:ext cx="10937896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Chain 3 contorna fisicamente o Router 2, mantendo o serviço ativo mesmo com regras de bloqueio globais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6EB6935-BDBD-784E-D1AA-1A1062989461}"/>
              </a:ext>
            </a:extLst>
          </p:cNvPr>
          <p:cNvSpPr/>
          <p:nvPr/>
        </p:nvSpPr>
        <p:spPr>
          <a:xfrm>
            <a:off x="131098" y="2143593"/>
            <a:ext cx="5805007" cy="4043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8EDCEF6-D040-510C-60A2-E5C1334C850C}"/>
              </a:ext>
            </a:extLst>
          </p:cNvPr>
          <p:cNvSpPr/>
          <p:nvPr/>
        </p:nvSpPr>
        <p:spPr>
          <a:xfrm>
            <a:off x="6095999" y="2143593"/>
            <a:ext cx="5964901" cy="40438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14" name="Imagem 13" descr="Uma imagem com texto, captura de ecrã, Tipo de letra&#10;&#10;Os conteúdos gerados por IA podem estar incorretos.">
            <a:extLst>
              <a:ext uri="{FF2B5EF4-FFF2-40B4-BE49-F238E27FC236}">
                <a16:creationId xmlns:a16="http://schemas.microsoft.com/office/drawing/2014/main" id="{B374A59F-000D-E634-96E7-71FDCF4895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594" y="2670014"/>
            <a:ext cx="5553710" cy="1847850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AAE4CD56-10B8-8F9A-7A07-0177C3782C99}"/>
              </a:ext>
            </a:extLst>
          </p:cNvPr>
          <p:cNvSpPr txBox="1"/>
          <p:nvPr/>
        </p:nvSpPr>
        <p:spPr>
          <a:xfrm>
            <a:off x="1580068" y="2179856"/>
            <a:ext cx="3372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 1 (Passa por R2)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86F36B9-E82E-38A2-0EE5-0A13EF13C96D}"/>
              </a:ext>
            </a:extLst>
          </p:cNvPr>
          <p:cNvSpPr txBox="1"/>
          <p:nvPr/>
        </p:nvSpPr>
        <p:spPr>
          <a:xfrm>
            <a:off x="7692453" y="2216118"/>
            <a:ext cx="3372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 3 (Bypass R2)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A69BF67-3B4A-58CA-4052-9CDD42995E7C}"/>
              </a:ext>
            </a:extLst>
          </p:cNvPr>
          <p:cNvSpPr txBox="1"/>
          <p:nvPr/>
        </p:nvSpPr>
        <p:spPr>
          <a:xfrm>
            <a:off x="1347207" y="4752504"/>
            <a:ext cx="337278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Packet Loss</a:t>
            </a:r>
          </a:p>
          <a:p>
            <a:pPr algn="ctr"/>
            <a:endParaRPr lang="pt-PT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pt-PT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BLOCKED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C78C100-AB0C-F454-2E1E-DB3C754FE5B2}"/>
              </a:ext>
            </a:extLst>
          </p:cNvPr>
          <p:cNvSpPr txBox="1"/>
          <p:nvPr/>
        </p:nvSpPr>
        <p:spPr>
          <a:xfrm>
            <a:off x="7392056" y="4752504"/>
            <a:ext cx="337278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0% Packet Loss (ACL)</a:t>
            </a:r>
          </a:p>
          <a:p>
            <a:pPr algn="ctr"/>
            <a:endParaRPr lang="pt-PT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pt-PT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</a:t>
            </a:r>
          </a:p>
        </p:txBody>
      </p:sp>
      <p:pic>
        <p:nvPicPr>
          <p:cNvPr id="2" name="Imagem 1" descr="Uma imagem com texto, captura de ecrã, Tipo de letra, número&#10;&#10;Os conteúdos gerados por IA podem estar incorretos.">
            <a:extLst>
              <a:ext uri="{FF2B5EF4-FFF2-40B4-BE49-F238E27FC236}">
                <a16:creationId xmlns:a16="http://schemas.microsoft.com/office/drawing/2014/main" id="{F169D13F-A3C2-32C7-47CE-638A855B01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55" y="2616228"/>
            <a:ext cx="5611491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667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15" grpId="0"/>
      <p:bldP spid="16" grpId="0"/>
      <p:bldP spid="17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CA253-15D9-A2B3-10B2-C8B7E5D23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42E56F69-75BE-2BFA-ECC6-308F23553F38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F04ABB45-988E-2052-B493-B8659BF2747A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9BD57F0-97C5-3086-A0DF-C0E96D288112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Conclusão e Impacto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DB52853-711B-6904-99AE-BC8F794537E4}"/>
              </a:ext>
            </a:extLst>
          </p:cNvPr>
          <p:cNvSpPr txBox="1"/>
          <p:nvPr/>
        </p:nvSpPr>
        <p:spPr>
          <a:xfrm>
            <a:off x="985020" y="2260724"/>
            <a:ext cx="28934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b="1" dirty="0">
                <a:solidFill>
                  <a:srgbClr val="871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Viabilidade Técnica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9C9B362-FEEE-1294-4889-26E225B3837B}"/>
              </a:ext>
            </a:extLst>
          </p:cNvPr>
          <p:cNvSpPr txBox="1"/>
          <p:nvPr/>
        </p:nvSpPr>
        <p:spPr>
          <a:xfrm>
            <a:off x="5007255" y="2260722"/>
            <a:ext cx="28934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b="1" dirty="0">
                <a:solidFill>
                  <a:srgbClr val="871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Isolamento de Performance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758333A-36A4-50B2-1AD8-024BAE17C39B}"/>
              </a:ext>
            </a:extLst>
          </p:cNvPr>
          <p:cNvSpPr txBox="1"/>
          <p:nvPr/>
        </p:nvSpPr>
        <p:spPr>
          <a:xfrm>
            <a:off x="9029491" y="2260723"/>
            <a:ext cx="28934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b="1" dirty="0">
                <a:solidFill>
                  <a:srgbClr val="8711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Otimização de Recursos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65037DD-E7F7-AB06-FF96-B96211BA100E}"/>
              </a:ext>
            </a:extLst>
          </p:cNvPr>
          <p:cNvSpPr txBox="1"/>
          <p:nvPr/>
        </p:nvSpPr>
        <p:spPr>
          <a:xfrm>
            <a:off x="985020" y="3706213"/>
            <a:ext cx="28334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SFC implementado com sucesso utilizando um cabeçalho compacto de 48 bits e P4.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9CD2023-CC31-BED4-AABE-AA8238AA51C6}"/>
              </a:ext>
            </a:extLst>
          </p:cNvPr>
          <p:cNvSpPr txBox="1"/>
          <p:nvPr/>
        </p:nvSpPr>
        <p:spPr>
          <a:xfrm>
            <a:off x="4757924" y="3706213"/>
            <a:ext cx="28334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Fast Path garantiu 0% de perda e Jitter reduzido, protegendo serviços críticos.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0DBE329-0187-737F-64E0-AD48761A0952}"/>
              </a:ext>
            </a:extLst>
          </p:cNvPr>
          <p:cNvSpPr txBox="1"/>
          <p:nvPr/>
        </p:nvSpPr>
        <p:spPr>
          <a:xfrm>
            <a:off x="8886585" y="3704313"/>
            <a:ext cx="28334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Coexistência eficiente de tráfego utilitário e crítico na mesma infraestrutura física.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129BA74-E6C3-A61F-9979-A60E795D8BAD}"/>
              </a:ext>
            </a:extLst>
          </p:cNvPr>
          <p:cNvSpPr/>
          <p:nvPr/>
        </p:nvSpPr>
        <p:spPr>
          <a:xfrm>
            <a:off x="0" y="5686926"/>
            <a:ext cx="12191999" cy="818793"/>
          </a:xfrm>
          <a:prstGeom prst="rect">
            <a:avLst/>
          </a:prstGeom>
          <a:solidFill>
            <a:srgbClr val="8711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A capacidade de configuração do Data Plane transforma hardware passivo em processadores de serviço inteligentes.</a:t>
            </a:r>
          </a:p>
        </p:txBody>
      </p:sp>
      <p:pic>
        <p:nvPicPr>
          <p:cNvPr id="21" name="Gráfico 20" descr="Prioridades com preenchimento sólido">
            <a:extLst>
              <a:ext uri="{FF2B5EF4-FFF2-40B4-BE49-F238E27FC236}">
                <a16:creationId xmlns:a16="http://schemas.microsoft.com/office/drawing/2014/main" id="{18EC9B07-0FD0-72E3-63A1-5D9EEDD757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15090" y="2280575"/>
            <a:ext cx="914400" cy="914400"/>
          </a:xfrm>
          <a:prstGeom prst="rect">
            <a:avLst/>
          </a:prstGeom>
        </p:spPr>
      </p:pic>
      <p:pic>
        <p:nvPicPr>
          <p:cNvPr id="23" name="Gráfico 22" descr="Escudo com visto com preenchimento sólido">
            <a:extLst>
              <a:ext uri="{FF2B5EF4-FFF2-40B4-BE49-F238E27FC236}">
                <a16:creationId xmlns:a16="http://schemas.microsoft.com/office/drawing/2014/main" id="{FC6CF44E-8E30-0C6D-2488-CAEE63B447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02190" y="2219696"/>
            <a:ext cx="914400" cy="914400"/>
          </a:xfrm>
          <a:prstGeom prst="rect">
            <a:avLst/>
          </a:prstGeom>
        </p:spPr>
      </p:pic>
      <p:pic>
        <p:nvPicPr>
          <p:cNvPr id="25" name="Gráfico 24" descr="Engrenagens com preenchimento sólido">
            <a:extLst>
              <a:ext uri="{FF2B5EF4-FFF2-40B4-BE49-F238E27FC236}">
                <a16:creationId xmlns:a16="http://schemas.microsoft.com/office/drawing/2014/main" id="{74ED5836-E10D-51D3-A96C-173307B282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55067" y="221969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0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10" grpId="0"/>
      <p:bldP spid="11" grpId="0"/>
      <p:bldP spid="19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920</TotalTime>
  <Words>2603</Words>
  <Application>Microsoft Office PowerPoint</Application>
  <PresentationFormat>Ecrã Panorâmico</PresentationFormat>
  <Paragraphs>259</Paragraphs>
  <Slides>16</Slides>
  <Notes>16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Tahoma</vt:lpstr>
      <vt:lpstr>Times New Roman</vt:lpstr>
      <vt:lpstr>Tema do Office</vt:lpstr>
      <vt:lpstr>Implementação de Service Function Chaining (SFC) com P4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Luís Baptista</dc:creator>
  <cp:lastModifiedBy>Luís Baptista</cp:lastModifiedBy>
  <cp:revision>287</cp:revision>
  <dcterms:created xsi:type="dcterms:W3CDTF">2025-11-08T19:02:28Z</dcterms:created>
  <dcterms:modified xsi:type="dcterms:W3CDTF">2026-01-14T16:01:35Z</dcterms:modified>
</cp:coreProperties>
</file>