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3" r:id="rId1"/>
  </p:sldMasterIdLst>
  <p:notesMasterIdLst>
    <p:notesMasterId r:id="rId17"/>
  </p:notesMasterIdLst>
  <p:handoutMasterIdLst>
    <p:handoutMasterId r:id="rId18"/>
  </p:handoutMasterIdLst>
  <p:sldIdLst>
    <p:sldId id="273" r:id="rId2"/>
    <p:sldId id="310" r:id="rId3"/>
    <p:sldId id="315" r:id="rId4"/>
    <p:sldId id="332" r:id="rId5"/>
    <p:sldId id="313" r:id="rId6"/>
    <p:sldId id="324" r:id="rId7"/>
    <p:sldId id="326" r:id="rId8"/>
    <p:sldId id="333" r:id="rId9"/>
    <p:sldId id="321" r:id="rId10"/>
    <p:sldId id="330" r:id="rId11"/>
    <p:sldId id="327" r:id="rId12"/>
    <p:sldId id="331" r:id="rId13"/>
    <p:sldId id="328" r:id="rId14"/>
    <p:sldId id="329" r:id="rId15"/>
    <p:sldId id="325" r:id="rId16"/>
  </p:sldIdLst>
  <p:sldSz cx="9144000" cy="6858000" type="screen4x3"/>
  <p:notesSz cx="10234613" cy="7099300"/>
  <p:defaultTextStyle>
    <a:defPPr>
      <a:defRPr lang="pt-P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NewsGotT" pitchFamily="2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NewsGotT" pitchFamily="2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NewsGotT" pitchFamily="2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NewsGotT" pitchFamily="2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NewsGotT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NewsGotT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NewsGotT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NewsGotT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NewsGotT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60" autoAdjust="0"/>
    <p:restoredTop sz="92724" autoAdjust="0"/>
  </p:normalViewPr>
  <p:slideViewPr>
    <p:cSldViewPr>
      <p:cViewPr varScale="1">
        <p:scale>
          <a:sx n="94" d="100"/>
          <a:sy n="94" d="100"/>
        </p:scale>
        <p:origin x="102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435304" cy="35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52" tIns="47526" rIns="95052" bIns="47526" numCol="1" anchor="t" anchorCtr="0" compatLnSpc="1">
            <a:prstTxWarp prst="textNoShape">
              <a:avLst/>
            </a:prstTxWarp>
          </a:bodyPr>
          <a:lstStyle>
            <a:lvl1pPr defTabSz="95091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7022" y="0"/>
            <a:ext cx="4435304" cy="35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52" tIns="47526" rIns="95052" bIns="47526" numCol="1" anchor="t" anchorCtr="0" compatLnSpc="1">
            <a:prstTxWarp prst="textNoShape">
              <a:avLst/>
            </a:prstTxWarp>
          </a:bodyPr>
          <a:lstStyle>
            <a:lvl1pPr algn="r" defTabSz="95091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5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743619"/>
            <a:ext cx="4435304" cy="35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52" tIns="47526" rIns="95052" bIns="47526" numCol="1" anchor="b" anchorCtr="0" compatLnSpc="1">
            <a:prstTxWarp prst="textNoShape">
              <a:avLst/>
            </a:prstTxWarp>
          </a:bodyPr>
          <a:lstStyle>
            <a:lvl1pPr defTabSz="95091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5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7022" y="6743619"/>
            <a:ext cx="4435304" cy="35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52" tIns="47526" rIns="95052" bIns="47526" numCol="1" anchor="b" anchorCtr="0" compatLnSpc="1">
            <a:prstTxWarp prst="textNoShape">
              <a:avLst/>
            </a:prstTxWarp>
          </a:bodyPr>
          <a:lstStyle>
            <a:lvl1pPr algn="r" defTabSz="950913">
              <a:defRPr sz="1200"/>
            </a:lvl1pPr>
          </a:lstStyle>
          <a:p>
            <a:pPr>
              <a:defRPr/>
            </a:pPr>
            <a:fld id="{1F3A5828-02B2-4AC8-B773-BA20D4ADA4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9199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435304" cy="35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52" tIns="47526" rIns="95052" bIns="47526" numCol="1" anchor="t" anchorCtr="0" compatLnSpc="1">
            <a:prstTxWarp prst="textNoShape">
              <a:avLst/>
            </a:prstTxWarp>
          </a:bodyPr>
          <a:lstStyle>
            <a:lvl1pPr defTabSz="95091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7022" y="0"/>
            <a:ext cx="4435304" cy="35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52" tIns="47526" rIns="95052" bIns="47526" numCol="1" anchor="t" anchorCtr="0" compatLnSpc="1">
            <a:prstTxWarp prst="textNoShape">
              <a:avLst/>
            </a:prstTxWarp>
          </a:bodyPr>
          <a:lstStyle>
            <a:lvl1pPr algn="r" defTabSz="95091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4863" y="533400"/>
            <a:ext cx="3546475" cy="26606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4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005" y="3371809"/>
            <a:ext cx="8188606" cy="3194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52" tIns="47526" rIns="95052" bIns="475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4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743619"/>
            <a:ext cx="4435304" cy="35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52" tIns="47526" rIns="95052" bIns="47526" numCol="1" anchor="b" anchorCtr="0" compatLnSpc="1">
            <a:prstTxWarp prst="textNoShape">
              <a:avLst/>
            </a:prstTxWarp>
          </a:bodyPr>
          <a:lstStyle>
            <a:lvl1pPr defTabSz="950913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4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022" y="6743619"/>
            <a:ext cx="4435304" cy="35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052" tIns="47526" rIns="95052" bIns="47526" numCol="1" anchor="b" anchorCtr="0" compatLnSpc="1">
            <a:prstTxWarp prst="textNoShape">
              <a:avLst/>
            </a:prstTxWarp>
          </a:bodyPr>
          <a:lstStyle>
            <a:lvl1pPr algn="r" defTabSz="950913">
              <a:defRPr sz="1200"/>
            </a:lvl1pPr>
          </a:lstStyle>
          <a:p>
            <a:pPr>
              <a:defRPr/>
            </a:pPr>
            <a:fld id="{D6A29682-574A-4C19-941C-5B2FB9980B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8846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NewsGotT" pitchFamily="2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NewsGotT" pitchFamily="2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NewsGotT" pitchFamily="2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NewsGotT" pitchFamily="2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NewsGotT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D421E8-041D-41C2-84B8-37BD3B9B7F9E}" type="slidenum">
              <a:rPr lang="en-US"/>
              <a:pPr/>
              <a:t>1</a:t>
            </a:fld>
            <a:endParaRPr lang="en-US"/>
          </a:p>
        </p:txBody>
      </p:sp>
      <p:sp>
        <p:nvSpPr>
          <p:cNvPr id="360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0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1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1pPr>
            <a:lvl2pPr marL="742950" indent="-285750"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2pPr>
            <a:lvl3pPr marL="1143000" indent="-228600"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3pPr>
            <a:lvl4pPr marL="1600200" indent="-228600"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4pPr>
            <a:lvl5pPr marL="2057400" indent="-228600"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NewsGotT" pitchFamily="2" charset="0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NewsGotT" pitchFamily="2" charset="0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NewsGotT" pitchFamily="2" charset="0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NewsGotT" pitchFamily="2" charset="0"/>
              </a:defRPr>
            </a:lvl9pPr>
          </a:lstStyle>
          <a:p>
            <a:pPr>
              <a:spcBef>
                <a:spcPct val="0"/>
              </a:spcBef>
            </a:pPr>
            <a:fld id="{F3B193B0-D064-479C-B927-47501DE09ADF}" type="slidenum">
              <a:rPr lang="en-US" altLang="pt-PT" smtClean="0"/>
              <a:pPr>
                <a:spcBef>
                  <a:spcPct val="0"/>
                </a:spcBef>
              </a:pPr>
              <a:t>3</a:t>
            </a:fld>
            <a:endParaRPr lang="en-US" altLang="pt-PT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pt-PT"/>
          </a:p>
        </p:txBody>
      </p:sp>
    </p:spTree>
    <p:extLst>
      <p:ext uri="{BB962C8B-B14F-4D97-AF65-F5344CB8AC3E}">
        <p14:creationId xmlns:p14="http://schemas.microsoft.com/office/powerpoint/2010/main" val="265313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1pPr>
            <a:lvl2pPr marL="742950" indent="-285750"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2pPr>
            <a:lvl3pPr marL="1143000" indent="-228600"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3pPr>
            <a:lvl4pPr marL="1600200" indent="-228600"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4pPr>
            <a:lvl5pPr marL="2057400" indent="-228600"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NewsGotT" pitchFamily="2" charset="0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NewsGotT" pitchFamily="2" charset="0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NewsGotT" pitchFamily="2" charset="0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NewsGotT" pitchFamily="2" charset="0"/>
              </a:defRPr>
            </a:lvl9pPr>
          </a:lstStyle>
          <a:p>
            <a:pPr>
              <a:spcBef>
                <a:spcPct val="0"/>
              </a:spcBef>
            </a:pPr>
            <a:fld id="{CA65D5E0-30E3-4F0A-A07B-4A90EC94275E}" type="slidenum">
              <a:rPr lang="en-US" altLang="pt-PT" smtClean="0"/>
              <a:pPr>
                <a:spcBef>
                  <a:spcPct val="0"/>
                </a:spcBef>
              </a:pPr>
              <a:t>5</a:t>
            </a:fld>
            <a:endParaRPr lang="en-US" altLang="pt-PT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pt-PT"/>
          </a:p>
        </p:txBody>
      </p:sp>
    </p:spTree>
    <p:extLst>
      <p:ext uri="{BB962C8B-B14F-4D97-AF65-F5344CB8AC3E}">
        <p14:creationId xmlns:p14="http://schemas.microsoft.com/office/powerpoint/2010/main" val="3108757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1pPr>
            <a:lvl2pPr marL="742950" indent="-285750"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2pPr>
            <a:lvl3pPr marL="1143000" indent="-228600"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3pPr>
            <a:lvl4pPr marL="1600200" indent="-228600"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4pPr>
            <a:lvl5pPr marL="2057400" indent="-228600"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NewsGotT" pitchFamily="2" charset="0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NewsGotT" pitchFamily="2" charset="0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NewsGotT" pitchFamily="2" charset="0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NewsGotT" pitchFamily="2" charset="0"/>
              </a:defRPr>
            </a:lvl9pPr>
          </a:lstStyle>
          <a:p>
            <a:pPr>
              <a:spcBef>
                <a:spcPct val="0"/>
              </a:spcBef>
            </a:pPr>
            <a:fld id="{F5AB61DE-E7C7-458D-A1E8-743CF66EFD53}" type="slidenum">
              <a:rPr lang="en-US" altLang="pt-PT" smtClean="0"/>
              <a:pPr>
                <a:spcBef>
                  <a:spcPct val="0"/>
                </a:spcBef>
              </a:pPr>
              <a:t>6</a:t>
            </a:fld>
            <a:endParaRPr lang="en-US" altLang="pt-PT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pt-PT"/>
          </a:p>
        </p:txBody>
      </p:sp>
    </p:spTree>
    <p:extLst>
      <p:ext uri="{BB962C8B-B14F-4D97-AF65-F5344CB8AC3E}">
        <p14:creationId xmlns:p14="http://schemas.microsoft.com/office/powerpoint/2010/main" val="1962073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1pPr>
            <a:lvl2pPr marL="742950" indent="-285750"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2pPr>
            <a:lvl3pPr marL="1143000" indent="-228600"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3pPr>
            <a:lvl4pPr marL="1600200" indent="-228600"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4pPr>
            <a:lvl5pPr marL="2057400" indent="-228600"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NewsGotT" pitchFamily="2" charset="0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NewsGotT" pitchFamily="2" charset="0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NewsGotT" pitchFamily="2" charset="0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NewsGotT" pitchFamily="2" charset="0"/>
              </a:defRPr>
            </a:lvl9pPr>
          </a:lstStyle>
          <a:p>
            <a:pPr>
              <a:spcBef>
                <a:spcPct val="0"/>
              </a:spcBef>
            </a:pPr>
            <a:fld id="{5B75221B-0E3B-41B4-8BC6-A18AF2F23018}" type="slidenum">
              <a:rPr lang="en-US" altLang="pt-PT" smtClean="0"/>
              <a:pPr>
                <a:spcBef>
                  <a:spcPct val="0"/>
                </a:spcBef>
              </a:pPr>
              <a:t>9</a:t>
            </a:fld>
            <a:endParaRPr lang="en-US" altLang="pt-PT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pt-PT" dirty="0"/>
          </a:p>
        </p:txBody>
      </p:sp>
    </p:spTree>
    <p:extLst>
      <p:ext uri="{BB962C8B-B14F-4D97-AF65-F5344CB8AC3E}">
        <p14:creationId xmlns:p14="http://schemas.microsoft.com/office/powerpoint/2010/main" val="3618283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1pPr>
            <a:lvl2pPr marL="742950" indent="-285750"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2pPr>
            <a:lvl3pPr marL="1143000" indent="-228600"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3pPr>
            <a:lvl4pPr marL="1600200" indent="-228600"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4pPr>
            <a:lvl5pPr marL="2057400" indent="-228600" defTabSz="950913">
              <a:spcBef>
                <a:spcPct val="30000"/>
              </a:spcBef>
              <a:defRPr sz="1200">
                <a:solidFill>
                  <a:schemeClr val="tx1"/>
                </a:solidFill>
                <a:latin typeface="NewsGotT" pitchFamily="2" charset="0"/>
              </a:defRPr>
            </a:lvl5pPr>
            <a:lvl6pPr marL="25146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NewsGotT" pitchFamily="2" charset="0"/>
              </a:defRPr>
            </a:lvl6pPr>
            <a:lvl7pPr marL="29718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NewsGotT" pitchFamily="2" charset="0"/>
              </a:defRPr>
            </a:lvl7pPr>
            <a:lvl8pPr marL="34290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NewsGotT" pitchFamily="2" charset="0"/>
              </a:defRPr>
            </a:lvl8pPr>
            <a:lvl9pPr marL="3886200" indent="-228600" defTabSz="9509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NewsGotT" pitchFamily="2" charset="0"/>
              </a:defRPr>
            </a:lvl9pPr>
          </a:lstStyle>
          <a:p>
            <a:pPr>
              <a:spcBef>
                <a:spcPct val="0"/>
              </a:spcBef>
            </a:pPr>
            <a:fld id="{5B75221B-0E3B-41B4-8BC6-A18AF2F23018}" type="slidenum">
              <a:rPr lang="en-US" altLang="pt-PT" smtClean="0"/>
              <a:pPr>
                <a:spcBef>
                  <a:spcPct val="0"/>
                </a:spcBef>
              </a:pPr>
              <a:t>15</a:t>
            </a:fld>
            <a:endParaRPr lang="en-US" altLang="pt-PT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pt-PT"/>
          </a:p>
        </p:txBody>
      </p:sp>
    </p:spTree>
    <p:extLst>
      <p:ext uri="{BB962C8B-B14F-4D97-AF65-F5344CB8AC3E}">
        <p14:creationId xmlns:p14="http://schemas.microsoft.com/office/powerpoint/2010/main" val="2224563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5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PT"/>
          </a:p>
        </p:txBody>
      </p:sp>
      <p:pic>
        <p:nvPicPr>
          <p:cNvPr id="6" name="Picture 4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088" y="2911475"/>
            <a:ext cx="1065212" cy="21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15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400"/>
            </a:lvl1pPr>
          </a:lstStyle>
          <a:p>
            <a:pPr lvl="0"/>
            <a:r>
              <a:rPr lang="pt-PT" altLang="en-US" noProof="0"/>
              <a:t>Clique para editar o estilo do título</a:t>
            </a:r>
          </a:p>
        </p:txBody>
      </p:sp>
      <p:sp>
        <p:nvSpPr>
          <p:cNvPr id="3215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14325" y="3049588"/>
            <a:ext cx="6783388" cy="2027237"/>
          </a:xfrm>
        </p:spPr>
        <p:txBody>
          <a:bodyPr/>
          <a:lstStyle>
            <a:lvl1pPr marL="0" indent="0" algn="r">
              <a:buFont typeface="Webdings" pitchFamily="18" charset="2"/>
              <a:buNone/>
              <a:defRPr sz="2600" b="0"/>
            </a:lvl1pPr>
          </a:lstStyle>
          <a:p>
            <a:pPr lvl="0"/>
            <a:r>
              <a:rPr lang="pt-PT" altLang="en-US" noProof="0"/>
              <a:t>Faça clique para editar o estilo do subtítulo do modelo global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357188" y="623728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MIETI/METI 2023-2024</a:t>
            </a:r>
            <a:endParaRPr lang="pt-PT" alt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 dirty="0"/>
              <a:t>Gestão e Virtualização de Redes</a:t>
            </a:r>
            <a:endParaRPr lang="pt-PT" alt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7607B4-D3EF-4EDC-9F90-740CCB2BF4B0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773734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MIETI/METI 2023-2024</a:t>
            </a:r>
            <a:endParaRPr lang="pt-PT" alt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 dirty="0"/>
              <a:t>Gestão e Virtualização de Redes</a:t>
            </a:r>
            <a:endParaRPr lang="pt-PT" alt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D98F8A-9349-4283-8578-1274CE958A9E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217504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MIETI/METI 2023-2024</a:t>
            </a:r>
            <a:endParaRPr lang="pt-PT" alt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 dirty="0"/>
              <a:t>Gestão e Virtualização de Redes</a:t>
            </a:r>
            <a:endParaRPr lang="pt-PT" alt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FA6A6C-729A-44BF-9D20-5407D83AB8EC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565447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825" y="1233488"/>
            <a:ext cx="4141788" cy="4897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5013" y="1233488"/>
            <a:ext cx="4141787" cy="4897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MIETI/METI 2023-2024</a:t>
            </a:r>
            <a:endParaRPr lang="pt-PT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 dirty="0"/>
              <a:t>Gestão e Virtualização de Redes</a:t>
            </a:r>
            <a:endParaRPr lang="pt-PT" alt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F4BD0A-DEAA-46BA-B307-EF25CBDD4DE8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203508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MIETI/METI 2023-2024</a:t>
            </a:r>
            <a:endParaRPr lang="pt-PT" alt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 dirty="0"/>
              <a:t>Gestão e Virtualização de Redes</a:t>
            </a:r>
            <a:endParaRPr lang="pt-PT" altLang="en-US" dirty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74C754-0CFA-40ED-B666-A89248F377E9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241638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MIETI/METI 2023-2024</a:t>
            </a:r>
            <a:endParaRPr lang="pt-PT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 dirty="0"/>
              <a:t>Gestão e Virtualização de Redes</a:t>
            </a:r>
            <a:endParaRPr lang="pt-PT" altLang="en-U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84DC01-7876-4C01-BFE5-77DC3D1A72EE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745190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MIETI/METI 2023-2024</a:t>
            </a:r>
            <a:endParaRPr lang="pt-PT" alt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 dirty="0"/>
              <a:t>Gestão e Virtualização de Redes</a:t>
            </a:r>
            <a:endParaRPr lang="pt-PT" altLang="en-U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35AE15-A135-44B6-9C3B-DFA995574D4D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22577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MIETI/METI 2023-2024</a:t>
            </a:r>
            <a:endParaRPr lang="pt-PT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 dirty="0"/>
              <a:t>Gestão e Virtualização de Redes</a:t>
            </a:r>
            <a:endParaRPr lang="pt-PT" alt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F2BB6E-DAE9-4A74-9316-29653A4B5BF9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210474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MIETI/METI 2023-2024</a:t>
            </a:r>
            <a:endParaRPr lang="pt-PT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 dirty="0"/>
              <a:t>Gestão e Virtualização de Redes</a:t>
            </a:r>
            <a:endParaRPr lang="pt-PT" alt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8FC0C3-D37F-4FF9-A954-DA258DC2D877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1822130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MIETI/METI 2023-2024</a:t>
            </a:r>
            <a:endParaRPr lang="pt-PT" alt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 dirty="0"/>
              <a:t>Gestão e Virtualização de Redes</a:t>
            </a:r>
            <a:endParaRPr lang="pt-PT" alt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5B109-F7A9-4227-80F8-653E8C1FABCD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317408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8600" y="122238"/>
            <a:ext cx="2108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0825" y="122238"/>
            <a:ext cx="6175375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MIETI/METI 2023-2024</a:t>
            </a:r>
            <a:endParaRPr lang="pt-PT" alt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 dirty="0"/>
              <a:t>Gestão e Virtualização de Redes</a:t>
            </a:r>
            <a:endParaRPr lang="pt-PT" alt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14D280-B2D5-4A5B-A0CC-0AD898B3501C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838116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25" y="122238"/>
            <a:ext cx="7021513" cy="8223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50825" y="1233488"/>
            <a:ext cx="4141788" cy="4897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5013" y="1233488"/>
            <a:ext cx="4141787" cy="4897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MIETI/METI 2023-2024</a:t>
            </a:r>
            <a:endParaRPr lang="pt-PT" alt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 dirty="0"/>
              <a:t>Gestão e Virtualização de Redes</a:t>
            </a:r>
            <a:endParaRPr lang="pt-PT" altLang="en-US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D53F4E-B2C5-486C-9B6F-4317A5B17BF4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</p:spTree>
    <p:extLst>
      <p:ext uri="{BB962C8B-B14F-4D97-AF65-F5344CB8AC3E}">
        <p14:creationId xmlns:p14="http://schemas.microsoft.com/office/powerpoint/2010/main" val="785542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 flipH="1">
            <a:off x="7302500" y="115888"/>
            <a:ext cx="6350" cy="10810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122238"/>
            <a:ext cx="70215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Clique para editar o estilo do título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1233488"/>
            <a:ext cx="8435975" cy="48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PT" altLang="en-US"/>
              <a:t>Clique para editar os estilos de texto do modelo global</a:t>
            </a:r>
          </a:p>
          <a:p>
            <a:pPr lvl="1"/>
            <a:r>
              <a:rPr lang="pt-PT" altLang="en-US"/>
              <a:t>Segundo nível</a:t>
            </a:r>
          </a:p>
          <a:p>
            <a:pPr lvl="2"/>
            <a:r>
              <a:rPr lang="pt-PT" altLang="en-US"/>
              <a:t>Terceiro nível</a:t>
            </a:r>
          </a:p>
          <a:p>
            <a:pPr lvl="3"/>
            <a:r>
              <a:rPr lang="pt-PT" altLang="en-US"/>
              <a:t>Quarto nível</a:t>
            </a:r>
          </a:p>
          <a:p>
            <a:pPr lvl="4"/>
            <a:r>
              <a:rPr lang="pt-PT" altLang="en-US"/>
              <a:t>Quinto nível</a:t>
            </a:r>
          </a:p>
        </p:txBody>
      </p:sp>
      <p:sp>
        <p:nvSpPr>
          <p:cNvPr id="32051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6063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pPr>
              <a:defRPr/>
            </a:pPr>
            <a:r>
              <a:rPr lang="en-US" altLang="en-US" dirty="0"/>
              <a:t>MIETI/METI 2023-2024</a:t>
            </a:r>
            <a:endParaRPr lang="pt-PT" altLang="en-US" dirty="0"/>
          </a:p>
        </p:txBody>
      </p:sp>
      <p:sp>
        <p:nvSpPr>
          <p:cNvPr id="32051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pPr>
              <a:defRPr/>
            </a:pPr>
            <a:r>
              <a:rPr lang="pt-BR" altLang="en-US" dirty="0"/>
              <a:t>Gestão e Virtualização de Redes</a:t>
            </a:r>
            <a:endParaRPr lang="pt-PT" altLang="en-US" dirty="0"/>
          </a:p>
        </p:txBody>
      </p:sp>
      <p:sp>
        <p:nvSpPr>
          <p:cNvPr id="32051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pPr>
              <a:defRPr/>
            </a:pPr>
            <a:fld id="{C78A8A37-C745-4C1C-861F-DBC102CF6A19}" type="slidenum">
              <a:rPr lang="pt-PT" altLang="en-US"/>
              <a:pPr>
                <a:defRPr/>
              </a:pPr>
              <a:t>‹#›</a:t>
            </a:fld>
            <a:endParaRPr lang="pt-PT" altLang="en-US"/>
          </a:p>
        </p:txBody>
      </p:sp>
      <p:sp>
        <p:nvSpPr>
          <p:cNvPr id="1032" name="Line 41"/>
          <p:cNvSpPr>
            <a:spLocks noChangeShapeType="1"/>
          </p:cNvSpPr>
          <p:nvPr/>
        </p:nvSpPr>
        <p:spPr bwMode="auto">
          <a:xfrm>
            <a:off x="250825" y="1089025"/>
            <a:ext cx="8710613" cy="0"/>
          </a:xfrm>
          <a:prstGeom prst="line">
            <a:avLst/>
          </a:prstGeom>
          <a:noFill/>
          <a:ln w="222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PT"/>
          </a:p>
        </p:txBody>
      </p:sp>
      <p:sp>
        <p:nvSpPr>
          <p:cNvPr id="1033" name="Rectangle 43"/>
          <p:cNvSpPr>
            <a:spLocks noChangeArrowheads="1"/>
          </p:cNvSpPr>
          <p:nvPr/>
        </p:nvSpPr>
        <p:spPr bwMode="auto">
          <a:xfrm>
            <a:off x="9001125" y="1233488"/>
            <a:ext cx="142875" cy="2411412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34" name="Picture 48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0450" y="166688"/>
            <a:ext cx="1590675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Rectangle 49"/>
          <p:cNvSpPr>
            <a:spLocks noChangeArrowheads="1"/>
          </p:cNvSpPr>
          <p:nvPr/>
        </p:nvSpPr>
        <p:spPr bwMode="auto">
          <a:xfrm>
            <a:off x="9001125" y="3646488"/>
            <a:ext cx="142875" cy="2411412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NewsGotT" pitchFamily="2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NewsGotT" pitchFamily="2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NewsGotT" pitchFamily="2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NewsGotT" pitchFamily="2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NewsGotT" pitchFamily="2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NewsGotT" pitchFamily="2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NewsGotT" pitchFamily="2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NewsGotT" pitchFamily="2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ebdings" pitchFamily="18" charset="2"/>
        <a:buChar char="="/>
        <a:defRPr sz="2400" b="1">
          <a:solidFill>
            <a:srgbClr val="000000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ebdings" pitchFamily="18" charset="2"/>
        <a:buChar char="="/>
        <a:defRPr sz="2400">
          <a:solidFill>
            <a:srgbClr val="000000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ebdings" pitchFamily="18" charset="2"/>
        <a:buChar char="="/>
        <a:defRPr sz="2300">
          <a:solidFill>
            <a:srgbClr val="000000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ebdings" pitchFamily="18" charset="2"/>
        <a:buChar char="="/>
        <a:defRPr sz="2000">
          <a:solidFill>
            <a:srgbClr val="000000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ebdings" pitchFamily="18" charset="2"/>
        <a:buChar char="="/>
        <a:defRPr sz="2000">
          <a:solidFill>
            <a:srgbClr val="000000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ebdings" pitchFamily="18" charset="2"/>
        <a:buChar char="="/>
        <a:defRPr sz="2000">
          <a:solidFill>
            <a:srgbClr val="000000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ebdings" pitchFamily="18" charset="2"/>
        <a:buChar char="="/>
        <a:defRPr sz="2000">
          <a:solidFill>
            <a:srgbClr val="000000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ebdings" pitchFamily="18" charset="2"/>
        <a:buChar char="="/>
        <a:defRPr sz="2000">
          <a:solidFill>
            <a:srgbClr val="000000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ebdings" pitchFamily="18" charset="2"/>
        <a:buChar char="="/>
        <a:defRPr sz="20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PT" altLang="pt-PT" dirty="0">
                <a:latin typeface="Arial" panose="020B0604020202020204" pitchFamily="34" charset="0"/>
                <a:cs typeface="Arial" panose="020B0604020202020204" pitchFamily="34" charset="0"/>
              </a:rPr>
              <a:t>Gestão &amp; Virtualização de Redes</a:t>
            </a:r>
            <a:endParaRPr lang="pt-PT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4325" y="3049588"/>
            <a:ext cx="6783388" cy="2503648"/>
          </a:xfrm>
        </p:spPr>
        <p:txBody>
          <a:bodyPr/>
          <a:lstStyle/>
          <a:p>
            <a:r>
              <a:rPr lang="pt-PT" sz="1600" b="1" dirty="0">
                <a:latin typeface="Arial" panose="020B0604020202020204" pitchFamily="34" charset="0"/>
                <a:cs typeface="Arial" panose="020B0604020202020204" pitchFamily="34" charset="0"/>
              </a:rPr>
              <a:t>MESTRADO EM ENGENHARIA DE</a:t>
            </a:r>
            <a:br>
              <a:rPr lang="pt-PT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1600" b="1" dirty="0">
                <a:latin typeface="Arial" panose="020B0604020202020204" pitchFamily="34" charset="0"/>
                <a:cs typeface="Arial" panose="020B0604020202020204" pitchFamily="34" charset="0"/>
              </a:rPr>
              <a:t>TELECOMUNICAÇÕES E INFORMÁTICA</a:t>
            </a:r>
          </a:p>
          <a:p>
            <a:endParaRPr lang="pt-PT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do Minho</a:t>
            </a:r>
            <a:br>
              <a:rPr lang="pt-PT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Departamento de Informática</a:t>
            </a:r>
          </a:p>
          <a:p>
            <a:endParaRPr lang="pt-PT" sz="16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2024-2025</a:t>
            </a:r>
          </a:p>
          <a:p>
            <a:r>
              <a:rPr lang="pt-PT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1ºSemestre</a:t>
            </a:r>
          </a:p>
          <a:p>
            <a:endParaRPr lang="pt-PT" sz="1600" b="1" dirty="0"/>
          </a:p>
        </p:txBody>
      </p:sp>
    </p:spTree>
    <p:extLst>
      <p:ext uri="{BB962C8B-B14F-4D97-AF65-F5344CB8AC3E}">
        <p14:creationId xmlns:p14="http://schemas.microsoft.com/office/powerpoint/2010/main" val="272458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altLang="pt-PT" dirty="0"/>
              <a:t>Apresentação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EDD6F8A-E43D-45C8-B366-E09628FEA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088740"/>
            <a:ext cx="8136135" cy="5122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ebdings" pitchFamily="18" charset="2"/>
              <a:buChar char="=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ebdings" pitchFamily="18" charset="2"/>
              <a:buChar char="="/>
              <a:defRPr sz="2400">
                <a:solidFill>
                  <a:srgbClr val="000000"/>
                </a:solidFill>
                <a:latin typeface="+mn-lt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ebdings" pitchFamily="18" charset="2"/>
              <a:buChar char="="/>
              <a:defRPr sz="2300">
                <a:solidFill>
                  <a:srgbClr val="000000"/>
                </a:solidFill>
                <a:latin typeface="+mn-lt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ebdings" pitchFamily="18" charset="2"/>
              <a:buChar char="="/>
              <a:defRPr sz="2000">
                <a:solidFill>
                  <a:srgbClr val="000000"/>
                </a:solidFill>
                <a:latin typeface="+mn-lt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ebdings" pitchFamily="18" charset="2"/>
              <a:buChar char="="/>
              <a:defRPr sz="2000">
                <a:solidFill>
                  <a:srgbClr val="000000"/>
                </a:solidFill>
                <a:latin typeface="+mn-lt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ebdings" pitchFamily="18" charset="2"/>
              <a:buChar char="="/>
              <a:defRPr sz="2000">
                <a:solidFill>
                  <a:srgbClr val="000000"/>
                </a:solidFill>
                <a:latin typeface="+mn-lt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ebdings" pitchFamily="18" charset="2"/>
              <a:buChar char="="/>
              <a:defRPr sz="2000">
                <a:solidFill>
                  <a:srgbClr val="000000"/>
                </a:solidFill>
                <a:latin typeface="+mn-lt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ebdings" pitchFamily="18" charset="2"/>
              <a:buChar char="="/>
              <a:defRPr sz="2000">
                <a:solidFill>
                  <a:srgbClr val="000000"/>
                </a:solidFill>
                <a:latin typeface="+mn-lt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ebdings" pitchFamily="18" charset="2"/>
              <a:buChar char="="/>
              <a:defRPr sz="2000">
                <a:solidFill>
                  <a:srgbClr val="000000"/>
                </a:solidFill>
                <a:latin typeface="+mn-lt"/>
              </a:defRPr>
            </a:lvl9pPr>
          </a:lstStyle>
          <a:p>
            <a:pPr marL="660400" indent="-660400" eaLnBrk="1" hangingPunct="1">
              <a:buFontTx/>
              <a:buNone/>
              <a:defRPr/>
            </a:pPr>
            <a:r>
              <a:rPr lang="pt-PT" altLang="en-US" sz="2800" kern="0" dirty="0"/>
              <a:t>EQUIPA DOCENTE</a:t>
            </a:r>
            <a:endParaRPr lang="pt-PT" altLang="en-US" kern="0" dirty="0"/>
          </a:p>
          <a:p>
            <a:pPr marL="1042987" eaLnBrk="1" hangingPunct="1">
              <a:buFont typeface="Arial" panose="020B0604020202020204" pitchFamily="34" charset="0"/>
              <a:buChar char="•"/>
              <a:defRPr/>
            </a:pPr>
            <a:r>
              <a:rPr lang="pt-PT" altLang="en-US" sz="2000" b="1" kern="0" dirty="0"/>
              <a:t>Bruno Dias</a:t>
            </a:r>
            <a:br>
              <a:rPr lang="pt-PT" altLang="en-US" sz="2000" kern="0" dirty="0"/>
            </a:br>
            <a:r>
              <a:rPr lang="pt-PT" altLang="en-US" sz="2000" b="1" kern="0" dirty="0">
                <a:latin typeface="Courier New" panose="02070309020205020404" pitchFamily="49" charset="0"/>
                <a:ea typeface="MS PGothic" panose="020B0600070205080204" pitchFamily="34" charset="-128"/>
              </a:rPr>
              <a:t>bruno.dias@di.uminho.pt</a:t>
            </a:r>
            <a:br>
              <a:rPr lang="pt-PT" altLang="en-US" sz="2000" kern="0" dirty="0"/>
            </a:br>
            <a:r>
              <a:rPr lang="pt-PT" altLang="en-US" sz="1800" kern="0" dirty="0"/>
              <a:t>(Módulo GESTÃO DE REDES, Aulas teóricas)</a:t>
            </a:r>
          </a:p>
          <a:p>
            <a:pPr marL="1042987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b="1" kern="0" dirty="0"/>
              <a:t>António Costa</a:t>
            </a:r>
            <a:br>
              <a:rPr lang="en-US" altLang="en-US" sz="2000" b="1" kern="0" dirty="0"/>
            </a:br>
            <a:r>
              <a:rPr lang="pt-PT" altLang="en-US" sz="2000" kern="0" dirty="0">
                <a:latin typeface="Courier New" panose="02070309020205020404" pitchFamily="49" charset="0"/>
                <a:ea typeface="MS PGothic" panose="020B0600070205080204" pitchFamily="34" charset="-128"/>
              </a:rPr>
              <a:t>costa@di.uminho.pt</a:t>
            </a:r>
            <a:br>
              <a:rPr lang="en-US" altLang="en-US" sz="2000" b="1" kern="0" dirty="0"/>
            </a:br>
            <a:r>
              <a:rPr lang="pt-PT" altLang="en-US" sz="1800" kern="0" dirty="0"/>
              <a:t>(Módulo VIRTUALIZAÇÃO DE REDES, Aulas teóricas)</a:t>
            </a:r>
          </a:p>
          <a:p>
            <a:pPr marL="1042987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b="1" kern="0" dirty="0"/>
              <a:t>João Pereira</a:t>
            </a:r>
            <a:br>
              <a:rPr lang="en-US" altLang="en-US" sz="2000" b="1" kern="0" dirty="0"/>
            </a:br>
            <a:r>
              <a:rPr lang="pt-PT" altLang="en-US" sz="2000" kern="0" dirty="0">
                <a:latin typeface="Courier New" panose="02070309020205020404" pitchFamily="49" charset="0"/>
                <a:ea typeface="MS PGothic" panose="020B0600070205080204" pitchFamily="34" charset="-128"/>
              </a:rPr>
              <a:t>d12267@di.uminho.pt</a:t>
            </a:r>
            <a:br>
              <a:rPr lang="en-US" altLang="en-US" b="1" kern="0" dirty="0"/>
            </a:br>
            <a:r>
              <a:rPr lang="pt-PT" altLang="en-US" sz="1900" kern="0" dirty="0"/>
              <a:t>(Aulas práticas dos dois módulos)</a:t>
            </a:r>
          </a:p>
          <a:p>
            <a:pPr marL="1042987" eaLnBrk="1" hangingPunct="1">
              <a:buFont typeface="Arial" panose="020B0604020202020204" pitchFamily="34" charset="0"/>
              <a:buChar char="•"/>
              <a:defRPr/>
            </a:pPr>
            <a:endParaRPr lang="pt-PT" altLang="en-US" sz="1000" kern="0" dirty="0"/>
          </a:p>
          <a:p>
            <a:pPr marL="0" indent="0" eaLnBrk="1" hangingPunct="1">
              <a:buNone/>
              <a:defRPr/>
            </a:pPr>
            <a:r>
              <a:rPr lang="pt-PT" altLang="en-US" sz="1800" kern="0" dirty="0"/>
              <a:t>MÓDULO DE GESTÃO DE REDES </a:t>
            </a:r>
            <a:r>
              <a:rPr lang="pt-PT" altLang="en-US" sz="1800" b="1" kern="0" dirty="0"/>
              <a:t>[ 19.SET.2024 a </a:t>
            </a:r>
            <a:r>
              <a:rPr lang="pt-PT" altLang="en-US" sz="1800" kern="0" dirty="0"/>
              <a:t>31</a:t>
            </a:r>
            <a:r>
              <a:rPr lang="pt-PT" altLang="en-US" sz="1800" b="1" kern="0" dirty="0"/>
              <a:t>.OUT.2024 ]</a:t>
            </a:r>
          </a:p>
          <a:p>
            <a:pPr lvl="2" eaLnBrk="1" hangingPunct="1">
              <a:buClrTx/>
              <a:buFont typeface="Arial" panose="020B0604020202020204" pitchFamily="34" charset="0"/>
              <a:buChar char="•"/>
              <a:defRPr/>
            </a:pPr>
            <a:r>
              <a:rPr lang="pt-PT" altLang="en-US" sz="1700" b="1" kern="0" dirty="0"/>
              <a:t>TESTE ESCRITO – 31.OUT.2024</a:t>
            </a:r>
          </a:p>
          <a:p>
            <a:pPr marL="0" indent="0" eaLnBrk="1" hangingPunct="1">
              <a:buNone/>
              <a:defRPr/>
            </a:pPr>
            <a:r>
              <a:rPr lang="pt-PT" altLang="en-US" sz="1800" kern="0" dirty="0"/>
              <a:t>MÓDULO DE VIRTUALIZAÇÃO DE REDES </a:t>
            </a:r>
            <a:r>
              <a:rPr lang="pt-PT" altLang="en-US" sz="1700" b="1" kern="0" dirty="0"/>
              <a:t>[ 04.NOV.2024 a 20.DEZ.2024 ]</a:t>
            </a:r>
          </a:p>
          <a:p>
            <a:pPr lvl="2" eaLnBrk="1" hangingPunct="1">
              <a:buClrTx/>
              <a:buFont typeface="Arial" panose="020B0604020202020204" pitchFamily="34" charset="0"/>
              <a:buChar char="•"/>
              <a:defRPr/>
            </a:pPr>
            <a:r>
              <a:rPr lang="pt-PT" altLang="en-US" sz="1700" b="1" kern="0" dirty="0"/>
              <a:t>TESTE ESCRITO – 19.DEZ.2024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pt-PT" altLang="en-US" sz="1800" kern="0" dirty="0"/>
          </a:p>
          <a:p>
            <a:pPr marL="0" indent="0" eaLnBrk="1" hangingPunct="1">
              <a:buNone/>
              <a:defRPr/>
            </a:pPr>
            <a:endParaRPr lang="pt-PT" altLang="en-US" sz="1800" kern="0" dirty="0"/>
          </a:p>
          <a:p>
            <a:pPr marL="660400" indent="-660400" eaLnBrk="1" hangingPunct="1">
              <a:buFontTx/>
              <a:buNone/>
              <a:defRPr/>
            </a:pPr>
            <a:endParaRPr lang="pt-PT" altLang="en-US" sz="1800" kern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A22A858-B54A-434B-81BB-2A0F82B8B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98F8A-9349-4283-8578-1274CE958A9E}" type="slidenum">
              <a:rPr lang="pt-PT" altLang="en-US" smtClean="0"/>
              <a:pPr>
                <a:defRPr/>
              </a:pPr>
              <a:t>2</a:t>
            </a:fld>
            <a:endParaRPr lang="pt-PT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2C1B9C-D384-4B5F-95E7-8672D099288F}"/>
              </a:ext>
            </a:extLst>
          </p:cNvPr>
          <p:cNvSpPr txBox="1"/>
          <p:nvPr/>
        </p:nvSpPr>
        <p:spPr>
          <a:xfrm>
            <a:off x="287524" y="6294802"/>
            <a:ext cx="457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600" i="1" dirty="0"/>
              <a:t>Gestão e Virtualização de Redes, METI 2024-2025</a:t>
            </a:r>
            <a:endParaRPr lang="pt-PT" alt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3803664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pt-PT" dirty="0"/>
              <a:t>Método de Avaliação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088740"/>
            <a:ext cx="8435975" cy="4896544"/>
          </a:xfrm>
        </p:spPr>
        <p:txBody>
          <a:bodyPr/>
          <a:lstStyle/>
          <a:p>
            <a:pPr indent="-257175" algn="just" eaLnBrk="1" hangingPunct="1">
              <a:buFont typeface="Arial" panose="020B0604020202020204" pitchFamily="34" charset="0"/>
              <a:buChar char="•"/>
            </a:pPr>
            <a:r>
              <a:rPr lang="pt-PT" altLang="pt-PT" sz="1800" b="0" dirty="0"/>
              <a:t>A avaliação dos alunos em cada módulo é feita através de elementos de avaliação teórica (um teste escrito ou um exame), da avaliação dos trabalhos práticos desenvolvidos individualmente ou em grupos de alunos, e através de avaliação contínua da participação e empenho nas horas de contacto (quando este elemento de avaliação não contém valores de exceção, a classificação coincidirá com a classificação da componente prática).</a:t>
            </a:r>
          </a:p>
          <a:p>
            <a:pPr indent="-257175" algn="just" eaLnBrk="1" hangingPunct="1">
              <a:buFont typeface="Arial" panose="020B0604020202020204" pitchFamily="34" charset="0"/>
              <a:buChar char="•"/>
            </a:pPr>
            <a:r>
              <a:rPr lang="pt-PT" altLang="pt-PT" sz="1800" dirty="0">
                <a:solidFill>
                  <a:srgbClr val="FF0000"/>
                </a:solidFill>
              </a:rPr>
              <a:t>Cada módulo é avaliado individualmente, embora o método seja igual para cada módulo. Só é possível obter aproveitamento à UC tendo aproveitamento (classificação final ≥ 9,5 valores) nos dois módulos. Também é obrigatório ter aproveitamento (classificação final ≥ 9,5 valores) na componente prática de cada módulo. Não há nota mínima na componente teórica de cada módulo. </a:t>
            </a:r>
            <a:endParaRPr lang="pt-PT" altLang="pt-PT" sz="1800" b="0" dirty="0"/>
          </a:p>
          <a:p>
            <a:pPr indent="-257175" algn="just" eaLnBrk="1" hangingPunct="1">
              <a:buFont typeface="Arial" panose="020B0604020202020204" pitchFamily="34" charset="0"/>
              <a:buChar char="•"/>
            </a:pPr>
            <a:r>
              <a:rPr lang="pt-BR" altLang="pt-PT" sz="1800" dirty="0"/>
              <a:t>É considerada a nota de cada módulo com uma casa decimal de precisão.</a:t>
            </a:r>
          </a:p>
          <a:p>
            <a:pPr indent="-257175" algn="just" eaLnBrk="1" hangingPunct="1">
              <a:buFont typeface="Arial" panose="020B0604020202020204" pitchFamily="34" charset="0"/>
              <a:buChar char="•"/>
            </a:pPr>
            <a:r>
              <a:rPr lang="pt-PT" altLang="pt-PT" sz="1800" dirty="0"/>
              <a:t>A nota final da disciplina é a média das notas finais dos dois módulos.</a:t>
            </a:r>
          </a:p>
          <a:p>
            <a:pPr indent="-257175" algn="just" eaLnBrk="1" hangingPunct="1">
              <a:buFont typeface="Arial" panose="020B0604020202020204" pitchFamily="34" charset="0"/>
              <a:buChar char="•"/>
            </a:pPr>
            <a:r>
              <a:rPr lang="pt-PT" altLang="pt-PT" sz="1800" dirty="0"/>
              <a:t>A nota final (NF) de cada módulo é calculada da seguinte forma:</a:t>
            </a:r>
          </a:p>
          <a:p>
            <a:pPr marL="730250" lvl="2" indent="0" algn="just" eaLnBrk="1" hangingPunct="1">
              <a:buNone/>
            </a:pPr>
            <a:r>
              <a:rPr lang="pt-PT" altLang="pt-PT" sz="1800" b="1" dirty="0"/>
              <a:t>NF = 0,30*T + 0,60*P + 0,10*E</a:t>
            </a:r>
          </a:p>
          <a:p>
            <a:pPr marL="730250" lvl="2" indent="0" eaLnBrk="1" hangingPunct="1">
              <a:buNone/>
            </a:pPr>
            <a:r>
              <a:rPr lang="pt-PT" altLang="pt-PT" sz="1600" b="1" dirty="0"/>
              <a:t>T</a:t>
            </a:r>
            <a:r>
              <a:rPr lang="pt-PT" altLang="pt-PT" sz="1600" dirty="0"/>
              <a:t>: nota teórica (um teste escrito ou exame de recurso/especial).</a:t>
            </a:r>
          </a:p>
          <a:p>
            <a:pPr marL="730250" lvl="2" indent="0" eaLnBrk="1" hangingPunct="1">
              <a:buNone/>
            </a:pPr>
            <a:r>
              <a:rPr lang="pt-PT" altLang="pt-PT" sz="1600" b="1" dirty="0"/>
              <a:t>P</a:t>
            </a:r>
            <a:r>
              <a:rPr lang="pt-PT" altLang="pt-PT" sz="1600" dirty="0"/>
              <a:t>: práticas laboratoriais (média dos trabalhos práticos).</a:t>
            </a:r>
            <a:br>
              <a:rPr lang="pt-PT" altLang="pt-PT" sz="1600" dirty="0"/>
            </a:br>
            <a:r>
              <a:rPr lang="pt-PT" altLang="pt-PT" sz="1600" b="1" dirty="0"/>
              <a:t>E</a:t>
            </a:r>
            <a:r>
              <a:rPr lang="pt-PT" altLang="pt-PT" sz="1600" dirty="0"/>
              <a:t>: empenho e qualidade da participação nas aulas e resolução dos exercícios propostos nas aulas.</a:t>
            </a:r>
            <a:br>
              <a:rPr lang="pt-PT" altLang="pt-PT" sz="1600" dirty="0"/>
            </a:br>
            <a:endParaRPr lang="pt-PT" altLang="pt-PT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AD333-702D-47E5-85B6-58984645E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98F8A-9349-4283-8578-1274CE958A9E}" type="slidenum">
              <a:rPr lang="pt-PT" altLang="en-US" smtClean="0"/>
              <a:pPr>
                <a:defRPr/>
              </a:pPr>
              <a:t>3</a:t>
            </a:fld>
            <a:endParaRPr lang="pt-PT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347C6B-34F1-49BC-BB1C-262504A23A52}"/>
              </a:ext>
            </a:extLst>
          </p:cNvPr>
          <p:cNvSpPr txBox="1"/>
          <p:nvPr/>
        </p:nvSpPr>
        <p:spPr>
          <a:xfrm>
            <a:off x="287524" y="6294802"/>
            <a:ext cx="457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600" i="1" dirty="0"/>
              <a:t>Gestão e Virtualização de Redes, METI 2024-2025</a:t>
            </a:r>
            <a:endParaRPr lang="pt-PT" alt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113216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altLang="pt-PT"/>
              <a:t>Apresentação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BR" altLang="pt-PT" b="0" dirty="0"/>
              <a:t>A UC está organizada em módulos de temáticas complementares: Gestão de Redes (GR) e Virtualização de Redes (VR). O primeiro aborda a temática da gestão de redes, serviços e aplicações distribuídas, expondo os conceitos mais relevantes das arquiteturas, tecnologias e protocolos usados na atualidade. É dedicada uma atenção especial à exploração das tecnologias e protocolos SNMP, analisando as suas vantagens e limitações para uso em sistemas de gestão modernos. O módulo VR versa as cadeias de funções de rede usadas para diminuir a complexidade da gestão de serviços de rede virtuais. É discutido o modo como estas são criadas usando funções de rede virtuais, executadas numa infra-estrutura virtualizada sobre recursos físicos de computação, armazenamento e rede. Também é explicado o mapeamento entre as entidades virtuais e físicas recorrendo às redes definidas por software.</a:t>
            </a:r>
          </a:p>
          <a:p>
            <a:endParaRPr lang="pt-PT" altLang="pt-PT" sz="20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831B5-6FFE-4A3F-92C8-3EC2A635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98F8A-9349-4283-8578-1274CE958A9E}" type="slidenum">
              <a:rPr lang="pt-PT" altLang="en-US" smtClean="0"/>
              <a:pPr>
                <a:defRPr/>
              </a:pPr>
              <a:t>4</a:t>
            </a:fld>
            <a:endParaRPr lang="pt-PT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EE0B87-3CE9-45E3-BFBF-B18486EBC5ED}"/>
              </a:ext>
            </a:extLst>
          </p:cNvPr>
          <p:cNvSpPr txBox="1"/>
          <p:nvPr/>
        </p:nvSpPr>
        <p:spPr>
          <a:xfrm>
            <a:off x="287524" y="6294802"/>
            <a:ext cx="457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600" i="1" dirty="0"/>
              <a:t>Gestão e Virtualização de Redes, METI 2024-2025</a:t>
            </a:r>
            <a:endParaRPr lang="pt-PT" alt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3839978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pt-PT" dirty="0"/>
              <a:t>Resultados de Aprendizagem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233488"/>
            <a:ext cx="8435975" cy="5327650"/>
          </a:xfrm>
        </p:spPr>
        <p:txBody>
          <a:bodyPr/>
          <a:lstStyle/>
          <a:p>
            <a:pPr marL="179387" indent="0" algn="just" eaLnBrk="1" hangingPunct="1">
              <a:buNone/>
            </a:pPr>
            <a:r>
              <a:rPr lang="pt-BR" altLang="pt-PT" sz="1800" b="0" dirty="0"/>
              <a:t>Os alunos devem ser capazes de:</a:t>
            </a:r>
          </a:p>
          <a:p>
            <a:pPr marL="1001713" lvl="1" indent="-285750" eaLnBrk="1" hangingPunct="1">
              <a:buClrTx/>
              <a:buFont typeface="Arial" panose="020B0604020202020204" pitchFamily="34" charset="0"/>
              <a:buChar char="•"/>
            </a:pPr>
            <a:r>
              <a:rPr lang="pt-BR" altLang="pt-PT" sz="1800" b="0" dirty="0"/>
              <a:t>Identificar as atividades inerentes à gestão de redes e serviços e </a:t>
            </a:r>
            <a:br>
              <a:rPr lang="pt-BR" altLang="pt-PT" sz="1800" b="0" dirty="0"/>
            </a:br>
            <a:r>
              <a:rPr lang="pt-BR" altLang="pt-PT" sz="1800" b="0" dirty="0"/>
              <a:t>aplicações distribuídas;</a:t>
            </a:r>
          </a:p>
          <a:p>
            <a:pPr marL="1001713" lvl="1" indent="-285750" eaLnBrk="1" hangingPunct="1">
              <a:buClrTx/>
              <a:buFont typeface="Arial" panose="020B0604020202020204" pitchFamily="34" charset="0"/>
              <a:buChar char="•"/>
            </a:pPr>
            <a:r>
              <a:rPr lang="pt-BR" altLang="pt-PT" sz="1800" b="0" dirty="0"/>
              <a:t>Aplicar o paradigma apropriado à realização dessas atividades e identificar as limitações em cenários de implementação;</a:t>
            </a:r>
          </a:p>
          <a:p>
            <a:pPr marL="1001713" lvl="1" indent="-285750" eaLnBrk="1" hangingPunct="1">
              <a:buClrTx/>
              <a:buFont typeface="Arial" panose="020B0604020202020204" pitchFamily="34" charset="0"/>
              <a:buChar char="•"/>
            </a:pPr>
            <a:r>
              <a:rPr lang="pt-BR" altLang="pt-PT" sz="1800" b="0" dirty="0"/>
              <a:t>Descrever os desafios mais comuns da automação e autonomização da gestão;</a:t>
            </a:r>
          </a:p>
          <a:p>
            <a:pPr marL="1001713" lvl="1" indent="-285750" eaLnBrk="1" hangingPunct="1">
              <a:buClrTx/>
              <a:buFont typeface="Arial" panose="020B0604020202020204" pitchFamily="34" charset="0"/>
              <a:buChar char="•"/>
            </a:pPr>
            <a:r>
              <a:rPr lang="pt-BR" altLang="pt-PT" sz="1800" b="0" dirty="0"/>
              <a:t>Definir métricas relevantes para representação e parametrização da qualidade</a:t>
            </a:r>
            <a:br>
              <a:rPr lang="pt-BR" altLang="pt-PT" sz="1800" b="0" dirty="0"/>
            </a:br>
            <a:r>
              <a:rPr lang="pt-BR" altLang="pt-PT" sz="1800" b="0" dirty="0"/>
              <a:t>dos serviços;</a:t>
            </a:r>
          </a:p>
          <a:p>
            <a:pPr marL="1001713" lvl="1" indent="-285750" eaLnBrk="1" hangingPunct="1">
              <a:buClrTx/>
              <a:buFont typeface="Arial" panose="020B0604020202020204" pitchFamily="34" charset="0"/>
              <a:buChar char="•"/>
            </a:pPr>
            <a:r>
              <a:rPr lang="pt-BR" altLang="pt-PT" sz="1800" b="0" dirty="0"/>
              <a:t>Utilizar com eficácia as ferramentas mais comuns para executar a gestão estratégica, administrativa e operacional de sistemas de comunicação e aplicações distribuídas. </a:t>
            </a:r>
          </a:p>
          <a:p>
            <a:pPr marL="1001713" lvl="1" indent="-285750" eaLnBrk="1" hangingPunct="1">
              <a:buClrTx/>
              <a:buFont typeface="Arial" panose="020B0604020202020204" pitchFamily="34" charset="0"/>
              <a:buChar char="•"/>
            </a:pPr>
            <a:r>
              <a:rPr lang="pt-BR" altLang="pt-PT" sz="1800" b="0" dirty="0"/>
              <a:t>Compreender as funções de redes virtuais (NFV), cadeias de serviços de rede e redes definidas por software (SDN) e o funcionamento e a interligação dos componentes.</a:t>
            </a:r>
          </a:p>
          <a:p>
            <a:pPr marL="1001713" lvl="1" indent="-285750" eaLnBrk="1" hangingPunct="1">
              <a:buClrTx/>
              <a:buFont typeface="Arial" panose="020B0604020202020204" pitchFamily="34" charset="0"/>
              <a:buChar char="•"/>
            </a:pPr>
            <a:r>
              <a:rPr lang="pt-BR" altLang="pt-PT" sz="1800" b="0" dirty="0"/>
              <a:t>Compreender casos de uso das SDN como o escalonamento e manipulação da largura de banda, tráfego de entrada e ações desencadeadas. </a:t>
            </a:r>
          </a:p>
          <a:p>
            <a:pPr marL="1001713" lvl="1" indent="-285750" eaLnBrk="1" hangingPunct="1">
              <a:buClrTx/>
              <a:buFont typeface="Arial" panose="020B0604020202020204" pitchFamily="34" charset="0"/>
              <a:buChar char="•"/>
            </a:pPr>
            <a:r>
              <a:rPr lang="pt-BR" altLang="pt-PT" sz="1800" b="0" dirty="0"/>
              <a:t>Avaliar como os fornecedores de serviço estão a tirar partido das SDN e NFV para concretizar os seus serviços.</a:t>
            </a:r>
          </a:p>
          <a:p>
            <a:pPr marL="179387" indent="0" algn="just" eaLnBrk="1" hangingPunct="1">
              <a:buNone/>
            </a:pPr>
            <a:endParaRPr lang="pt-BR" altLang="pt-PT" sz="17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A5C3A-2FBD-4033-9F38-8A8D19C10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98F8A-9349-4283-8578-1274CE958A9E}" type="slidenum">
              <a:rPr lang="pt-PT" altLang="en-US" smtClean="0"/>
              <a:pPr>
                <a:defRPr/>
              </a:pPr>
              <a:t>5</a:t>
            </a:fld>
            <a:endParaRPr lang="pt-PT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C54789-060D-4DF4-A16D-D727956BF201}"/>
              </a:ext>
            </a:extLst>
          </p:cNvPr>
          <p:cNvSpPr txBox="1"/>
          <p:nvPr/>
        </p:nvSpPr>
        <p:spPr>
          <a:xfrm>
            <a:off x="287524" y="6294802"/>
            <a:ext cx="457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600" i="1" dirty="0"/>
              <a:t>Gestão e Virtualização de Redes, METI 2024-2025</a:t>
            </a:r>
            <a:endParaRPr lang="pt-PT" alt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367403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pt-PT" dirty="0"/>
              <a:t>Método de Ensino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indent="-246063" algn="just" eaLnBrk="1" hangingPunct="1">
              <a:buFont typeface="Arial" panose="020B0604020202020204" pitchFamily="34" charset="0"/>
              <a:buChar char="•"/>
            </a:pPr>
            <a:r>
              <a:rPr lang="pt-PT" altLang="pt-PT" dirty="0"/>
              <a:t>A formação base é feita à base de aulas de contacto teóricas, com exposição dos temas por parte do docente. </a:t>
            </a:r>
          </a:p>
          <a:p>
            <a:pPr lvl="1" indent="-246063" algn="just" eaLnBrk="1" hangingPunct="1">
              <a:buFont typeface="Arial" panose="020B0604020202020204" pitchFamily="34" charset="0"/>
              <a:buChar char="•"/>
            </a:pPr>
            <a:endParaRPr lang="pt-PT" altLang="pt-PT" dirty="0"/>
          </a:p>
          <a:p>
            <a:pPr lvl="1" indent="-246063" algn="just" eaLnBrk="1" hangingPunct="1">
              <a:buFont typeface="Arial" panose="020B0604020202020204" pitchFamily="34" charset="0"/>
              <a:buChar char="•"/>
            </a:pPr>
            <a:r>
              <a:rPr lang="pt-PT" altLang="pt-PT" dirty="0"/>
              <a:t>As aulas teóricas são complementadas com aulas práticas ou teórico práticas para resolução de exercícios teóricos e/ou acompanhamento efetivo da realização dos trabalhos práticos, incluindo trabalhos práticos de programação de simples aplicações de gestão ou virtualização de redes. </a:t>
            </a:r>
          </a:p>
          <a:p>
            <a:pPr lvl="1" indent="-246063" algn="just" eaLnBrk="1" hangingPunct="1">
              <a:buFont typeface="Arial" panose="020B0604020202020204" pitchFamily="34" charset="0"/>
              <a:buChar char="•"/>
            </a:pPr>
            <a:endParaRPr lang="pt-PT" altLang="pt-PT" dirty="0"/>
          </a:p>
          <a:p>
            <a:pPr lvl="1" indent="-246063" algn="just" eaLnBrk="1" hangingPunct="1">
              <a:buFont typeface="Arial" panose="020B0604020202020204" pitchFamily="34" charset="0"/>
              <a:buChar char="•"/>
            </a:pPr>
            <a:r>
              <a:rPr lang="pt-PT" altLang="pt-PT" dirty="0"/>
              <a:t>Os trabalhos práticos vão aumentando de complexidade à medida que o semestre vai decorrendo, exigindo-se cada vez mais autonomia por parte dos alunos.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C279F-3C42-4C5E-BEA0-8C0C1C727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98F8A-9349-4283-8578-1274CE958A9E}" type="slidenum">
              <a:rPr lang="pt-PT" altLang="en-US" smtClean="0"/>
              <a:pPr>
                <a:defRPr/>
              </a:pPr>
              <a:t>6</a:t>
            </a:fld>
            <a:endParaRPr lang="pt-PT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AA6065-2D5F-4CB2-84C6-F4D56EF3A7B5}"/>
              </a:ext>
            </a:extLst>
          </p:cNvPr>
          <p:cNvSpPr txBox="1"/>
          <p:nvPr/>
        </p:nvSpPr>
        <p:spPr>
          <a:xfrm>
            <a:off x="287524" y="6294802"/>
            <a:ext cx="457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600" i="1" dirty="0"/>
              <a:t>Gestão e Virtualização de Redes, METI 2024-2025</a:t>
            </a:r>
            <a:endParaRPr lang="pt-PT" alt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3572602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D35D7-E8AD-7247-B71A-87E111198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Programa Sucinto GR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86B30-7465-7349-A216-D9A8099F5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6450" lvl="1" indent="-457200">
              <a:buFont typeface="+mj-lt"/>
              <a:buAutoNum type="arabicPeriod"/>
            </a:pPr>
            <a:r>
              <a:rPr lang="pt-PT" dirty="0"/>
              <a:t>Motivação</a:t>
            </a:r>
          </a:p>
          <a:p>
            <a:pPr marL="806450" lvl="1" indent="-457200">
              <a:buFont typeface="+mj-lt"/>
              <a:buAutoNum type="arabicPeriod"/>
            </a:pPr>
            <a:r>
              <a:rPr lang="pt-PT" dirty="0"/>
              <a:t>Arquiteturas de gestão normalizadas</a:t>
            </a:r>
          </a:p>
          <a:p>
            <a:pPr marL="806450" lvl="1" indent="-457200">
              <a:buFont typeface="+mj-lt"/>
              <a:buAutoNum type="arabicPeriod"/>
            </a:pPr>
            <a:r>
              <a:rPr lang="pt-PT" dirty="0"/>
              <a:t>Arquitetura de gestão INMF/SNMP</a:t>
            </a:r>
          </a:p>
          <a:p>
            <a:pPr marL="806450" lvl="1" indent="-457200">
              <a:buFont typeface="+mj-lt"/>
              <a:buAutoNum type="arabicPeriod"/>
            </a:pPr>
            <a:r>
              <a:rPr lang="pt-PT" dirty="0"/>
              <a:t>Conceitos adicionais sobre arquiteturas de gestão</a:t>
            </a:r>
          </a:p>
          <a:p>
            <a:pPr marL="806450" lvl="1" indent="-457200">
              <a:buFont typeface="+mj-lt"/>
              <a:buAutoNum type="arabicPeriod"/>
            </a:pPr>
            <a:r>
              <a:rPr lang="pt-PT" dirty="0"/>
              <a:t>Tecnologias complementares</a:t>
            </a:r>
          </a:p>
          <a:p>
            <a:pPr marL="806450" lvl="1" indent="-457200">
              <a:buFont typeface="+mj-lt"/>
              <a:buAutoNum type="arabicPeriod"/>
            </a:pPr>
            <a:r>
              <a:rPr lang="pt-PT" dirty="0"/>
              <a:t>Atividades de Gestão</a:t>
            </a:r>
          </a:p>
          <a:p>
            <a:pPr marL="806450" lvl="1" indent="-457200">
              <a:buFont typeface="+mj-lt"/>
              <a:buAutoNum type="arabicPeriod"/>
            </a:pPr>
            <a:r>
              <a:rPr lang="pt-PT" dirty="0"/>
              <a:t>Introdução à </a:t>
            </a:r>
            <a:r>
              <a:rPr lang="pt-BR" dirty="0"/>
              <a:t>Gestão e Virtualização de Redes</a:t>
            </a:r>
            <a:r>
              <a:rPr lang="pt-PT" dirty="0"/>
              <a:t> de Telecomunicações</a:t>
            </a:r>
          </a:p>
          <a:p>
            <a:pPr marL="806450" lvl="1" indent="-457200">
              <a:buFont typeface="+mj-lt"/>
              <a:buAutoNum type="arabicPeriod"/>
            </a:pPr>
            <a:r>
              <a:rPr lang="pt-PT" dirty="0"/>
              <a:t>Ferramentas de Gestão Corrente</a:t>
            </a:r>
          </a:p>
          <a:p>
            <a:pPr marL="806450" lvl="1" indent="-457200">
              <a:buFont typeface="+mj-lt"/>
              <a:buAutoNum type="arabicPeriod"/>
            </a:pPr>
            <a:r>
              <a:rPr lang="pt-PT" dirty="0"/>
              <a:t>Gestão por Políticas, integração e automação.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21358-AC1E-43BF-BE1A-749A08FCB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98F8A-9349-4283-8578-1274CE958A9E}" type="slidenum">
              <a:rPr lang="pt-PT" altLang="en-US" smtClean="0"/>
              <a:pPr>
                <a:defRPr/>
              </a:pPr>
              <a:t>7</a:t>
            </a:fld>
            <a:endParaRPr lang="pt-PT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1EA94A-24EE-478A-8817-06F1F886A99B}"/>
              </a:ext>
            </a:extLst>
          </p:cNvPr>
          <p:cNvSpPr txBox="1"/>
          <p:nvPr/>
        </p:nvSpPr>
        <p:spPr>
          <a:xfrm>
            <a:off x="287524" y="6294802"/>
            <a:ext cx="457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600" i="1" dirty="0"/>
              <a:t>Gestão e Virtualização de Redes, METI 2024-2025</a:t>
            </a:r>
            <a:endParaRPr lang="pt-PT" alt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416730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D35D7-E8AD-7247-B71A-87E111198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Programa Sucinto VR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86B30-7465-7349-A216-D9A8099F5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6450" lvl="1" indent="-457200">
              <a:buFont typeface="+mj-lt"/>
              <a:buAutoNum type="arabicPeriod"/>
            </a:pPr>
            <a:r>
              <a:rPr lang="pt-BR" dirty="0"/>
              <a:t>Elementos das redes modernas</a:t>
            </a:r>
          </a:p>
          <a:p>
            <a:pPr marL="806450" lvl="1" indent="-457200">
              <a:buFont typeface="+mj-lt"/>
              <a:buAutoNum type="arabicPeriod"/>
            </a:pPr>
            <a:r>
              <a:rPr lang="pt-BR" dirty="0"/>
              <a:t>Requisitos e tecnologias das redes modernas</a:t>
            </a:r>
          </a:p>
          <a:p>
            <a:pPr marL="806450" lvl="1" indent="-457200">
              <a:buFont typeface="+mj-lt"/>
              <a:buAutoNum type="arabicPeriod"/>
            </a:pPr>
            <a:r>
              <a:rPr lang="pt-BR" dirty="0"/>
              <a:t>Redes definidas por software (SDN): conceitos e motivação</a:t>
            </a:r>
          </a:p>
          <a:p>
            <a:pPr marL="806450" lvl="1" indent="-457200">
              <a:buFont typeface="+mj-lt"/>
              <a:buAutoNum type="arabicPeriod"/>
            </a:pPr>
            <a:r>
              <a:rPr lang="pt-BR" dirty="0"/>
              <a:t>Plano de dados SDN e OpenFlow</a:t>
            </a:r>
          </a:p>
          <a:p>
            <a:pPr marL="806450" lvl="1" indent="-457200">
              <a:buFont typeface="+mj-lt"/>
              <a:buAutoNum type="arabicPeriod"/>
            </a:pPr>
            <a:r>
              <a:rPr lang="pt-BR" dirty="0"/>
              <a:t>Plano de Controle SDN</a:t>
            </a:r>
          </a:p>
          <a:p>
            <a:pPr marL="806450" lvl="1" indent="-457200">
              <a:buFont typeface="+mj-lt"/>
              <a:buAutoNum type="arabicPeriod"/>
            </a:pPr>
            <a:r>
              <a:rPr lang="pt-BR" dirty="0"/>
              <a:t>Plano de Aplicação SDN</a:t>
            </a:r>
          </a:p>
          <a:p>
            <a:pPr marL="806450" lvl="1" indent="-457200">
              <a:buFont typeface="+mj-lt"/>
              <a:buAutoNum type="arabicPeriod"/>
            </a:pPr>
            <a:r>
              <a:rPr lang="pt-BR" dirty="0"/>
              <a:t>Virtualização de funções de rede (NFV): conceitos e arquitetura</a:t>
            </a:r>
          </a:p>
          <a:p>
            <a:pPr marL="806450" lvl="1" indent="-457200">
              <a:buFont typeface="+mj-lt"/>
              <a:buAutoNum type="arabicPeriod"/>
            </a:pPr>
            <a:r>
              <a:rPr lang="pt-BR" dirty="0"/>
              <a:t>Funcionalidades NFV</a:t>
            </a:r>
          </a:p>
          <a:p>
            <a:pPr marL="806450" lvl="1" indent="-457200">
              <a:buFont typeface="+mj-lt"/>
              <a:buAutoNum type="arabicPeriod"/>
            </a:pPr>
            <a:r>
              <a:rPr lang="pt-BR" dirty="0"/>
              <a:t>Virtualização de Rede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21358-AC1E-43BF-BE1A-749A08FCB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98F8A-9349-4283-8578-1274CE958A9E}" type="slidenum">
              <a:rPr lang="pt-PT" altLang="en-US" smtClean="0"/>
              <a:pPr>
                <a:defRPr/>
              </a:pPr>
              <a:t>8</a:t>
            </a:fld>
            <a:endParaRPr lang="pt-PT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5BC98A-94ED-4640-A591-A7A28F28B367}"/>
              </a:ext>
            </a:extLst>
          </p:cNvPr>
          <p:cNvSpPr txBox="1"/>
          <p:nvPr/>
        </p:nvSpPr>
        <p:spPr>
          <a:xfrm>
            <a:off x="287524" y="6294802"/>
            <a:ext cx="457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600" i="1" dirty="0"/>
              <a:t>Gestão e Virtualização de Redes, METI 2024-2025</a:t>
            </a:r>
            <a:endParaRPr lang="pt-PT" alt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2283081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pt-PT" dirty="0"/>
              <a:t>Bibliografia Essencial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233488"/>
            <a:ext cx="8435975" cy="4751796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pt-PT" sz="2000" dirty="0"/>
              <a:t>Network Management, MIBs and MPLS: Principles, Design and Implementation</a:t>
            </a:r>
            <a:r>
              <a:rPr lang="en-GB" altLang="pt-PT" sz="2000" b="0" dirty="0"/>
              <a:t>, Stephen B. Morris, Addison-Wesley, 2003;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pt-PT" sz="2000" dirty="0"/>
              <a:t>SNMP, SNMPv2, SNMPv3 and RMON 1 and 2</a:t>
            </a:r>
            <a:r>
              <a:rPr lang="en-GB" altLang="pt-PT" sz="2000" b="0" dirty="0"/>
              <a:t>, William Stallings, Addison-Wesley, 1998;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pt-PT" sz="2000" dirty="0"/>
              <a:t>Network Services Management Framework</a:t>
            </a:r>
            <a:r>
              <a:rPr lang="en-GB" altLang="pt-PT" sz="2000" b="0" dirty="0"/>
              <a:t>, Bruno Dias, PhD Thesis, </a:t>
            </a:r>
            <a:r>
              <a:rPr lang="en-GB" altLang="pt-PT" sz="2000" b="0" dirty="0" err="1"/>
              <a:t>Universidade</a:t>
            </a:r>
            <a:r>
              <a:rPr lang="en-GB" altLang="pt-PT" sz="2000" b="0" dirty="0"/>
              <a:t> do Minho, 2004; (Chapter Two: About Network Management Frameworks &amp; Technologies; Chapter Three: Introduction to the Network Services Management Framework);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pt-PT" sz="2000" dirty="0"/>
              <a:t>Essential SNMP</a:t>
            </a:r>
            <a:r>
              <a:rPr lang="en-GB" altLang="pt-PT" sz="2000" b="0" dirty="0"/>
              <a:t>, 2nd Edition, Douglas Mauro, Kevin Schmidt, O'Reilly, 2003;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pt-PT" sz="2000" dirty="0"/>
              <a:t>SDN: Software Defined Networks: An Authoritative Review of Network Programmability Technologies</a:t>
            </a:r>
            <a:r>
              <a:rPr lang="en-GB" altLang="pt-PT" sz="2000" b="0" dirty="0"/>
              <a:t>, T. Nadeau, Ken </a:t>
            </a:r>
            <a:r>
              <a:rPr lang="en-GB" altLang="pt-PT" sz="2000" b="0" dirty="0" err="1"/>
              <a:t>Gray</a:t>
            </a:r>
            <a:r>
              <a:rPr lang="en-GB" altLang="pt-PT" sz="2000" b="0" dirty="0"/>
              <a:t>, O'Reilly Media, 2013.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pt-PT" sz="2000" dirty="0"/>
              <a:t>Network Function Virtualization</a:t>
            </a:r>
            <a:r>
              <a:rPr lang="en-GB" altLang="pt-PT" sz="2000" b="0" dirty="0"/>
              <a:t>, Ken </a:t>
            </a:r>
            <a:r>
              <a:rPr lang="en-GB" altLang="pt-PT" sz="2000" b="0" dirty="0" err="1"/>
              <a:t>Gray</a:t>
            </a:r>
            <a:r>
              <a:rPr lang="en-GB" altLang="pt-PT" sz="2000" b="0" dirty="0"/>
              <a:t>, Thomas Nadeau, </a:t>
            </a:r>
            <a:r>
              <a:rPr lang="en-GB" altLang="pt-PT" sz="2000" b="0" dirty="0" err="1"/>
              <a:t>Elsivier</a:t>
            </a:r>
            <a:r>
              <a:rPr lang="en-GB" altLang="pt-PT" sz="2000" b="0" dirty="0"/>
              <a:t>, 2016.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pt-PT" sz="2000" dirty="0"/>
              <a:t>Foundations of Modern Networking: SDN, NFV, </a:t>
            </a:r>
            <a:r>
              <a:rPr lang="en-GB" altLang="pt-PT" sz="2000" dirty="0" err="1"/>
              <a:t>QoE</a:t>
            </a:r>
            <a:r>
              <a:rPr lang="en-GB" altLang="pt-PT" sz="2000" dirty="0"/>
              <a:t>, IoT, and Cloud</a:t>
            </a:r>
            <a:r>
              <a:rPr lang="en-GB" altLang="pt-PT" sz="2000" b="0" dirty="0"/>
              <a:t>, William Stallings, Addison-Wesley Professional, 2015.</a:t>
            </a:r>
          </a:p>
          <a:p>
            <a:pPr eaLnBrk="1" hangingPunct="1"/>
            <a:endParaRPr lang="en-GB" altLang="pt-PT" sz="2000" b="0" dirty="0"/>
          </a:p>
          <a:p>
            <a:pPr eaLnBrk="1" hangingPunct="1"/>
            <a:endParaRPr lang="en-GB" altLang="pt-PT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8B30E-2452-4835-827B-23063C6E2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98F8A-9349-4283-8578-1274CE958A9E}" type="slidenum">
              <a:rPr lang="pt-PT" altLang="en-US" smtClean="0"/>
              <a:pPr>
                <a:defRPr/>
              </a:pPr>
              <a:t>9</a:t>
            </a:fld>
            <a:endParaRPr lang="pt-PT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AA8E06-B583-49EE-839F-FEA2C58DBE07}"/>
              </a:ext>
            </a:extLst>
          </p:cNvPr>
          <p:cNvSpPr txBox="1"/>
          <p:nvPr/>
        </p:nvSpPr>
        <p:spPr>
          <a:xfrm>
            <a:off x="287524" y="6294802"/>
            <a:ext cx="457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600" i="1" dirty="0"/>
              <a:t>Gestão e Virtualização de Redes, METI 2024-2025</a:t>
            </a:r>
            <a:endParaRPr lang="pt-PT" alt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1625437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D35D7-E8AD-7247-B71A-87E111198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Programa Detalhado GR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86B30-7465-7349-A216-D9A8099F5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9250" lvl="1" indent="0">
              <a:buNone/>
            </a:pPr>
            <a:r>
              <a:rPr lang="pt-PT" dirty="0"/>
              <a:t>1. Motivação:</a:t>
            </a:r>
          </a:p>
          <a:p>
            <a:pPr marL="644525" lvl="2" indent="0">
              <a:buNone/>
            </a:pPr>
            <a:r>
              <a:rPr lang="pt-PT" dirty="0"/>
              <a:t>1.1 Introdução Histórica;</a:t>
            </a:r>
          </a:p>
          <a:p>
            <a:pPr marL="644525" lvl="2" indent="0">
              <a:buNone/>
            </a:pPr>
            <a:r>
              <a:rPr lang="pt-PT" dirty="0"/>
              <a:t>1.2 </a:t>
            </a:r>
            <a:r>
              <a:rPr lang="pt-BR" dirty="0"/>
              <a:t>Gestão e Virtualização de Redes</a:t>
            </a:r>
            <a:r>
              <a:rPr lang="pt-PT" dirty="0"/>
              <a:t> não normalizada: pequenas aplicações utilitárias e gestão </a:t>
            </a:r>
            <a:r>
              <a:rPr lang="pt-PT" dirty="0" err="1"/>
              <a:t>adhoc</a:t>
            </a:r>
            <a:r>
              <a:rPr lang="pt-PT" dirty="0"/>
              <a:t>;</a:t>
            </a:r>
          </a:p>
          <a:p>
            <a:pPr marL="644525" lvl="2" indent="0">
              <a:buNone/>
            </a:pPr>
            <a:r>
              <a:rPr lang="pt-PT" dirty="0"/>
              <a:t>1.3 Necessidade da normalização das atividades de gestão.</a:t>
            </a:r>
          </a:p>
          <a:p>
            <a:pPr marL="806450" lvl="1" indent="-457200">
              <a:buFont typeface="+mj-lt"/>
              <a:buAutoNum type="arabicPeriod"/>
            </a:pPr>
            <a:endParaRPr lang="pt-PT" dirty="0"/>
          </a:p>
          <a:p>
            <a:pPr marL="349250" lvl="1" indent="0">
              <a:buNone/>
            </a:pPr>
            <a:r>
              <a:rPr lang="pt-PT" dirty="0"/>
              <a:t>2. Arquiteturas de gestão:</a:t>
            </a:r>
          </a:p>
          <a:p>
            <a:pPr marL="644525" lvl="2" indent="0">
              <a:buNone/>
            </a:pPr>
            <a:r>
              <a:rPr lang="pt-PT" dirty="0"/>
              <a:t>2.1 Visão genérica das arquiteturas OSI e TMN;</a:t>
            </a:r>
          </a:p>
          <a:p>
            <a:pPr marL="644525" lvl="2" indent="0">
              <a:buNone/>
            </a:pPr>
            <a:r>
              <a:rPr lang="pt-PT" dirty="0"/>
              <a:t>2.2 Introdução à arquitetura "Internet Network Management Framework" (INMF), ou arquitetura SNMP.</a:t>
            </a:r>
          </a:p>
          <a:p>
            <a:pPr marL="349250" lvl="1" indent="0">
              <a:buNone/>
            </a:pPr>
            <a:endParaRPr lang="pt-P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A3F7-C305-49B7-A09F-75D4DD49F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98F8A-9349-4283-8578-1274CE958A9E}" type="slidenum">
              <a:rPr lang="pt-PT" altLang="en-US" smtClean="0"/>
              <a:pPr>
                <a:defRPr/>
              </a:pPr>
              <a:t>10</a:t>
            </a:fld>
            <a:endParaRPr lang="pt-PT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B65B09-93E3-43C9-AB0B-D4897359C38D}"/>
              </a:ext>
            </a:extLst>
          </p:cNvPr>
          <p:cNvSpPr txBox="1"/>
          <p:nvPr/>
        </p:nvSpPr>
        <p:spPr>
          <a:xfrm>
            <a:off x="287524" y="6294802"/>
            <a:ext cx="457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600" i="1" dirty="0"/>
              <a:t>Gestão e Virtualização de Redes, METI 2024-2025</a:t>
            </a:r>
            <a:endParaRPr lang="pt-PT" alt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2479324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D35D7-E8AD-7247-B71A-87E111198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Programa Detalhado GR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86B30-7465-7349-A216-D9A8099F5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9250" lvl="1" indent="0">
              <a:buNone/>
            </a:pPr>
            <a:r>
              <a:rPr lang="pt-PT" dirty="0"/>
              <a:t>3. Arquitetura de gestão INMF/SNMP:</a:t>
            </a:r>
          </a:p>
          <a:p>
            <a:pPr marL="644525" lvl="2" indent="0">
              <a:buNone/>
            </a:pPr>
            <a:r>
              <a:rPr lang="pt-PT" dirty="0"/>
              <a:t>3.1 Conceptualização da informação de gestão (Modelo de dados e objetos/variáveis de gestão);</a:t>
            </a:r>
          </a:p>
          <a:p>
            <a:pPr marL="644525" lvl="2" indent="0">
              <a:buNone/>
            </a:pPr>
            <a:r>
              <a:rPr lang="pt-PT" dirty="0"/>
              <a:t>3.2 Arquitetura das entidades de gestão e paradigmas de comunicação;</a:t>
            </a:r>
          </a:p>
          <a:p>
            <a:pPr marL="644525" lvl="2" indent="0">
              <a:buNone/>
            </a:pPr>
            <a:r>
              <a:rPr lang="pt-PT" dirty="0"/>
              <a:t>3.3 Normas SMI e sua aplicação na construção de </a:t>
            </a:r>
            <a:r>
              <a:rPr lang="pt-PT" dirty="0" err="1"/>
              <a:t>MIBs</a:t>
            </a:r>
            <a:r>
              <a:rPr lang="pt-PT" dirty="0"/>
              <a:t>;</a:t>
            </a:r>
          </a:p>
          <a:p>
            <a:pPr marL="644525" lvl="2" indent="0">
              <a:buNone/>
            </a:pPr>
            <a:r>
              <a:rPr lang="pt-PT" dirty="0"/>
              <a:t>3.4 O protocolo SNMPv1, SNMPv2 e SNMPv3;</a:t>
            </a:r>
          </a:p>
          <a:p>
            <a:pPr marL="644525" lvl="2" indent="0">
              <a:buNone/>
            </a:pPr>
            <a:r>
              <a:rPr lang="pt-PT" dirty="0"/>
              <a:t>3.5 Estudo detalhado das normas MIB-I, MIB-II, Interfaces-MIB e RMON-MIB;</a:t>
            </a:r>
          </a:p>
          <a:p>
            <a:pPr marL="644525" lvl="2" indent="0">
              <a:buNone/>
            </a:pPr>
            <a:r>
              <a:rPr lang="pt-PT" dirty="0"/>
              <a:t>3.6 Normas de segurança: VACM e USM.</a:t>
            </a:r>
          </a:p>
          <a:p>
            <a:pPr marL="644525" lvl="2" indent="0">
              <a:buNone/>
            </a:pPr>
            <a:endParaRPr lang="pt-PT" dirty="0"/>
          </a:p>
          <a:p>
            <a:pPr marL="349250" lvl="1" indent="0">
              <a:buNone/>
            </a:pPr>
            <a:endParaRPr lang="pt-P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B1EEF-40C5-49D9-A058-0003A0C3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98F8A-9349-4283-8578-1274CE958A9E}" type="slidenum">
              <a:rPr lang="pt-PT" altLang="en-US" smtClean="0"/>
              <a:pPr>
                <a:defRPr/>
              </a:pPr>
              <a:t>11</a:t>
            </a:fld>
            <a:endParaRPr lang="pt-PT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0B49B9-7710-403F-86DA-1B119F9979D4}"/>
              </a:ext>
            </a:extLst>
          </p:cNvPr>
          <p:cNvSpPr txBox="1"/>
          <p:nvPr/>
        </p:nvSpPr>
        <p:spPr>
          <a:xfrm>
            <a:off x="287524" y="6294802"/>
            <a:ext cx="457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600" i="1" dirty="0"/>
              <a:t>Gestão e Virtualização de Redes, METI 2024-2025</a:t>
            </a:r>
            <a:endParaRPr lang="pt-PT" alt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1578137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D35D7-E8AD-7247-B71A-87E111198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Programa Detalhado GR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86B30-7465-7349-A216-D9A8099F5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9250" lvl="1" indent="0">
              <a:buNone/>
            </a:pPr>
            <a:r>
              <a:rPr lang="pt-PT" dirty="0"/>
              <a:t>4. Conceitos adicionais sobre arquiteturas de gestão:</a:t>
            </a:r>
          </a:p>
          <a:p>
            <a:pPr marL="644525" lvl="2" indent="0">
              <a:buNone/>
            </a:pPr>
            <a:r>
              <a:rPr lang="pt-PT" dirty="0"/>
              <a:t>4.1 FCAPS</a:t>
            </a:r>
          </a:p>
          <a:p>
            <a:pPr marL="644525" lvl="2" indent="0">
              <a:buNone/>
            </a:pPr>
            <a:r>
              <a:rPr lang="pt-PT" dirty="0"/>
              <a:t>4.2 NETCONF</a:t>
            </a:r>
          </a:p>
          <a:p>
            <a:pPr marL="644525" lvl="2" indent="0">
              <a:buNone/>
            </a:pPr>
            <a:r>
              <a:rPr lang="pt-PT" dirty="0"/>
              <a:t>4.3 Arquiteturas independentes dos modelos de dados e orientadas às funções de gestão;</a:t>
            </a:r>
          </a:p>
          <a:p>
            <a:pPr marL="644525" lvl="2" indent="0">
              <a:buNone/>
            </a:pPr>
            <a:r>
              <a:rPr lang="pt-PT" dirty="0"/>
              <a:t>4.4 Arquiteturas de gestão orientadas aos serviços.</a:t>
            </a:r>
          </a:p>
          <a:p>
            <a:pPr marL="349250" lvl="1" indent="0">
              <a:buNone/>
            </a:pPr>
            <a:endParaRPr lang="pt-PT" dirty="0"/>
          </a:p>
          <a:p>
            <a:pPr marL="349250" lvl="1" indent="0">
              <a:buNone/>
            </a:pPr>
            <a:r>
              <a:rPr lang="pt-PT" dirty="0"/>
              <a:t>5. Tecnologias complementares:</a:t>
            </a:r>
          </a:p>
          <a:p>
            <a:pPr marL="644525" lvl="2" indent="0">
              <a:buNone/>
            </a:pPr>
            <a:r>
              <a:rPr lang="pt-PT" dirty="0"/>
              <a:t>5.1 Normas desenvolvidas pelo DMTF para gestão distribuída;</a:t>
            </a:r>
          </a:p>
          <a:p>
            <a:pPr marL="644525" lvl="2" indent="0">
              <a:buNone/>
            </a:pPr>
            <a:r>
              <a:rPr lang="pt-PT" dirty="0"/>
              <a:t>5.2 Gestão baseada na infraestrutura e protocolos Web;</a:t>
            </a:r>
          </a:p>
          <a:p>
            <a:pPr marL="644525" lvl="2" indent="0">
              <a:buNone/>
            </a:pPr>
            <a:r>
              <a:rPr lang="pt-PT" dirty="0"/>
              <a:t>5.3 Gestão por agentes móveis e/ou por delegação.</a:t>
            </a:r>
          </a:p>
          <a:p>
            <a:pPr marL="806450" lvl="1" indent="-457200">
              <a:buFont typeface="+mj-lt"/>
              <a:buAutoNum type="arabicPeriod"/>
            </a:pPr>
            <a:endParaRPr lang="pt-P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B77D9-E4D5-4EAE-BFCF-B91C1072E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98F8A-9349-4283-8578-1274CE958A9E}" type="slidenum">
              <a:rPr lang="pt-PT" altLang="en-US" smtClean="0"/>
              <a:pPr>
                <a:defRPr/>
              </a:pPr>
              <a:t>12</a:t>
            </a:fld>
            <a:endParaRPr lang="pt-PT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4E806B-676E-484B-967A-C9C8769A1701}"/>
              </a:ext>
            </a:extLst>
          </p:cNvPr>
          <p:cNvSpPr txBox="1"/>
          <p:nvPr/>
        </p:nvSpPr>
        <p:spPr>
          <a:xfrm>
            <a:off x="287524" y="6294802"/>
            <a:ext cx="457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600" i="1" dirty="0"/>
              <a:t>Gestão e Virtualização de Redes, METI 2024-2025</a:t>
            </a:r>
            <a:endParaRPr lang="pt-PT" alt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331292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D35D7-E8AD-7247-B71A-87E111198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Programa Detalhado GR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86B30-7465-7349-A216-D9A8099F5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9250" lvl="1" indent="0">
              <a:buNone/>
            </a:pPr>
            <a:r>
              <a:rPr lang="pt-PT" dirty="0"/>
              <a:t>6. Atividades de gestão:</a:t>
            </a:r>
          </a:p>
          <a:p>
            <a:pPr marL="644525" lvl="2" indent="0">
              <a:buNone/>
            </a:pPr>
            <a:r>
              <a:rPr lang="pt-PT" dirty="0"/>
              <a:t>6.1 Configuração;</a:t>
            </a:r>
          </a:p>
          <a:p>
            <a:pPr marL="644525" lvl="2" indent="0">
              <a:buNone/>
            </a:pPr>
            <a:r>
              <a:rPr lang="pt-PT" dirty="0"/>
              <a:t>6.2 Monitorização de Falhas e Tráfego;</a:t>
            </a:r>
          </a:p>
          <a:p>
            <a:pPr marL="644525" lvl="2" indent="0">
              <a:buNone/>
            </a:pPr>
            <a:r>
              <a:rPr lang="pt-PT" dirty="0"/>
              <a:t>6.3 Monitorização de Serviços;</a:t>
            </a:r>
          </a:p>
          <a:p>
            <a:pPr marL="644525" lvl="2" indent="0">
              <a:buNone/>
            </a:pPr>
            <a:r>
              <a:rPr lang="pt-PT" dirty="0"/>
              <a:t>6.4 Monitorização de Qualidade de Serviço;</a:t>
            </a:r>
          </a:p>
          <a:p>
            <a:pPr marL="644525" lvl="2" indent="0">
              <a:buNone/>
            </a:pPr>
            <a:r>
              <a:rPr lang="pt-PT" dirty="0"/>
              <a:t>6.5 Gestão Administrativa e Estratégica.</a:t>
            </a:r>
          </a:p>
          <a:p>
            <a:pPr marL="806450" lvl="1" indent="-457200">
              <a:buFont typeface="+mj-lt"/>
              <a:buAutoNum type="arabicPeriod"/>
            </a:pPr>
            <a:endParaRPr lang="pt-PT" dirty="0"/>
          </a:p>
          <a:p>
            <a:pPr marL="349250" lvl="1" indent="0">
              <a:buNone/>
            </a:pPr>
            <a:r>
              <a:rPr lang="pt-PT" dirty="0"/>
              <a:t>7. Introdução à </a:t>
            </a:r>
            <a:r>
              <a:rPr lang="pt-BR" dirty="0"/>
              <a:t>Gestão e Virtualização de Redes</a:t>
            </a:r>
            <a:r>
              <a:rPr lang="pt-PT" dirty="0"/>
              <a:t> de Telecomunicações (TMN):</a:t>
            </a:r>
          </a:p>
          <a:p>
            <a:pPr marL="644525" lvl="2" indent="0">
              <a:buNone/>
            </a:pPr>
            <a:r>
              <a:rPr lang="pt-PT" dirty="0"/>
              <a:t>7.1 Conceitos gerais;</a:t>
            </a:r>
          </a:p>
          <a:p>
            <a:pPr marL="644525" lvl="2" indent="0">
              <a:buNone/>
            </a:pPr>
            <a:r>
              <a:rPr lang="pt-PT" dirty="0"/>
              <a:t>7.2 Modelos Lógicos e Funcionais;</a:t>
            </a:r>
          </a:p>
          <a:p>
            <a:pPr marL="644525" lvl="2" indent="0">
              <a:buNone/>
            </a:pPr>
            <a:r>
              <a:rPr lang="pt-PT" dirty="0"/>
              <a:t>7.3 Interfaces Normalizados.</a:t>
            </a:r>
          </a:p>
          <a:p>
            <a:pPr marL="806450" lvl="1" indent="-457200">
              <a:buFont typeface="+mj-lt"/>
              <a:buAutoNum type="arabicPeriod"/>
            </a:pPr>
            <a:endParaRPr lang="pt-PT" dirty="0"/>
          </a:p>
          <a:p>
            <a:pPr marL="349250" lvl="1" indent="0">
              <a:buNone/>
            </a:pPr>
            <a:endParaRPr lang="pt-P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1CBB3-01EE-4F4B-99D0-11B5FE07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98F8A-9349-4283-8578-1274CE958A9E}" type="slidenum">
              <a:rPr lang="pt-PT" altLang="en-US" smtClean="0"/>
              <a:pPr>
                <a:defRPr/>
              </a:pPr>
              <a:t>13</a:t>
            </a:fld>
            <a:endParaRPr lang="pt-PT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072DCE-0BAF-461C-B1CB-D1F486675724}"/>
              </a:ext>
            </a:extLst>
          </p:cNvPr>
          <p:cNvSpPr txBox="1"/>
          <p:nvPr/>
        </p:nvSpPr>
        <p:spPr>
          <a:xfrm>
            <a:off x="287524" y="6294802"/>
            <a:ext cx="457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600" i="1" dirty="0"/>
              <a:t>Gestão e Virtualização de Redes, METI 2024-2025</a:t>
            </a:r>
            <a:endParaRPr lang="pt-PT" alt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436830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D35D7-E8AD-7247-B71A-87E111198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Programa Detalhado GR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86B30-7465-7349-A216-D9A8099F5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9250" lvl="1" indent="0">
              <a:buNone/>
            </a:pPr>
            <a:r>
              <a:rPr lang="pt-PT" dirty="0"/>
              <a:t>8. Ferramentas de Gestão Corrente:</a:t>
            </a:r>
          </a:p>
          <a:p>
            <a:pPr marL="644525" lvl="2" indent="0">
              <a:buNone/>
            </a:pPr>
            <a:r>
              <a:rPr lang="pt-PT" dirty="0"/>
              <a:t>8.1 </a:t>
            </a:r>
            <a:r>
              <a:rPr lang="pt-PT" dirty="0" err="1"/>
              <a:t>Ping</a:t>
            </a:r>
            <a:r>
              <a:rPr lang="pt-PT" dirty="0"/>
              <a:t>, </a:t>
            </a:r>
            <a:r>
              <a:rPr lang="pt-PT" dirty="0" err="1"/>
              <a:t>Traceroute</a:t>
            </a:r>
            <a:r>
              <a:rPr lang="pt-PT" dirty="0"/>
              <a:t>, </a:t>
            </a:r>
            <a:r>
              <a:rPr lang="pt-PT" dirty="0" err="1"/>
              <a:t>NetCat</a:t>
            </a:r>
            <a:r>
              <a:rPr lang="pt-PT" dirty="0"/>
              <a:t> e </a:t>
            </a:r>
            <a:r>
              <a:rPr lang="pt-PT" dirty="0" err="1"/>
              <a:t>NetStat</a:t>
            </a:r>
            <a:r>
              <a:rPr lang="pt-PT" dirty="0"/>
              <a:t>;</a:t>
            </a:r>
          </a:p>
          <a:p>
            <a:pPr marL="644525" lvl="2" indent="0">
              <a:buNone/>
            </a:pPr>
            <a:r>
              <a:rPr lang="pt-PT" dirty="0"/>
              <a:t>8.2 MRTG, </a:t>
            </a:r>
            <a:r>
              <a:rPr lang="pt-PT" dirty="0" err="1"/>
              <a:t>Neo</a:t>
            </a:r>
            <a:r>
              <a:rPr lang="pt-PT" dirty="0"/>
              <a:t>, </a:t>
            </a:r>
            <a:r>
              <a:rPr lang="pt-PT" dirty="0" err="1"/>
              <a:t>Nagios</a:t>
            </a:r>
            <a:r>
              <a:rPr lang="pt-PT" dirty="0"/>
              <a:t> e </a:t>
            </a:r>
            <a:r>
              <a:rPr lang="pt-PT" dirty="0" err="1"/>
              <a:t>Sysmon</a:t>
            </a:r>
            <a:r>
              <a:rPr lang="pt-PT" dirty="0"/>
              <a:t>;</a:t>
            </a:r>
          </a:p>
          <a:p>
            <a:pPr marL="644525" lvl="2" indent="0">
              <a:buNone/>
            </a:pPr>
            <a:r>
              <a:rPr lang="pt-PT" dirty="0"/>
              <a:t>8.3 </a:t>
            </a:r>
            <a:r>
              <a:rPr lang="pt-PT" dirty="0" err="1"/>
              <a:t>Oak</a:t>
            </a:r>
            <a:r>
              <a:rPr lang="pt-PT" dirty="0"/>
              <a:t>, </a:t>
            </a:r>
            <a:r>
              <a:rPr lang="pt-PT" dirty="0" err="1"/>
              <a:t>TCPDump</a:t>
            </a:r>
            <a:r>
              <a:rPr lang="pt-PT" dirty="0"/>
              <a:t>/</a:t>
            </a:r>
            <a:r>
              <a:rPr lang="pt-PT" dirty="0" err="1"/>
              <a:t>Wireshark</a:t>
            </a:r>
            <a:r>
              <a:rPr lang="pt-PT" dirty="0"/>
              <a:t>.</a:t>
            </a:r>
          </a:p>
          <a:p>
            <a:pPr marL="349250" lvl="1" indent="0">
              <a:buNone/>
            </a:pPr>
            <a:endParaRPr lang="pt-PT" dirty="0"/>
          </a:p>
          <a:p>
            <a:pPr marL="349250" lvl="1" indent="0">
              <a:buNone/>
            </a:pPr>
            <a:r>
              <a:rPr lang="pt-PT" dirty="0"/>
              <a:t>9 Tópicos Avançados:</a:t>
            </a:r>
          </a:p>
          <a:p>
            <a:pPr marL="644525" lvl="2" indent="0">
              <a:buNone/>
            </a:pPr>
            <a:r>
              <a:rPr lang="pt-PT" dirty="0"/>
              <a:t>9.1 Gestão de Serviços por Políticas;</a:t>
            </a:r>
          </a:p>
          <a:p>
            <a:pPr marL="644525" lvl="2" indent="0">
              <a:buNone/>
            </a:pPr>
            <a:r>
              <a:rPr lang="pt-PT" dirty="0"/>
              <a:t>9.2 Gestão Integrada;</a:t>
            </a:r>
          </a:p>
          <a:p>
            <a:pPr marL="644525" lvl="2" indent="0">
              <a:buNone/>
            </a:pPr>
            <a:r>
              <a:rPr lang="pt-PT" dirty="0"/>
              <a:t>9.3 Automação e representação/definição de comportamentos;</a:t>
            </a:r>
          </a:p>
          <a:p>
            <a:pPr marL="644525" lvl="2" indent="0">
              <a:buNone/>
            </a:pPr>
            <a:r>
              <a:rPr lang="pt-PT" dirty="0"/>
              <a:t>9.4 Outras tecnologias relevantes do estado da arte.</a:t>
            </a:r>
          </a:p>
          <a:p>
            <a:pPr marL="806450" lvl="1" indent="-457200">
              <a:buFont typeface="+mj-lt"/>
              <a:buAutoNum type="arabicPeriod"/>
            </a:pPr>
            <a:endParaRPr lang="pt-PT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C00AB-5988-4A17-AC63-7B60C9A26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98F8A-9349-4283-8578-1274CE958A9E}" type="slidenum">
              <a:rPr lang="pt-PT" altLang="en-US" smtClean="0"/>
              <a:pPr>
                <a:defRPr/>
              </a:pPr>
              <a:t>14</a:t>
            </a:fld>
            <a:endParaRPr lang="pt-PT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F8B1B3-32F2-4D50-8758-8CA45949A2A2}"/>
              </a:ext>
            </a:extLst>
          </p:cNvPr>
          <p:cNvSpPr txBox="1"/>
          <p:nvPr/>
        </p:nvSpPr>
        <p:spPr>
          <a:xfrm>
            <a:off x="287524" y="6294802"/>
            <a:ext cx="457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600" i="1" dirty="0"/>
              <a:t>Gestão e Virtualização de Redes, METI 2024-2025</a:t>
            </a:r>
            <a:endParaRPr lang="pt-PT" alt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1809880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PT" altLang="pt-PT" dirty="0"/>
              <a:t>Bibliografia Complementar GR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233488"/>
            <a:ext cx="8435975" cy="5435872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pt-PT" sz="2000" b="0" dirty="0"/>
              <a:t>Open Source Network Administration, James </a:t>
            </a:r>
            <a:r>
              <a:rPr lang="en-GB" altLang="pt-PT" sz="2000" b="0" dirty="0" err="1"/>
              <a:t>Kretchmar</a:t>
            </a:r>
            <a:r>
              <a:rPr lang="en-GB" altLang="pt-PT" sz="2000" b="0" dirty="0"/>
              <a:t>, Prentice Hall, 2003;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pt-PT" sz="2000" b="0" dirty="0"/>
              <a:t>Network Management, An introduction to principles and practice, M. Subramanian, Addison Wesley, 1999.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pt-PT" sz="2000" b="0" dirty="0"/>
              <a:t>Campus Network Design Fundamentals, Diane </a:t>
            </a:r>
            <a:r>
              <a:rPr lang="en-GB" altLang="pt-PT" sz="2000" b="0" dirty="0" err="1"/>
              <a:t>Teare</a:t>
            </a:r>
            <a:r>
              <a:rPr lang="en-GB" altLang="pt-PT" sz="2000" b="0" dirty="0"/>
              <a:t>, Catherine Paquet, Cisco Press, 2005;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pt-PT" sz="2000" b="0" dirty="0"/>
              <a:t>Network Administrators Survival Guide, Anand </a:t>
            </a:r>
            <a:r>
              <a:rPr lang="en-GB" altLang="pt-PT" sz="2000" b="0" dirty="0" err="1"/>
              <a:t>Deveriya</a:t>
            </a:r>
            <a:r>
              <a:rPr lang="en-GB" altLang="pt-PT" sz="2000" b="0" dirty="0"/>
              <a:t> , Cisco Press 2005;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pt-PT" sz="2000" b="0" dirty="0"/>
              <a:t>Network Performance Baselining, Daniel J. Nassar, New Riders Publishing, 2000;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pt-PT" sz="2000" b="0" dirty="0"/>
              <a:t>Performance and Fault Management, Paul L. Della </a:t>
            </a:r>
            <a:r>
              <a:rPr lang="en-GB" altLang="pt-PT" sz="2000" b="0" dirty="0" err="1"/>
              <a:t>Maggiora</a:t>
            </a:r>
            <a:r>
              <a:rPr lang="en-GB" altLang="pt-PT" sz="2000" b="0" dirty="0"/>
              <a:t>, Christopher E. Elliott, Robert L. </a:t>
            </a:r>
            <a:r>
              <a:rPr lang="en-GB" altLang="pt-PT" sz="2000" b="0" dirty="0" err="1"/>
              <a:t>Pavone</a:t>
            </a:r>
            <a:r>
              <a:rPr lang="en-GB" altLang="pt-PT" sz="2000" b="0" dirty="0"/>
              <a:t> Jr., Kent </a:t>
            </a:r>
            <a:r>
              <a:rPr lang="en-GB" altLang="pt-PT" sz="2000" b="0" dirty="0" err="1"/>
              <a:t>J.Phelps</a:t>
            </a:r>
            <a:r>
              <a:rPr lang="en-GB" altLang="pt-PT" sz="2000" b="0" dirty="0"/>
              <a:t>, James M. Thompson, Cisco Press, 2000;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pt-PT" sz="2000" b="0" dirty="0"/>
              <a:t>Optimal Routing Design, Russ White, Don Slice, Alvaro </a:t>
            </a:r>
            <a:r>
              <a:rPr lang="en-GB" altLang="pt-PT" sz="2000" b="0" dirty="0" err="1"/>
              <a:t>Retana</a:t>
            </a:r>
            <a:r>
              <a:rPr lang="en-GB" altLang="pt-PT" sz="2000" b="0" dirty="0"/>
              <a:t>, Cisco Press, 2005.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GB" altLang="pt-PT" sz="2000" b="0" dirty="0"/>
              <a:t>Outros </a:t>
            </a:r>
            <a:r>
              <a:rPr lang="en-GB" altLang="pt-PT" sz="2000" b="0" dirty="0" err="1"/>
              <a:t>tutoriais</a:t>
            </a:r>
            <a:r>
              <a:rPr lang="en-GB" altLang="pt-PT" sz="2000" b="0" dirty="0"/>
              <a:t> e </a:t>
            </a:r>
            <a:r>
              <a:rPr lang="en-GB" altLang="pt-PT" sz="2000" b="0" dirty="0" err="1"/>
              <a:t>artigos</a:t>
            </a:r>
            <a:r>
              <a:rPr lang="en-GB" altLang="pt-PT" sz="2000" b="0" dirty="0"/>
              <a:t> </a:t>
            </a:r>
            <a:r>
              <a:rPr lang="en-GB" altLang="pt-PT" sz="2000" b="0" dirty="0" err="1"/>
              <a:t>fornecidos</a:t>
            </a:r>
            <a:r>
              <a:rPr lang="en-GB" altLang="pt-PT" sz="2000" b="0" dirty="0"/>
              <a:t> </a:t>
            </a:r>
            <a:r>
              <a:rPr lang="en-GB" altLang="pt-PT" sz="2000" b="0" dirty="0" err="1"/>
              <a:t>pelo</a:t>
            </a:r>
            <a:r>
              <a:rPr lang="en-GB" altLang="pt-PT" sz="2000" b="0" dirty="0"/>
              <a:t> </a:t>
            </a:r>
            <a:r>
              <a:rPr lang="en-GB" altLang="pt-PT" sz="2000" b="0" dirty="0" err="1"/>
              <a:t>docente</a:t>
            </a:r>
            <a:r>
              <a:rPr lang="en-GB" altLang="pt-PT" sz="2000" b="0" dirty="0"/>
              <a:t> </a:t>
            </a:r>
            <a:r>
              <a:rPr lang="en-GB" altLang="pt-PT" sz="2000" b="0" dirty="0" err="1"/>
              <a:t>aos</a:t>
            </a:r>
            <a:r>
              <a:rPr lang="en-GB" altLang="pt-PT" sz="2000" b="0" dirty="0"/>
              <a:t> </a:t>
            </a:r>
            <a:r>
              <a:rPr lang="en-GB" altLang="pt-PT" sz="2000" b="0" dirty="0" err="1"/>
              <a:t>alunos</a:t>
            </a:r>
            <a:r>
              <a:rPr lang="en-GB" altLang="pt-PT" sz="2000" b="0" dirty="0"/>
              <a:t> no </a:t>
            </a:r>
            <a:r>
              <a:rPr lang="en-GB" altLang="pt-PT" sz="2000" b="0" dirty="0" err="1"/>
              <a:t>início</a:t>
            </a:r>
            <a:r>
              <a:rPr lang="en-GB" altLang="pt-PT" sz="2000" b="0" dirty="0"/>
              <a:t> das aulas.</a:t>
            </a:r>
            <a:endParaRPr lang="en-US" altLang="pt-PT" sz="20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66C9C-CB70-4993-A23A-CDC0F5C3D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D98F8A-9349-4283-8578-1274CE958A9E}" type="slidenum">
              <a:rPr lang="pt-PT" altLang="en-US" smtClean="0"/>
              <a:pPr>
                <a:defRPr/>
              </a:pPr>
              <a:t>15</a:t>
            </a:fld>
            <a:endParaRPr lang="pt-PT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9288D9-6F19-4CA8-859A-755F1093CA48}"/>
              </a:ext>
            </a:extLst>
          </p:cNvPr>
          <p:cNvSpPr txBox="1"/>
          <p:nvPr/>
        </p:nvSpPr>
        <p:spPr>
          <a:xfrm>
            <a:off x="287524" y="6294802"/>
            <a:ext cx="457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1600" i="1" dirty="0"/>
              <a:t>Gestão e Virtualização de Redes, METI 2024-2025</a:t>
            </a:r>
            <a:endParaRPr lang="pt-PT" alt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1666628288"/>
      </p:ext>
    </p:extLst>
  </p:cSld>
  <p:clrMapOvr>
    <a:masterClrMapping/>
  </p:clrMapOvr>
</p:sld>
</file>

<file path=ppt/theme/theme1.xml><?xml version="1.0" encoding="utf-8"?>
<a:theme xmlns:a="http://schemas.openxmlformats.org/drawingml/2006/main" name="ADC2.EENG.UMINHO">
  <a:themeElements>
    <a:clrScheme name="ADC2.EENG.UMINHO 11">
      <a:dk1>
        <a:srgbClr val="808080"/>
      </a:dk1>
      <a:lt1>
        <a:srgbClr val="FFFFFF"/>
      </a:lt1>
      <a:dk2>
        <a:srgbClr val="942018"/>
      </a:dk2>
      <a:lt2>
        <a:srgbClr val="DE5518"/>
      </a:lt2>
      <a:accent1>
        <a:srgbClr val="DE5518"/>
      </a:accent1>
      <a:accent2>
        <a:srgbClr val="CC3300"/>
      </a:accent2>
      <a:accent3>
        <a:srgbClr val="FFFFFF"/>
      </a:accent3>
      <a:accent4>
        <a:srgbClr val="6C6C6C"/>
      </a:accent4>
      <a:accent5>
        <a:srgbClr val="ECB4AB"/>
      </a:accent5>
      <a:accent6>
        <a:srgbClr val="B92D00"/>
      </a:accent6>
      <a:hlink>
        <a:srgbClr val="808080"/>
      </a:hlink>
      <a:folHlink>
        <a:srgbClr val="CCCC66"/>
      </a:folHlink>
    </a:clrScheme>
    <a:fontScheme name="ADC2.EENG.UMINHO">
      <a:majorFont>
        <a:latin typeface="NewsGotT"/>
        <a:ea typeface=""/>
        <a:cs typeface=""/>
      </a:majorFont>
      <a:minorFont>
        <a:latin typeface="NewsGo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ADC2.EENG.UMINHO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DC2.EENG.UMINHO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DC2.EENG.UMINHO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DC2.EENG.UMINHO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DC2.EENG.UMINHO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DC2.EENG.UMINHO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DC2.EENG.UMINHO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DC2.EENG.UMINHO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DC2.EENG.UMINHO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DC2.EENG.UMINHO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DC2.EENG.UMINHO 11">
        <a:dk1>
          <a:srgbClr val="808080"/>
        </a:dk1>
        <a:lt1>
          <a:srgbClr val="FFFFFF"/>
        </a:lt1>
        <a:dk2>
          <a:srgbClr val="942018"/>
        </a:dk2>
        <a:lt2>
          <a:srgbClr val="DE5518"/>
        </a:lt2>
        <a:accent1>
          <a:srgbClr val="DE5518"/>
        </a:accent1>
        <a:accent2>
          <a:srgbClr val="CC3300"/>
        </a:accent2>
        <a:accent3>
          <a:srgbClr val="FFFFFF"/>
        </a:accent3>
        <a:accent4>
          <a:srgbClr val="6C6C6C"/>
        </a:accent4>
        <a:accent5>
          <a:srgbClr val="ECB4AB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ADC2.EENG.UMINHO</Template>
  <TotalTime>13024</TotalTime>
  <Words>1678</Words>
  <Application>Microsoft Office PowerPoint</Application>
  <PresentationFormat>On-screen Show (4:3)</PresentationFormat>
  <Paragraphs>167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Courier New</vt:lpstr>
      <vt:lpstr>NewsGotT</vt:lpstr>
      <vt:lpstr>Webdings</vt:lpstr>
      <vt:lpstr>Wingdings</vt:lpstr>
      <vt:lpstr>ADC2.EENG.UMINHO</vt:lpstr>
      <vt:lpstr>Gestão &amp; Virtualização de Redes</vt:lpstr>
      <vt:lpstr>Apresentação</vt:lpstr>
      <vt:lpstr>Método de Avaliação</vt:lpstr>
      <vt:lpstr>Apresentação</vt:lpstr>
      <vt:lpstr>Resultados de Aprendizagem</vt:lpstr>
      <vt:lpstr>Método de Ensino</vt:lpstr>
      <vt:lpstr>Programa Sucinto GR</vt:lpstr>
      <vt:lpstr>Programa Sucinto VR</vt:lpstr>
      <vt:lpstr>Bibliografia Essencial</vt:lpstr>
      <vt:lpstr>Programa Detalhado GR</vt:lpstr>
      <vt:lpstr>Programa Detalhado GR</vt:lpstr>
      <vt:lpstr>Programa Detalhado GR</vt:lpstr>
      <vt:lpstr>Programa Detalhado GR</vt:lpstr>
      <vt:lpstr>Programa Detalhado GR</vt:lpstr>
      <vt:lpstr>Bibliografia Complementar GR</vt:lpstr>
    </vt:vector>
  </TitlesOfParts>
  <Company>Universidade do Minho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de Computadores I</dc:title>
  <dc:creator>Antonio Costa</dc:creator>
  <cp:lastModifiedBy>Bruno Dias</cp:lastModifiedBy>
  <cp:revision>193</cp:revision>
  <cp:lastPrinted>2014-09-22T11:13:12Z</cp:lastPrinted>
  <dcterms:created xsi:type="dcterms:W3CDTF">2006-09-18T21:57:53Z</dcterms:created>
  <dcterms:modified xsi:type="dcterms:W3CDTF">2024-09-06T14:25:37Z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</Properties>
</file>