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60" r:id="rId4"/>
    <p:sldId id="261" r:id="rId5"/>
    <p:sldId id="262" r:id="rId6"/>
    <p:sldId id="259" r:id="rId7"/>
    <p:sldId id="258" r:id="rId8"/>
    <p:sldId id="263" r:id="rId9"/>
    <p:sldId id="264" r:id="rId10"/>
    <p:sldId id="265" r:id="rId11"/>
    <p:sldId id="266" r:id="rId12"/>
    <p:sldId id="267" r:id="rId13"/>
    <p:sldId id="271" r:id="rId14"/>
    <p:sldId id="269" r:id="rId15"/>
    <p:sldId id="268" r:id="rId16"/>
    <p:sldId id="277" r:id="rId17"/>
    <p:sldId id="273" r:id="rId18"/>
    <p:sldId id="276" r:id="rId19"/>
    <p:sldId id="280" r:id="rId20"/>
    <p:sldId id="279" r:id="rId21"/>
    <p:sldId id="281" r:id="rId22"/>
    <p:sldId id="282" r:id="rId23"/>
    <p:sldId id="283" r:id="rId24"/>
    <p:sldId id="284" r:id="rId25"/>
    <p:sldId id="285" r:id="rId26"/>
    <p:sldId id="270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272" r:id="rId45"/>
  </p:sldIdLst>
  <p:sldSz cx="9144000" cy="6858000" type="screen4x3"/>
  <p:notesSz cx="6858000" cy="9144000"/>
  <p:defaultTextStyle>
    <a:defPPr>
      <a:defRPr lang="pt-P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77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77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77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77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NewsGotT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NewsGotT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NewsGotT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NewsGot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35" autoAdjust="0"/>
    <p:restoredTop sz="94683" autoAdjust="0"/>
  </p:normalViewPr>
  <p:slideViewPr>
    <p:cSldViewPr>
      <p:cViewPr varScale="1">
        <p:scale>
          <a:sx n="132" d="100"/>
          <a:sy n="132" d="100"/>
        </p:scale>
        <p:origin x="12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2FD92C4E-100A-F14C-B1B0-480F0EF5C0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3AD99A6A-2E77-5548-B80F-232D06D5EB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BF35C9A4-92A3-D343-AA63-5EE0A7AE7C7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760A62EF-CE4D-D04C-92F0-88BFBCDB3CA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0D8DE8-E5DD-C846-A4FC-3C0758BE11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481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56FF26E5-D7B7-BB48-AB35-EE1F6750FB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9D5D0E17-516E-674F-A73F-FD9743B588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7A1487E6-1BBF-B046-AE0B-ACEA722804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766F45BA-F515-9046-A710-EB62AE6B7B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056647EF-1DFD-304D-8FD1-C76860D5EF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A76CD2B3-1D86-CC4A-A0C9-A1A3D274A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3806EB-E6EB-804A-8062-B0396FF6B7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3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77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77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77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77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9768E404-7C84-4843-896A-703546D66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A69B04C9-0DB1-B742-9524-59BB970E6E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pt-PT" altLang="en-US" noProof="0"/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80F7822B-30DE-6A4D-9B0B-5B553A684A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14325" y="3049588"/>
            <a:ext cx="6783388" cy="2027237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600" b="0"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pt-PT" altLang="en-US" noProof="0"/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03FBF23F-C25B-FB42-8948-1E329875D1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57188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3A099A1B-B63A-2B46-8928-EB64461FF8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6508E7DB-76D4-7843-B859-FB41655E6A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EDA8F3C-ECE0-3444-A041-419460C89D89}" type="slidenum">
              <a:rPr lang="pt-PT" altLang="en-US"/>
              <a:pPr/>
              <a:t>‹#›</a:t>
            </a:fld>
            <a:endParaRPr lang="pt-PT" altLang="en-US"/>
          </a:p>
        </p:txBody>
      </p:sp>
      <p:sp>
        <p:nvSpPr>
          <p:cNvPr id="321576" name="Line 40">
            <a:extLst>
              <a:ext uri="{FF2B5EF4-FFF2-40B4-BE49-F238E27FC236}">
                <a16:creationId xmlns:a16="http://schemas.microsoft.com/office/drawing/2014/main" id="{F30AB375-BDAA-8E4E-8D5E-41A6BA548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21578" name="Picture 42">
            <a:extLst>
              <a:ext uri="{FF2B5EF4-FFF2-40B4-BE49-F238E27FC236}">
                <a16:creationId xmlns:a16="http://schemas.microsoft.com/office/drawing/2014/main" id="{61B99523-6FFB-D846-A584-F9C553D0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88" y="2911475"/>
            <a:ext cx="1065212" cy="214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3F90-079B-CB48-BE7F-31FFFF6F2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812D-E661-6340-B9D9-AC005D240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F6183-917F-7F49-A725-72DFE7C2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CC88-9EDC-A142-BA63-62910662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6D8F-914C-7B44-96D9-BE56EA25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22262-3F81-C84F-9AA8-48C76AB64560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6161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3A48-9A6F-3A47-A672-8BBF512B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D11C-C645-784F-BB0D-1F9846979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3671-4D2D-D54D-954A-ACFFB756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D43F6-F10A-F54F-BC03-268CC4DD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DFE7F-AF49-E948-A26F-79E99CF1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B5AA28-33F2-704D-A32D-00DFF1160830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48811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0250-B7C1-6A49-8822-2A372E6D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6099-DFB6-E149-8A6D-A89515D29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825" y="1233488"/>
            <a:ext cx="4141788" cy="48974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DA853-12D7-AF45-AC1D-E994B0BDA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5013" y="1233488"/>
            <a:ext cx="4141787" cy="48974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1C073-B28C-A843-9593-367D7AF7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8338A-90E8-6C48-BE70-985C9A3B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044D2-4978-5048-8FD9-31D9EADB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8F747-0471-6C4B-AD27-24699B818AD1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56498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4473-E23E-D44E-A1B0-1396B7F7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0F974-5B95-8C43-B2D8-1EF5071D2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5A1D4-566D-F247-BEDF-2D0EBBFA0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0C8EE-AAD2-0443-B982-FBDEE40C7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5DA67-8FA5-8244-A5BF-FDC4C0CEC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E9F2E-682C-684F-A784-C82D12B4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7EC3B-F63B-D74C-9B4D-CFF2C9B4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1695AA-E36A-FC46-818A-1DA50F8D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E4479-E95F-DC45-840C-C6DCA59BE447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00701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CC2B-5F3A-2B49-98E6-995885FE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ACE25-4105-0D44-868B-964DA6D9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40D2D-4FDB-8E43-AE8B-936FAEF8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10D85-B878-174F-877E-4B1FA2E3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1F674-3021-364A-8924-91ACD1A0F3EF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43744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B4D65-6308-F44A-9399-7EC07802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1515D-E219-9F40-B408-34256E40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2FDE-18A6-7E45-9414-B4146AF9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E6B50-79D9-494A-A153-E3A70B9AE0BB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9442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4845-E51D-D147-BE83-80270CF7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88D5-0B21-BD46-99D0-D4EB5C269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B39C5-A6EF-7447-BB63-9C500E299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A3C89-23F3-6C4F-B807-81E20CE5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904B-F6EA-8A48-A0C4-09ECCA63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3F302-0741-484B-9B10-2F209282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DF898-2BA7-AA41-A0D0-BF1CA13EA279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4660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5F7D-39F0-9D4C-97D9-828B39F3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63DEC-CEEC-5E48-985C-A2A0F1E98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9C2B2-9B45-1D48-BB32-C10B80775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3A352-52E6-0B43-9EE1-CA5CFD66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22FF6-5DE4-7C4C-9182-7605A198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7E89B-3A5C-314D-AC2F-B1EFBEE2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154AE-910D-4449-A95D-388B3B829615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2376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6CBE-5FC7-7547-952D-153EFC0C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0B4D6-A2DE-B344-A4DC-983D54086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3D4F-2191-584A-A9BF-922FEFFB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8DBF-F2C6-A746-9B7A-ADC6822D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DFF17-E38C-E243-98AF-C8C98589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C874-9F53-0648-9F4F-C067FD587CB2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2728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425AD4-F471-164B-AAAB-EEB0B6D31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8600" y="122238"/>
            <a:ext cx="2108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81AC1-0982-974D-98FF-933909EAB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175375" cy="6008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BBFBA-557C-4042-89F0-E67AA9C8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0619-EA97-A742-A200-C3FF64D6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1C8D4-874B-D145-B14D-4516ADA1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1EDE9-84E9-524D-A271-7723FCA11D91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64621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14B7CB2C-3180-AC47-8AFA-759DA5AE38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2500" y="115888"/>
            <a:ext cx="6350" cy="10810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92668D0-4A9C-904A-AA61-AB5F87FD1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021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Clique para editar o estilo do título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512B7F27-B173-144F-B2CB-47077FFCA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233488"/>
            <a:ext cx="8435975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Clique para editar os estilos de texto do modelo global</a:t>
            </a:r>
          </a:p>
          <a:p>
            <a:pPr lvl="1"/>
            <a:r>
              <a:rPr lang="pt-PT" altLang="en-US"/>
              <a:t>Segundo nível</a:t>
            </a:r>
          </a:p>
          <a:p>
            <a:pPr lvl="2"/>
            <a:r>
              <a:rPr lang="pt-PT" altLang="en-US"/>
              <a:t>Terceiro nível</a:t>
            </a:r>
          </a:p>
          <a:p>
            <a:pPr lvl="3"/>
            <a:r>
              <a:rPr lang="pt-PT" altLang="en-US"/>
              <a:t>Quarto nível</a:t>
            </a:r>
          </a:p>
          <a:p>
            <a:pPr lvl="4"/>
            <a:r>
              <a:rPr lang="pt-PT" altLang="en-US"/>
              <a:t>Quinto nível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148BE9C4-8E2C-CF47-A811-C516CA8AD7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063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A3D2B06D-EC2E-BF4F-BF1F-ED01D60A11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088313D6-02A6-1E4B-AB70-C4B971CD24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EAC7CE18-1904-1845-A527-4EB53DFC0A26}" type="slidenum">
              <a:rPr lang="pt-PT" altLang="en-US"/>
              <a:pPr/>
              <a:t>‹#›</a:t>
            </a:fld>
            <a:endParaRPr lang="pt-PT" altLang="en-US"/>
          </a:p>
        </p:txBody>
      </p:sp>
      <p:sp>
        <p:nvSpPr>
          <p:cNvPr id="320553" name="Line 41">
            <a:extLst>
              <a:ext uri="{FF2B5EF4-FFF2-40B4-BE49-F238E27FC236}">
                <a16:creationId xmlns:a16="http://schemas.microsoft.com/office/drawing/2014/main" id="{7D452ADD-460E-F547-A220-C9184991E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1089025"/>
            <a:ext cx="8710613" cy="0"/>
          </a:xfrm>
          <a:prstGeom prst="line">
            <a:avLst/>
          </a:prstGeom>
          <a:noFill/>
          <a:ln w="222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555" name="Rectangle 43">
            <a:extLst>
              <a:ext uri="{FF2B5EF4-FFF2-40B4-BE49-F238E27FC236}">
                <a16:creationId xmlns:a16="http://schemas.microsoft.com/office/drawing/2014/main" id="{F010CA51-EBA9-3A4B-81ED-0FD3BB4F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25" y="1233488"/>
            <a:ext cx="142875" cy="2411412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20560" name="Picture 48">
            <a:extLst>
              <a:ext uri="{FF2B5EF4-FFF2-40B4-BE49-F238E27FC236}">
                <a16:creationId xmlns:a16="http://schemas.microsoft.com/office/drawing/2014/main" id="{9665F966-A815-1E44-B509-98BB5F4F7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450" y="166688"/>
            <a:ext cx="1590675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561" name="Rectangle 49">
            <a:extLst>
              <a:ext uri="{FF2B5EF4-FFF2-40B4-BE49-F238E27FC236}">
                <a16:creationId xmlns:a16="http://schemas.microsoft.com/office/drawing/2014/main" id="{35055D62-5D38-E548-B2B4-51911D37D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001125" y="3646488"/>
            <a:ext cx="142875" cy="241141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77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tconfcentral.org/netconf_doc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example.com/syste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example.com/system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example.com/schema/1.2/stat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asis-open.org/ns/xri/xrd-1.0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example.com/capabilities/myparam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tools.ietf.org/html/rfc6241" TargetMode="External"/><Relationship Id="rId13" Type="http://schemas.openxmlformats.org/officeDocument/2006/relationships/hyperlink" Target="https://medium.com/@k.okasha/network-automation-and-the-rise-of-netconf-e96cc33fe28" TargetMode="External"/><Relationship Id="rId3" Type="http://schemas.openxmlformats.org/officeDocument/2006/relationships/hyperlink" Target="https://ripe68.ripe.net/presentations/181-NETCONF-YANG-tutorial-43.pdf" TargetMode="External"/><Relationship Id="rId7" Type="http://schemas.openxmlformats.org/officeDocument/2006/relationships/hyperlink" Target="https://tools.ietf.org/html/rfc3535" TargetMode="External"/><Relationship Id="rId12" Type="http://schemas.openxmlformats.org/officeDocument/2006/relationships/hyperlink" Target="https://www.ietf.org/slides/slides-edu-network-configuration-with-netconf-00.pdf" TargetMode="External"/><Relationship Id="rId2" Type="http://schemas.openxmlformats.org/officeDocument/2006/relationships/hyperlink" Target="http://www.netconfcentral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umaworks.com/support/download-yumapro-client/" TargetMode="External"/><Relationship Id="rId11" Type="http://schemas.openxmlformats.org/officeDocument/2006/relationships/hyperlink" Target="https://tools.ietf.org/html/rfc8040" TargetMode="External"/><Relationship Id="rId5" Type="http://schemas.openxmlformats.org/officeDocument/2006/relationships/hyperlink" Target="https://www.cisco.com/c/en/us/support/docs/storage-networking/management/200933-YANG-NETCONF-Configuration-Validation.html" TargetMode="External"/><Relationship Id="rId10" Type="http://schemas.openxmlformats.org/officeDocument/2006/relationships/hyperlink" Target="https://tools.ietf.org/html/rfc6244" TargetMode="External"/><Relationship Id="rId4" Type="http://schemas.openxmlformats.org/officeDocument/2006/relationships/hyperlink" Target="https://datatracker.ietf.org/wg/netconf/documents/" TargetMode="External"/><Relationship Id="rId9" Type="http://schemas.openxmlformats.org/officeDocument/2006/relationships/hyperlink" Target="https://tools.ietf.org/html/rfc6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6D6EF717-CB1A-3F4E-A689-3C988E0BEB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1052735"/>
            <a:ext cx="6781800" cy="1547589"/>
          </a:xfrm>
        </p:spPr>
        <p:txBody>
          <a:bodyPr/>
          <a:lstStyle/>
          <a:p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GESTÃO DE REDES / NETWORK MANAGEMENT</a:t>
            </a:r>
            <a:br>
              <a:rPr lang="pt-PT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000" i="1" dirty="0">
                <a:latin typeface="Arial" panose="020B0604020202020204" pitchFamily="34" charset="0"/>
                <a:cs typeface="Arial" panose="020B0604020202020204" pitchFamily="34" charset="0"/>
              </a:rPr>
              <a:t>Notas complementares / </a:t>
            </a:r>
            <a:r>
              <a:rPr lang="pt-PT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Complementary</a:t>
            </a:r>
            <a:r>
              <a:rPr lang="pt-PT" sz="2000" i="1" dirty="0">
                <a:latin typeface="Arial" panose="020B0604020202020204" pitchFamily="34" charset="0"/>
                <a:cs typeface="Arial" panose="020B0604020202020204" pitchFamily="34" charset="0"/>
              </a:rPr>
              <a:t> notes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7030A0"/>
                </a:solidFill>
              </a:rPr>
              <a:t>NETCONF + YANG</a:t>
            </a:r>
            <a:br>
              <a:rPr lang="en-US" altLang="en-US" sz="3600" b="1" dirty="0">
                <a:solidFill>
                  <a:srgbClr val="7030A0"/>
                </a:solidFill>
              </a:rPr>
            </a:br>
            <a:r>
              <a:rPr lang="en-US" altLang="en-US" sz="3600" b="1" dirty="0">
                <a:solidFill>
                  <a:srgbClr val="7030A0"/>
                </a:solidFill>
              </a:rPr>
              <a:t> RESTCONF</a:t>
            </a:r>
            <a:endParaRPr lang="pt-PT" sz="3600" b="1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7DF-1A6F-484E-922B-933D516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4974-A2A4-B244-8147-D10B145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Networks Operators complained that </a:t>
            </a:r>
            <a:r>
              <a:rPr lang="en-US" dirty="0">
                <a:solidFill>
                  <a:schemeClr val="tx2"/>
                </a:solidFill>
              </a:rPr>
              <a:t>configuration management</a:t>
            </a:r>
            <a:r>
              <a:rPr lang="en-US" dirty="0"/>
              <a:t> was not being addressed by IETF! </a:t>
            </a:r>
            <a:r>
              <a:rPr lang="en-US" b="0" dirty="0"/>
              <a:t>(RFC3535)</a:t>
            </a:r>
          </a:p>
          <a:p>
            <a:r>
              <a:rPr lang="en-US" dirty="0"/>
              <a:t>But, can’t we do it with existing management technology? Do we need a new one?</a:t>
            </a:r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F7DA388-0244-9940-B468-4730D6B2EEBC}"/>
              </a:ext>
            </a:extLst>
          </p:cNvPr>
          <p:cNvSpPr/>
          <p:nvPr/>
        </p:nvSpPr>
        <p:spPr>
          <a:xfrm>
            <a:off x="1115616" y="3178150"/>
            <a:ext cx="4824536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SNMP / SMIv2 / MIBs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2B682AD-A0CB-0D4A-997F-386EA53EAC63}"/>
              </a:ext>
            </a:extLst>
          </p:cNvPr>
          <p:cNvSpPr/>
          <p:nvPr/>
        </p:nvSpPr>
        <p:spPr>
          <a:xfrm>
            <a:off x="1619672" y="4095663"/>
            <a:ext cx="3140623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COPS-PR /SPPI /PIBs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736072-54E0-A04D-A8E2-603B6A2AB7A9}"/>
              </a:ext>
            </a:extLst>
          </p:cNvPr>
          <p:cNvSpPr/>
          <p:nvPr/>
        </p:nvSpPr>
        <p:spPr>
          <a:xfrm>
            <a:off x="683568" y="5013176"/>
            <a:ext cx="3611306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CLI / TELNET / SSH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F61D24-3AB7-B345-827D-FAC1A0749648}"/>
              </a:ext>
            </a:extLst>
          </p:cNvPr>
          <p:cNvSpPr/>
          <p:nvPr/>
        </p:nvSpPr>
        <p:spPr>
          <a:xfrm>
            <a:off x="5076056" y="4114866"/>
            <a:ext cx="3168352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SIM / MOP / UML / PCIM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3AC7D7-E329-1141-9702-BE4BEB3E2187}"/>
              </a:ext>
            </a:extLst>
          </p:cNvPr>
          <p:cNvSpPr/>
          <p:nvPr/>
        </p:nvSpPr>
        <p:spPr>
          <a:xfrm>
            <a:off x="4493964" y="5005521"/>
            <a:ext cx="2598316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HTTP / HTML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4418CEB-7BB0-7541-9795-027F336DE697}"/>
              </a:ext>
            </a:extLst>
          </p:cNvPr>
          <p:cNvSpPr/>
          <p:nvPr/>
        </p:nvSpPr>
        <p:spPr>
          <a:xfrm>
            <a:off x="7124437" y="5005521"/>
            <a:ext cx="1005553" cy="792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XML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52477-63F1-4F8F-A7B6-4BA6D4C4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BF634-DE43-4140-93A1-F121B39B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3BF01-95EC-4F0A-80F1-3F4D864C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9626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7DF-1A6F-484E-922B-933D516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4974-A2A4-B244-8147-D10B145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What about SNMP?</a:t>
            </a:r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341DC-BD1F-484B-9E13-FABF42F44055}"/>
              </a:ext>
            </a:extLst>
          </p:cNvPr>
          <p:cNvSpPr/>
          <p:nvPr/>
        </p:nvSpPr>
        <p:spPr>
          <a:xfrm>
            <a:off x="610653" y="2449978"/>
            <a:ext cx="4001268" cy="25631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+"/>
            </a:pPr>
            <a:r>
              <a:rPr lang="en-US" sz="1600" dirty="0"/>
              <a:t>Works very well for device monitoring 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The stateless nature of SNMP is useful for statistical and status polling.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Core MIBs implemented everywhere!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Many proprietary MIBs available &amp; supported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Important for event correlation, alarm detection, and root cause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94003D-2433-2848-97FF-00D537076E86}"/>
              </a:ext>
            </a:extLst>
          </p:cNvPr>
          <p:cNvSpPr/>
          <p:nvPr/>
        </p:nvSpPr>
        <p:spPr>
          <a:xfrm>
            <a:off x="4793892" y="2420888"/>
            <a:ext cx="4001268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-"/>
            </a:pPr>
            <a:endParaRPr lang="en-US" sz="1600" dirty="0"/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Too little deployment of writable MIB modules! (devices are not fully configurable by SNMP)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The transactional model and the protocol constraints make it more complex to implement MIBs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Scaling problems with regard to the number of objects in a device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Semantic mismatch between the task-oriented view and data-centric view (no high level proc.)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D0C44E-A19B-4A44-B336-EE1DF87238F1}"/>
              </a:ext>
            </a:extLst>
          </p:cNvPr>
          <p:cNvSpPr/>
          <p:nvPr/>
        </p:nvSpPr>
        <p:spPr>
          <a:xfrm>
            <a:off x="3371212" y="1844824"/>
            <a:ext cx="2520280" cy="7200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SNMP / SMI / MIBs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9FCE7-5C83-8A49-8D9E-FE544B82DD5F}"/>
              </a:ext>
            </a:extLst>
          </p:cNvPr>
          <p:cNvSpPr/>
          <p:nvPr/>
        </p:nvSpPr>
        <p:spPr>
          <a:xfrm>
            <a:off x="610653" y="5225928"/>
            <a:ext cx="8183600" cy="97464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</a:rPr>
              <a:t>Standard MIB modules often lack writable MIB objects which can be used for configuration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</a:rPr>
              <a:t>SNMP requires applications to be useful: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De</a:t>
            </a:r>
            <a:r>
              <a:rPr lang="en-US" sz="1600" dirty="0">
                <a:solidFill>
                  <a:schemeClr val="tx1"/>
                </a:solidFill>
              </a:rPr>
              <a:t>signed as a  programmatic interface between management applications and devices.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7471C-3838-4785-B0D8-43104B6A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E4E55-5F8B-4448-860C-78476A90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9696BB-1B87-496D-BF2C-D7CB763D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54486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7DF-1A6F-484E-922B-933D516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4974-A2A4-B244-8147-D10B145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What about CLI / TELNET / SSH ?</a:t>
            </a:r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341DC-BD1F-484B-9E13-FABF42F44055}"/>
              </a:ext>
            </a:extLst>
          </p:cNvPr>
          <p:cNvSpPr/>
          <p:nvPr/>
        </p:nvSpPr>
        <p:spPr>
          <a:xfrm>
            <a:off x="579613" y="2545204"/>
            <a:ext cx="4001268" cy="26119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+"/>
            </a:pPr>
            <a:r>
              <a:rPr lang="en-US" sz="1600" dirty="0"/>
              <a:t>A saved sequence of textual commands can easily be replayed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It is natural to use the same interface users already use and same abstractions for automating configuration change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Command line interface (CLI) does not require any special purpose applications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CLI are task-oriented by nature… 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Most command line interfaces provide context sensitive help (reduced learning curve)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94003D-2433-2848-97FF-00D537076E86}"/>
              </a:ext>
            </a:extLst>
          </p:cNvPr>
          <p:cNvSpPr/>
          <p:nvPr/>
        </p:nvSpPr>
        <p:spPr>
          <a:xfrm>
            <a:off x="4722337" y="2545204"/>
            <a:ext cx="4001268" cy="2611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-"/>
            </a:pPr>
            <a:r>
              <a:rPr lang="en-US" sz="1600" dirty="0"/>
              <a:t>Some CLI interfaces lack a common data model (different behavior between vendors)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Command line interface is primarily targeted to humans (who can adjust to changes easily)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CLI lack of proper version control for the syntax and the semantic (difficult to maintain)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Not efficient in multi-vendor environments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Access control is often ad-hoc and insufficient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D0C44E-A19B-4A44-B336-EE1DF87238F1}"/>
              </a:ext>
            </a:extLst>
          </p:cNvPr>
          <p:cNvSpPr/>
          <p:nvPr/>
        </p:nvSpPr>
        <p:spPr>
          <a:xfrm>
            <a:off x="3371212" y="1844824"/>
            <a:ext cx="2520280" cy="7200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 / TELNET / SSH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77635B-2553-FD4E-821E-617620CD4FF8}"/>
              </a:ext>
            </a:extLst>
          </p:cNvPr>
          <p:cNvSpPr/>
          <p:nvPr/>
        </p:nvSpPr>
        <p:spPr>
          <a:xfrm>
            <a:off x="579613" y="5445224"/>
            <a:ext cx="8240859" cy="576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 is still a common practice to use TELNET/SSH to access and configure devices using their CLI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6A712A-35CF-4275-B6AB-18585BEF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527AC7-C76E-472F-A1B9-E190A917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1FABB1-13BD-4390-A6D1-FB64C127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85854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7DF-1A6F-484E-922B-933D516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4974-A2A4-B244-8147-D10B145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What about HTTP / HTML ?</a:t>
            </a:r>
          </a:p>
          <a:p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341DC-BD1F-484B-9E13-FABF42F44055}"/>
              </a:ext>
            </a:extLst>
          </p:cNvPr>
          <p:cNvSpPr/>
          <p:nvPr/>
        </p:nvSpPr>
        <p:spPr>
          <a:xfrm>
            <a:off x="579613" y="2545204"/>
            <a:ext cx="4001268" cy="26119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+"/>
            </a:pPr>
            <a:r>
              <a:rPr lang="en-US" sz="1600" dirty="0"/>
              <a:t>Embedded web servers for configuration are end-user friendly and solution oriented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Suitable for configuring consumer devices by inexperienced users</a:t>
            </a:r>
          </a:p>
          <a:p>
            <a:pPr marL="285750" indent="-285750">
              <a:buFont typeface="System Font Regular"/>
              <a:buChar char="+"/>
            </a:pPr>
            <a:r>
              <a:rPr lang="en-US" sz="1600" dirty="0"/>
              <a:t>No need for specialized applications (only a web browser is required)</a:t>
            </a:r>
          </a:p>
          <a:p>
            <a:pPr marL="285750" indent="-285750">
              <a:buFont typeface="System Font Regular"/>
              <a:buChar char="+"/>
            </a:pPr>
            <a:endParaRPr lang="en-US" sz="1600" dirty="0"/>
          </a:p>
          <a:p>
            <a:pPr marL="285750" indent="-285750">
              <a:buFont typeface="System Font Regular"/>
              <a:buChar char="+"/>
            </a:pP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94003D-2433-2848-97FF-00D537076E86}"/>
              </a:ext>
            </a:extLst>
          </p:cNvPr>
          <p:cNvSpPr/>
          <p:nvPr/>
        </p:nvSpPr>
        <p:spPr>
          <a:xfrm>
            <a:off x="4722337" y="2545204"/>
            <a:ext cx="4001268" cy="2611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System Font Regular"/>
              <a:buChar char="-"/>
            </a:pPr>
            <a:r>
              <a:rPr lang="en-US" sz="1600" dirty="0"/>
              <a:t>Embedded web servers are management application hostile (difficult to use by programs)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Replay of configuration is often problematic (different versions of same device may use different interface)</a:t>
            </a:r>
          </a:p>
          <a:p>
            <a:pPr marL="285750" indent="-285750">
              <a:buFont typeface="System Font Regular"/>
              <a:buChar char="-"/>
            </a:pPr>
            <a:r>
              <a:rPr lang="en-US" sz="1600" dirty="0"/>
              <a:t>The access control facilities are often ad-hoc and sometimes insufficient.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D0C44E-A19B-4A44-B336-EE1DF87238F1}"/>
              </a:ext>
            </a:extLst>
          </p:cNvPr>
          <p:cNvSpPr/>
          <p:nvPr/>
        </p:nvSpPr>
        <p:spPr>
          <a:xfrm>
            <a:off x="3371212" y="1844824"/>
            <a:ext cx="2520280" cy="7200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HTTP / HTML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77635B-2553-FD4E-821E-617620CD4FF8}"/>
              </a:ext>
            </a:extLst>
          </p:cNvPr>
          <p:cNvSpPr/>
          <p:nvPr/>
        </p:nvSpPr>
        <p:spPr>
          <a:xfrm>
            <a:off x="579613" y="5445224"/>
            <a:ext cx="8240859" cy="576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Many devices have an embedded web server which can be used to configure the device and to obtain status information. Access and configuration through HTTP/HTML are common.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DE71F7-BD53-4611-AEDE-5F19806B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7DCC22-9186-4E64-9D09-75371D0D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51A9293-70F2-457C-BE2B-6C733BAC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7878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7DF-1A6F-484E-922B-933D516C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4974-A2A4-B244-8147-D10B145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Network Operators identified Requirements (RFC3535):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Easy to use (a key requirement!)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Clear distinction between </a:t>
            </a:r>
            <a:r>
              <a:rPr lang="en-US" sz="2000" i="1" u="sng" dirty="0">
                <a:solidFill>
                  <a:schemeClr val="tx2"/>
                </a:solidFill>
              </a:rPr>
              <a:t>configuration data</a:t>
            </a:r>
            <a:r>
              <a:rPr lang="en-US" sz="2000" dirty="0"/>
              <a:t>, </a:t>
            </a:r>
            <a:r>
              <a:rPr lang="en-US" sz="2000" i="1" dirty="0"/>
              <a:t>operational state </a:t>
            </a:r>
            <a:r>
              <a:rPr lang="en-US" sz="2000" dirty="0"/>
              <a:t>and </a:t>
            </a:r>
            <a:r>
              <a:rPr lang="en-US" sz="2000" i="1" dirty="0"/>
              <a:t>statistics</a:t>
            </a:r>
            <a:r>
              <a:rPr lang="en-US" sz="2000" dirty="0"/>
              <a:t> (which parameters were really administratively configured?)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To fetch separately configuration data, operational state data, and statistics…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Enable operators to concentrate on the </a:t>
            </a:r>
            <a:r>
              <a:rPr lang="en-US" sz="2000" u="sng" dirty="0">
                <a:solidFill>
                  <a:schemeClr val="tx2"/>
                </a:solidFill>
              </a:rPr>
              <a:t>configuration of the entire network as a whole</a:t>
            </a:r>
            <a:r>
              <a:rPr lang="en-US" sz="2000" dirty="0"/>
              <a:t>, rather than individual devices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Support </a:t>
            </a:r>
            <a:r>
              <a:rPr lang="en-US" sz="2000" u="sng" dirty="0">
                <a:solidFill>
                  <a:schemeClr val="tx2"/>
                </a:solidFill>
              </a:rPr>
              <a:t>configuration transactions</a:t>
            </a:r>
            <a:r>
              <a:rPr lang="en-US" sz="2000" dirty="0"/>
              <a:t> across a number of devices…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Operational change from config A to config B with </a:t>
            </a:r>
            <a:r>
              <a:rPr lang="en-US" sz="2000" u="sng" dirty="0">
                <a:solidFill>
                  <a:schemeClr val="tx2"/>
                </a:solidFill>
              </a:rPr>
              <a:t>minimal state changes</a:t>
            </a:r>
            <a:r>
              <a:rPr lang="en-US" sz="2000" dirty="0"/>
              <a:t>. Minimize the possible impact of config changes.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Need standards for </a:t>
            </a:r>
            <a:r>
              <a:rPr lang="en-US" sz="2000" u="sng" dirty="0">
                <a:solidFill>
                  <a:schemeClr val="tx2"/>
                </a:solidFill>
              </a:rPr>
              <a:t>pulling and pushing configurations </a:t>
            </a:r>
            <a:r>
              <a:rPr lang="en-US" sz="2000" dirty="0"/>
              <a:t>from devices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sz="2000" dirty="0"/>
              <a:t>It must be easy to do </a:t>
            </a:r>
            <a:r>
              <a:rPr lang="en-US" sz="2000" u="sng" dirty="0">
                <a:solidFill>
                  <a:schemeClr val="tx2"/>
                </a:solidFill>
              </a:rPr>
              <a:t>consistency checks of configurations </a:t>
            </a:r>
            <a:r>
              <a:rPr lang="en-US" sz="2000" dirty="0"/>
              <a:t>over time, per link…</a:t>
            </a:r>
          </a:p>
          <a:p>
            <a:pPr marL="344487" lvl="1" indent="0">
              <a:buNone/>
            </a:pPr>
            <a:r>
              <a:rPr lang="en-US" dirty="0"/>
              <a:t>(…)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BB333-BEBF-482A-98CA-01007804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810AC-E22A-49AC-A0B9-54A403D0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540A-1B9B-4A35-8C7D-A3231413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37024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02B3-C3A3-244B-8424-5B067962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AEB0-9E8A-5B4F-A8C2-0FB2C101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0" dirty="0"/>
              <a:t>(… )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Network wide configurations are typically stored in central master databases (…) </a:t>
            </a:r>
            <a:r>
              <a:rPr lang="en-US" sz="2000" u="sng" dirty="0">
                <a:solidFill>
                  <a:schemeClr val="tx2"/>
                </a:solidFill>
              </a:rPr>
              <a:t>standardize the common parts of these network wide configuration database schemas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Use text tools, like diff or version control (…) devices should not reorder data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A </a:t>
            </a:r>
            <a:r>
              <a:rPr lang="en-US" sz="2000" u="sng" dirty="0">
                <a:solidFill>
                  <a:schemeClr val="tx2"/>
                </a:solidFill>
              </a:rPr>
              <a:t>role-based access control mode</a:t>
            </a:r>
            <a:r>
              <a:rPr lang="en-US" sz="2000" dirty="0"/>
              <a:t>l and the principle of least privilege…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To do </a:t>
            </a:r>
            <a:r>
              <a:rPr lang="en-US" sz="2000" u="sng" dirty="0">
                <a:solidFill>
                  <a:schemeClr val="tx2"/>
                </a:solidFill>
              </a:rPr>
              <a:t>consistency checks of access control lists</a:t>
            </a:r>
            <a:r>
              <a:rPr lang="en-US" sz="2000" dirty="0"/>
              <a:t> across devices 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Distinguish between the distribution of configurations and the activation of a certain configuration. Devices should be able to hold </a:t>
            </a:r>
            <a:r>
              <a:rPr lang="en-US" sz="2000" u="sng" dirty="0">
                <a:solidFill>
                  <a:schemeClr val="tx2"/>
                </a:solidFill>
              </a:rPr>
              <a:t>multiple configurations </a:t>
            </a:r>
          </a:p>
          <a:p>
            <a:pPr marL="801687" lvl="1" indent="-457200">
              <a:buFont typeface="+mj-lt"/>
              <a:buAutoNum type="arabicPeriod" startAt="9"/>
            </a:pPr>
            <a:r>
              <a:rPr lang="en-US" sz="2000" dirty="0"/>
              <a:t>it is a requirement to support both data-oriented and task-oriented access control</a:t>
            </a:r>
            <a:endParaRPr lang="en-US" sz="2000" u="sng" dirty="0">
              <a:solidFill>
                <a:schemeClr val="tx2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76CD7-40B9-4742-9A8C-D1BEA8CA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4392-97B2-4786-8015-4C0F3148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955E1-B26E-4A64-A6BC-E229F63C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7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52393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C591-0B90-974B-A2DA-D5C4DBF7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/ YANG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6BBFA-749B-EB4C-8BAC-62670651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" y="1215169"/>
            <a:ext cx="7633543" cy="2093068"/>
          </a:xfrm>
          <a:prstGeom prst="rect">
            <a:avLst/>
          </a:prstGeom>
        </p:spPr>
      </p:pic>
      <p:pic>
        <p:nvPicPr>
          <p:cNvPr id="1030" name="Picture 6" descr="https://cdn-images-1.medium.com/max/2000/0*f4IHySSKjnyFFYvl.png">
            <a:extLst>
              <a:ext uri="{FF2B5EF4-FFF2-40B4-BE49-F238E27FC236}">
                <a16:creationId xmlns:a16="http://schemas.microsoft.com/office/drawing/2014/main" id="{18D22AA4-388A-7446-9E06-205563EB4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86229"/>
            <a:ext cx="7527429" cy="234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0CA3E0-B8FA-994F-9B9E-E7AFF8BA9E68}"/>
              </a:ext>
            </a:extLst>
          </p:cNvPr>
          <p:cNvSpPr/>
          <p:nvPr/>
        </p:nvSpPr>
        <p:spPr>
          <a:xfrm>
            <a:off x="4231258" y="645333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Image from https://</a:t>
            </a:r>
            <a:r>
              <a:rPr lang="en-US" sz="900" dirty="0" err="1"/>
              <a:t>medium.com</a:t>
            </a:r>
            <a:r>
              <a:rPr lang="en-US" sz="900" dirty="0"/>
              <a:t>/@</a:t>
            </a:r>
            <a:r>
              <a:rPr lang="en-US" sz="900" dirty="0" err="1"/>
              <a:t>k.okasha</a:t>
            </a:r>
            <a:r>
              <a:rPr lang="en-US" sz="900" dirty="0"/>
              <a:t>/network-automation-and-the-rise-of-netconf-e96cc33fe28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C626B-3C9F-4CDD-B466-EC233638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A9326-2D46-4D53-BD6B-B50B2C60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35A90-4C17-4F33-9D09-CADC6666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8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1820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12A0-6E77-D74D-AC81-DE633768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/ YANG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743C-06B0-3547-BAF9-86936F06B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NETCONF</a:t>
            </a:r>
            <a:r>
              <a:rPr lang="en-US" dirty="0"/>
              <a:t>: Network Configuration Protocol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dirty="0">
                <a:solidFill>
                  <a:schemeClr val="tx2"/>
                </a:solidFill>
              </a:rPr>
              <a:t>YANG</a:t>
            </a:r>
            <a:r>
              <a:rPr lang="en-US" dirty="0"/>
              <a:t>: Yet Another Next Generation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B9385D-7025-D44A-8052-BB949490B3CF}"/>
              </a:ext>
            </a:extLst>
          </p:cNvPr>
          <p:cNvSpPr/>
          <p:nvPr/>
        </p:nvSpPr>
        <p:spPr>
          <a:xfrm>
            <a:off x="611560" y="1700808"/>
            <a:ext cx="8208912" cy="17281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protocol defines a simple mechanism where network management applications, acting as clients, can </a:t>
            </a:r>
            <a:r>
              <a:rPr lang="en-US" u="sng" dirty="0">
                <a:solidFill>
                  <a:schemeClr val="tx2"/>
                </a:solidFill>
              </a:rPr>
              <a:t>invoke operations on the devices</a:t>
            </a:r>
            <a:r>
              <a:rPr lang="en-US" dirty="0"/>
              <a:t>, which act as servers.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Configuration data information can be retrieved, and new configuration data can be uploaded and manipulated.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NETCONF specification [RFC4741] defines a </a:t>
            </a:r>
            <a:r>
              <a:rPr lang="en-US" u="sng" dirty="0">
                <a:solidFill>
                  <a:schemeClr val="tx2"/>
                </a:solidFill>
              </a:rPr>
              <a:t>small set of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making any requirements on the data carried on those operations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u="sng" dirty="0">
                <a:solidFill>
                  <a:schemeClr val="tx2"/>
                </a:solidFill>
              </a:rPr>
              <a:t>Data Agnostic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E1B3C3-31D0-2544-B8AA-F379EA815E61}"/>
              </a:ext>
            </a:extLst>
          </p:cNvPr>
          <p:cNvSpPr/>
          <p:nvPr/>
        </p:nvSpPr>
        <p:spPr>
          <a:xfrm>
            <a:off x="611560" y="4149080"/>
            <a:ext cx="7848872" cy="17281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YANG is a data modeling language used to </a:t>
            </a:r>
            <a:r>
              <a:rPr lang="en-US" u="sng" dirty="0">
                <a:solidFill>
                  <a:schemeClr val="tx2"/>
                </a:solidFill>
              </a:rPr>
              <a:t>model configuration and state data</a:t>
            </a:r>
            <a:r>
              <a:rPr lang="en-US" dirty="0"/>
              <a:t> manipulated by NETCONF [RFC6020]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Allowing both standard and proprietary data models to be published (human readable)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YANG allows a modeler </a:t>
            </a:r>
            <a:r>
              <a:rPr lang="en-US" u="sng" dirty="0">
                <a:solidFill>
                  <a:schemeClr val="tx2"/>
                </a:solidFill>
              </a:rPr>
              <a:t>to create a data model</a:t>
            </a:r>
            <a:r>
              <a:rPr lang="en-US" dirty="0"/>
              <a:t>, to </a:t>
            </a:r>
            <a:r>
              <a:rPr lang="en-US" u="sng" dirty="0">
                <a:solidFill>
                  <a:schemeClr val="tx2"/>
                </a:solidFill>
              </a:rPr>
              <a:t>define the organization of the data </a:t>
            </a:r>
            <a:r>
              <a:rPr lang="en-US" dirty="0"/>
              <a:t>in that model, and </a:t>
            </a:r>
            <a:r>
              <a:rPr lang="en-US" u="sng" dirty="0">
                <a:solidFill>
                  <a:schemeClr val="tx2"/>
                </a:solidFill>
              </a:rPr>
              <a:t>to define constraints </a:t>
            </a:r>
            <a:r>
              <a:rPr lang="en-US" dirty="0"/>
              <a:t>on that data.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DDECE02-0447-4196-A3DB-0D7DA619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B2F934-BA2B-4BFD-8470-0747EFF6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D5CE26-F7DE-4225-BF1B-E6CD860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9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4613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7EB8-6E92-004C-BC8A-623150ED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EEE-137C-3040-873B-3A9CEE22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paradigm: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task-oriented</a:t>
            </a:r>
            <a:r>
              <a:rPr lang="en-US" sz="2200" dirty="0"/>
              <a:t> approach </a:t>
            </a:r>
            <a:r>
              <a:rPr lang="en-US" sz="2200" dirty="0">
                <a:sym typeface="Wingdings" pitchFamily="2" charset="2"/>
              </a:rPr>
              <a:t> not data-centric as in SNMP</a:t>
            </a:r>
          </a:p>
          <a:p>
            <a:pPr lvl="1"/>
            <a:r>
              <a:rPr lang="en-US" sz="2200" dirty="0">
                <a:sym typeface="Wingdings" pitchFamily="2" charset="2"/>
              </a:rPr>
              <a:t>Over a </a:t>
            </a:r>
            <a:r>
              <a:rPr lang="en-US" sz="2200" dirty="0">
                <a:solidFill>
                  <a:schemeClr val="tx2"/>
                </a:solidFill>
                <a:sym typeface="Wingdings" pitchFamily="2" charset="2"/>
              </a:rPr>
              <a:t>connection-oriented transport </a:t>
            </a:r>
            <a:r>
              <a:rPr lang="en-US" sz="2200" dirty="0">
                <a:sym typeface="Wingdings" pitchFamily="2" charset="2"/>
              </a:rPr>
              <a:t>service (usually SSH)</a:t>
            </a:r>
          </a:p>
          <a:p>
            <a:pPr lvl="1"/>
            <a:r>
              <a:rPr lang="en-US" sz="2200" dirty="0"/>
              <a:t>Includes mechanisms for </a:t>
            </a:r>
            <a:r>
              <a:rPr lang="en-US" sz="2200" dirty="0">
                <a:solidFill>
                  <a:schemeClr val="tx2"/>
                </a:solidFill>
              </a:rPr>
              <a:t>controlling configuration </a:t>
            </a:r>
            <a:r>
              <a:rPr lang="en-US" sz="2200" dirty="0"/>
              <a:t>datastores</a:t>
            </a:r>
          </a:p>
          <a:p>
            <a:pPr lvl="1"/>
            <a:r>
              <a:rPr lang="en-US" sz="2200" dirty="0"/>
              <a:t>A NETCONF session is the </a:t>
            </a:r>
            <a:r>
              <a:rPr lang="en-US" sz="2200" dirty="0">
                <a:solidFill>
                  <a:schemeClr val="tx2"/>
                </a:solidFill>
              </a:rPr>
              <a:t>logical connection </a:t>
            </a:r>
            <a:r>
              <a:rPr lang="en-US" sz="2200" dirty="0"/>
              <a:t>between a network administrator or network configuration application and a network device.</a:t>
            </a:r>
          </a:p>
          <a:p>
            <a:pPr lvl="1"/>
            <a:r>
              <a:rPr lang="en-US" sz="2200" dirty="0"/>
              <a:t>All NETCONF operations are carried out </a:t>
            </a:r>
            <a:r>
              <a:rPr lang="en-US" sz="2200" dirty="0">
                <a:solidFill>
                  <a:schemeClr val="tx2"/>
                </a:solidFill>
              </a:rPr>
              <a:t>within a session</a:t>
            </a:r>
          </a:p>
          <a:p>
            <a:pPr lvl="1"/>
            <a:r>
              <a:rPr lang="en-US" sz="2200" dirty="0"/>
              <a:t>The NETCONF server is required to </a:t>
            </a:r>
            <a:r>
              <a:rPr lang="en-US" sz="2200" dirty="0">
                <a:solidFill>
                  <a:schemeClr val="tx2"/>
                </a:solidFill>
              </a:rPr>
              <a:t>authenticate the entity requesting </a:t>
            </a:r>
            <a:r>
              <a:rPr lang="en-US" sz="2200" dirty="0"/>
              <a:t>a session before processing any request</a:t>
            </a:r>
          </a:p>
          <a:p>
            <a:pPr lvl="1"/>
            <a:r>
              <a:rPr lang="en-US" sz="2200" dirty="0"/>
              <a:t>NETCONF messages </a:t>
            </a:r>
            <a:r>
              <a:rPr lang="en-US" sz="2200" dirty="0">
                <a:solidFill>
                  <a:schemeClr val="tx2"/>
                </a:solidFill>
              </a:rPr>
              <a:t>MUST be well-formed XML, encoded in UTF-8</a:t>
            </a:r>
          </a:p>
          <a:p>
            <a:pPr marL="344487" lvl="1" indent="0">
              <a:buNone/>
            </a:pPr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A25BBC-2AFD-1041-ACAC-FDF44D55B30F}"/>
              </a:ext>
            </a:extLst>
          </p:cNvPr>
          <p:cNvSpPr/>
          <p:nvPr/>
        </p:nvSpPr>
        <p:spPr>
          <a:xfrm>
            <a:off x="683568" y="1700808"/>
            <a:ext cx="6444754" cy="6480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XML-based remote procedure call (RPC) mechanism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30E89-0091-4EFF-956E-DA8D8B06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2C0D6-D450-4DEF-8796-30950DBB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A222C-C716-452D-84B3-1BF395AD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10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7884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F976-EF69-0E40-830E-830A81A7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NETCONF: XML-based RPC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D2395-CDD3-B54E-BE79-6A148E643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RPC (Remote Procedure Call)? </a:t>
            </a:r>
          </a:p>
        </p:txBody>
      </p:sp>
      <p:pic>
        <p:nvPicPr>
          <p:cNvPr id="4" name="Picture 3" descr="1">
            <a:extLst>
              <a:ext uri="{FF2B5EF4-FFF2-40B4-BE49-F238E27FC236}">
                <a16:creationId xmlns:a16="http://schemas.microsoft.com/office/drawing/2014/main" id="{19998C82-8C51-444B-AA08-23CC0F4BE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60682"/>
            <a:ext cx="6588770" cy="469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91C42-C9DA-417E-B746-D11C29B3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6DC98-A6EF-45BD-A63C-5E0FC4CF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744FA-577C-4B74-9ED8-94784BA0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18351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144E-E0F0-F342-A067-A1DD658E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NETCONF: 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DC784-E896-9848-948E-1AB00F29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8993757" cy="35906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888430-C7F3-AA4A-A3E7-DE882D693FFC}"/>
              </a:ext>
            </a:extLst>
          </p:cNvPr>
          <p:cNvSpPr/>
          <p:nvPr/>
        </p:nvSpPr>
        <p:spPr>
          <a:xfrm>
            <a:off x="4231258" y="645333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Image from https://</a:t>
            </a:r>
            <a:r>
              <a:rPr lang="en-US" sz="900" dirty="0" err="1"/>
              <a:t>www.ietf.org</a:t>
            </a:r>
            <a:r>
              <a:rPr lang="en-US" sz="900" dirty="0"/>
              <a:t>/slides/slides-edu-network-configuration-with-netconf-00.pdf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CF9FD-A042-C141-8258-E42B4E7B57B0}"/>
              </a:ext>
            </a:extLst>
          </p:cNvPr>
          <p:cNvSpPr txBox="1"/>
          <p:nvPr/>
        </p:nvSpPr>
        <p:spPr>
          <a:xfrm>
            <a:off x="294909" y="5299907"/>
            <a:ext cx="810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Notice the colors</a:t>
            </a:r>
            <a:r>
              <a:rPr lang="en-US" dirty="0"/>
              <a:t>: they show relation between the layers and the encapsulation of data in PDUs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7B5C6-8604-4F0C-96EB-22970A02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AE1B82-07A4-4D6B-BA39-F105C9DF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6618EA-727F-4EC6-AF5C-5F29F413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166398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0813-DDA5-6049-BDCD-453E647B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NETCONF: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9EB2D-336C-704A-B294-CC37233E3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24744"/>
            <a:ext cx="8569647" cy="5733256"/>
          </a:xfrm>
        </p:spPr>
        <p:txBody>
          <a:bodyPr/>
          <a:lstStyle/>
          <a:p>
            <a:r>
              <a:rPr lang="en-US" sz="1800" dirty="0"/>
              <a:t>The NETCONF standard (RFC 4741) defined the following operations that can be executed against the different data store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1800" dirty="0"/>
              <a:t>RFC6241 updated with some variants like a </a:t>
            </a:r>
            <a:r>
              <a:rPr lang="en-US" sz="1800" dirty="0">
                <a:solidFill>
                  <a:schemeClr val="tx2"/>
                </a:solidFill>
              </a:rPr>
              <a:t>confirmed commit </a:t>
            </a:r>
            <a:r>
              <a:rPr lang="en-US" sz="1800" dirty="0"/>
              <a:t>and a </a:t>
            </a:r>
            <a:r>
              <a:rPr lang="en-US" sz="1800" dirty="0">
                <a:solidFill>
                  <a:schemeClr val="tx2"/>
                </a:solidFill>
              </a:rPr>
              <a:t>validate</a:t>
            </a:r>
            <a:r>
              <a:rPr lang="en-US" sz="1800" dirty="0"/>
              <a:t>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8194" name="Picture 2" descr="https://cdn-images-1.medium.com/max/1600/0*_8yyLQACujkrna3Q.png">
            <a:extLst>
              <a:ext uri="{FF2B5EF4-FFF2-40B4-BE49-F238E27FC236}">
                <a16:creationId xmlns:a16="http://schemas.microsoft.com/office/drawing/2014/main" id="{EE885920-46D6-3944-90D2-24C44232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6912768" cy="283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cdn-images-1.medium.com/max/2000/0*jIy5kVBlRXGsONSD.png">
            <a:extLst>
              <a:ext uri="{FF2B5EF4-FFF2-40B4-BE49-F238E27FC236}">
                <a16:creationId xmlns:a16="http://schemas.microsoft.com/office/drawing/2014/main" id="{2717266C-98FC-2A4D-9BEF-1FA36A92D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085184"/>
            <a:ext cx="4536504" cy="138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DF91-E898-4B38-9EAB-8B418BF6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ABECF-1061-4C57-9488-F1B5EFB7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F7047-436F-4694-AC7E-3600CA72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13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2293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144E-E0F0-F342-A067-A1DD658E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NETCONF: Configuration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919F5-21D9-9647-A873-4D53CBE0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may exist </a:t>
            </a:r>
            <a:r>
              <a:rPr lang="en-US" dirty="0">
                <a:solidFill>
                  <a:schemeClr val="tx2"/>
                </a:solidFill>
              </a:rPr>
              <a:t>several configuration databases </a:t>
            </a:r>
            <a:r>
              <a:rPr lang="en-US" dirty="0"/>
              <a:t>on devices</a:t>
            </a:r>
          </a:p>
          <a:p>
            <a:r>
              <a:rPr lang="en-US" dirty="0"/>
              <a:t>Not all devices implement them all (not required)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NETCONF operations are targeted to </a:t>
            </a:r>
            <a:r>
              <a:rPr lang="en-US" dirty="0">
                <a:solidFill>
                  <a:schemeClr val="tx2"/>
                </a:solidFill>
              </a:rPr>
              <a:t>lock – retrieve – edit – save – copy – unlock </a:t>
            </a:r>
            <a:r>
              <a:rPr lang="en-US" dirty="0"/>
              <a:t>configs on any of those data stores</a:t>
            </a:r>
          </a:p>
        </p:txBody>
      </p:sp>
      <p:pic>
        <p:nvPicPr>
          <p:cNvPr id="5122" name="Picture 2" descr="https://cdn-images-1.medium.com/max/1600/0*yfYwYIeYjo0DSXEt.png">
            <a:extLst>
              <a:ext uri="{FF2B5EF4-FFF2-40B4-BE49-F238E27FC236}">
                <a16:creationId xmlns:a16="http://schemas.microsoft.com/office/drawing/2014/main" id="{89A80A8D-100C-ED44-85B5-4BAD2418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28" y="2492896"/>
            <a:ext cx="7884368" cy="186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2F490F-DAED-764D-B496-F836203AEAD7}"/>
              </a:ext>
            </a:extLst>
          </p:cNvPr>
          <p:cNvSpPr/>
          <p:nvPr/>
        </p:nvSpPr>
        <p:spPr>
          <a:xfrm>
            <a:off x="4231258" y="645333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Image from https://</a:t>
            </a:r>
            <a:r>
              <a:rPr lang="en-US" sz="900" dirty="0" err="1"/>
              <a:t>medium.com</a:t>
            </a:r>
            <a:r>
              <a:rPr lang="en-US" sz="900" dirty="0"/>
              <a:t>/@</a:t>
            </a:r>
            <a:r>
              <a:rPr lang="en-US" sz="900" dirty="0" err="1"/>
              <a:t>k.okasha</a:t>
            </a:r>
            <a:r>
              <a:rPr lang="en-US" sz="900" dirty="0"/>
              <a:t>/network-automation-and-the-rise-of-netconf-e96cc33fe28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AB26-93F6-40E5-A958-059AE1491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DC394-F7FB-406F-BBDE-4398A805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A504A-E74D-4F4C-A803-39031F4E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14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9216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7C43-EC2A-8943-9219-BA8A2CCA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NETCONF: Configuration Databases</a:t>
            </a:r>
          </a:p>
        </p:txBody>
      </p:sp>
      <p:pic>
        <p:nvPicPr>
          <p:cNvPr id="4098" name="Picture 2" descr="netconf layers">
            <a:extLst>
              <a:ext uri="{FF2B5EF4-FFF2-40B4-BE49-F238E27FC236}">
                <a16:creationId xmlns:a16="http://schemas.microsoft.com/office/drawing/2014/main" id="{F008C73E-AD2D-8C41-B19E-B4535FC6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6863928" cy="525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Arrow Callout 3">
            <a:extLst>
              <a:ext uri="{FF2B5EF4-FFF2-40B4-BE49-F238E27FC236}">
                <a16:creationId xmlns:a16="http://schemas.microsoft.com/office/drawing/2014/main" id="{C1700F26-C597-8347-9479-5FFE6FABC2D3}"/>
              </a:ext>
            </a:extLst>
          </p:cNvPr>
          <p:cNvSpPr/>
          <p:nvPr/>
        </p:nvSpPr>
        <p:spPr>
          <a:xfrm>
            <a:off x="6120210" y="1666963"/>
            <a:ext cx="2700262" cy="792088"/>
          </a:xfrm>
          <a:prstGeom prst="leftArrowCallout">
            <a:avLst>
              <a:gd name="adj1" fmla="val 25000"/>
              <a:gd name="adj2" fmla="val 25000"/>
              <a:gd name="adj3" fmla="val 31791"/>
              <a:gd name="adj4" fmla="val 72346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Only one Configuration:</a:t>
            </a:r>
          </a:p>
          <a:p>
            <a:pPr algn="ctr"/>
            <a:r>
              <a:rPr lang="en-US" sz="1600" dirty="0"/>
              <a:t>&lt;RUNNING&gt;</a:t>
            </a:r>
          </a:p>
        </p:txBody>
      </p:sp>
      <p:sp>
        <p:nvSpPr>
          <p:cNvPr id="6" name="Left Arrow Callout 5">
            <a:extLst>
              <a:ext uri="{FF2B5EF4-FFF2-40B4-BE49-F238E27FC236}">
                <a16:creationId xmlns:a16="http://schemas.microsoft.com/office/drawing/2014/main" id="{9F3059AE-F89C-C141-A056-FD0F3633D728}"/>
              </a:ext>
            </a:extLst>
          </p:cNvPr>
          <p:cNvSpPr/>
          <p:nvPr/>
        </p:nvSpPr>
        <p:spPr>
          <a:xfrm>
            <a:off x="6120210" y="2964503"/>
            <a:ext cx="2700262" cy="8965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159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Two Configurations:</a:t>
            </a:r>
          </a:p>
          <a:p>
            <a:pPr algn="ctr"/>
            <a:r>
              <a:rPr lang="en-US" sz="1600" dirty="0"/>
              <a:t>&lt;RUNNING&gt; </a:t>
            </a:r>
          </a:p>
          <a:p>
            <a:pPr algn="ctr"/>
            <a:r>
              <a:rPr lang="en-US" sz="1600" dirty="0"/>
              <a:t>&lt;STARTUP&gt;</a:t>
            </a:r>
          </a:p>
        </p:txBody>
      </p:sp>
      <p:sp>
        <p:nvSpPr>
          <p:cNvPr id="8" name="Left Arrow Callout 7">
            <a:extLst>
              <a:ext uri="{FF2B5EF4-FFF2-40B4-BE49-F238E27FC236}">
                <a16:creationId xmlns:a16="http://schemas.microsoft.com/office/drawing/2014/main" id="{0DD23ED6-DF52-0946-9C96-B53ED5CDB76D}"/>
              </a:ext>
            </a:extLst>
          </p:cNvPr>
          <p:cNvSpPr/>
          <p:nvPr/>
        </p:nvSpPr>
        <p:spPr>
          <a:xfrm>
            <a:off x="6407788" y="4262041"/>
            <a:ext cx="2412684" cy="8965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915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Two Configurations:</a:t>
            </a:r>
          </a:p>
          <a:p>
            <a:pPr algn="ctr"/>
            <a:r>
              <a:rPr lang="en-US" sz="1600" dirty="0"/>
              <a:t>&lt;CANDIDATE&gt; </a:t>
            </a:r>
          </a:p>
          <a:p>
            <a:pPr algn="ctr"/>
            <a:r>
              <a:rPr lang="en-US" sz="1600" dirty="0"/>
              <a:t>&lt;RUNNING&gt;</a:t>
            </a:r>
          </a:p>
        </p:txBody>
      </p:sp>
      <p:sp>
        <p:nvSpPr>
          <p:cNvPr id="9" name="Left Arrow Callout 8">
            <a:extLst>
              <a:ext uri="{FF2B5EF4-FFF2-40B4-BE49-F238E27FC236}">
                <a16:creationId xmlns:a16="http://schemas.microsoft.com/office/drawing/2014/main" id="{D0666B20-0F35-5C41-B72C-CC9A764CE56B}"/>
              </a:ext>
            </a:extLst>
          </p:cNvPr>
          <p:cNvSpPr/>
          <p:nvPr/>
        </p:nvSpPr>
        <p:spPr>
          <a:xfrm>
            <a:off x="6414793" y="5559579"/>
            <a:ext cx="2412684" cy="533717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915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All config DBs!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B21EA-6C68-0E4F-9E99-EC68E2F2513E}"/>
              </a:ext>
            </a:extLst>
          </p:cNvPr>
          <p:cNvSpPr/>
          <p:nvPr/>
        </p:nvSpPr>
        <p:spPr>
          <a:xfrm>
            <a:off x="4231258" y="645333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Image from </a:t>
            </a:r>
            <a:r>
              <a:rPr lang="en-US" sz="900" dirty="0">
                <a:hlinkClick r:id="rId3"/>
              </a:rPr>
              <a:t>http://www.netconfcentral.org/netconf_docs</a:t>
            </a:r>
            <a:r>
              <a:rPr lang="en-US" sz="900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3B365-F0A4-4F34-8737-D6A05F2B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D7109-BF49-410C-B35A-A8FF83CE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6316C-6FDF-456E-BE22-D06ED98E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62746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AF51-4673-9A42-9328-F701F1B9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NETCONF: Configuration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BD826-53FE-E649-A279-CF0777CFC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New model </a:t>
            </a:r>
            <a:r>
              <a:rPr lang="en-US" dirty="0"/>
              <a:t>recently proposed (RFC 8342, March 2018)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CB12BB82-706B-274A-B045-49BDAFB2F6CA}"/>
              </a:ext>
            </a:extLst>
          </p:cNvPr>
          <p:cNvSpPr/>
          <p:nvPr/>
        </p:nvSpPr>
        <p:spPr>
          <a:xfrm>
            <a:off x="1259632" y="1844824"/>
            <a:ext cx="1296144" cy="93610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&lt;candidate&gt;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ct</a:t>
            </a:r>
            <a:r>
              <a:rPr lang="en-US" dirty="0"/>
              <a:t>, </a:t>
            </a:r>
            <a:r>
              <a:rPr lang="en-US" dirty="0" err="1"/>
              <a:t>rw</a:t>
            </a:r>
            <a:r>
              <a:rPr lang="en-US" dirty="0"/>
              <a:t>)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EED5FB53-E0F0-A448-9934-A6AD3155F9C1}"/>
              </a:ext>
            </a:extLst>
          </p:cNvPr>
          <p:cNvSpPr/>
          <p:nvPr/>
        </p:nvSpPr>
        <p:spPr>
          <a:xfrm>
            <a:off x="3564583" y="2203728"/>
            <a:ext cx="1296144" cy="100924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&lt;running&gt;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ct</a:t>
            </a:r>
            <a:r>
              <a:rPr lang="en-US" dirty="0"/>
              <a:t>, </a:t>
            </a:r>
            <a:r>
              <a:rPr lang="en-US" dirty="0" err="1"/>
              <a:t>rw</a:t>
            </a:r>
            <a:r>
              <a:rPr lang="en-US" dirty="0"/>
              <a:t>)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DAF4CE1D-3B0F-F64C-A4D9-73FBC83A33CF}"/>
              </a:ext>
            </a:extLst>
          </p:cNvPr>
          <p:cNvSpPr/>
          <p:nvPr/>
        </p:nvSpPr>
        <p:spPr>
          <a:xfrm>
            <a:off x="5652120" y="1844824"/>
            <a:ext cx="1296144" cy="93496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&lt;startup&gt;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ct</a:t>
            </a:r>
            <a:r>
              <a:rPr lang="en-US" dirty="0"/>
              <a:t>, </a:t>
            </a:r>
            <a:r>
              <a:rPr lang="en-US" dirty="0" err="1"/>
              <a:t>rw</a:t>
            </a:r>
            <a:r>
              <a:rPr lang="en-US" dirty="0"/>
              <a:t>)</a:t>
            </a: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18B0E4C7-A51A-D841-A643-92368DA0533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555776" y="2312876"/>
            <a:ext cx="1008807" cy="6120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35175AA-8D0B-4F40-B2F7-30BC1536C4EE}"/>
              </a:ext>
            </a:extLst>
          </p:cNvPr>
          <p:cNvCxnSpPr>
            <a:cxnSpLocks/>
          </p:cNvCxnSpPr>
          <p:nvPr/>
        </p:nvCxnSpPr>
        <p:spPr>
          <a:xfrm flipV="1">
            <a:off x="4860727" y="2347987"/>
            <a:ext cx="791392" cy="5760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3405C551-C56B-C140-A8F6-56EA966BFD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60726" y="2516022"/>
            <a:ext cx="791396" cy="5488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2A838BAB-FA86-064D-99E8-108C1686F8AF}"/>
              </a:ext>
            </a:extLst>
          </p:cNvPr>
          <p:cNvCxnSpPr>
            <a:cxnSpLocks/>
          </p:cNvCxnSpPr>
          <p:nvPr/>
        </p:nvCxnSpPr>
        <p:spPr>
          <a:xfrm rot="10800000">
            <a:off x="2555776" y="2636019"/>
            <a:ext cx="1008808" cy="4288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22">
            <a:extLst>
              <a:ext uri="{FF2B5EF4-FFF2-40B4-BE49-F238E27FC236}">
                <a16:creationId xmlns:a16="http://schemas.microsoft.com/office/drawing/2014/main" id="{E3C1B8AF-5EF4-F24E-A092-07CAD7B59BCE}"/>
              </a:ext>
            </a:extLst>
          </p:cNvPr>
          <p:cNvSpPr/>
          <p:nvPr/>
        </p:nvSpPr>
        <p:spPr>
          <a:xfrm>
            <a:off x="3564582" y="3787904"/>
            <a:ext cx="1296144" cy="1009248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&lt;intended&gt;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ct</a:t>
            </a:r>
            <a:r>
              <a:rPr lang="en-US" dirty="0"/>
              <a:t>, </a:t>
            </a:r>
            <a:r>
              <a:rPr lang="en-US" dirty="0" err="1"/>
              <a:t>ro</a:t>
            </a:r>
            <a:r>
              <a:rPr lang="en-US" dirty="0"/>
              <a:t>)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60A4DC8F-3EBA-4740-9FC2-8490D4FEB641}"/>
              </a:ext>
            </a:extLst>
          </p:cNvPr>
          <p:cNvSpPr/>
          <p:nvPr/>
        </p:nvSpPr>
        <p:spPr>
          <a:xfrm>
            <a:off x="3492227" y="5320219"/>
            <a:ext cx="1440854" cy="1009248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&lt;operational&gt;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ct</a:t>
            </a:r>
            <a:r>
              <a:rPr lang="en-US" dirty="0"/>
              <a:t> + </a:t>
            </a:r>
            <a:r>
              <a:rPr lang="en-US" dirty="0" err="1"/>
              <a:t>cf</a:t>
            </a:r>
            <a:r>
              <a:rPr lang="en-US" dirty="0"/>
              <a:t>, </a:t>
            </a:r>
            <a:r>
              <a:rPr lang="en-US" dirty="0" err="1"/>
              <a:t>ro</a:t>
            </a:r>
            <a:r>
              <a:rPr lang="en-US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B72A14-76E9-A346-BD34-BD34CD6DE657}"/>
              </a:ext>
            </a:extLst>
          </p:cNvPr>
          <p:cNvSpPr txBox="1"/>
          <p:nvPr/>
        </p:nvSpPr>
        <p:spPr>
          <a:xfrm>
            <a:off x="5364088" y="5647356"/>
            <a:ext cx="115114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System State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57B6803-0967-9246-AE19-85626B1E9F17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4205636" y="3212976"/>
            <a:ext cx="7019" cy="722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8C9835-EAD1-094A-88F5-AA9E6A86FDD5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4205638" y="4797152"/>
            <a:ext cx="7016" cy="671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E151038-04D2-1A41-829A-7C8DC0B46EE1}"/>
              </a:ext>
            </a:extLst>
          </p:cNvPr>
          <p:cNvSpPr txBox="1"/>
          <p:nvPr/>
        </p:nvSpPr>
        <p:spPr>
          <a:xfrm>
            <a:off x="1572736" y="4089266"/>
            <a:ext cx="1918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Subject to validation //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8AF428-B974-C44F-80A5-24A3275730AC}"/>
              </a:ext>
            </a:extLst>
          </p:cNvPr>
          <p:cNvCxnSpPr>
            <a:stCxn id="25" idx="1"/>
            <a:endCxn id="24" idx="4"/>
          </p:cNvCxnSpPr>
          <p:nvPr/>
        </p:nvCxnSpPr>
        <p:spPr>
          <a:xfrm flipH="1">
            <a:off x="4933081" y="5816633"/>
            <a:ext cx="431007" cy="8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0750582-173D-C747-B6A1-16CB3EE97CA7}"/>
              </a:ext>
            </a:extLst>
          </p:cNvPr>
          <p:cNvSpPr txBox="1"/>
          <p:nvPr/>
        </p:nvSpPr>
        <p:spPr>
          <a:xfrm>
            <a:off x="1528662" y="5370357"/>
            <a:ext cx="117891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Dynamic</a:t>
            </a:r>
            <a:br>
              <a:rPr lang="en-US" sz="1600" dirty="0"/>
            </a:br>
            <a:r>
              <a:rPr lang="en-US" sz="1600" dirty="0"/>
              <a:t>Configuration</a:t>
            </a:r>
            <a:br>
              <a:rPr lang="en-US" sz="1600" dirty="0"/>
            </a:br>
            <a:r>
              <a:rPr lang="en-US" sz="1600" dirty="0"/>
              <a:t>Datastores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295DF1-66A7-6149-80B6-020A5AB06BC9}"/>
              </a:ext>
            </a:extLst>
          </p:cNvPr>
          <p:cNvCxnSpPr>
            <a:stCxn id="37" idx="3"/>
            <a:endCxn id="24" idx="2"/>
          </p:cNvCxnSpPr>
          <p:nvPr/>
        </p:nvCxnSpPr>
        <p:spPr>
          <a:xfrm>
            <a:off x="2707574" y="5785856"/>
            <a:ext cx="784653" cy="3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0EF16CC-C339-8045-9A93-5401E3CEA7EB}"/>
              </a:ext>
            </a:extLst>
          </p:cNvPr>
          <p:cNvSpPr txBox="1"/>
          <p:nvPr/>
        </p:nvSpPr>
        <p:spPr>
          <a:xfrm>
            <a:off x="5508104" y="4427820"/>
            <a:ext cx="180658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Learned configuration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08D2B-22FC-BC4B-BB23-76F91C8C2F62}"/>
              </a:ext>
            </a:extLst>
          </p:cNvPr>
          <p:cNvSpPr txBox="1"/>
          <p:nvPr/>
        </p:nvSpPr>
        <p:spPr>
          <a:xfrm>
            <a:off x="5494088" y="4795351"/>
            <a:ext cx="174220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System configuration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52C19C-43DC-BD47-9841-BD6B2036AD4F}"/>
              </a:ext>
            </a:extLst>
          </p:cNvPr>
          <p:cNvSpPr txBox="1"/>
          <p:nvPr/>
        </p:nvSpPr>
        <p:spPr>
          <a:xfrm>
            <a:off x="5494088" y="5143636"/>
            <a:ext cx="174220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System configuration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D51C18-76B7-684C-B418-414DB5D4437D}"/>
              </a:ext>
            </a:extLst>
          </p:cNvPr>
          <p:cNvCxnSpPr>
            <a:stCxn id="40" idx="1"/>
          </p:cNvCxnSpPr>
          <p:nvPr/>
        </p:nvCxnSpPr>
        <p:spPr>
          <a:xfrm flipH="1">
            <a:off x="4860726" y="4597097"/>
            <a:ext cx="647378" cy="871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3D6236-17EA-BC41-A76B-2D1E76063832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5256423" y="4964567"/>
            <a:ext cx="237665" cy="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121C44-6226-F947-8E5B-149BA58DE55E}"/>
              </a:ext>
            </a:extLst>
          </p:cNvPr>
          <p:cNvCxnSpPr>
            <a:stCxn id="42" idx="1"/>
          </p:cNvCxnSpPr>
          <p:nvPr/>
        </p:nvCxnSpPr>
        <p:spPr>
          <a:xfrm flipH="1">
            <a:off x="4952516" y="5312913"/>
            <a:ext cx="541572" cy="19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A65ED93-6976-DF40-9B6E-60B67B5E46F6}"/>
              </a:ext>
            </a:extLst>
          </p:cNvPr>
          <p:cNvSpPr txBox="1"/>
          <p:nvPr/>
        </p:nvSpPr>
        <p:spPr>
          <a:xfrm>
            <a:off x="5299798" y="3207332"/>
            <a:ext cx="33990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// config. transformations, e.g. removal of</a:t>
            </a:r>
            <a:br>
              <a:rPr lang="en-US" sz="1600" i="1" dirty="0"/>
            </a:br>
            <a:r>
              <a:rPr lang="en-US" sz="1600" i="1" dirty="0"/>
              <a:t>//  nodes marked “inactive”, expansion of </a:t>
            </a:r>
            <a:br>
              <a:rPr lang="en-US" sz="1600" i="1" dirty="0"/>
            </a:br>
            <a:r>
              <a:rPr lang="en-US" sz="1600" i="1" dirty="0"/>
              <a:t>// templates…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18C88-4DC0-44CF-8919-492C45A0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C975AD-2CAE-4414-AD83-E83AFB8C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AC451F5-C455-408C-A2DB-B9D56097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5988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6C10-BD87-B74B-9583-000425930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NETCONF client and server are driven by the content of YANG modules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F3F59-CF70-C144-87F7-522D3600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&amp; YANG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D37DF-F319-1542-9BF4-47B36C0DA9A0}"/>
              </a:ext>
            </a:extLst>
          </p:cNvPr>
          <p:cNvSpPr/>
          <p:nvPr/>
        </p:nvSpPr>
        <p:spPr>
          <a:xfrm>
            <a:off x="5076056" y="1831923"/>
            <a:ext cx="2736304" cy="45750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DA2C8-62EA-8049-8839-4AB6D7077494}"/>
              </a:ext>
            </a:extLst>
          </p:cNvPr>
          <p:cNvSpPr txBox="1"/>
          <p:nvPr/>
        </p:nvSpPr>
        <p:spPr>
          <a:xfrm>
            <a:off x="5076056" y="1821428"/>
            <a:ext cx="165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 (device)</a:t>
            </a:r>
          </a:p>
        </p:txBody>
      </p:sp>
      <p:sp>
        <p:nvSpPr>
          <p:cNvPr id="7" name="Multidocument 6">
            <a:extLst>
              <a:ext uri="{FF2B5EF4-FFF2-40B4-BE49-F238E27FC236}">
                <a16:creationId xmlns:a16="http://schemas.microsoft.com/office/drawing/2014/main" id="{A8AC6E2D-B1AE-5145-A8CF-A349B9760FFC}"/>
              </a:ext>
            </a:extLst>
          </p:cNvPr>
          <p:cNvSpPr/>
          <p:nvPr/>
        </p:nvSpPr>
        <p:spPr>
          <a:xfrm>
            <a:off x="3268312" y="2405096"/>
            <a:ext cx="1080120" cy="893336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  <a:br>
              <a:rPr lang="en-US" dirty="0"/>
            </a:br>
            <a:r>
              <a:rPr lang="en-US" dirty="0"/>
              <a:t>Models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9930C76B-F152-6145-A925-41911853D6F1}"/>
              </a:ext>
            </a:extLst>
          </p:cNvPr>
          <p:cNvSpPr/>
          <p:nvPr/>
        </p:nvSpPr>
        <p:spPr>
          <a:xfrm>
            <a:off x="1382106" y="3775251"/>
            <a:ext cx="1224136" cy="97640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Client</a:t>
            </a:r>
            <a:br>
              <a:rPr lang="en-US" b="1" dirty="0"/>
            </a:br>
            <a:r>
              <a:rPr lang="en-US" b="1" dirty="0"/>
              <a:t>(App)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B02410-E117-ED45-A4AC-869C25F705E0}"/>
              </a:ext>
            </a:extLst>
          </p:cNvPr>
          <p:cNvSpPr/>
          <p:nvPr/>
        </p:nvSpPr>
        <p:spPr>
          <a:xfrm>
            <a:off x="5404880" y="3920155"/>
            <a:ext cx="1656184" cy="8758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NETCONF</a:t>
            </a:r>
            <a:br>
              <a:rPr lang="en-US" dirty="0"/>
            </a:br>
            <a:r>
              <a:rPr lang="en-US" dirty="0"/>
              <a:t>Engine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A8BDB0-F442-6943-8E89-1E9721D78296}"/>
              </a:ext>
            </a:extLst>
          </p:cNvPr>
          <p:cNvCxnSpPr/>
          <p:nvPr/>
        </p:nvCxnSpPr>
        <p:spPr>
          <a:xfrm>
            <a:off x="2832048" y="4064171"/>
            <a:ext cx="2460032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0697E6-CA17-9544-804C-FB12E82160C0}"/>
              </a:ext>
            </a:extLst>
          </p:cNvPr>
          <p:cNvCxnSpPr>
            <a:cxnSpLocks/>
          </p:cNvCxnSpPr>
          <p:nvPr/>
        </p:nvCxnSpPr>
        <p:spPr>
          <a:xfrm flipH="1">
            <a:off x="2832048" y="4455921"/>
            <a:ext cx="2388024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26B644-4E00-1147-83D7-8FAD37832F12}"/>
              </a:ext>
            </a:extLst>
          </p:cNvPr>
          <p:cNvSpPr txBox="1"/>
          <p:nvPr/>
        </p:nvSpPr>
        <p:spPr>
          <a:xfrm>
            <a:off x="2939514" y="3976826"/>
            <a:ext cx="68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&lt;</a:t>
            </a:r>
            <a:r>
              <a:rPr lang="en-US" dirty="0" err="1">
                <a:solidFill>
                  <a:schemeClr val="tx2"/>
                </a:solidFill>
              </a:rPr>
              <a:t>rpc</a:t>
            </a:r>
            <a:r>
              <a:rPr lang="en-US" dirty="0">
                <a:solidFill>
                  <a:schemeClr val="tx2"/>
                </a:solidFill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A4DDF-E6CA-BB40-B6FE-EB3A56C1FB28}"/>
              </a:ext>
            </a:extLst>
          </p:cNvPr>
          <p:cNvSpPr txBox="1"/>
          <p:nvPr/>
        </p:nvSpPr>
        <p:spPr>
          <a:xfrm>
            <a:off x="2939903" y="4376600"/>
            <a:ext cx="1131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&lt;</a:t>
            </a:r>
            <a:r>
              <a:rPr lang="en-US" dirty="0" err="1">
                <a:solidFill>
                  <a:schemeClr val="tx2"/>
                </a:solidFill>
              </a:rPr>
              <a:t>rpc</a:t>
            </a:r>
            <a:r>
              <a:rPr lang="en-US" dirty="0">
                <a:solidFill>
                  <a:schemeClr val="tx2"/>
                </a:solidFill>
              </a:rPr>
              <a:t>-reply&gt;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B6639F-098C-594F-97E4-1BA377F2D79D}"/>
              </a:ext>
            </a:extLst>
          </p:cNvPr>
          <p:cNvGrpSpPr/>
          <p:nvPr/>
        </p:nvGrpSpPr>
        <p:grpSpPr>
          <a:xfrm>
            <a:off x="5605633" y="2250722"/>
            <a:ext cx="2104420" cy="1202084"/>
            <a:chOff x="6345432" y="2586068"/>
            <a:chExt cx="2104420" cy="12020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9BB7CB9-46CF-9C49-8A29-BAF8996AF4F1}"/>
                </a:ext>
              </a:extLst>
            </p:cNvPr>
            <p:cNvSpPr/>
            <p:nvPr/>
          </p:nvSpPr>
          <p:spPr>
            <a:xfrm>
              <a:off x="6345432" y="2586068"/>
              <a:ext cx="2090939" cy="12020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851DB2-561B-CA4D-A957-1EE79FD7BC2E}"/>
                </a:ext>
              </a:extLst>
            </p:cNvPr>
            <p:cNvSpPr txBox="1"/>
            <p:nvPr/>
          </p:nvSpPr>
          <p:spPr>
            <a:xfrm>
              <a:off x="7236296" y="2586390"/>
              <a:ext cx="1150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configuration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771D03-ABF2-EC42-8CD6-8E67AB9A36E3}"/>
                </a:ext>
              </a:extLst>
            </p:cNvPr>
            <p:cNvSpPr txBox="1"/>
            <p:nvPr/>
          </p:nvSpPr>
          <p:spPr>
            <a:xfrm>
              <a:off x="7236296" y="2852936"/>
              <a:ext cx="9180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state data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9F907C-ABCB-5F4E-81E2-0C9B583BF360}"/>
                </a:ext>
              </a:extLst>
            </p:cNvPr>
            <p:cNvSpPr txBox="1"/>
            <p:nvPr/>
          </p:nvSpPr>
          <p:spPr>
            <a:xfrm>
              <a:off x="7239198" y="3140968"/>
              <a:ext cx="1077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notifications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98ECB7-9462-6743-8A75-242270521827}"/>
                </a:ext>
              </a:extLst>
            </p:cNvPr>
            <p:cNvSpPr txBox="1"/>
            <p:nvPr/>
          </p:nvSpPr>
          <p:spPr>
            <a:xfrm>
              <a:off x="7236296" y="3429000"/>
              <a:ext cx="960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operations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794B67-4801-FA45-B8E2-1D5788C47055}"/>
                </a:ext>
              </a:extLst>
            </p:cNvPr>
            <p:cNvCxnSpPr/>
            <p:nvPr/>
          </p:nvCxnSpPr>
          <p:spPr>
            <a:xfrm>
              <a:off x="7092280" y="2924944"/>
              <a:ext cx="13440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304E2A-F4F0-894C-A811-05D84C64CB98}"/>
                </a:ext>
              </a:extLst>
            </p:cNvPr>
            <p:cNvCxnSpPr/>
            <p:nvPr/>
          </p:nvCxnSpPr>
          <p:spPr>
            <a:xfrm>
              <a:off x="7091007" y="3187110"/>
              <a:ext cx="13440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730CD6-A54E-DE4E-A7F4-3106E0BA07A8}"/>
                </a:ext>
              </a:extLst>
            </p:cNvPr>
            <p:cNvCxnSpPr/>
            <p:nvPr/>
          </p:nvCxnSpPr>
          <p:spPr>
            <a:xfrm>
              <a:off x="7105761" y="3479404"/>
              <a:ext cx="13440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0D4E6B-09C1-E346-BF81-7974D4D041FC}"/>
                </a:ext>
              </a:extLst>
            </p:cNvPr>
            <p:cNvSpPr txBox="1"/>
            <p:nvPr/>
          </p:nvSpPr>
          <p:spPr>
            <a:xfrm rot="16200000">
              <a:off x="6202566" y="2979947"/>
              <a:ext cx="9729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metadata</a:t>
              </a:r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8E87F1-AA94-5348-AAF4-37FA824E73EA}"/>
              </a:ext>
            </a:extLst>
          </p:cNvPr>
          <p:cNvCxnSpPr/>
          <p:nvPr/>
        </p:nvCxnSpPr>
        <p:spPr>
          <a:xfrm>
            <a:off x="4426712" y="2826213"/>
            <a:ext cx="1083355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41A969-B653-C84E-A9A8-5E0DF056F7F4}"/>
              </a:ext>
            </a:extLst>
          </p:cNvPr>
          <p:cNvCxnSpPr>
            <a:endCxn id="11" idx="0"/>
          </p:cNvCxnSpPr>
          <p:nvPr/>
        </p:nvCxnSpPr>
        <p:spPr>
          <a:xfrm>
            <a:off x="6232972" y="3452806"/>
            <a:ext cx="0" cy="467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45C2ECF-F62D-BC41-A5BC-CC4A3EC65A77}"/>
              </a:ext>
            </a:extLst>
          </p:cNvPr>
          <p:cNvSpPr/>
          <p:nvPr/>
        </p:nvSpPr>
        <p:spPr>
          <a:xfrm>
            <a:off x="6579160" y="5541960"/>
            <a:ext cx="1075332" cy="720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EE855A-84F8-0741-82A3-711E49C45F97}"/>
              </a:ext>
            </a:extLst>
          </p:cNvPr>
          <p:cNvSpPr/>
          <p:nvPr/>
        </p:nvSpPr>
        <p:spPr>
          <a:xfrm>
            <a:off x="6485587" y="5446406"/>
            <a:ext cx="1075332" cy="720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D1E379-A60C-D240-B455-CC8D2180E55A}"/>
              </a:ext>
            </a:extLst>
          </p:cNvPr>
          <p:cNvSpPr/>
          <p:nvPr/>
        </p:nvSpPr>
        <p:spPr>
          <a:xfrm>
            <a:off x="6351081" y="5317063"/>
            <a:ext cx="1075332" cy="720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system</a:t>
            </a:r>
            <a:br>
              <a:rPr lang="en-US" sz="1400" dirty="0"/>
            </a:br>
            <a:r>
              <a:rPr lang="en-US" sz="1400" dirty="0"/>
              <a:t>software</a:t>
            </a:r>
            <a:br>
              <a:rPr lang="en-US" sz="1400" dirty="0"/>
            </a:br>
            <a:r>
              <a:rPr lang="en-US" sz="1400" dirty="0"/>
              <a:t>component</a:t>
            </a:r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52BC5A46-5E70-DE49-B384-891F824F9653}"/>
              </a:ext>
            </a:extLst>
          </p:cNvPr>
          <p:cNvSpPr/>
          <p:nvPr/>
        </p:nvSpPr>
        <p:spPr>
          <a:xfrm>
            <a:off x="5207934" y="5302129"/>
            <a:ext cx="913841" cy="720080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config</a:t>
            </a:r>
            <a:br>
              <a:rPr lang="en-US" sz="1400" dirty="0"/>
            </a:br>
            <a:r>
              <a:rPr lang="en-US" sz="1400" dirty="0"/>
              <a:t>database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D7E666-CC39-3740-8AE1-F59DE59EC997}"/>
              </a:ext>
            </a:extLst>
          </p:cNvPr>
          <p:cNvCxnSpPr>
            <a:endCxn id="41" idx="1"/>
          </p:cNvCxnSpPr>
          <p:nvPr/>
        </p:nvCxnSpPr>
        <p:spPr>
          <a:xfrm flipH="1">
            <a:off x="5664855" y="4796016"/>
            <a:ext cx="284391" cy="506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6765C4-4749-9A4B-8CA0-2694D249B9E1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535488" y="4796016"/>
            <a:ext cx="353259" cy="521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1349-4B6A-4B2E-9996-90F0CC4E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95BC-689E-4552-A707-292A31EB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4934CBD-2B39-4B8C-AF3E-098D0927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17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9790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B0A3-1488-854A-BB16-7C15D490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70D5-4A5C-6341-A51D-612F0319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233488"/>
            <a:ext cx="8435975" cy="4897437"/>
          </a:xfrm>
        </p:spPr>
        <p:txBody>
          <a:bodyPr/>
          <a:lstStyle/>
          <a:p>
            <a:r>
              <a:rPr lang="en-US" sz="2000" dirty="0"/>
              <a:t>YANG is a language originally designed to model data for the NETCONF protocol (RFC 7950, august 2016)</a:t>
            </a:r>
          </a:p>
          <a:p>
            <a:pPr lvl="1"/>
            <a:r>
              <a:rPr lang="en-US" sz="1800" u="sng" dirty="0">
                <a:solidFill>
                  <a:schemeClr val="tx2"/>
                </a:solidFill>
              </a:rPr>
              <a:t>Standard Modules 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/>
              <a:t>and </a:t>
            </a:r>
            <a:r>
              <a:rPr lang="en-US" sz="1800" u="sng" dirty="0">
                <a:solidFill>
                  <a:schemeClr val="tx2"/>
                </a:solidFill>
              </a:rPr>
              <a:t>Proprietary Models</a:t>
            </a:r>
            <a:r>
              <a:rPr lang="en-US" sz="1800" u="sng" dirty="0"/>
              <a:t>:</a:t>
            </a:r>
            <a:r>
              <a:rPr lang="en-US" sz="1800" dirty="0"/>
              <a:t> define </a:t>
            </a:r>
            <a:r>
              <a:rPr lang="en-US" sz="1800" i="1" dirty="0">
                <a:solidFill>
                  <a:schemeClr val="tx2"/>
                </a:solidFill>
              </a:rPr>
              <a:t>configuration data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tx2"/>
                </a:solidFill>
              </a:rPr>
              <a:t>RPC</a:t>
            </a:r>
            <a:r>
              <a:rPr lang="en-US" sz="1800" dirty="0"/>
              <a:t>, </a:t>
            </a:r>
            <a:r>
              <a:rPr lang="en-US" sz="1800" i="1" dirty="0">
                <a:solidFill>
                  <a:schemeClr val="tx2"/>
                </a:solidFill>
              </a:rPr>
              <a:t>notifications</a:t>
            </a:r>
            <a:endParaRPr lang="en-US" sz="1800" i="1" u="sng" dirty="0">
              <a:solidFill>
                <a:schemeClr val="tx2"/>
              </a:solidFill>
            </a:endParaRPr>
          </a:p>
          <a:p>
            <a:pPr lvl="1"/>
            <a:r>
              <a:rPr lang="en-US" sz="1800" u="sng" dirty="0"/>
              <a:t>Defines hierarchies </a:t>
            </a:r>
            <a:r>
              <a:rPr lang="en-US" sz="1800" dirty="0"/>
              <a:t>of data that can be used in operations (configuration, state data, etc.)</a:t>
            </a:r>
          </a:p>
          <a:p>
            <a:pPr lvl="1"/>
            <a:r>
              <a:rPr lang="en-US" sz="1800" dirty="0"/>
              <a:t>Data organized </a:t>
            </a:r>
            <a:r>
              <a:rPr lang="en-US" sz="1800" b="1" u="sng" dirty="0">
                <a:solidFill>
                  <a:schemeClr val="tx2"/>
                </a:solidFill>
              </a:rPr>
              <a:t>as a tree</a:t>
            </a:r>
            <a:r>
              <a:rPr lang="en-US" sz="1800" dirty="0"/>
              <a:t>, where every </a:t>
            </a:r>
            <a:r>
              <a:rPr lang="en-US" sz="1800" b="1" u="sng" dirty="0">
                <a:solidFill>
                  <a:schemeClr val="tx2"/>
                </a:solidFill>
              </a:rPr>
              <a:t>node</a:t>
            </a:r>
            <a:r>
              <a:rPr lang="en-US" sz="1800" dirty="0"/>
              <a:t> has a </a:t>
            </a:r>
            <a:r>
              <a:rPr lang="en-US" sz="1800" dirty="0">
                <a:solidFill>
                  <a:schemeClr val="tx2"/>
                </a:solidFill>
              </a:rPr>
              <a:t>name</a:t>
            </a:r>
            <a:r>
              <a:rPr lang="en-US" sz="1800" dirty="0"/>
              <a:t> and either a </a:t>
            </a:r>
            <a:r>
              <a:rPr lang="en-US" sz="1800" dirty="0">
                <a:solidFill>
                  <a:schemeClr val="tx2"/>
                </a:solidFill>
              </a:rPr>
              <a:t>value</a:t>
            </a:r>
            <a:r>
              <a:rPr lang="en-US" sz="1800" dirty="0"/>
              <a:t> or a </a:t>
            </a:r>
            <a:r>
              <a:rPr lang="en-US" sz="1800" dirty="0">
                <a:solidFill>
                  <a:schemeClr val="tx2"/>
                </a:solidFill>
              </a:rPr>
              <a:t>set of child nodes</a:t>
            </a:r>
            <a:r>
              <a:rPr lang="en-US" sz="1800" dirty="0"/>
              <a:t>;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E1F4A-8E0C-3848-98E9-9CA886B19692}"/>
              </a:ext>
            </a:extLst>
          </p:cNvPr>
          <p:cNvSpPr/>
          <p:nvPr/>
        </p:nvSpPr>
        <p:spPr>
          <a:xfrm>
            <a:off x="971600" y="3276893"/>
            <a:ext cx="29523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Modules and Submodules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A7A9F-DCE8-8546-870B-FBE7704BB2A6}"/>
              </a:ext>
            </a:extLst>
          </p:cNvPr>
          <p:cNvSpPr txBox="1"/>
          <p:nvPr/>
        </p:nvSpPr>
        <p:spPr>
          <a:xfrm>
            <a:off x="4716016" y="3416263"/>
            <a:ext cx="899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Top-level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DB6734-5703-ED42-AD17-5ABF7A102A51}"/>
              </a:ext>
            </a:extLst>
          </p:cNvPr>
          <p:cNvCxnSpPr/>
          <p:nvPr/>
        </p:nvCxnSpPr>
        <p:spPr>
          <a:xfrm flipH="1">
            <a:off x="3995936" y="3600929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D62218E-A865-2643-A76F-A34D651AC493}"/>
              </a:ext>
            </a:extLst>
          </p:cNvPr>
          <p:cNvSpPr/>
          <p:nvPr/>
        </p:nvSpPr>
        <p:spPr>
          <a:xfrm>
            <a:off x="1619672" y="4067384"/>
            <a:ext cx="2573957" cy="4540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Leaf Node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FA817-43A8-3246-B8CD-C10498DAC50E}"/>
              </a:ext>
            </a:extLst>
          </p:cNvPr>
          <p:cNvSpPr/>
          <p:nvPr/>
        </p:nvSpPr>
        <p:spPr>
          <a:xfrm>
            <a:off x="1619672" y="4553357"/>
            <a:ext cx="2573957" cy="5145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Leaf-List Nodes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24EB3-1F08-D64E-9ED8-295B20AC9B59}"/>
              </a:ext>
            </a:extLst>
          </p:cNvPr>
          <p:cNvSpPr txBox="1"/>
          <p:nvPr/>
        </p:nvSpPr>
        <p:spPr>
          <a:xfrm>
            <a:off x="5130428" y="4032624"/>
            <a:ext cx="3299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contains simple data, like integer or string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29C22F-ABA8-1E44-95F4-5E21006631A6}"/>
              </a:ext>
            </a:extLst>
          </p:cNvPr>
          <p:cNvCxnSpPr/>
          <p:nvPr/>
        </p:nvCxnSpPr>
        <p:spPr>
          <a:xfrm flipH="1">
            <a:off x="4410348" y="4217290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C3BDD1-6E29-F74D-BAA7-279CACE09222}"/>
              </a:ext>
            </a:extLst>
          </p:cNvPr>
          <p:cNvSpPr txBox="1"/>
          <p:nvPr/>
        </p:nvSpPr>
        <p:spPr>
          <a:xfrm>
            <a:off x="5143815" y="5607455"/>
            <a:ext cx="2628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defines a sequence of list entries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B5E786-24FC-0A4E-9BF6-F3C3C0216058}"/>
              </a:ext>
            </a:extLst>
          </p:cNvPr>
          <p:cNvCxnSpPr/>
          <p:nvPr/>
        </p:nvCxnSpPr>
        <p:spPr>
          <a:xfrm flipH="1">
            <a:off x="4423735" y="5792121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4C7F73A-1D4C-A346-A00F-C2255D89900F}"/>
              </a:ext>
            </a:extLst>
          </p:cNvPr>
          <p:cNvSpPr/>
          <p:nvPr/>
        </p:nvSpPr>
        <p:spPr>
          <a:xfrm>
            <a:off x="1619672" y="5117954"/>
            <a:ext cx="2573957" cy="5016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Container Nodes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35EF6-248E-BC4B-9399-7B51DA60119B}"/>
              </a:ext>
            </a:extLst>
          </p:cNvPr>
          <p:cNvSpPr/>
          <p:nvPr/>
        </p:nvSpPr>
        <p:spPr>
          <a:xfrm>
            <a:off x="1628840" y="5655577"/>
            <a:ext cx="2573957" cy="5016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List Nodes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C61BEB63-1EE2-834E-9F58-F75AAFF9A737}"/>
              </a:ext>
            </a:extLst>
          </p:cNvPr>
          <p:cNvSpPr/>
          <p:nvPr/>
        </p:nvSpPr>
        <p:spPr>
          <a:xfrm>
            <a:off x="934863" y="4090643"/>
            <a:ext cx="576064" cy="1994562"/>
          </a:xfrm>
          <a:prstGeom prst="leftBrace">
            <a:avLst>
              <a:gd name="adj1" fmla="val 4915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180F9D-B3D6-F344-B57F-D91C3F8800F1}"/>
              </a:ext>
            </a:extLst>
          </p:cNvPr>
          <p:cNvSpPr txBox="1"/>
          <p:nvPr/>
        </p:nvSpPr>
        <p:spPr>
          <a:xfrm>
            <a:off x="5143815" y="5035653"/>
            <a:ext cx="3192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used to group related nodes in a subtree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95A778-28AD-0540-8DFC-9902EDF7F6B3}"/>
              </a:ext>
            </a:extLst>
          </p:cNvPr>
          <p:cNvCxnSpPr/>
          <p:nvPr/>
        </p:nvCxnSpPr>
        <p:spPr>
          <a:xfrm flipH="1">
            <a:off x="4423735" y="5220319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FADD8D-7F9A-8647-B58A-1CEA1EB80F28}"/>
              </a:ext>
            </a:extLst>
          </p:cNvPr>
          <p:cNvSpPr txBox="1"/>
          <p:nvPr/>
        </p:nvSpPr>
        <p:spPr>
          <a:xfrm>
            <a:off x="5143815" y="4551633"/>
            <a:ext cx="3025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defines a sequence of values of a type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6C7897-16E7-9C40-8434-617B343ABFED}"/>
              </a:ext>
            </a:extLst>
          </p:cNvPr>
          <p:cNvCxnSpPr/>
          <p:nvPr/>
        </p:nvCxnSpPr>
        <p:spPr>
          <a:xfrm flipH="1">
            <a:off x="4423735" y="4736299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966CB7-3325-4791-BA6F-72423B25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29F8F8B-8966-4514-8123-33B3F898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66DD325-1ED5-45DF-A923-549AFADD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18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52444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example-system</a:t>
            </a:r>
            <a:r>
              <a:rPr lang="en-US" dirty="0"/>
              <a:t> model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467545" y="1990911"/>
            <a:ext cx="4104455" cy="367240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module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example-system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yang-version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9E4C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1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.</a:t>
            </a:r>
            <a:r>
              <a:rPr lang="en-US" sz="1200" dirty="0">
                <a:solidFill>
                  <a:srgbClr val="9E4C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1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namespace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</a:t>
            </a:r>
            <a:r>
              <a:rPr lang="en-US" sz="1200" dirty="0" err="1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urn:example:system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prefix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"sys"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organization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"Example Inc."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contact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</a:t>
            </a:r>
            <a:r>
              <a:rPr lang="en-US" sz="1200" dirty="0" err="1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joe@example.com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description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 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"The module for entities implementing the Example system."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revision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CC734D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2007-06-09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  </a:t>
            </a:r>
            <a:r>
              <a:rPr lang="en-US" sz="1200" dirty="0">
                <a:solidFill>
                  <a:srgbClr val="9E7504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description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"Initial revision."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" pitchFamily="2" charset="0"/>
              </a:rPr>
              <a:t>      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………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788024" y="1522413"/>
            <a:ext cx="4104455" cy="489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&lt;?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xml version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"1.0"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encoding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"UTF-8"</a:t>
            </a:r>
            <a:r>
              <a:rPr lang="en-US" sz="1100" dirty="0">
                <a:solidFill>
                  <a:srgbClr val="595959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?&gt;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&lt;module 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name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"example-system"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xmlns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"urn:ietf:params:xml:ns:yang:yin:1"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xmlns</a:t>
            </a:r>
            <a:r>
              <a:rPr lang="en-US" sz="1100" dirty="0" err="1">
                <a:solidFill>
                  <a:srgbClr val="595959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1100" dirty="0" err="1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sys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en-US" sz="1100" dirty="0" err="1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urn:example:system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&lt;yang-version 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value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"1.1"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/&gt;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&lt;namespace </a:t>
            </a:r>
            <a:r>
              <a:rPr lang="en-US" sz="1100" dirty="0" err="1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uri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en-US" sz="1100" dirty="0" err="1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urn:example:system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/&gt;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&lt;prefix 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value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"sys"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/&gt;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&lt;organization&gt;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&lt;text&gt;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Example Inc.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&lt;/text&gt;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&lt;/organization&gt;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&lt;contact&gt;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&lt;text&gt;</a:t>
            </a:r>
            <a:r>
              <a:rPr lang="en-US" sz="1100" dirty="0" err="1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joe@example.com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&lt;/text&gt;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&lt;/contact&gt;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&lt;description&gt;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&lt;text&gt;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The module for entities implementing the Example system.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&lt;/text&gt;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&lt;/description&gt;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&lt;revision </a:t>
            </a:r>
            <a:r>
              <a:rPr lang="en-US" sz="1100" dirty="0">
                <a:solidFill>
                  <a:srgbClr val="4E73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date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1100" dirty="0">
                <a:solidFill>
                  <a:srgbClr val="4E7702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"2007-06-09"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&lt;description&gt;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&lt;text&gt;</a:t>
            </a: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Initial revision.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&lt;/text&gt;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&lt;/description&gt;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&lt;/revision&gt;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9E4A4D"/>
                </a:solidFill>
                <a:latin typeface="Courier" pitchFamily="2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3595068" y="184482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915547" y="1234381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29392F-0E2E-1A4D-B9CA-0CB47AD27096}"/>
              </a:ext>
            </a:extLst>
          </p:cNvPr>
          <p:cNvSpPr txBox="1"/>
          <p:nvPr/>
        </p:nvSpPr>
        <p:spPr>
          <a:xfrm>
            <a:off x="467545" y="5977036"/>
            <a:ext cx="3836307" cy="30777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$ </a:t>
            </a:r>
            <a:r>
              <a:rPr lang="en-US" sz="1400" dirty="0" err="1">
                <a:latin typeface="Courier" pitchFamily="2" charset="0"/>
              </a:rPr>
              <a:t>pyang</a:t>
            </a:r>
            <a:r>
              <a:rPr lang="en-US" sz="1400" dirty="0">
                <a:latin typeface="Courier" pitchFamily="2" charset="0"/>
              </a:rPr>
              <a:t> –f </a:t>
            </a:r>
            <a:r>
              <a:rPr lang="en-US" sz="1400" b="1" dirty="0">
                <a:solidFill>
                  <a:schemeClr val="tx2"/>
                </a:solidFill>
                <a:latin typeface="Courier" pitchFamily="2" charset="0"/>
              </a:rPr>
              <a:t>yin</a:t>
            </a:r>
            <a:r>
              <a:rPr lang="en-US" sz="1400" dirty="0">
                <a:latin typeface="Courier" pitchFamily="2" charset="0"/>
              </a:rPr>
              <a:t> </a:t>
            </a:r>
            <a:r>
              <a:rPr lang="en-US" sz="1400" i="1" dirty="0">
                <a:latin typeface="Courier" pitchFamily="2" charset="0"/>
              </a:rPr>
              <a:t>example-</a:t>
            </a:r>
            <a:r>
              <a:rPr lang="en-US" sz="1400" i="1" dirty="0" err="1">
                <a:latin typeface="Courier" pitchFamily="2" charset="0"/>
              </a:rPr>
              <a:t>system.yang</a:t>
            </a:r>
            <a:endParaRPr lang="en-US" sz="1400" i="1" dirty="0">
              <a:latin typeface="Courier" pitchFamily="2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DBB192-CEF7-DC4F-BF0C-05D70845280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2519773" y="5663319"/>
            <a:ext cx="0" cy="38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4D97E0F-4510-D443-8F88-6A054C0EF359}"/>
              </a:ext>
            </a:extLst>
          </p:cNvPr>
          <p:cNvCxnSpPr>
            <a:cxnSpLocks/>
          </p:cNvCxnSpPr>
          <p:nvPr/>
        </p:nvCxnSpPr>
        <p:spPr>
          <a:xfrm>
            <a:off x="4329914" y="6130924"/>
            <a:ext cx="4841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5D8FC-22C6-4CEC-929C-E0B45762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55C9-5337-4785-AE69-3C0293CD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FF51-8923-4C3F-B5D4-B533AD41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19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24653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Leaf Node </a:t>
            </a:r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Leaf-List Node </a:t>
            </a:r>
            <a:r>
              <a:rPr lang="en-US" dirty="0"/>
              <a:t>example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467545" y="1990911"/>
            <a:ext cx="4104455" cy="136608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host-name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description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"Hostname for this system."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788024" y="1988841"/>
            <a:ext cx="4104455" cy="6480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0" dirty="0">
              <a:solidFill>
                <a:srgbClr val="9E4A4D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  &lt;host-name&gt;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my.example.com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&lt;/host-name&gt;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3595068" y="184482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925892" y="184482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05236-1F34-E44F-A347-E725AA9A2A9B}"/>
              </a:ext>
            </a:extLst>
          </p:cNvPr>
          <p:cNvSpPr txBox="1"/>
          <p:nvPr/>
        </p:nvSpPr>
        <p:spPr>
          <a:xfrm>
            <a:off x="4788024" y="2925838"/>
            <a:ext cx="410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Leaf node has: </a:t>
            </a:r>
          </a:p>
          <a:p>
            <a:pPr lvl="1"/>
            <a:r>
              <a:rPr lang="en-US" sz="1600" dirty="0"/>
              <a:t>- one value; no children; one instance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C25C25D-2884-1D48-94D9-EED5DAEBE1DB}"/>
              </a:ext>
            </a:extLst>
          </p:cNvPr>
          <p:cNvSpPr txBox="1">
            <a:spLocks/>
          </p:cNvSpPr>
          <p:nvPr/>
        </p:nvSpPr>
        <p:spPr bwMode="auto">
          <a:xfrm>
            <a:off x="464097" y="4225159"/>
            <a:ext cx="4104455" cy="136608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leaf-list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domain-search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description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"List of domain names to search."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E1010143-885F-114E-A827-709E25ACEE9A}"/>
              </a:ext>
            </a:extLst>
          </p:cNvPr>
          <p:cNvSpPr txBox="1">
            <a:spLocks/>
          </p:cNvSpPr>
          <p:nvPr/>
        </p:nvSpPr>
        <p:spPr bwMode="auto">
          <a:xfrm>
            <a:off x="4784576" y="4223089"/>
            <a:ext cx="4104455" cy="1078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0" dirty="0">
              <a:solidFill>
                <a:srgbClr val="9E4A4D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&lt;domain-search&gt;</a:t>
            </a:r>
            <a:r>
              <a:rPr lang="en-US" sz="1050" b="0" dirty="0" err="1">
                <a:solidFill>
                  <a:srgbClr val="74729F"/>
                </a:solidFill>
                <a:latin typeface="Courier" pitchFamily="2" charset="0"/>
              </a:rPr>
              <a:t>high.example.com</a:t>
            </a: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&lt;/domain-search&gt;</a:t>
            </a:r>
            <a:endParaRPr lang="en-US" sz="105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&lt;domain-search&gt;</a:t>
            </a:r>
            <a:r>
              <a:rPr lang="en-US" sz="1050" b="0" dirty="0" err="1">
                <a:solidFill>
                  <a:srgbClr val="74729F"/>
                </a:solidFill>
                <a:latin typeface="Courier" pitchFamily="2" charset="0"/>
              </a:rPr>
              <a:t>low.example.com</a:t>
            </a: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&lt;/domain-search&gt;</a:t>
            </a:r>
            <a:endParaRPr lang="en-US" sz="105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&lt;domain-search&gt;</a:t>
            </a:r>
            <a:r>
              <a:rPr lang="en-US" sz="1050" b="0" dirty="0" err="1">
                <a:solidFill>
                  <a:srgbClr val="74729F"/>
                </a:solidFill>
                <a:latin typeface="Courier" pitchFamily="2" charset="0"/>
              </a:rPr>
              <a:t>every.example.com</a:t>
            </a: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&lt;/domain-search&gt;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9A4B055-1000-5248-96AE-C8AD4A04603D}"/>
              </a:ext>
            </a:extLst>
          </p:cNvPr>
          <p:cNvSpPr/>
          <p:nvPr/>
        </p:nvSpPr>
        <p:spPr>
          <a:xfrm>
            <a:off x="3591620" y="4079072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F1D4E28-CDBB-FF41-936D-335D7BED73E5}"/>
              </a:ext>
            </a:extLst>
          </p:cNvPr>
          <p:cNvSpPr/>
          <p:nvPr/>
        </p:nvSpPr>
        <p:spPr>
          <a:xfrm>
            <a:off x="7922444" y="4079072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9C4072-D933-A343-AB14-B385324E5877}"/>
              </a:ext>
            </a:extLst>
          </p:cNvPr>
          <p:cNvSpPr txBox="1"/>
          <p:nvPr/>
        </p:nvSpPr>
        <p:spPr>
          <a:xfrm>
            <a:off x="4784575" y="5626514"/>
            <a:ext cx="410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Leaf-List node has: </a:t>
            </a:r>
          </a:p>
          <a:p>
            <a:pPr lvl="1"/>
            <a:r>
              <a:rPr lang="en-US" sz="1600" dirty="0"/>
              <a:t>- one value; no children; multiple instances;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4A30-E0A3-49EB-A2E2-39CF9FC3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83D0D-A1D3-4D5F-832D-1C20AF08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4189E-A1AC-4ABC-AF80-4F22FA3D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20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714036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Container Node </a:t>
            </a:r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467545" y="1990911"/>
            <a:ext cx="6264695" cy="18701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container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system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container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login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message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description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"Message given at start of login session."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67545" y="4149973"/>
            <a:ext cx="6244614" cy="12765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&lt;system&gt;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&lt;login&gt;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&lt;message&gt;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Good morning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&lt;/message&gt;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&lt;/login&gt;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&lt;/system&gt;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5735227" y="184482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5735227" y="4010096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05236-1F34-E44F-A347-E725AA9A2A9B}"/>
              </a:ext>
            </a:extLst>
          </p:cNvPr>
          <p:cNvSpPr txBox="1"/>
          <p:nvPr/>
        </p:nvSpPr>
        <p:spPr>
          <a:xfrm>
            <a:off x="467545" y="5566378"/>
            <a:ext cx="7050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Container node has: </a:t>
            </a:r>
          </a:p>
          <a:p>
            <a:pPr lvl="1"/>
            <a:r>
              <a:rPr lang="en-US" sz="1600" dirty="0"/>
              <a:t>- no  value; only child nodes; any number of child nodes of any type;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D41E1-4AF8-4B74-AAD3-FABB644D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2A617-4261-4408-A188-B7F4174F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DEE0-126C-42C2-A9BC-9BA06B40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96210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List Node </a:t>
            </a:r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467545" y="1990911"/>
            <a:ext cx="3744415" cy="280624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list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user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key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"name"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full-name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class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572000" y="1990910"/>
            <a:ext cx="4331520" cy="3454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&lt;user&gt;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&lt;name&gt;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glocks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&lt;full-name&gt;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Goldie Locks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&lt;/full-name&gt;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&lt;class&gt;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intruder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&lt;/class&gt;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&lt;/user&gt;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&lt;user&gt;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&lt;name&gt;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snowey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&lt;full-name&gt;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Snow White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&lt;/full-name&gt;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&lt;class&gt;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free-loader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&lt;/class&gt;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&lt;/user&gt;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&lt;user&gt;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&lt;name&gt;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rzell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&lt;full-name&gt;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Rapun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Zell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&lt;/full-name&gt;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&lt;class&gt;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tower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&lt;/class&gt;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&lt;/user&gt;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3235028" y="1826667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915548" y="1846895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05236-1F34-E44F-A347-E725AA9A2A9B}"/>
              </a:ext>
            </a:extLst>
          </p:cNvPr>
          <p:cNvSpPr txBox="1"/>
          <p:nvPr/>
        </p:nvSpPr>
        <p:spPr>
          <a:xfrm>
            <a:off x="467545" y="5566378"/>
            <a:ext cx="619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List node has: </a:t>
            </a:r>
          </a:p>
          <a:p>
            <a:pPr lvl="1"/>
            <a:r>
              <a:rPr lang="en-US" sz="1600" dirty="0"/>
              <a:t>- each entry is like a container identified by key; defines multiple key </a:t>
            </a:r>
            <a:r>
              <a:rPr lang="en-US" sz="1600" dirty="0" err="1"/>
              <a:t>leafs</a:t>
            </a:r>
            <a:r>
              <a:rPr lang="en-US" sz="1600" dirty="0"/>
              <a:t>; any number of child nodes of any type;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BD7FB-AB0B-47D4-90E2-A5DB4959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4615C-4BB5-4255-94BD-71B7CCA9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AB6EC-0EA2-4FB5-BBCF-FB29333B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48004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RPC </a:t>
            </a:r>
            <a:r>
              <a:rPr lang="en-US" dirty="0"/>
              <a:t>definition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21800" y="3645024"/>
            <a:ext cx="8094023" cy="28870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"101"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&lt;activate-software-image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http://example.com/system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&lt;image-name&gt;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example-fw-2.3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&lt;/image-name&gt;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&lt;/activate-software-image&gt;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-reply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"101"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              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&lt;status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http://example.com/system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The image example-fw-2.3 is being installed.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&lt;/status&gt;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-reply&gt;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709868" y="395267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05236-1F34-E44F-A347-E725AA9A2A9B}"/>
              </a:ext>
            </a:extLst>
          </p:cNvPr>
          <p:cNvSpPr txBox="1"/>
          <p:nvPr/>
        </p:nvSpPr>
        <p:spPr>
          <a:xfrm>
            <a:off x="609166" y="1921334"/>
            <a:ext cx="3026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Example 1:</a:t>
            </a:r>
          </a:p>
          <a:p>
            <a:r>
              <a:rPr lang="en-US" sz="1600" dirty="0"/>
              <a:t>An RPC operation with one input </a:t>
            </a:r>
            <a:br>
              <a:rPr lang="en-US" sz="1600" dirty="0"/>
            </a:br>
            <a:r>
              <a:rPr lang="en-US" sz="1600" dirty="0"/>
              <a:t>parameter and one output result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3943681" y="1136454"/>
            <a:ext cx="4791695" cy="2734233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 err="1">
                <a:solidFill>
                  <a:srgbClr val="9E7504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activate-software-image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input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image-name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output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status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7709868" y="3612155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9C96B2-DD6E-924F-A80D-72A97D130F7A}"/>
              </a:ext>
            </a:extLst>
          </p:cNvPr>
          <p:cNvCxnSpPr/>
          <p:nvPr/>
        </p:nvCxnSpPr>
        <p:spPr>
          <a:xfrm flipV="1">
            <a:off x="3275856" y="1772816"/>
            <a:ext cx="1192955" cy="56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6EBEC5-46DA-374C-ACD7-58F53CE43565}"/>
              </a:ext>
            </a:extLst>
          </p:cNvPr>
          <p:cNvCxnSpPr/>
          <p:nvPr/>
        </p:nvCxnSpPr>
        <p:spPr>
          <a:xfrm>
            <a:off x="3193311" y="2511317"/>
            <a:ext cx="1275500" cy="15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F1AF-779A-48BE-959E-69061769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22B8C-7CFB-4A97-B03D-8199658F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9BDA7-53D5-4522-81E8-4D7E93DE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23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971627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RPC </a:t>
            </a:r>
            <a:r>
              <a:rPr lang="en-US" dirty="0"/>
              <a:t>definition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421800" y="2780928"/>
            <a:ext cx="8094023" cy="3751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"102"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   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&lt;action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"urn:ietf:params:xml:ns:yang:1"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&lt;interface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http://example.com/system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&lt;name&gt;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eth1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&lt;ping&gt;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&lt;destination&gt;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192.0.2.1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&lt;/destination&gt;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&lt;/ping&gt;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&lt;/interface&gt;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&lt;/action&gt;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-reply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"102"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   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   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sys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http://example.com/system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CC734D"/>
                </a:solidFill>
                <a:latin typeface="Courier" pitchFamily="2" charset="0"/>
              </a:rPr>
              <a:t>sys</a:t>
            </a:r>
            <a:r>
              <a:rPr lang="en-US" sz="1200" b="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packet-loss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60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CC734D"/>
                </a:solidFill>
                <a:latin typeface="Courier" pitchFamily="2" charset="0"/>
              </a:rPr>
              <a:t>sys</a:t>
            </a:r>
            <a:r>
              <a:rPr lang="en-US" sz="1200" b="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packet-loss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-reply&gt;</a:t>
            </a:r>
            <a:endParaRPr lang="en-US" sz="1050" dirty="0">
              <a:latin typeface="Courier" pitchFamily="2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551952" y="627583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05236-1F34-E44F-A347-E725AA9A2A9B}"/>
              </a:ext>
            </a:extLst>
          </p:cNvPr>
          <p:cNvSpPr txBox="1"/>
          <p:nvPr/>
        </p:nvSpPr>
        <p:spPr>
          <a:xfrm>
            <a:off x="609166" y="1921334"/>
            <a:ext cx="302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Example 2:</a:t>
            </a:r>
          </a:p>
          <a:p>
            <a:r>
              <a:rPr lang="en-US" sz="1600" dirty="0"/>
              <a:t>An RPC operation tied to a list!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5402567" y="1134188"/>
            <a:ext cx="3515304" cy="4668810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list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interface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key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"name"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string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}</a:t>
            </a:r>
          </a:p>
          <a:p>
            <a:pPr marL="0" indent="0">
              <a:buNone/>
            </a:pP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action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ping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input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destination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inet</a:t>
            </a:r>
            <a:r>
              <a:rPr lang="en-US" sz="1200" b="0" dirty="0" err="1">
                <a:solidFill>
                  <a:srgbClr val="74729F"/>
                </a:solidFill>
                <a:latin typeface="Courier" pitchFamily="2" charset="0"/>
              </a:rPr>
              <a:t>: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ip-address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output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packet-loss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39F"/>
                </a:solidFill>
                <a:latin typeface="Courier" pitchFamily="2" charset="0"/>
              </a:rPr>
              <a:t>uint8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7940939" y="5511139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60635-004E-4A3E-B67D-E1927D37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F138D-9B71-40F3-ABD2-790CA27C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46E96-2A59-45A1-B130-79439EA1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24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941062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4D-2655-F04A-9678-89318AC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version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264-732E-4446-B73F-1CC25C70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Notification </a:t>
            </a:r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90F094D-C03C-6244-BAD3-50BE9AAA46EB}"/>
              </a:ext>
            </a:extLst>
          </p:cNvPr>
          <p:cNvSpPr txBox="1">
            <a:spLocks/>
          </p:cNvSpPr>
          <p:nvPr/>
        </p:nvSpPr>
        <p:spPr bwMode="auto">
          <a:xfrm>
            <a:off x="467545" y="1990911"/>
            <a:ext cx="6264695" cy="338230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notification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link-failure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description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"A link failure has been detected."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if-name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leafref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path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"/interface/name"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if-admin-status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admin-status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leaf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if-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oper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-status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7504"/>
                </a:solidFill>
                <a:latin typeface="Courier" pitchFamily="2" charset="0"/>
              </a:rPr>
              <a:t>type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oper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-status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}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CE7C7DF-86DB-294B-9A50-1881C6FB0E06}"/>
              </a:ext>
            </a:extLst>
          </p:cNvPr>
          <p:cNvSpPr txBox="1">
            <a:spLocks/>
          </p:cNvSpPr>
          <p:nvPr/>
        </p:nvSpPr>
        <p:spPr bwMode="auto">
          <a:xfrm>
            <a:off x="3707904" y="3851802"/>
            <a:ext cx="5195616" cy="25647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&lt;notification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05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05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050" b="0" dirty="0">
                <a:solidFill>
                  <a:srgbClr val="4E7702"/>
                </a:solidFill>
                <a:latin typeface="Courier" pitchFamily="2" charset="0"/>
              </a:rPr>
              <a:t>"urn:ietf:params:netconf:capability:notification:1.0"</a:t>
            </a:r>
            <a:r>
              <a:rPr lang="en-US" sz="105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05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eventTime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2007-09-01T10:00:00Z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eventTime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&lt;link-failure </a:t>
            </a:r>
            <a:r>
              <a:rPr lang="en-US" sz="1200" b="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dirty="0" err="1">
                <a:solidFill>
                  <a:srgbClr val="4E7702"/>
                </a:solidFill>
                <a:latin typeface="Courier" pitchFamily="2" charset="0"/>
              </a:rPr>
              <a:t>urn:example:system</a:t>
            </a:r>
            <a:r>
              <a:rPr lang="en-US" sz="1200" b="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&lt;if-name&gt;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so-1/2/3.0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&lt;/if-name&gt;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&lt;if-admin-status&gt;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up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&lt;/if-admin-status&gt;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&lt;if-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oper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-status&gt;</a:t>
            </a: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down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&lt;/if-</a:t>
            </a:r>
            <a:r>
              <a:rPr lang="en-US" sz="1200" b="0" dirty="0" err="1">
                <a:solidFill>
                  <a:srgbClr val="9E4A4D"/>
                </a:solidFill>
                <a:latin typeface="Courier" pitchFamily="2" charset="0"/>
              </a:rPr>
              <a:t>oper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-status&gt;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&lt;/link-failure&gt;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9E4A4D"/>
                </a:solidFill>
                <a:latin typeface="Courier" pitchFamily="2" charset="0"/>
              </a:rPr>
              <a:t>&lt;/notification&gt;</a:t>
            </a:r>
            <a:endParaRPr lang="en-US" sz="1200" b="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0BECBDB-1135-A449-91F7-5CA50A61CF16}"/>
              </a:ext>
            </a:extLst>
          </p:cNvPr>
          <p:cNvSpPr/>
          <p:nvPr/>
        </p:nvSpPr>
        <p:spPr>
          <a:xfrm>
            <a:off x="5735227" y="1844824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YANG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B17298-7EA7-F94F-8C44-EF77DA96E10C}"/>
              </a:ext>
            </a:extLst>
          </p:cNvPr>
          <p:cNvSpPr/>
          <p:nvPr/>
        </p:nvSpPr>
        <p:spPr>
          <a:xfrm>
            <a:off x="7926588" y="3659872"/>
            <a:ext cx="97693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EF7B-361F-4B33-A8A1-B319EBE51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AD278-BC8B-4186-954C-0379283C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02999-F5E6-4F1A-A67E-C91348BE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412843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144E-E0F0-F342-A067-A1DD658E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NETCONF: Example workflow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8A9B18-83E6-8249-BE64-63A43A68A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4113237"/>
            <a:ext cx="8435975" cy="2340099"/>
          </a:xfrm>
        </p:spPr>
        <p:txBody>
          <a:bodyPr/>
          <a:lstStyle/>
          <a:p>
            <a:pPr lvl="1"/>
            <a:r>
              <a:rPr lang="en-US" sz="2000" b="1" u="sng" dirty="0"/>
              <a:t>Client</a:t>
            </a:r>
            <a:r>
              <a:rPr lang="en-US" sz="2000" dirty="0"/>
              <a:t>: open an SSH connection to port 830 (NETCONF PORT) or </a:t>
            </a:r>
            <a:r>
              <a:rPr lang="en-US" sz="2000" i="1" dirty="0"/>
              <a:t>to any other port and request NETCONF subsystem</a:t>
            </a:r>
          </a:p>
          <a:p>
            <a:pPr lvl="1"/>
            <a:r>
              <a:rPr lang="en-US" sz="2000" b="1" u="sng" dirty="0"/>
              <a:t>Client</a:t>
            </a:r>
            <a:r>
              <a:rPr lang="en-US" sz="2000" dirty="0"/>
              <a:t>: say “Hello” and provide supported capabilities</a:t>
            </a:r>
          </a:p>
          <a:p>
            <a:pPr lvl="1"/>
            <a:r>
              <a:rPr lang="en-US" sz="2000" b="1" u="sng" dirty="0"/>
              <a:t>Server</a:t>
            </a:r>
            <a:r>
              <a:rPr lang="en-US" sz="2000" dirty="0"/>
              <a:t>: answers with its own supported capabilities</a:t>
            </a:r>
          </a:p>
          <a:p>
            <a:pPr lvl="1"/>
            <a:r>
              <a:rPr lang="en-US" sz="2000" b="1" u="sng" dirty="0"/>
              <a:t>Client</a:t>
            </a:r>
            <a:r>
              <a:rPr lang="en-US" sz="2000" dirty="0"/>
              <a:t>: call remote procedures…</a:t>
            </a:r>
          </a:p>
          <a:p>
            <a:pPr lvl="1"/>
            <a:r>
              <a:rPr lang="en-US" sz="2000" b="1" u="sng" dirty="0"/>
              <a:t>Client/Server</a:t>
            </a:r>
            <a:r>
              <a:rPr lang="en-US" sz="2000" dirty="0"/>
              <a:t>: close the session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BDD9A-9F0A-2545-A487-CE7001E3E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78" y="1268760"/>
            <a:ext cx="5413460" cy="25202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D8CCD8-95F3-F743-94D5-F6BA152E1D81}"/>
              </a:ext>
            </a:extLst>
          </p:cNvPr>
          <p:cNvSpPr/>
          <p:nvPr/>
        </p:nvSpPr>
        <p:spPr>
          <a:xfrm>
            <a:off x="4231258" y="645333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Image from https://</a:t>
            </a:r>
            <a:r>
              <a:rPr lang="en-US" sz="900" dirty="0" err="1"/>
              <a:t>www.ietf.org</a:t>
            </a:r>
            <a:r>
              <a:rPr lang="en-US" sz="900" dirty="0"/>
              <a:t>/slides/slides-edu-network-configuration-with-netconf-00.pdf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9B06F-B5AE-4C33-926E-9EF76639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8FA42-58BD-4434-BF74-81B60A8C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4158F9-4F8B-4AF8-9686-1826A546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611992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18AA-B0FF-C54C-BF47-BFBEF8B2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4545-5FB9-E04A-893A-BB38DB53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STEP 1</a:t>
            </a:r>
            <a:r>
              <a:rPr lang="en-US" u="sng" dirty="0"/>
              <a:t>:</a:t>
            </a:r>
            <a:r>
              <a:rPr lang="en-US" dirty="0"/>
              <a:t> &lt;hello&gt;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249D64-CD90-CB40-9C14-BB1B6F08B203}"/>
              </a:ext>
            </a:extLst>
          </p:cNvPr>
          <p:cNvSpPr/>
          <p:nvPr/>
        </p:nvSpPr>
        <p:spPr>
          <a:xfrm>
            <a:off x="250825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43E67F-311F-A049-97F2-ECDDE82DD03F}"/>
              </a:ext>
            </a:extLst>
          </p:cNvPr>
          <p:cNvSpPr/>
          <p:nvPr/>
        </p:nvSpPr>
        <p:spPr>
          <a:xfrm>
            <a:off x="8389119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ED6465C4-4A5E-D94E-A07B-DE33392647BE}"/>
              </a:ext>
            </a:extLst>
          </p:cNvPr>
          <p:cNvSpPr/>
          <p:nvPr/>
        </p:nvSpPr>
        <p:spPr>
          <a:xfrm>
            <a:off x="754880" y="3689163"/>
            <a:ext cx="7634239" cy="2420888"/>
          </a:xfrm>
          <a:prstGeom prst="leftArrow">
            <a:avLst>
              <a:gd name="adj1" fmla="val 84534"/>
              <a:gd name="adj2" fmla="val 2464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&lt;?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xml version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"1.0"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 encoding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"UTF-8"</a:t>
            </a:r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?&gt;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&lt;hello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"urn:ietf:params:xml:ns:netconf:base:1.1"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&lt;capabilities&gt;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&lt;capability&gt;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urn:ietf:params:netconf:base:1.1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&lt;/capability&gt;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&lt;capability&gt; 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urn:ietf:params:netconf:capability:writable-running:1.0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&lt;/capability&gt;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&lt;capability&gt;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urn:ietf:params:netconf:capability:candidate:1.0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&lt;/capability&gt;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&lt;/capabilities&gt;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&lt;session-id&gt;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5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&lt;/session-id&gt;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&lt;/hello&gt;</a:t>
            </a:r>
            <a:endParaRPr lang="en-US" sz="1200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16403D1-B9A0-AF4A-8B22-C7DF6B6348C0}"/>
              </a:ext>
            </a:extLst>
          </p:cNvPr>
          <p:cNvSpPr/>
          <p:nvPr/>
        </p:nvSpPr>
        <p:spPr>
          <a:xfrm>
            <a:off x="940420" y="1652065"/>
            <a:ext cx="7448699" cy="2016224"/>
          </a:xfrm>
          <a:prstGeom prst="rightArrow">
            <a:avLst>
              <a:gd name="adj1" fmla="val 77211"/>
              <a:gd name="adj2" fmla="val 208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&lt;?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xml version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"1.0"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 encoding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"UTF-8"</a:t>
            </a:r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?&gt;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&lt;hello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"urn:ietf:params:xml:ns:netconf:base:1.1"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&lt;capabilities&gt;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&lt;capability&gt;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urn:ietf:params:netconf:base:1.1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&lt;/capability&gt;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&lt;/capabilities&gt;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&lt;/hello&gt;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B49C50-3B38-1A4F-9B64-BC5EBBA65477}"/>
              </a:ext>
            </a:extLst>
          </p:cNvPr>
          <p:cNvSpPr/>
          <p:nvPr/>
        </p:nvSpPr>
        <p:spPr>
          <a:xfrm>
            <a:off x="8403941" y="464757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308DFD-08A9-134C-B58F-75D5FCF63F71}"/>
              </a:ext>
            </a:extLst>
          </p:cNvPr>
          <p:cNvSpPr/>
          <p:nvPr/>
        </p:nvSpPr>
        <p:spPr>
          <a:xfrm>
            <a:off x="250824" y="462470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81C07-788E-4183-A785-CAD2BF81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176329-5CD6-4971-BFDA-4771CE28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7EEC31-AE2B-4F48-AA7C-48B885E0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27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671478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18AA-B0FF-C54C-BF47-BFBEF8B2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4545-5FB9-E04A-893A-BB38DB53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STEP 2</a:t>
            </a:r>
            <a:r>
              <a:rPr lang="en-US" u="sng" dirty="0"/>
              <a:t>:</a:t>
            </a:r>
            <a:r>
              <a:rPr lang="en-US" dirty="0"/>
              <a:t> &lt;get&gt;  </a:t>
            </a:r>
            <a:r>
              <a:rPr lang="en-US" b="0" dirty="0"/>
              <a:t>all model data from device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249D64-CD90-CB40-9C14-BB1B6F08B203}"/>
              </a:ext>
            </a:extLst>
          </p:cNvPr>
          <p:cNvSpPr/>
          <p:nvPr/>
        </p:nvSpPr>
        <p:spPr>
          <a:xfrm>
            <a:off x="250825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43E67F-311F-A049-97F2-ECDDE82DD03F}"/>
              </a:ext>
            </a:extLst>
          </p:cNvPr>
          <p:cNvSpPr/>
          <p:nvPr/>
        </p:nvSpPr>
        <p:spPr>
          <a:xfrm>
            <a:off x="8389119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ED6465C4-4A5E-D94E-A07B-DE33392647BE}"/>
              </a:ext>
            </a:extLst>
          </p:cNvPr>
          <p:cNvSpPr/>
          <p:nvPr/>
        </p:nvSpPr>
        <p:spPr>
          <a:xfrm>
            <a:off x="754880" y="3689163"/>
            <a:ext cx="7634239" cy="2420888"/>
          </a:xfrm>
          <a:prstGeom prst="leftArrow">
            <a:avLst>
              <a:gd name="adj1" fmla="val 84534"/>
              <a:gd name="adj2" fmla="val 2464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"102”</a:t>
            </a:r>
            <a:br>
              <a:rPr lang="en-US" sz="1200" dirty="0">
                <a:solidFill>
                  <a:srgbClr val="4E7702"/>
                </a:solidFill>
                <a:latin typeface="Courier" pitchFamily="2" charset="0"/>
              </a:rPr>
            </a:b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  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&lt;data&gt;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&lt;!-- ... entire set of data returned ... --&gt;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&lt;/data&gt;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16403D1-B9A0-AF4A-8B22-C7DF6B6348C0}"/>
              </a:ext>
            </a:extLst>
          </p:cNvPr>
          <p:cNvSpPr/>
          <p:nvPr/>
        </p:nvSpPr>
        <p:spPr>
          <a:xfrm>
            <a:off x="940420" y="1652065"/>
            <a:ext cx="7448699" cy="2016224"/>
          </a:xfrm>
          <a:prstGeom prst="rightArrow">
            <a:avLst>
              <a:gd name="adj1" fmla="val 77211"/>
              <a:gd name="adj2" fmla="val 208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"102”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&lt;get/&gt;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B49C50-3B38-1A4F-9B64-BC5EBBA65477}"/>
              </a:ext>
            </a:extLst>
          </p:cNvPr>
          <p:cNvSpPr/>
          <p:nvPr/>
        </p:nvSpPr>
        <p:spPr>
          <a:xfrm>
            <a:off x="8403941" y="464757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308DFD-08A9-134C-B58F-75D5FCF63F71}"/>
              </a:ext>
            </a:extLst>
          </p:cNvPr>
          <p:cNvSpPr/>
          <p:nvPr/>
        </p:nvSpPr>
        <p:spPr>
          <a:xfrm>
            <a:off x="250824" y="462470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5B727-641D-4DAF-B8B6-0EAADEFF6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84FF4D-D425-4230-8B0C-89766E26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2E2B5FC-FC4E-49BB-8105-669E8DF0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28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07147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18AA-B0FF-C54C-BF47-BFBEF8B2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4545-5FB9-E04A-893A-BB38DB534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52736"/>
            <a:ext cx="8435975" cy="5078189"/>
          </a:xfrm>
        </p:spPr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STEP 3</a:t>
            </a:r>
            <a:r>
              <a:rPr lang="en-US" u="sng" dirty="0"/>
              <a:t>:</a:t>
            </a:r>
            <a:r>
              <a:rPr lang="en-US" dirty="0"/>
              <a:t> &lt;get&gt;  </a:t>
            </a:r>
            <a:r>
              <a:rPr lang="en-US" b="0" dirty="0"/>
              <a:t>filter model data from device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249D64-CD90-CB40-9C14-BB1B6F08B203}"/>
              </a:ext>
            </a:extLst>
          </p:cNvPr>
          <p:cNvSpPr/>
          <p:nvPr/>
        </p:nvSpPr>
        <p:spPr>
          <a:xfrm>
            <a:off x="250825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43E67F-311F-A049-97F2-ECDDE82DD03F}"/>
              </a:ext>
            </a:extLst>
          </p:cNvPr>
          <p:cNvSpPr/>
          <p:nvPr/>
        </p:nvSpPr>
        <p:spPr>
          <a:xfrm>
            <a:off x="8389119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ED6465C4-4A5E-D94E-A07B-DE33392647BE}"/>
              </a:ext>
            </a:extLst>
          </p:cNvPr>
          <p:cNvSpPr/>
          <p:nvPr/>
        </p:nvSpPr>
        <p:spPr>
          <a:xfrm>
            <a:off x="719223" y="3717032"/>
            <a:ext cx="7634239" cy="2952327"/>
          </a:xfrm>
          <a:prstGeom prst="leftArrow">
            <a:avLst>
              <a:gd name="adj1" fmla="val 84534"/>
              <a:gd name="adj2" fmla="val 2464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"103"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&lt;data&gt;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top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t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http://example.com/schema/1.2/stats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ifName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"eth0"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ifInOctets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45621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ifInOctets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ifOutOctets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774344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ifOutOctets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top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&lt;/data&gt;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16403D1-B9A0-AF4A-8B22-C7DF6B6348C0}"/>
              </a:ext>
            </a:extLst>
          </p:cNvPr>
          <p:cNvSpPr/>
          <p:nvPr/>
        </p:nvSpPr>
        <p:spPr>
          <a:xfrm>
            <a:off x="940420" y="1388404"/>
            <a:ext cx="7448699" cy="2641031"/>
          </a:xfrm>
          <a:prstGeom prst="rightArrow">
            <a:avLst>
              <a:gd name="adj1" fmla="val 77211"/>
              <a:gd name="adj2" fmla="val 208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"103”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&lt;get&gt; 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&lt;filter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type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"subtree"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top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t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http://example.com/schema/1.2/stats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ifName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"eth0"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/&gt;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interfaces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CC734D"/>
                </a:solidFill>
                <a:latin typeface="Courier" pitchFamily="2" charset="0"/>
              </a:rPr>
              <a:t>t</a:t>
            </a:r>
            <a:r>
              <a:rPr lang="en-US" sz="1200" dirty="0" err="1">
                <a:solidFill>
                  <a:srgbClr val="595959"/>
                </a:solidFill>
                <a:latin typeface="Courier" pitchFamily="2" charset="0"/>
              </a:rPr>
              <a:t>: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top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&lt;/filter&gt;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&lt;/get&gt;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B49C50-3B38-1A4F-9B64-BC5EBBA65477}"/>
              </a:ext>
            </a:extLst>
          </p:cNvPr>
          <p:cNvSpPr/>
          <p:nvPr/>
        </p:nvSpPr>
        <p:spPr>
          <a:xfrm>
            <a:off x="8389119" y="491613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308DFD-08A9-134C-B58F-75D5FCF63F71}"/>
              </a:ext>
            </a:extLst>
          </p:cNvPr>
          <p:cNvSpPr/>
          <p:nvPr/>
        </p:nvSpPr>
        <p:spPr>
          <a:xfrm>
            <a:off x="250825" y="493822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7620-F41D-48B4-AA39-E8B5277F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481755F-26F2-4E77-A24C-FD17C067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823595-EF30-422F-B775-9313C5D5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29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969599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18AA-B0FF-C54C-BF47-BFBEF8B2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4545-5FB9-E04A-893A-BB38DB534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52736"/>
            <a:ext cx="8435975" cy="5078189"/>
          </a:xfrm>
        </p:spPr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STEP 4</a:t>
            </a:r>
            <a:r>
              <a:rPr lang="en-US" u="sng" dirty="0"/>
              <a:t>:</a:t>
            </a:r>
            <a:r>
              <a:rPr lang="en-US" dirty="0"/>
              <a:t> &lt;close-session&gt;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249D64-CD90-CB40-9C14-BB1B6F08B203}"/>
              </a:ext>
            </a:extLst>
          </p:cNvPr>
          <p:cNvSpPr/>
          <p:nvPr/>
        </p:nvSpPr>
        <p:spPr>
          <a:xfrm>
            <a:off x="250825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43E67F-311F-A049-97F2-ECDDE82DD03F}"/>
              </a:ext>
            </a:extLst>
          </p:cNvPr>
          <p:cNvSpPr/>
          <p:nvPr/>
        </p:nvSpPr>
        <p:spPr>
          <a:xfrm>
            <a:off x="8389119" y="24568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ED6465C4-4A5E-D94E-A07B-DE33392647BE}"/>
              </a:ext>
            </a:extLst>
          </p:cNvPr>
          <p:cNvSpPr/>
          <p:nvPr/>
        </p:nvSpPr>
        <p:spPr>
          <a:xfrm>
            <a:off x="719223" y="3717032"/>
            <a:ext cx="7634239" cy="2952327"/>
          </a:xfrm>
          <a:prstGeom prst="leftArrow">
            <a:avLst>
              <a:gd name="adj1" fmla="val 57986"/>
              <a:gd name="adj2" fmla="val 2464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"104"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&lt;ok/&gt;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-reply&gt;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16403D1-B9A0-AF4A-8B22-C7DF6B6348C0}"/>
              </a:ext>
            </a:extLst>
          </p:cNvPr>
          <p:cNvSpPr/>
          <p:nvPr/>
        </p:nvSpPr>
        <p:spPr>
          <a:xfrm>
            <a:off x="940420" y="1388404"/>
            <a:ext cx="7448699" cy="2641031"/>
          </a:xfrm>
          <a:prstGeom prst="rightArrow">
            <a:avLst>
              <a:gd name="adj1" fmla="val 61383"/>
              <a:gd name="adj2" fmla="val 2084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"104"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&lt;close-session/&gt;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B49C50-3B38-1A4F-9B64-BC5EBBA65477}"/>
              </a:ext>
            </a:extLst>
          </p:cNvPr>
          <p:cNvSpPr/>
          <p:nvPr/>
        </p:nvSpPr>
        <p:spPr>
          <a:xfrm>
            <a:off x="8389119" y="491613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308DFD-08A9-134C-B58F-75D5FCF63F71}"/>
              </a:ext>
            </a:extLst>
          </p:cNvPr>
          <p:cNvSpPr/>
          <p:nvPr/>
        </p:nvSpPr>
        <p:spPr>
          <a:xfrm>
            <a:off x="250825" y="493822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122B-1F42-445A-B40B-0C3C07B2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DED74C-6C5F-4301-BCDB-72FE264E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53C783-184A-4E70-A5F1-77DDC0BC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30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308943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Example1: configuration update against a single device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Acquiring the configuration lock.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Checkpointing the running configuration.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Loading and validating the incoming configuration.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Changing the running configuration.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Testing the new configuration.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Making the change permanent (if desired). 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dirty="0"/>
              <a:t>Releasing the configuration lock.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B8B73-1A71-4AE4-B5BF-C3F2F02A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7364-2874-47EC-AD4C-AC5E2E58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E4B65-A93D-4201-BFD8-776A63A1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96641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Step 1: A lock should be acquired to prevent simultaneous updates from multiple sources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4487" lvl="1" indent="0">
              <a:buNone/>
            </a:pPr>
            <a:r>
              <a:rPr lang="en-US" sz="2000" dirty="0"/>
              <a:t>If </a:t>
            </a:r>
            <a:r>
              <a:rPr lang="en-US" sz="2000" b="1" dirty="0"/>
              <a:t>:candidate </a:t>
            </a:r>
            <a:r>
              <a:rPr lang="en-US" sz="2000" dirty="0"/>
              <a:t>capability is available, the candidate configuration should be locked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FE77-E18A-D349-8ED9-5D79B5A89D41}"/>
              </a:ext>
            </a:extLst>
          </p:cNvPr>
          <p:cNvSpPr txBox="1"/>
          <p:nvPr/>
        </p:nvSpPr>
        <p:spPr>
          <a:xfrm>
            <a:off x="683064" y="1988393"/>
            <a:ext cx="7705360" cy="16566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&lt;running/&gt;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&lt;/lock&gt;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28E97-E809-CD45-BE3F-47049B713154}"/>
              </a:ext>
            </a:extLst>
          </p:cNvPr>
          <p:cNvSpPr txBox="1"/>
          <p:nvPr/>
        </p:nvSpPr>
        <p:spPr>
          <a:xfrm>
            <a:off x="683064" y="4388651"/>
            <a:ext cx="7705360" cy="17281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&lt;candidate/&gt;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35B78F-55F6-49FD-AF72-CA93A761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5AA02A-41FE-42C7-BCEF-7449915C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D0DEE8-02F3-4456-8693-CB5119F3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059317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Step 2: The running configuration can be saved into a local file as a checkpoint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4487" lvl="1" indent="0">
              <a:buNone/>
            </a:pPr>
            <a:r>
              <a:rPr lang="en-US" sz="2000" dirty="0"/>
              <a:t>To restore the checkpoint file, reverse the </a:t>
            </a:r>
            <a:r>
              <a:rPr lang="en-US" sz="2000" dirty="0">
                <a:solidFill>
                  <a:schemeClr val="accent2"/>
                </a:solidFill>
              </a:rPr>
              <a:t>&lt;source&gt; </a:t>
            </a:r>
            <a:r>
              <a:rPr lang="en-US" sz="2000" dirty="0"/>
              <a:t>and </a:t>
            </a:r>
            <a:r>
              <a:rPr lang="en-US" sz="2000" dirty="0">
                <a:solidFill>
                  <a:schemeClr val="accent2"/>
                </a:solidFill>
              </a:rPr>
              <a:t>&lt;target&gt; </a:t>
            </a:r>
            <a:r>
              <a:rPr lang="en-US" sz="2000" dirty="0"/>
              <a:t>parameters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FE77-E18A-D349-8ED9-5D79B5A89D41}"/>
              </a:ext>
            </a:extLst>
          </p:cNvPr>
          <p:cNvSpPr txBox="1"/>
          <p:nvPr/>
        </p:nvSpPr>
        <p:spPr>
          <a:xfrm>
            <a:off x="683064" y="1988393"/>
            <a:ext cx="7705360" cy="21113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&lt;copy-config&gt;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url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file://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checkpoint.conf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url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&lt;running/&gt;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&lt;/copy-config&gt;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3982B-7801-4B37-83B0-1A705782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3DAC0-FE8E-4791-93D4-9642B204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C0F15-EE9C-498F-BBB0-BA7B9C19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33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433532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Step 3  If the :candidate capability is supported, the configuration can be loaded onto the device without impacting the running system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1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344487" lvl="1" indent="0">
              <a:buNone/>
            </a:pPr>
            <a:r>
              <a:rPr lang="en-US" sz="2000" dirty="0"/>
              <a:t>If the device supports the :validate:1.1 capability, validate it: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FE77-E18A-D349-8ED9-5D79B5A89D41}"/>
              </a:ext>
            </a:extLst>
          </p:cNvPr>
          <p:cNvSpPr txBox="1"/>
          <p:nvPr/>
        </p:nvSpPr>
        <p:spPr>
          <a:xfrm>
            <a:off x="683568" y="1988840"/>
            <a:ext cx="7705360" cy="21113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&lt;edit-config&gt;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&lt;candidate/&gt;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&lt;!-- place incoming configuration changes here --&gt;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&lt;/edit-config&gt;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538FA-01B4-CD41-A10B-08401FD6B2FE}"/>
              </a:ext>
            </a:extLst>
          </p:cNvPr>
          <p:cNvSpPr txBox="1"/>
          <p:nvPr/>
        </p:nvSpPr>
        <p:spPr>
          <a:xfrm>
            <a:off x="683568" y="4702964"/>
            <a:ext cx="7705360" cy="16218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&lt;validate&gt;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&lt;candidate/&gt;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&lt;/validate&gt;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9321D6-E509-4AC7-A07F-6B26A620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F88F4A-B6D7-4FE0-9EA3-88DE3181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1040BD-3DEA-4F1B-B678-B83109CE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34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73873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Step 4: Changing the Running Configuration</a:t>
            </a:r>
          </a:p>
          <a:p>
            <a:pPr marL="344487" lvl="1" indent="0">
              <a:buNone/>
            </a:pPr>
            <a:r>
              <a:rPr lang="en-US" sz="2000" dirty="0"/>
              <a:t>If the device supports the :candidate, commit the changes to running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100" dirty="0"/>
          </a:p>
          <a:p>
            <a:pPr marL="344487" lvl="1" indent="0">
              <a:buNone/>
            </a:pPr>
            <a:r>
              <a:rPr lang="en-US" sz="2000" dirty="0"/>
              <a:t>If not, the configuration change is loaded directly into running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FE77-E18A-D349-8ED9-5D79B5A89D41}"/>
              </a:ext>
            </a:extLst>
          </p:cNvPr>
          <p:cNvSpPr txBox="1"/>
          <p:nvPr/>
        </p:nvSpPr>
        <p:spPr>
          <a:xfrm>
            <a:off x="683568" y="1988841"/>
            <a:ext cx="7705360" cy="15121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&lt;commit&gt;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&lt;confirmed/&gt;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&lt;confirm-timeout&gt;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120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&lt;/confirm-timeout&gt;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&lt;/commit&gt;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538FA-01B4-CD41-A10B-08401FD6B2FE}"/>
              </a:ext>
            </a:extLst>
          </p:cNvPr>
          <p:cNvSpPr txBox="1"/>
          <p:nvPr/>
        </p:nvSpPr>
        <p:spPr>
          <a:xfrm>
            <a:off x="682594" y="4256362"/>
            <a:ext cx="7705360" cy="21634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&lt;edit-config&gt;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&lt;running/&gt;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595959"/>
                </a:solidFill>
                <a:latin typeface="Courier" pitchFamily="2" charset="0"/>
              </a:rPr>
              <a:t>&lt;!-- place incoming configuration changes here --&gt;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&lt;/edit-config&gt;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DF6FACC-83C0-4519-BC57-F21592AF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F745D7-2667-42C8-8B28-1B4242F6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8F1F05-DDAD-4DE4-92BA-DAD20CF2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81479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233488"/>
            <a:ext cx="8641655" cy="4897437"/>
          </a:xfrm>
        </p:spPr>
        <p:txBody>
          <a:bodyPr/>
          <a:lstStyle/>
          <a:p>
            <a:r>
              <a:rPr lang="en-US" sz="2000" dirty="0"/>
              <a:t>Step 5: Testing the New Configuration</a:t>
            </a:r>
          </a:p>
          <a:p>
            <a:pPr marL="344487" lvl="1" indent="0">
              <a:buNone/>
            </a:pPr>
            <a:r>
              <a:rPr lang="en-US" sz="2000" dirty="0"/>
              <a:t>To gain confidence, the application can run tests of the operational state of the device.</a:t>
            </a:r>
          </a:p>
          <a:p>
            <a:r>
              <a:rPr lang="en-US" sz="2000" dirty="0"/>
              <a:t>Step 6: Making the Change Permanent</a:t>
            </a:r>
          </a:p>
          <a:p>
            <a:pPr marL="344487" lvl="1" indent="0">
              <a:buNone/>
            </a:pPr>
            <a:r>
              <a:rPr lang="en-US" sz="2000" dirty="0"/>
              <a:t>If the device supports the :startup capability, make changes permanent</a:t>
            </a:r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100" dirty="0"/>
          </a:p>
          <a:p>
            <a:pPr marL="344487" lvl="1" indent="0">
              <a:buNone/>
            </a:pPr>
            <a:r>
              <a:rPr lang="en-US" sz="2000" dirty="0"/>
              <a:t>If device supports :candidate, and a confirmed commit was request, the confirming commit must be send before timeout or it will be reverted! (Why?)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538FA-01B4-CD41-A10B-08401FD6B2FE}"/>
              </a:ext>
            </a:extLst>
          </p:cNvPr>
          <p:cNvSpPr txBox="1"/>
          <p:nvPr/>
        </p:nvSpPr>
        <p:spPr>
          <a:xfrm>
            <a:off x="616132" y="2780928"/>
            <a:ext cx="7705360" cy="21634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&lt;copy-config&gt;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&lt;startup/&gt;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&lt;running/&gt;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&lt;/source&gt;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&lt;/copy-config&gt;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679C0-4F57-ED4C-8F9F-4317AC217699}"/>
              </a:ext>
            </a:extLst>
          </p:cNvPr>
          <p:cNvSpPr txBox="1"/>
          <p:nvPr/>
        </p:nvSpPr>
        <p:spPr>
          <a:xfrm>
            <a:off x="616132" y="5678438"/>
            <a:ext cx="7705360" cy="9049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&lt;commit/&gt;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5C20-BB60-4A9D-A14B-C3A4A11D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DE00FA-B965-4034-A143-8B80D67F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9E9942-5A6F-4469-8EE2-AC801F8C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06139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Step 7: Releasing the Configuration Lock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100" dirty="0"/>
          </a:p>
          <a:p>
            <a:pPr marL="344487" lvl="1" indent="0">
              <a:buNone/>
            </a:pPr>
            <a:r>
              <a:rPr lang="en-US" sz="2000" dirty="0"/>
              <a:t>If the :candidate capability is supported, the unlock operation is performed on the candidate…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FE77-E18A-D349-8ED9-5D79B5A89D41}"/>
              </a:ext>
            </a:extLst>
          </p:cNvPr>
          <p:cNvSpPr txBox="1"/>
          <p:nvPr/>
        </p:nvSpPr>
        <p:spPr>
          <a:xfrm>
            <a:off x="683568" y="1988840"/>
            <a:ext cx="7705360" cy="15841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&lt;unlock&gt;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&lt;running/&gt;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&lt;/unlock&gt;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538FA-01B4-CD41-A10B-08401FD6B2FE}"/>
              </a:ext>
            </a:extLst>
          </p:cNvPr>
          <p:cNvSpPr txBox="1"/>
          <p:nvPr/>
        </p:nvSpPr>
        <p:spPr>
          <a:xfrm>
            <a:off x="683568" y="4481760"/>
            <a:ext cx="7705360" cy="16209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4E739F"/>
                </a:solidFill>
                <a:latin typeface="Courier" pitchFamily="2" charset="0"/>
              </a:rPr>
              <a:t>message-id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"101”</a:t>
            </a: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         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"urn:ietf:params:xml:ns:netconf:base:1.0"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&lt;unlock&gt;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&lt;candidate/&gt;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&lt;/target&gt;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&lt;/unlock&gt;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</a:t>
            </a:r>
            <a:r>
              <a:rPr lang="en-US" sz="1200" dirty="0" err="1">
                <a:solidFill>
                  <a:srgbClr val="9E4A4D"/>
                </a:solidFill>
                <a:latin typeface="Courier" pitchFamily="2" charset="0"/>
              </a:rPr>
              <a:t>rpc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  <a:endParaRPr lang="en-US" sz="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EB12A-C055-4753-8A8D-9AE99989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F87C4E-4E7C-4426-9165-DF120AD8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617514-35F0-4C30-8474-73381E12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37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648960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D446-81C8-2144-BE96-90681A1E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NETCONF Advanced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B1C3-CAE4-8846-969E-878E93A6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Example 2: Operations on Multiple Devices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Transaction</a:t>
            </a:r>
            <a:r>
              <a:rPr lang="en-US" sz="2000" dirty="0"/>
              <a:t> semantics is required!</a:t>
            </a:r>
          </a:p>
          <a:p>
            <a:pPr lvl="1"/>
            <a:r>
              <a:rPr lang="en-US" sz="2000" dirty="0"/>
              <a:t>NETCONF protocol contains sufficient primitives upon which transaction-oriented operations can be built</a:t>
            </a:r>
          </a:p>
          <a:p>
            <a:pPr lvl="1"/>
            <a:r>
              <a:rPr lang="en-US" sz="2000" dirty="0"/>
              <a:t>Complete transactional support among all devices is </a:t>
            </a:r>
            <a:r>
              <a:rPr lang="en-US" sz="2000" u="sng" dirty="0"/>
              <a:t>prohibitively expensive</a:t>
            </a:r>
            <a:r>
              <a:rPr lang="en-US" sz="2000" dirty="0"/>
              <a:t>!</a:t>
            </a:r>
          </a:p>
          <a:p>
            <a:pPr lvl="1"/>
            <a:r>
              <a:rPr lang="en-US" sz="2000" dirty="0"/>
              <a:t>But… we may reduce the size and number of windows for failure scenarios! </a:t>
            </a:r>
          </a:p>
          <a:p>
            <a:pPr lvl="1"/>
            <a:endParaRPr lang="en-US" sz="2000" dirty="0"/>
          </a:p>
          <a:p>
            <a:pPr lvl="1"/>
            <a:r>
              <a:rPr lang="en-US" sz="2000" b="1" u="sng" dirty="0"/>
              <a:t>Classes of multidevice operation</a:t>
            </a:r>
            <a:r>
              <a:rPr lang="en-US" sz="2000" dirty="0"/>
              <a:t>:</a:t>
            </a:r>
          </a:p>
          <a:p>
            <a:pPr lvl="2"/>
            <a:r>
              <a:rPr lang="en-US" sz="2000" dirty="0"/>
              <a:t>the operation </a:t>
            </a:r>
            <a:r>
              <a:rPr lang="en-US" sz="2000" i="1" dirty="0">
                <a:solidFill>
                  <a:schemeClr val="accent2"/>
                </a:solidFill>
              </a:rPr>
              <a:t>can fail on individual devices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without requiring all devices to revert to their original state! 	</a:t>
            </a:r>
          </a:p>
          <a:p>
            <a:pPr marL="693737" lvl="2" indent="0">
              <a:buNone/>
            </a:pPr>
            <a:r>
              <a:rPr lang="en-US" sz="2000" dirty="0">
                <a:sym typeface="Wingdings" pitchFamily="2" charset="2"/>
              </a:rPr>
              <a:t>	 Repeat the operation later… on that device only</a:t>
            </a:r>
          </a:p>
          <a:p>
            <a:pPr lvl="2"/>
            <a:r>
              <a:rPr lang="en-US" sz="2000" dirty="0"/>
              <a:t>the </a:t>
            </a:r>
            <a:r>
              <a:rPr lang="en-US" sz="2000" i="1" dirty="0">
                <a:solidFill>
                  <a:schemeClr val="accent2"/>
                </a:solidFill>
              </a:rPr>
              <a:t>operation should complete on all devices or be fully reversed</a:t>
            </a:r>
            <a:r>
              <a:rPr lang="en-US" sz="2000" dirty="0"/>
              <a:t>.</a:t>
            </a:r>
          </a:p>
          <a:p>
            <a:pPr marL="989013" lvl="3" indent="0">
              <a:buNone/>
            </a:pPr>
            <a:r>
              <a:rPr lang="en-US" sz="1800" dirty="0">
                <a:sym typeface="Wingdings" pitchFamily="2" charset="2"/>
              </a:rPr>
              <a:t> </a:t>
            </a:r>
            <a:r>
              <a:rPr lang="en-US" sz="1800" dirty="0"/>
              <a:t>The same steps used in single-device operations are used, but are performed in parallel across all devices! If any step fails, the previous configurations can be restored!</a:t>
            </a:r>
            <a:endParaRPr lang="en-US" sz="1700" dirty="0">
              <a:sym typeface="Wingdings" pitchFamily="2" charset="2"/>
            </a:endParaRPr>
          </a:p>
          <a:p>
            <a:pPr marL="693737" lvl="2" indent="0">
              <a:buNone/>
            </a:pPr>
            <a:endParaRPr lang="en-US" sz="2000" dirty="0">
              <a:sym typeface="Wingdings" pitchFamily="2" charset="2"/>
            </a:endParaRPr>
          </a:p>
          <a:p>
            <a:pPr lvl="2"/>
            <a:endParaRPr lang="en-US" sz="2000" dirty="0">
              <a:sym typeface="Wingdings" pitchFamily="2" charset="2"/>
            </a:endParaRPr>
          </a:p>
          <a:p>
            <a:pPr lvl="2"/>
            <a:endParaRPr lang="en-US" sz="19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80DD9-9776-4A2C-B988-2EFCA2DD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6B740-E599-4C58-8692-F180B913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379FC-875F-4612-9134-5D18396E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38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3172756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9C9E-B1F0-6049-A91F-EC85793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RESTCONF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4C68-0B9F-5940-91F4-B07A43FB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RESTCONF</a:t>
            </a:r>
          </a:p>
          <a:p>
            <a:pPr lvl="1"/>
            <a:r>
              <a:rPr lang="en-US" sz="2000" dirty="0"/>
              <a:t>RESTCONF uses HTTP methods to implement the equivalent of NETCONF operations, enabling basic </a:t>
            </a:r>
            <a:r>
              <a:rPr lang="en-US" sz="2000" b="1" dirty="0"/>
              <a:t>CRUD</a:t>
            </a:r>
            <a:r>
              <a:rPr lang="en-US" sz="2000" dirty="0"/>
              <a:t> operations on a hierarchy of conceptual resources.</a:t>
            </a:r>
          </a:p>
          <a:p>
            <a:pPr lvl="2"/>
            <a:r>
              <a:rPr lang="en-US" sz="1900" dirty="0"/>
              <a:t>Create (POST), Read (GET), Update (PUT), Delete (DELETE)</a:t>
            </a:r>
          </a:p>
          <a:p>
            <a:pPr lvl="1"/>
            <a:r>
              <a:rPr lang="en-US" sz="2000" dirty="0"/>
              <a:t>RESTCONF is not intended to replace NETCONF, but rather to provide an HTTP interface</a:t>
            </a:r>
          </a:p>
          <a:p>
            <a:pPr lvl="1"/>
            <a:r>
              <a:rPr lang="en-US" sz="2000" dirty="0"/>
              <a:t>The HTTP POST, PUT, PATCH, and DELETE methods are used to edit data resources represented by YANG data model</a:t>
            </a:r>
          </a:p>
          <a:p>
            <a:pPr lvl="1"/>
            <a:r>
              <a:rPr lang="en-US" sz="2000" dirty="0"/>
              <a:t>RESTCONF does not need to mirror the full functionality of the NETCONF protocol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7762A-D2EF-4578-B55A-42FE48A5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63BFE-16A2-4865-9A2A-9F38E166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1AFD-9C6E-48B4-BC41-774A0A77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39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65391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9C9E-B1F0-6049-A91F-EC85793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RESTCONF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4C68-0B9F-5940-91F4-B07A43FB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Coexistence with NETCONF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000" dirty="0"/>
              <a:t>t is possible that locks are in use on a RESTCONF server, even though RESTCONF cannot manipulate locks. In such a case, the RESTCONF protocol will not be granted write access to data resources within a datastore.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1261E-0B35-A549-ADF3-C4FF51E51CBD}"/>
              </a:ext>
            </a:extLst>
          </p:cNvPr>
          <p:cNvSpPr/>
          <p:nvPr/>
        </p:nvSpPr>
        <p:spPr>
          <a:xfrm>
            <a:off x="5220072" y="1842843"/>
            <a:ext cx="2736304" cy="19502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339B4-CDA4-F94C-9807-67941A7AF179}"/>
              </a:ext>
            </a:extLst>
          </p:cNvPr>
          <p:cNvSpPr txBox="1"/>
          <p:nvPr/>
        </p:nvSpPr>
        <p:spPr>
          <a:xfrm>
            <a:off x="5263155" y="1842843"/>
            <a:ext cx="171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Network Device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554AF7B2-3590-3143-9C20-5D149B714370}"/>
              </a:ext>
            </a:extLst>
          </p:cNvPr>
          <p:cNvSpPr/>
          <p:nvPr/>
        </p:nvSpPr>
        <p:spPr>
          <a:xfrm>
            <a:off x="1424304" y="3089620"/>
            <a:ext cx="1224136" cy="97640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Client</a:t>
            </a:r>
            <a:br>
              <a:rPr lang="en-US" b="1" dirty="0"/>
            </a:br>
            <a:r>
              <a:rPr lang="en-US" b="1" dirty="0"/>
              <a:t>(App)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3E4991-F8A2-614F-9B26-6636E0792787}"/>
              </a:ext>
            </a:extLst>
          </p:cNvPr>
          <p:cNvCxnSpPr>
            <a:cxnSpLocks/>
          </p:cNvCxnSpPr>
          <p:nvPr/>
        </p:nvCxnSpPr>
        <p:spPr>
          <a:xfrm>
            <a:off x="2832048" y="2420888"/>
            <a:ext cx="2244008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585DEA-0171-794A-B00E-8CB2EF05F18C}"/>
              </a:ext>
            </a:extLst>
          </p:cNvPr>
          <p:cNvCxnSpPr>
            <a:cxnSpLocks/>
          </p:cNvCxnSpPr>
          <p:nvPr/>
        </p:nvCxnSpPr>
        <p:spPr>
          <a:xfrm flipH="1">
            <a:off x="2832048" y="2636912"/>
            <a:ext cx="2244008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DC3E3B-25B6-5B48-8FDC-56A4E5893B74}"/>
              </a:ext>
            </a:extLst>
          </p:cNvPr>
          <p:cNvSpPr txBox="1"/>
          <p:nvPr/>
        </p:nvSpPr>
        <p:spPr>
          <a:xfrm>
            <a:off x="3434582" y="2123118"/>
            <a:ext cx="1119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RESTCONF</a:t>
            </a: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0E9AAE75-1A6E-7945-BDF8-537C30F62B7C}"/>
              </a:ext>
            </a:extLst>
          </p:cNvPr>
          <p:cNvSpPr/>
          <p:nvPr/>
        </p:nvSpPr>
        <p:spPr>
          <a:xfrm>
            <a:off x="6300192" y="2800695"/>
            <a:ext cx="913841" cy="720080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Datastore</a:t>
            </a:r>
          </a:p>
        </p:txBody>
      </p:sp>
      <p:sp>
        <p:nvSpPr>
          <p:cNvPr id="31" name="Alternate Process 30">
            <a:extLst>
              <a:ext uri="{FF2B5EF4-FFF2-40B4-BE49-F238E27FC236}">
                <a16:creationId xmlns:a16="http://schemas.microsoft.com/office/drawing/2014/main" id="{234DFE6C-3048-3349-95FA-D0CB14357590}"/>
              </a:ext>
            </a:extLst>
          </p:cNvPr>
          <p:cNvSpPr/>
          <p:nvPr/>
        </p:nvSpPr>
        <p:spPr>
          <a:xfrm>
            <a:off x="1424304" y="2148711"/>
            <a:ext cx="1224136" cy="65198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Web 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B9D9B2-4539-5B46-B214-3641ADA1ABCA}"/>
              </a:ext>
            </a:extLst>
          </p:cNvPr>
          <p:cNvCxnSpPr>
            <a:cxnSpLocks/>
          </p:cNvCxnSpPr>
          <p:nvPr/>
        </p:nvCxnSpPr>
        <p:spPr>
          <a:xfrm>
            <a:off x="2832048" y="3272486"/>
            <a:ext cx="2244008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DEBAD4-FB2C-E44E-937C-A52242F533E8}"/>
              </a:ext>
            </a:extLst>
          </p:cNvPr>
          <p:cNvCxnSpPr>
            <a:cxnSpLocks/>
          </p:cNvCxnSpPr>
          <p:nvPr/>
        </p:nvCxnSpPr>
        <p:spPr>
          <a:xfrm flipH="1">
            <a:off x="2832048" y="3488510"/>
            <a:ext cx="2244008" cy="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C498C51-5D40-C849-9387-AC9E289E9F35}"/>
              </a:ext>
            </a:extLst>
          </p:cNvPr>
          <p:cNvSpPr txBox="1"/>
          <p:nvPr/>
        </p:nvSpPr>
        <p:spPr>
          <a:xfrm>
            <a:off x="3374327" y="3466936"/>
            <a:ext cx="102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NETCONF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78A2E8D-0586-4A45-822D-D250D227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420C1-018B-4053-8D19-9AA85FCD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F562D1-E860-462E-977C-57335001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40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575823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9C9E-B1F0-6049-A91F-EC85793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RESTCONF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4C68-0B9F-5940-91F4-B07A43FB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 Retrieve the Top-Level API Resource</a:t>
            </a:r>
          </a:p>
          <a:p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9F886-4DE6-6340-94E9-EB5999D1597C}"/>
              </a:ext>
            </a:extLst>
          </p:cNvPr>
          <p:cNvSpPr txBox="1"/>
          <p:nvPr/>
        </p:nvSpPr>
        <p:spPr>
          <a:xfrm>
            <a:off x="683568" y="1988841"/>
            <a:ext cx="7705360" cy="936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GET /.well-known/host-meta HTTP/1.1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Host: 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example.com</a:t>
            </a:r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Accept: application/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xrd+xml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81613-090F-8448-83E5-E884CF13BEB2}"/>
              </a:ext>
            </a:extLst>
          </p:cNvPr>
          <p:cNvSpPr txBox="1"/>
          <p:nvPr/>
        </p:nvSpPr>
        <p:spPr>
          <a:xfrm>
            <a:off x="683568" y="3356992"/>
            <a:ext cx="7705360" cy="187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HTTP/1.1 200 OK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Content-Type: application/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xrd+xml</a:t>
            </a:r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Content-Length: 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nnn</a:t>
            </a:r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</a:t>
            </a:r>
            <a:r>
              <a:rPr lang="en-US" sz="1600" dirty="0">
                <a:solidFill>
                  <a:srgbClr val="9E4A4D"/>
                </a:solidFill>
                <a:latin typeface="Courier" pitchFamily="2" charset="0"/>
              </a:rPr>
              <a:t>&lt;XRD </a:t>
            </a:r>
            <a:r>
              <a:rPr lang="en-US" sz="16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600" dirty="0">
                <a:solidFill>
                  <a:srgbClr val="4E7702"/>
                </a:solidFill>
                <a:latin typeface="Courier" pitchFamily="2" charset="0"/>
              </a:rPr>
              <a:t>'</a:t>
            </a:r>
            <a:r>
              <a:rPr lang="en-US" sz="1600" u="sng" dirty="0">
                <a:solidFill>
                  <a:srgbClr val="0000E9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http://docs.oasis-open.org/ns/xri/xrd-1.0</a:t>
            </a:r>
            <a:r>
              <a:rPr lang="en-US" sz="1600" u="sng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’</a:t>
            </a:r>
            <a:r>
              <a:rPr lang="en-US" sz="1600" u="sng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</a:t>
            </a:r>
          </a:p>
          <a:p>
            <a:r>
              <a:rPr lang="en-US" sz="1600" u="sng" dirty="0">
                <a:solidFill>
                  <a:srgbClr val="7472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</a:t>
            </a:r>
            <a:r>
              <a:rPr lang="en-US" sz="1600" u="sng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&lt;Link </a:t>
            </a:r>
            <a:r>
              <a:rPr lang="en-US" sz="1600" u="sng" dirty="0">
                <a:solidFill>
                  <a:srgbClr val="4E73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</a:t>
            </a:r>
            <a:r>
              <a:rPr lang="en-US" sz="1600" u="sng" dirty="0">
                <a:solidFill>
                  <a:srgbClr val="7472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n-US" sz="1600" u="sng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'restconf'</a:t>
            </a:r>
            <a:r>
              <a:rPr lang="en-US" sz="1600" u="sng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600" u="sng" dirty="0">
                <a:solidFill>
                  <a:srgbClr val="4E73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href</a:t>
            </a:r>
            <a:r>
              <a:rPr lang="en-US" sz="1600" u="sng" dirty="0">
                <a:solidFill>
                  <a:srgbClr val="7472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n-US" sz="1600" u="sng" dirty="0">
                <a:solidFill>
                  <a:srgbClr val="4E7702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'/restconf’</a:t>
            </a:r>
            <a:r>
              <a:rPr lang="en-US" sz="1600" u="sng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/&gt;</a:t>
            </a:r>
          </a:p>
          <a:p>
            <a:r>
              <a:rPr lang="en-US" sz="1600" u="sng" dirty="0">
                <a:solidFill>
                  <a:srgbClr val="74729F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r>
              <a:rPr lang="en-US" sz="1600" u="sng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&lt;/XRD&gt;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2BB1-9A70-4E06-9593-1BC4BC99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108E1-5D10-4DD8-94CA-CF86DBFA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A8DF7-DE17-445D-AFE6-43BAFC3E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176157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9C9E-B1F0-6049-A91F-EC85793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RESTCONF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4C68-0B9F-5940-91F4-B07A43FB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client may then retrieve the top-level API resource</a:t>
            </a:r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9F886-4DE6-6340-94E9-EB5999D1597C}"/>
              </a:ext>
            </a:extLst>
          </p:cNvPr>
          <p:cNvSpPr txBox="1"/>
          <p:nvPr/>
        </p:nvSpPr>
        <p:spPr>
          <a:xfrm>
            <a:off x="683568" y="1988841"/>
            <a:ext cx="7705360" cy="936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GET /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restconf</a:t>
            </a:r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HTTP/1.1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Host: 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example.com</a:t>
            </a:r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Accept: application/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yang-data+json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81613-090F-8448-83E5-E884CF13BEB2}"/>
              </a:ext>
            </a:extLst>
          </p:cNvPr>
          <p:cNvSpPr txBox="1"/>
          <p:nvPr/>
        </p:nvSpPr>
        <p:spPr>
          <a:xfrm>
            <a:off x="683568" y="3356992"/>
            <a:ext cx="7705360" cy="31683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HTTP/1.1 200 OK      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Date: Thu, 26 Jan 2017 20:56:30 GMT      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Server: example-server      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Content-Type: application/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yang-data+json</a:t>
            </a:r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endParaRPr lang="en-US" sz="16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{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  "</a:t>
            </a:r>
            <a:r>
              <a:rPr lang="en-US" sz="1600" dirty="0" err="1">
                <a:solidFill>
                  <a:srgbClr val="74729F"/>
                </a:solidFill>
                <a:latin typeface="Courier" pitchFamily="2" charset="0"/>
              </a:rPr>
              <a:t>ietf-restconf:restconf</a:t>
            </a:r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" : {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    "data" : {},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    "operations" : {},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    "yang-library-version" : "2016-06-21”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  }</a:t>
            </a:r>
          </a:p>
          <a:p>
            <a:r>
              <a:rPr lang="en-US" sz="1600" dirty="0">
                <a:solidFill>
                  <a:srgbClr val="74729F"/>
                </a:solidFill>
                <a:latin typeface="Courier" pitchFamily="2" charset="0"/>
              </a:rPr>
              <a:t>      }</a:t>
            </a:r>
            <a:endParaRPr lang="en-US" sz="1600" dirty="0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13C5776-E91D-2944-BCE3-7F474B5277C7}"/>
              </a:ext>
            </a:extLst>
          </p:cNvPr>
          <p:cNvSpPr/>
          <p:nvPr/>
        </p:nvSpPr>
        <p:spPr>
          <a:xfrm>
            <a:off x="5835951" y="1959632"/>
            <a:ext cx="2520280" cy="432047"/>
          </a:xfrm>
          <a:prstGeom prst="wedgeRoundRectCallout">
            <a:avLst>
              <a:gd name="adj1" fmla="val -74737"/>
              <a:gd name="adj2" fmla="val 1169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JSON or XML…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701B1-D031-4891-AEC3-A3769932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5BD1-1158-48B5-88A0-03AA2806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AB11-6ED9-4B86-A0C1-CE40CE61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036514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9C9E-B1F0-6049-A91F-EC85793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RESTCONF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4C68-0B9F-5940-91F4-B07A43FB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Retrieve the Server Capability Information</a:t>
            </a:r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9F886-4DE6-6340-94E9-EB5999D1597C}"/>
              </a:ext>
            </a:extLst>
          </p:cNvPr>
          <p:cNvSpPr txBox="1"/>
          <p:nvPr/>
        </p:nvSpPr>
        <p:spPr>
          <a:xfrm>
            <a:off x="616132" y="1707603"/>
            <a:ext cx="7705360" cy="7132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GET /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restconf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/data/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ietf-restconf-monitoring:restconf-state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/capabilities HTTP/1.1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Host: 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example.com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Accept: application/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yang-data+xml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81613-090F-8448-83E5-E884CF13BEB2}"/>
              </a:ext>
            </a:extLst>
          </p:cNvPr>
          <p:cNvSpPr txBox="1"/>
          <p:nvPr/>
        </p:nvSpPr>
        <p:spPr>
          <a:xfrm>
            <a:off x="616132" y="2671811"/>
            <a:ext cx="7705360" cy="31683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HTTP/1.1 200 OK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Date: Thu, 26 Jan 2017 20:56:30 GMT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Server: example-server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Cache-Control: no-cache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Last-Modified: Thu, 26 Jan 2017 16:00:14 GMT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Content-Type: application/</a:t>
            </a:r>
            <a:r>
              <a:rPr lang="en-US" sz="1200" dirty="0" err="1">
                <a:solidFill>
                  <a:srgbClr val="74729F"/>
                </a:solidFill>
                <a:latin typeface="Courier" pitchFamily="2" charset="0"/>
              </a:rPr>
              <a:t>yang-data+xml</a:t>
            </a:r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endParaRPr lang="en-US" sz="1200" dirty="0">
              <a:solidFill>
                <a:srgbClr val="74729F"/>
              </a:solidFill>
              <a:latin typeface="Courier" pitchFamily="2" charset="0"/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&lt;capabilities </a:t>
            </a:r>
            <a:r>
              <a:rPr lang="en-US" sz="1200" dirty="0" err="1">
                <a:solidFill>
                  <a:srgbClr val="4E739F"/>
                </a:solidFill>
                <a:latin typeface="Courier" pitchFamily="2" charset="0"/>
              </a:rPr>
              <a:t>xmlns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=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dirty="0" err="1">
                <a:solidFill>
                  <a:srgbClr val="4E7702"/>
                </a:solidFill>
                <a:latin typeface="Courier" pitchFamily="2" charset="0"/>
              </a:rPr>
              <a:t>urn:ietf:params:xml:ns:yang:ietf-restconf-monitoring</a:t>
            </a:r>
            <a:r>
              <a:rPr lang="en-US" sz="1200" dirty="0">
                <a:solidFill>
                  <a:srgbClr val="4E7702"/>
                </a:solidFill>
                <a:latin typeface="Courier" pitchFamily="2" charset="0"/>
              </a:rPr>
              <a:t>"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&gt;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&lt;capability&gt;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\       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	urn:ietf:params:restconf:capability:defaults:1.0?\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	basic-mode=explicit\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      </a:t>
            </a:r>
            <a:r>
              <a:rPr lang="en-US" sz="1200" dirty="0">
                <a:solidFill>
                  <a:srgbClr val="9E4A4D"/>
                </a:solidFill>
                <a:latin typeface="Courier" pitchFamily="2" charset="0"/>
              </a:rPr>
              <a:t>&lt;/capability&gt;</a:t>
            </a:r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 </a:t>
            </a:r>
          </a:p>
          <a:p>
            <a:r>
              <a:rPr lang="en-US" sz="1200" dirty="0">
                <a:solidFill>
                  <a:srgbClr val="74729F"/>
                </a:solidFill>
                <a:latin typeface="Courier" pitchFamily="2" charset="0"/>
              </a:rPr>
              <a:t>	….</a:t>
            </a:r>
          </a:p>
          <a:p>
            <a:endParaRPr lang="en-US" sz="1200" u="sng" dirty="0">
              <a:solidFill>
                <a:srgbClr val="9E4A4D"/>
              </a:solidFill>
              <a:latin typeface="Courier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rgbClr val="9E4A4D"/>
                </a:solidFill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&lt;/capabilities&gt;</a:t>
            </a:r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991E8-7646-4E36-9A00-CDA71723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FB54A-CEA0-44C7-9818-AD97398C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CB1EB-4D0A-48AF-815D-6FCDE1F3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43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61396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C669-9FE4-7740-9988-25B66ED7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69F3-453D-1E4C-8C0A-0957D57F6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hlinkClick r:id="rId2"/>
              </a:rPr>
              <a:t>http://www.netconfcentral.org/</a:t>
            </a:r>
            <a:endParaRPr lang="en-US" sz="1800" dirty="0"/>
          </a:p>
          <a:p>
            <a:r>
              <a:rPr lang="en-US" sz="1800" dirty="0">
                <a:hlinkClick r:id="rId3"/>
              </a:rPr>
              <a:t>https://ripe68.ripe.net/presentations/181-NETCONF-YANG-tutorial-43.pdf</a:t>
            </a:r>
            <a:endParaRPr lang="en-US" sz="1800" dirty="0"/>
          </a:p>
          <a:p>
            <a:r>
              <a:rPr lang="en-US" sz="1800" dirty="0">
                <a:hlinkClick r:id="rId4"/>
              </a:rPr>
              <a:t>https://datatracker.ietf.org/wg/netconf/documents/</a:t>
            </a:r>
            <a:endParaRPr lang="en-US" sz="1800" dirty="0"/>
          </a:p>
          <a:p>
            <a:r>
              <a:rPr lang="en-US" sz="1800" dirty="0">
                <a:hlinkClick r:id="rId5"/>
              </a:rPr>
              <a:t>https://www.cisco.com/c/en/us/support/docs/storage-networking/management/200933-YANG-NETCONF-Configuration-Validation.html</a:t>
            </a:r>
            <a:endParaRPr lang="en-US" sz="1800" dirty="0"/>
          </a:p>
          <a:p>
            <a:r>
              <a:rPr lang="en-US" sz="1800" dirty="0">
                <a:hlinkClick r:id="rId6"/>
              </a:rPr>
              <a:t>http://www.yumaworks.com/support/download-yumapro-client/</a:t>
            </a:r>
            <a:endParaRPr lang="en-US" sz="1800" dirty="0"/>
          </a:p>
          <a:p>
            <a:r>
              <a:rPr lang="en-US" sz="1800" dirty="0">
                <a:hlinkClick r:id="rId7"/>
              </a:rPr>
              <a:t>https://tools.ietf.org/html/rfc3535</a:t>
            </a:r>
            <a:endParaRPr lang="en-US" sz="1800" dirty="0"/>
          </a:p>
          <a:p>
            <a:r>
              <a:rPr lang="en-US" sz="1800" dirty="0">
                <a:hlinkClick r:id="rId8"/>
              </a:rPr>
              <a:t>https://tools.ietf.org/html/rfc6241</a:t>
            </a:r>
            <a:endParaRPr lang="en-US" sz="1800" dirty="0"/>
          </a:p>
          <a:p>
            <a:r>
              <a:rPr lang="en-US" sz="1800" dirty="0">
                <a:hlinkClick r:id="rId9"/>
              </a:rPr>
              <a:t>https://tools.ietf.org/html/rfc6020</a:t>
            </a:r>
            <a:endParaRPr lang="en-US" sz="1800" dirty="0"/>
          </a:p>
          <a:p>
            <a:r>
              <a:rPr lang="en-US" sz="1800" dirty="0">
                <a:hlinkClick r:id="rId10"/>
              </a:rPr>
              <a:t>https://tools.ietf.org/html/rfc6244</a:t>
            </a:r>
            <a:endParaRPr lang="en-US" sz="1800" dirty="0"/>
          </a:p>
          <a:p>
            <a:r>
              <a:rPr lang="en-US" sz="1800" dirty="0">
                <a:hlinkClick r:id="rId11"/>
              </a:rPr>
              <a:t>https://tools.ietf.org/html/rfc8040</a:t>
            </a:r>
            <a:endParaRPr lang="en-US" sz="1800" dirty="0"/>
          </a:p>
          <a:p>
            <a:r>
              <a:rPr lang="en-US" sz="1800" dirty="0">
                <a:hlinkClick r:id="rId12"/>
              </a:rPr>
              <a:t>https://www.ietf.org/slides/slides-edu-network-configuration-with-netconf-00.pdf</a:t>
            </a:r>
            <a:endParaRPr lang="en-US" sz="1800" dirty="0"/>
          </a:p>
          <a:p>
            <a:r>
              <a:rPr lang="en-US" sz="1800" dirty="0">
                <a:hlinkClick r:id="rId13"/>
              </a:rPr>
              <a:t>https://medium.com/@k.okasha/network-automation-and-the-rise-of-netconf-e96cc33fe28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70034-7FEC-4CB5-BB5B-4A6AAFD2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Gestão de Redes/Network Management</a:t>
            </a:r>
            <a:endParaRPr lang="pt-PT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ADAEF-6A97-48F0-AE58-FE3A78A3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Departamento de Informática - Universidade do Minho</a:t>
            </a:r>
            <a:endParaRPr lang="pt-PT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49CAD-B373-46EC-BABA-D6954203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2262-3F81-C84F-9AA8-48C76AB64560}" type="slidenum">
              <a:rPr lang="pt-PT" altLang="en-US" smtClean="0"/>
              <a:pPr/>
              <a:t>44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526005874"/>
      </p:ext>
    </p:extLst>
  </p:cSld>
  <p:clrMapOvr>
    <a:masterClrMapping/>
  </p:clrMapOvr>
</p:sld>
</file>

<file path=ppt/theme/theme1.xml><?xml version="1.0" encoding="utf-8"?>
<a:theme xmlns:a="http://schemas.openxmlformats.org/drawingml/2006/main" name="ADC.EENG.UMINHO.PT">
  <a:themeElements>
    <a:clrScheme name="ADC.EENG.UMINHO.PT 11">
      <a:dk1>
        <a:srgbClr val="808080"/>
      </a:dk1>
      <a:lt1>
        <a:srgbClr val="FFFFFF"/>
      </a:lt1>
      <a:dk2>
        <a:srgbClr val="942018"/>
      </a:dk2>
      <a:lt2>
        <a:srgbClr val="DE5518"/>
      </a:lt2>
      <a:accent1>
        <a:srgbClr val="DE5518"/>
      </a:accent1>
      <a:accent2>
        <a:srgbClr val="CC3300"/>
      </a:accent2>
      <a:accent3>
        <a:srgbClr val="FFFFFF"/>
      </a:accent3>
      <a:accent4>
        <a:srgbClr val="6C6C6C"/>
      </a:accent4>
      <a:accent5>
        <a:srgbClr val="ECB4AB"/>
      </a:accent5>
      <a:accent6>
        <a:srgbClr val="B92D00"/>
      </a:accent6>
      <a:hlink>
        <a:srgbClr val="808080"/>
      </a:hlink>
      <a:folHlink>
        <a:srgbClr val="CCCC66"/>
      </a:folHlink>
    </a:clrScheme>
    <a:fontScheme name="ADC.EENG.UMINHO.PT">
      <a:majorFont>
        <a:latin typeface="NewsGotT"/>
        <a:ea typeface=""/>
        <a:cs typeface=""/>
      </a:majorFont>
      <a:minorFont>
        <a:latin typeface="NewsGo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ADC.EENG.UMINHO.P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.EENG.UMINHO.P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C.EENG.UMINHO.P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C.EENG.UMINHO.PT 11">
        <a:dk1>
          <a:srgbClr val="808080"/>
        </a:dk1>
        <a:lt1>
          <a:srgbClr val="FFFFFF"/>
        </a:lt1>
        <a:dk2>
          <a:srgbClr val="942018"/>
        </a:dk2>
        <a:lt2>
          <a:srgbClr val="DE5518"/>
        </a:lt2>
        <a:accent1>
          <a:srgbClr val="DE5518"/>
        </a:accent1>
        <a:accent2>
          <a:srgbClr val="CC3300"/>
        </a:accent2>
        <a:accent3>
          <a:srgbClr val="FFFFFF"/>
        </a:accent3>
        <a:accent4>
          <a:srgbClr val="6C6C6C"/>
        </a:accent4>
        <a:accent5>
          <a:srgbClr val="ECB4AB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D04C1F8-7A7B-504F-85AF-44EA755D2883}" vid="{77089370-1C1D-FD40-AAAC-40A87746F53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31B1A7-65DA-EE45-A6DE-A9E50E0A811A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ADC.EENG.UMINHO</Template>
  <TotalTime>2173</TotalTime>
  <Words>5458</Words>
  <Application>Microsoft Office PowerPoint</Application>
  <PresentationFormat>On-screen Show (4:3)</PresentationFormat>
  <Paragraphs>960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Courier</vt:lpstr>
      <vt:lpstr>Courier New</vt:lpstr>
      <vt:lpstr>NewsGotT</vt:lpstr>
      <vt:lpstr>System Font Regular</vt:lpstr>
      <vt:lpstr>Wingdings</vt:lpstr>
      <vt:lpstr>ADC.EENG.UMINHO.PT</vt:lpstr>
      <vt:lpstr>GESTÃO DE REDES / NETWORK MANAGEMENT Notas complementares / Complementary notes</vt:lpstr>
      <vt:lpstr>Introduction </vt:lpstr>
      <vt:lpstr>Introduction </vt:lpstr>
      <vt:lpstr>Introduction </vt:lpstr>
      <vt:lpstr>Introduction </vt:lpstr>
      <vt:lpstr>Requirements </vt:lpstr>
      <vt:lpstr>Requirements</vt:lpstr>
      <vt:lpstr>NETCONF / YANG</vt:lpstr>
      <vt:lpstr>NETCONF / YANG</vt:lpstr>
      <vt:lpstr>NETCONF</vt:lpstr>
      <vt:lpstr>NETCONF: XML-based RPC</vt:lpstr>
      <vt:lpstr>NETCONF: Layers</vt:lpstr>
      <vt:lpstr>NETCONF: Operations</vt:lpstr>
      <vt:lpstr>NETCONF: Configuration Databases</vt:lpstr>
      <vt:lpstr>NETCONF: Configuration Databases</vt:lpstr>
      <vt:lpstr>NETCONF: Configuration Databases</vt:lpstr>
      <vt:lpstr>NETCONF &amp; YANG</vt:lpstr>
      <vt:lpstr>YANG version 1.1</vt:lpstr>
      <vt:lpstr>YANG version 1.1</vt:lpstr>
      <vt:lpstr>YANG version 1.1</vt:lpstr>
      <vt:lpstr>YANG version 1.1</vt:lpstr>
      <vt:lpstr>YANG version 1.1</vt:lpstr>
      <vt:lpstr>YANG version 1.1</vt:lpstr>
      <vt:lpstr>YANG version 1.1</vt:lpstr>
      <vt:lpstr>YANG version 1.1</vt:lpstr>
      <vt:lpstr>NETCONF: Example workflow</vt:lpstr>
      <vt:lpstr>NETCONF simple example</vt:lpstr>
      <vt:lpstr>NETCONF simple example</vt:lpstr>
      <vt:lpstr>NETCONF simple example</vt:lpstr>
      <vt:lpstr>NETCONF simple example</vt:lpstr>
      <vt:lpstr>NETCONF Advanced example</vt:lpstr>
      <vt:lpstr>NETCONF Advanced example</vt:lpstr>
      <vt:lpstr>NETCONF Advanced example</vt:lpstr>
      <vt:lpstr>NETCONF Advanced example</vt:lpstr>
      <vt:lpstr>NETCONF Advanced example</vt:lpstr>
      <vt:lpstr>NETCONF Advanced example</vt:lpstr>
      <vt:lpstr>NETCONF Advanced example</vt:lpstr>
      <vt:lpstr>NETCONF Advanced example</vt:lpstr>
      <vt:lpstr>RESTCONF</vt:lpstr>
      <vt:lpstr>RESTCONF</vt:lpstr>
      <vt:lpstr>RESTCONF Example</vt:lpstr>
      <vt:lpstr>RESTCONF Example</vt:lpstr>
      <vt:lpstr>RESTCONF 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Management NETCONF/RESTCONF + YANG</dc:title>
  <dc:creator>Antonio Duarte Costa</dc:creator>
  <cp:lastModifiedBy>Bruno Dias</cp:lastModifiedBy>
  <cp:revision>119</cp:revision>
  <cp:lastPrinted>2018-11-19T12:36:06Z</cp:lastPrinted>
  <dcterms:created xsi:type="dcterms:W3CDTF">2018-11-04T10:12:58Z</dcterms:created>
  <dcterms:modified xsi:type="dcterms:W3CDTF">2022-10-01T16:28:28Z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