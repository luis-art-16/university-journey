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8F875A74.xml" ContentType="application/vnd.ms-powerpoint.comments+xml"/>
  <Override PartName="/ppt/notesSlides/notesSlide2.xml" ContentType="application/vnd.openxmlformats-officedocument.presentationml.notesSlide+xml"/>
  <Override PartName="/ppt/comments/modernComment_101_1377AD75.xml" ContentType="application/vnd.ms-powerpoint.comments+xml"/>
  <Override PartName="/ppt/notesSlides/notesSlide3.xml" ContentType="application/vnd.openxmlformats-officedocument.presentationml.notesSlide+xml"/>
  <Override PartName="/ppt/comments/modernComment_109_8B8E44E2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3" r:id="rId11"/>
    <p:sldId id="272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293C52-8BEA-1726-83E1-49AF8286974A}" name="Luís Baptista" initials="LB" userId="20fcfdb117550c5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0303"/>
    <a:srgbClr val="871129"/>
    <a:srgbClr val="EE4848"/>
    <a:srgbClr val="FF9B9B"/>
    <a:srgbClr val="C76C1A"/>
    <a:srgbClr val="FFFFFF"/>
    <a:srgbClr val="FF5050"/>
    <a:srgbClr val="FF0066"/>
    <a:srgbClr val="CCCC00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édio 1 - Destaqu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Destaqu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83159" autoAdjust="0"/>
  </p:normalViewPr>
  <p:slideViewPr>
    <p:cSldViewPr snapToGrid="0">
      <p:cViewPr varScale="1">
        <p:scale>
          <a:sx n="68" d="100"/>
          <a:sy n="68" d="100"/>
        </p:scale>
        <p:origin x="151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modernComment_100_8F875A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9F5E3B-400F-4E54-9E04-B426A15FDEFA}" authorId="{13293C52-8BEA-1726-83E1-49AF8286974A}" created="2025-11-08T19:42:08.679">
    <pc:sldMkLst xmlns:pc="http://schemas.microsoft.com/office/powerpoint/2013/main/command">
      <pc:docMk/>
      <pc:sldMk cId="2408012404" sldId="256"/>
    </pc:sldMkLst>
    <p188:txBody>
      <a:bodyPr/>
      <a:lstStyle/>
      <a:p>
        <a:endParaRPr lang="pt-PT"/>
      </a:p>
    </p188:txBody>
  </p188:cm>
</p188:cmLst>
</file>

<file path=ppt/comments/modernComment_101_1377AD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B551B4-4744-4F2E-96D1-0AAA3EA25891}" authorId="{13293C52-8BEA-1726-83E1-49AF8286974A}" created="2025-11-08T19:42:28.163">
    <pc:sldMkLst xmlns:pc="http://schemas.microsoft.com/office/powerpoint/2013/main/command">
      <pc:docMk/>
      <pc:sldMk cId="326610293" sldId="257"/>
    </pc:sldMkLst>
    <p188:txBody>
      <a:bodyPr/>
      <a:lstStyle/>
      <a:p>
        <a:endParaRPr lang="pt-PT"/>
      </a:p>
    </p188:txBody>
  </p188:cm>
</p188:cmLst>
</file>

<file path=ppt/comments/modernComment_109_8B8E44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B19A52-8988-4B6C-B6BE-0C897F82C9FC}" authorId="{13293C52-8BEA-1726-83E1-49AF8286974A}" created="2025-11-08T22:50:06.512">
    <pc:sldMkLst xmlns:pc="http://schemas.microsoft.com/office/powerpoint/2013/main/command">
      <pc:docMk/>
      <pc:sldMk cId="2341356770" sldId="265"/>
    </pc:sldMkLst>
    <p188:txBody>
      <a:bodyPr/>
      <a:lstStyle/>
      <a:p>
        <a:endParaRPr lang="pt-PT"/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48F21-65F0-4585-B74D-4DE7C21418C9}" type="datetimeFigureOut">
              <a:rPr lang="pt-PT" smtClean="0"/>
              <a:t>22/01/2026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92395-64DF-44BB-9800-A7E320F7CE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436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Boa tarde a todos. Nós somos o Grupo 3, constituído por mim, Luís Baptista, pelo Bernardo Salgado e pelo Nuno Mirra.</a:t>
            </a:r>
          </a:p>
          <a:p>
            <a:r>
              <a:rPr lang="pt-PT" dirty="0"/>
              <a:t>No âmbito da Unidade Curricular de Emulação e Simulação de Redes de Telecomunicações , vimos apresentar o nosso projeto: uma </a:t>
            </a:r>
            <a:r>
              <a:rPr lang="pt-PT" b="1" dirty="0"/>
              <a:t>Infraestrutura IoT para o Campus de Azurém</a:t>
            </a:r>
            <a:r>
              <a:rPr lang="pt-PT" dirty="0"/>
              <a:t>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97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Começando pelo contexto: Todos conhecemos as dificuldades de estacionamento no Campus de Azurém devido à elevada procura. Mas, em parques subterrâneos, o problema não é apenas encontrar lugar; existe um risco real associado à qualidade do ar, nomeadamente níveis de CO2."</a:t>
            </a:r>
          </a:p>
          <a:p>
            <a:endParaRPr lang="pt-PT" dirty="0"/>
          </a:p>
          <a:p>
            <a:r>
              <a:rPr lang="pt-PT" dirty="0"/>
              <a:t>A nossa solução não se limitou a colocar sensores. O objetivo principal foi criar uma arquitetura integrada. Não queríamos componentes isolados.</a:t>
            </a:r>
          </a:p>
          <a:p>
            <a:r>
              <a:rPr lang="pt-PT" dirty="0"/>
              <a:t>Por isso, desenhámos um sistema que vai desde a </a:t>
            </a:r>
            <a:r>
              <a:rPr lang="pt-PT" b="1" dirty="0"/>
              <a:t>Camada Física</a:t>
            </a:r>
            <a:r>
              <a:rPr lang="pt-PT" dirty="0"/>
              <a:t> , onde monitorizamos a ocupação e fluxo e os níveis de CO2 , passando por uma rede robusta, até chegar à </a:t>
            </a:r>
            <a:r>
              <a:rPr lang="pt-PT" b="1" dirty="0"/>
              <a:t>Nuvem</a:t>
            </a:r>
            <a:r>
              <a:rPr lang="pt-PT" dirty="0"/>
              <a:t> e à </a:t>
            </a:r>
            <a:r>
              <a:rPr lang="pt-PT" b="1" dirty="0"/>
              <a:t>Interface de Gestão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lang="pt-PT" dirty="0"/>
              <a:t>O resultado é uma arquitetura 'fim-a-fim' que garante sustentabilidade e segurança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27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Para resolver o problema do Campus de Azurém, não olhámos para os componentes isoladamente. Desenhámos uma arquitetura completa, dividida em três camadas. </a:t>
            </a:r>
          </a:p>
          <a:p>
            <a:r>
              <a:rPr lang="pt-PT" dirty="0"/>
              <a:t>Temos a camada de perceção simulada em CupCarbon, uma infraestrutura de rede robusta em GNS3 e uma plataforma Cloud baseada em micro serviços Docker. </a:t>
            </a:r>
          </a:p>
          <a:p>
            <a:r>
              <a:rPr lang="pt-PT" dirty="0"/>
              <a:t>Esta modularidade permite escalar ou substituir componentes sem afetar o todo.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046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9CB6A-328A-2E96-7C09-85403C823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AA65096-9F2F-A1EB-D11B-85025831A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A21CB7B-4075-E295-C590-16AFA7039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Na Fase A, focámos na conectividade. Utilizamos o GNS3 para emular uma topologia em malha, o que evita pontos únicos de falha.</a:t>
            </a:r>
          </a:p>
          <a:p>
            <a:r>
              <a:rPr lang="pt-PT" dirty="0"/>
              <a:t>Incluímos um servidor DNS interno para resolução de nomes e um Gateway NAT que permite o acesso controlado à Internet, mantendo o ambiente de testes isolado.</a:t>
            </a:r>
          </a:p>
          <a:p>
            <a:r>
              <a:rPr lang="pt-PT" dirty="0"/>
              <a:t>Os testes demonstraram que, mesmo com a queda de uma ligação entre routers, o tráfego encontra rotas alternativas.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63A5DE7-A57B-DAFD-C0E8-43CF49D09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6662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6903-F49F-E181-6046-59FD13DC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58EE148-5767-F90B-68D7-6469B0BAD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745C0B4-9205-9DF8-5FE1-71DBA8242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Na Fase B, simulámos a camada física no CupCarbon utilizando inteiramente o protocolo ZigBee, ideal para redes de sensores sem fios. </a:t>
            </a:r>
          </a:p>
          <a:p>
            <a:r>
              <a:rPr lang="pt-PT" dirty="0"/>
              <a:t>Monitorizamos a ocupação de lugares e a qualidade do ar. Um ponto crucial é a inteligência local: se o CO2 ultrapassar os limites, os ventiladores ativam-se imediatamente no simulador, sem esperar pela Cloud.</a:t>
            </a:r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179EAFB-93D7-7DD7-80AE-40DB2FD64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42752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BEB8A-BAC9-C010-F045-87828E50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FEE638E-20D7-CE4A-5F92-B81D42965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07250FE-3638-0B83-7B9A-CE1F0D9FD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 Fase C integra tudo na Cloud. Usámos contentores Docker para criar uma arquitetura de micro serviços.</a:t>
            </a:r>
          </a:p>
          <a:p>
            <a:r>
              <a:rPr lang="pt-PT" dirty="0"/>
              <a:t>Implementámos um Load Balancer NGINX que distribui o tráfego entre réplicas dos serviços de backend (API e MQTT), garantindo alta disponibilidade.</a:t>
            </a:r>
          </a:p>
          <a:p>
            <a:r>
              <a:rPr lang="pt-PT" dirty="0"/>
              <a:t>Isto assegura que o sistema continua a processar pedidos mesmo que uma das réplicas falhe.</a:t>
            </a:r>
          </a:p>
          <a:p>
            <a:endParaRPr lang="pt-PT" dirty="0"/>
          </a:p>
          <a:p>
            <a:r>
              <a:rPr lang="pt-PT" dirty="0"/>
              <a:t>Um componente fundamental que não está explícito na imagem principal mas que usámos é o </a:t>
            </a:r>
            <a:r>
              <a:rPr lang="pt-PT" b="1" dirty="0"/>
              <a:t>Redis</a:t>
            </a:r>
            <a:r>
              <a:rPr lang="pt-PT" dirty="0"/>
              <a:t>."</a:t>
            </a:r>
          </a:p>
          <a:p>
            <a:endParaRPr lang="pt-PT" dirty="0"/>
          </a:p>
          <a:p>
            <a:r>
              <a:rPr lang="pt-PT" dirty="0"/>
              <a:t>O Redis permite-nos guardar as sessões de login de forma partilhada. Isto é o que nos permitiu usar o </a:t>
            </a:r>
            <a:r>
              <a:rPr lang="pt-PT" b="1" dirty="0"/>
              <a:t>Round-Robin</a:t>
            </a:r>
            <a:r>
              <a:rPr lang="pt-PT" dirty="0"/>
              <a:t> no Load Balancer.</a:t>
            </a:r>
          </a:p>
          <a:p>
            <a:endParaRPr lang="pt-PT" dirty="0"/>
          </a:p>
          <a:p>
            <a:r>
              <a:rPr lang="pt-PT" dirty="0"/>
              <a:t>Sem o Redis, se um utilizador fizesse login na Réplica 1 e o próximo pedido fosse para a Réplica 2, o sistema não o reconheceria. Com o Redis, qualquer réplica sabe quem é o utilizador.</a:t>
            </a:r>
          </a:p>
          <a:p>
            <a:endParaRPr lang="pt-PT" dirty="0"/>
          </a:p>
          <a:p>
            <a:r>
              <a:rPr lang="pt-PT" dirty="0"/>
              <a:t>Usámos também o </a:t>
            </a:r>
            <a:r>
              <a:rPr lang="pt-PT" b="1" dirty="0" err="1"/>
              <a:t>Sequelize</a:t>
            </a:r>
            <a:r>
              <a:rPr lang="pt-PT" dirty="0"/>
              <a:t> para comunicar com o MySQL. Isto é uma mais-valia porque, se no futuro quisermos migrar para PostgreSQL e InfluxDB (como sugerido para dados temporais), o código da API mantém-se quase inalterado.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5CC0C3C-532D-6614-141E-AF1EB9546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2054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84A9-DF59-52BD-FC21-E39EF6A6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8487A27-FFAF-543B-8F43-48A7CD49F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8C8E918-C867-BF3F-DC72-6C7C1EC72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 comunicação é feita por dois canais: pedidos periódicos via HTTP e telemetria em tempo real via MQTT. </a:t>
            </a:r>
          </a:p>
          <a:p>
            <a:r>
              <a:rPr lang="pt-PT" dirty="0"/>
              <a:t>Como podem ver no diagrama, quando um sensor publica dados, o sistema valida a identidade do dispositivo antes de persistir a informação na base de dados.</a:t>
            </a:r>
          </a:p>
          <a:p>
            <a:r>
              <a:rPr lang="pt-PT" dirty="0"/>
              <a:t>Só depois desta validação é que os dados ficam disponíveis para visualização.</a:t>
            </a:r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7A3EEA1-6243-84EA-80DE-56E9C7DF5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5405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FB3C7-9A1F-0C31-23D0-54844BC0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7F947E1C-0BF3-D813-E1EF-B421A8A48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0D7F803-BA45-E0B1-BDCB-8B4121FDD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 face visível do projeto é o Dashboard Web. Aqui apresentamos a ocupação em tempo real e o histórico de qualidade do ar.</a:t>
            </a:r>
          </a:p>
          <a:p>
            <a:r>
              <a:rPr lang="pt-PT" dirty="0"/>
              <a:t>Implementámos autenticação via terceiros (Google e Microsoft) para maior segurança.</a:t>
            </a:r>
          </a:p>
          <a:p>
            <a:r>
              <a:rPr lang="pt-PT" dirty="0"/>
              <a:t>Temos vistas distintas: o Administrador gere dispositivos e alertas, enquanto o aluno vê rapidamente onde pode estacionar.</a:t>
            </a:r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2D977AF-FA1E-3722-4E2D-531500592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449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87EC4-414D-42DE-BCDC-8BF7D11DE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B7D479D-3C36-9C15-E771-7F32B16DB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A905A48-138E-0DB8-070D-5DCF4E445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Adicionar testes dos desafios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7C7B1BE-D4DA-DCE0-C2DF-12646AFCA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2515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047B7-3F16-EAD9-0045-4789A9DDF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C2C545D-3A1E-840C-FDD0-D4481E1F6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C9F9C01-042F-D059-A017-FE533601E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Durante o desenvolvimento, enfrentámos desafios. A dependência da Cloud para ativar ventoinhas era um risco, por isso movemos essa decisão para o processamento local. </a:t>
            </a:r>
          </a:p>
          <a:p>
            <a:r>
              <a:rPr lang="pt-PT" dirty="0"/>
              <a:t>"Também verificámos que o CupCarbon é excelente a gerar dados, mas limitado a receber comandos externos, o que impediu o controlo remoto direto do portão via site. </a:t>
            </a:r>
          </a:p>
          <a:p>
            <a:r>
              <a:rPr lang="pt-PT" dirty="0"/>
              <a:t>Optámos também por manter a base de dados centralizada para evitar problemas de inconsistência detetados na replicação distribuída.</a:t>
            </a:r>
            <a:br>
              <a:rPr lang="pt-PT" dirty="0"/>
            </a:br>
            <a:br>
              <a:rPr lang="pt-PT" dirty="0"/>
            </a:br>
            <a:r>
              <a:rPr lang="pt-PT" dirty="0"/>
              <a:t>Na </a:t>
            </a:r>
            <a:r>
              <a:rPr lang="pt-PT" dirty="0" err="1"/>
              <a:t>oha</a:t>
            </a:r>
            <a:r>
              <a:rPr lang="pt-PT" dirty="0"/>
              <a:t> comunicação!</a:t>
            </a:r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BE5A8CE-532F-27E2-1A06-029FBA35C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2174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D7FA5-F980-884B-E3FB-470AE85D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ED35701-E0EF-8D1A-6FFE-4FD9A6704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C014A43-89D7-24B0-4EE4-6B4FE711E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Concluindo, demonstrámos que é possível integrar redes de sensores e uma cloud modular para resolver problemas reais de estacionamento e ambiente. </a:t>
            </a:r>
          </a:p>
          <a:p>
            <a:r>
              <a:rPr lang="pt-PT" dirty="0"/>
              <a:t>Os testes de carga validaram a arquitetura do Load Balancer e a resiliência da rede em malha.</a:t>
            </a:r>
          </a:p>
          <a:p>
            <a:r>
              <a:rPr lang="pt-PT" dirty="0"/>
              <a:t>O próximo passo seria substituir a simulação CupCarbon por hardware real, permitindo fechar o ciclo de controlo remoto total.</a:t>
            </a:r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8C5D8A9-D9F5-F9C6-9902-66C09CFF1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840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3A426-EB14-6EA3-7688-BA921C0B4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E906EC-E92A-9048-FAED-F688C27D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203ABB-48D3-C3DB-C19D-37F14C0B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8BECF-9753-428C-A887-EA87F0C95BA0}" type="datetime1">
              <a:rPr lang="pt-PT" smtClean="0"/>
              <a:t>22/01/2026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9765AA9-07E5-01BD-68DA-34458946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7FF1DD-C60F-7336-AF73-8945E173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120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16C23-C136-B5B5-7774-3E6C3E79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E9695F5-3D2B-FDAE-8A9C-A54D2AF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3891B5-E793-740A-78A5-AB71876B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20BAC-B98B-494C-926C-9E9CA53608C1}" type="datetime1">
              <a:rPr lang="pt-PT" smtClean="0"/>
              <a:t>22/01/2026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71BEB2-1E33-9A5D-AAC0-2DB715D6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064D3C-2A85-36BB-ABA2-4EBC4DCB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177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9302B-7CD2-535E-5106-4DAB5395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8443AF8-F08F-47EA-3198-5BBE003B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4D3115-CE5D-B258-DD7E-5D80B5C1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3BBD-F889-4D4F-8682-B9CA50BA45CF}" type="datetime1">
              <a:rPr lang="pt-PT" smtClean="0"/>
              <a:t>22/01/2026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D5962D-C5EC-28EF-5280-0B85D4D3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BF849AB-0813-D2AE-5CD4-BEFBEBC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204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2CF37-326F-7898-A797-0BBBA880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AC49BDA-C55A-9190-A5AA-9995A59A2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D717AFD-8606-2592-7709-88C34E82A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67C0DDA-90A3-AF6B-520C-C0A571D0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D1B15-22B1-4C44-9123-354505171F36}" type="datetime1">
              <a:rPr lang="pt-PT" smtClean="0"/>
              <a:t>22/01/2026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1539A36-6D61-6517-9DAC-EE822979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A040648-02C2-1C5D-B099-C99BBBCE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092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E1835-37D8-845D-69A0-DFF07C83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915BD69-5B39-EAE2-81C0-5A8CAB3F2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A93EE65-4B62-ABB3-F478-EAA329EDF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462E51B-EAF6-6358-0E4E-C2EC89626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2C99265-C348-7C28-8E0A-D5534D0E0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F9B286A-7994-D80A-8D6D-31DAF810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8FF8-E6B7-4E43-82E6-829C6D6CD1C9}" type="datetime1">
              <a:rPr lang="pt-PT" smtClean="0"/>
              <a:t>22/01/2026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798D077-05FA-A9AA-C14F-AB5F258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6346275-2183-4A11-0072-D9D30AD5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304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9CB57-EAC3-436A-3527-CF618286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B19BA0B-E51E-5B95-F4E6-CEC39BBC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8A508-2FB7-4804-8FCA-EE7604E38927}" type="datetime1">
              <a:rPr lang="pt-PT" smtClean="0"/>
              <a:t>22/01/2026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F2332B4-AA05-E19A-A82F-CC1B1D86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FEBC615-1198-B718-2D81-15D1EA25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8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0CDEBAE-5A03-FD2B-A0C2-DDDC8039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CC977-20B3-46DE-83D7-FCA81E30BC47}" type="datetime1">
              <a:rPr lang="pt-PT" smtClean="0"/>
              <a:t>22/01/2026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61C3EB4-7DEC-DD66-178C-4D0F63B5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C6B211-13AE-AA62-D0E4-D5711371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537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3945-1FD5-A4DB-49FB-00B0E561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0126BC1-1258-6703-3CAF-6BB31B89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67633CC-32FB-6E22-A87F-D9186C84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ADC7D05-48F1-4687-69E5-2F500C52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6B71-4EA1-4140-9DD7-F436DD3F58E2}" type="datetime1">
              <a:rPr lang="pt-PT" smtClean="0"/>
              <a:t>22/01/2026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4191F82-0C87-F6C7-07D8-7BFBDCBF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B5A17E8-D233-42BB-3150-84D1E130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87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E20C2-0C16-C7FB-FD1B-CE44B6C3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3F40AA0-CF00-D5EA-01FF-2262C2F70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64765C3-AF85-2EC0-7954-D1BA7BD70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A27A198-1198-5144-6497-DE8C65FA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6BE5B-2202-44AF-9840-6CF97A653111}" type="datetime1">
              <a:rPr lang="pt-PT" smtClean="0"/>
              <a:t>22/01/2026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B482D34-66C1-0483-6414-EACEACE0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2999395-18DA-44DF-9F1A-F65B9005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029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89D02-98A5-8B51-B4E8-39E8FFEF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F21A530-2C54-A6DF-E0A7-0740B3CE2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3A5EFEC-2042-2AD6-9D18-3BBB1FA5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9CA02-BBD7-4D6C-BC1E-984F27C0F060}" type="datetime1">
              <a:rPr lang="pt-PT" smtClean="0"/>
              <a:t>22/01/2026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798AE4-26DD-59E1-2986-D0327EBB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485632F-85B4-C1C9-D4A7-2B17FCD9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73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0B6E04-F964-2B0B-92CA-15DF7529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B2580C6-CD06-88DF-DDD0-6985C46BC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B5C20B1-E35F-108A-65CF-40AE6ED2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3B6DC-C64C-4DC8-9908-97D50F308ABD}" type="datetime1">
              <a:rPr lang="pt-PT" smtClean="0"/>
              <a:t>22/01/2026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C2E39D8-F14C-2E18-E736-5FDDC0D6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CB7E06D-55C5-DB45-AF8D-C2EC4705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395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CB08DA5-8E45-4525-2EDC-2D7988C8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2364359-8D46-32A9-763C-EDF2DAC2D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625105-ACCC-77C3-31CC-A141431FA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B1175-F5B3-4CC5-B4DD-73F9CFDB05BD}" type="datetime1">
              <a:rPr lang="pt-PT" smtClean="0"/>
              <a:t>22/01/2026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F5C4E16-D623-6FFA-6063-25668684E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034D9DF-C769-CC10-A98F-38A9322B7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886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8F875A7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microsoft.com/office/2018/10/relationships/comments" Target="../comments/modernComment_101_1377AD75.xml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image" Target="../media/image3.jp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1.jpe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8B8E44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18" Type="http://schemas.openxmlformats.org/officeDocument/2006/relationships/image" Target="../media/image52.png"/><Relationship Id="rId3" Type="http://schemas.openxmlformats.org/officeDocument/2006/relationships/image" Target="../media/image1.jpeg"/><Relationship Id="rId21" Type="http://schemas.openxmlformats.org/officeDocument/2006/relationships/image" Target="../media/image55.svg"/><Relationship Id="rId7" Type="http://schemas.openxmlformats.org/officeDocument/2006/relationships/image" Target="../media/image41.svg"/><Relationship Id="rId12" Type="http://schemas.openxmlformats.org/officeDocument/2006/relationships/image" Target="../media/image46.png"/><Relationship Id="rId17" Type="http://schemas.openxmlformats.org/officeDocument/2006/relationships/image" Target="../media/image51.svg"/><Relationship Id="rId25" Type="http://schemas.openxmlformats.org/officeDocument/2006/relationships/image" Target="../media/image59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24" Type="http://schemas.openxmlformats.org/officeDocument/2006/relationships/image" Target="../media/image58.png"/><Relationship Id="rId5" Type="http://schemas.openxmlformats.org/officeDocument/2006/relationships/image" Target="../media/image39.svg"/><Relationship Id="rId15" Type="http://schemas.openxmlformats.org/officeDocument/2006/relationships/image" Target="../media/image49.svg"/><Relationship Id="rId23" Type="http://schemas.openxmlformats.org/officeDocument/2006/relationships/image" Target="../media/image57.svg"/><Relationship Id="rId10" Type="http://schemas.openxmlformats.org/officeDocument/2006/relationships/image" Target="../media/image44.png"/><Relationship Id="rId19" Type="http://schemas.openxmlformats.org/officeDocument/2006/relationships/image" Target="../media/image53.svg"/><Relationship Id="rId4" Type="http://schemas.openxmlformats.org/officeDocument/2006/relationships/image" Target="../media/image38.png"/><Relationship Id="rId9" Type="http://schemas.openxmlformats.org/officeDocument/2006/relationships/image" Target="../media/image43.svg"/><Relationship Id="rId14" Type="http://schemas.openxmlformats.org/officeDocument/2006/relationships/image" Target="../media/image48.png"/><Relationship Id="rId22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svg"/><Relationship Id="rId3" Type="http://schemas.openxmlformats.org/officeDocument/2006/relationships/image" Target="../media/image1.jpeg"/><Relationship Id="rId7" Type="http://schemas.openxmlformats.org/officeDocument/2006/relationships/image" Target="../media/image63.sv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svg"/><Relationship Id="rId1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1EE61-2F39-8481-E437-94DEEE01C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646" y="437508"/>
            <a:ext cx="9353323" cy="19025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Infraestrutura IoT para o Campus de Azurém</a:t>
            </a:r>
            <a:b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Parque Inteligente e Controlo Ambiental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ED611-176D-0120-C3B8-4A7229363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8913" y="3813680"/>
            <a:ext cx="9002139" cy="3379049"/>
          </a:xfrm>
        </p:spPr>
        <p:txBody>
          <a:bodyPr>
            <a:normAutofit/>
          </a:bodyPr>
          <a:lstStyle/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Grupo 3: </a:t>
            </a:r>
            <a:b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Luis Baptista PG61434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Bernardo Salgado PG59972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Nuno Mirra PG57594 </a:t>
            </a:r>
          </a:p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2025/26</a:t>
            </a:r>
          </a:p>
        </p:txBody>
      </p: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8A7FF0E-B58B-DFA0-1C3D-2D836C86840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AB5E098C-9123-BBDD-C5EF-C78CFB5B9E8E}"/>
              </a:ext>
            </a:extLst>
          </p:cNvPr>
          <p:cNvCxnSpPr>
            <a:cxnSpLocks/>
          </p:cNvCxnSpPr>
          <p:nvPr/>
        </p:nvCxnSpPr>
        <p:spPr>
          <a:xfrm flipV="1">
            <a:off x="1845507" y="3274785"/>
            <a:ext cx="10346493" cy="1562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654EECC-81D5-163B-6B3B-B7125AF28A05}"/>
              </a:ext>
            </a:extLst>
          </p:cNvPr>
          <p:cNvSpPr txBox="1"/>
          <p:nvPr/>
        </p:nvSpPr>
        <p:spPr>
          <a:xfrm>
            <a:off x="2164908" y="2613320"/>
            <a:ext cx="944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Emulação e Simulação de Redes de Telecomunicações</a:t>
            </a:r>
            <a:endParaRPr lang="pt-P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E91423-771B-2FCB-8DB7-B03D30A94C92}"/>
              </a:ext>
            </a:extLst>
          </p:cNvPr>
          <p:cNvSpPr txBox="1"/>
          <p:nvPr/>
        </p:nvSpPr>
        <p:spPr>
          <a:xfrm>
            <a:off x="3594424" y="3274785"/>
            <a:ext cx="9339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Mestrado Em Engenharia De Telecomunicações E Informática</a:t>
            </a:r>
          </a:p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B4E474-DD53-922F-E9AF-695DE9109DF7}"/>
              </a:ext>
            </a:extLst>
          </p:cNvPr>
          <p:cNvSpPr txBox="1"/>
          <p:nvPr/>
        </p:nvSpPr>
        <p:spPr>
          <a:xfrm>
            <a:off x="289154" y="1024101"/>
            <a:ext cx="4211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do Minho</a:t>
            </a:r>
          </a:p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Escola de Engenharia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5310C6-A67B-06C6-5953-D3CE308D62E2}"/>
              </a:ext>
            </a:extLst>
          </p:cNvPr>
          <p:cNvSpPr/>
          <p:nvPr/>
        </p:nvSpPr>
        <p:spPr>
          <a:xfrm>
            <a:off x="360948" y="1558978"/>
            <a:ext cx="741560" cy="5306442"/>
          </a:xfrm>
          <a:prstGeom prst="rect">
            <a:avLst/>
          </a:prstGeom>
          <a:solidFill>
            <a:srgbClr val="8711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A8786C4-3D82-08D6-047B-BDD2C4E85192}"/>
              </a:ext>
            </a:extLst>
          </p:cNvPr>
          <p:cNvSpPr/>
          <p:nvPr/>
        </p:nvSpPr>
        <p:spPr>
          <a:xfrm>
            <a:off x="1103947" y="1558978"/>
            <a:ext cx="741560" cy="5306442"/>
          </a:xfrm>
          <a:prstGeom prst="rect">
            <a:avLst/>
          </a:prstGeom>
          <a:solidFill>
            <a:srgbClr val="C76C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m 9" descr="Uma imagem com texto, Software de multimédia, software, design&#10;&#10;Os conteúdos gerados por IA podem estar incorretos.">
            <a:extLst>
              <a:ext uri="{FF2B5EF4-FFF2-40B4-BE49-F238E27FC236}">
                <a16:creationId xmlns:a16="http://schemas.microsoft.com/office/drawing/2014/main" id="{89ED345B-2677-8731-D576-7AF2094B50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7"/>
          <a:stretch>
            <a:fillRect/>
          </a:stretch>
        </p:blipFill>
        <p:spPr>
          <a:xfrm>
            <a:off x="7088194" y="3790569"/>
            <a:ext cx="5103806" cy="25746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4CDE916-196E-BCC8-2E4D-55888698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801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5143B22-344B-AC0D-6984-70B7376D4676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DFB57B3F-B865-2E59-CBC8-F759D8271DD1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949F51-05E1-A57C-D2FD-555C45FB9E42}"/>
              </a:ext>
            </a:extLst>
          </p:cNvPr>
          <p:cNvSpPr txBox="1"/>
          <p:nvPr/>
        </p:nvSpPr>
        <p:spPr>
          <a:xfrm>
            <a:off x="192505" y="1366684"/>
            <a:ext cx="1179094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Introdução: Otimização de Infraestrutura </a:t>
            </a:r>
          </a:p>
        </p:txBody>
      </p:sp>
      <p:pic>
        <p:nvPicPr>
          <p:cNvPr id="3" name="Imagem 2" descr="Uma imagem com edifício, veículo, Veículo terrestre, carro&#10;&#10;Os conteúdos gerados por IA podem estar incorretos.">
            <a:extLst>
              <a:ext uri="{FF2B5EF4-FFF2-40B4-BE49-F238E27FC236}">
                <a16:creationId xmlns:a16="http://schemas.microsoft.com/office/drawing/2014/main" id="{523273D3-0FDF-BA5D-56BC-F2CF37A6B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0" y="4543914"/>
            <a:ext cx="4635670" cy="21643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Gráfico 6" descr="Perigo destaque">
            <a:extLst>
              <a:ext uri="{FF2B5EF4-FFF2-40B4-BE49-F238E27FC236}">
                <a16:creationId xmlns:a16="http://schemas.microsoft.com/office/drawing/2014/main" id="{ABC56D78-A0D8-1BBE-18A6-1427A9126E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57848" y="4604980"/>
            <a:ext cx="1704750" cy="1704750"/>
          </a:xfrm>
          <a:prstGeom prst="rect">
            <a:avLst/>
          </a:prstGeom>
        </p:spPr>
      </p:pic>
      <p:pic>
        <p:nvPicPr>
          <p:cNvPr id="11" name="Gráfico 10" descr="Carro destaque">
            <a:extLst>
              <a:ext uri="{FF2B5EF4-FFF2-40B4-BE49-F238E27FC236}">
                <a16:creationId xmlns:a16="http://schemas.microsoft.com/office/drawing/2014/main" id="{253FF56A-CFDB-BE8E-D7F3-E1C572407C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7432" y="3288050"/>
            <a:ext cx="717354" cy="717354"/>
          </a:xfrm>
          <a:prstGeom prst="rect">
            <a:avLst/>
          </a:prstGeom>
        </p:spPr>
      </p:pic>
      <p:pic>
        <p:nvPicPr>
          <p:cNvPr id="15" name="Gráfico 14" descr="Cubo destaque">
            <a:extLst>
              <a:ext uri="{FF2B5EF4-FFF2-40B4-BE49-F238E27FC236}">
                <a16:creationId xmlns:a16="http://schemas.microsoft.com/office/drawing/2014/main" id="{CC693822-62F6-7131-87BA-58E8D30E48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232949" y="2126828"/>
            <a:ext cx="1954548" cy="195454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97F7886-19DB-FCB6-7EE2-8DD9C7729FF7}"/>
              </a:ext>
            </a:extLst>
          </p:cNvPr>
          <p:cNvSpPr txBox="1"/>
          <p:nvPr/>
        </p:nvSpPr>
        <p:spPr>
          <a:xfrm>
            <a:off x="5920144" y="5799224"/>
            <a:ext cx="924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3CAED81-D11A-57DB-5020-DF8DFE87D87C}"/>
              </a:ext>
            </a:extLst>
          </p:cNvPr>
          <p:cNvSpPr txBox="1"/>
          <p:nvPr/>
        </p:nvSpPr>
        <p:spPr>
          <a:xfrm>
            <a:off x="5452837" y="2014965"/>
            <a:ext cx="1533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Ocupação e Fluxo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3C5A0A1-ADC6-57E3-C6F1-63CFC79E5592}"/>
              </a:ext>
            </a:extLst>
          </p:cNvPr>
          <p:cNvSpPr txBox="1"/>
          <p:nvPr/>
        </p:nvSpPr>
        <p:spPr>
          <a:xfrm>
            <a:off x="5452838" y="3959945"/>
            <a:ext cx="15336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Necessidade de Monitorização Integrada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89493FA-85F7-03DF-6A0A-88D8CD90D992}"/>
              </a:ext>
            </a:extLst>
          </p:cNvPr>
          <p:cNvSpPr txBox="1"/>
          <p:nvPr/>
        </p:nvSpPr>
        <p:spPr>
          <a:xfrm>
            <a:off x="5495684" y="6134096"/>
            <a:ext cx="1533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Risco de Qualidade do Ar</a:t>
            </a:r>
          </a:p>
        </p:txBody>
      </p:sp>
      <p:pic>
        <p:nvPicPr>
          <p:cNvPr id="21" name="Gráfico 20" descr="Seta: Reta destaque">
            <a:extLst>
              <a:ext uri="{FF2B5EF4-FFF2-40B4-BE49-F238E27FC236}">
                <a16:creationId xmlns:a16="http://schemas.microsoft.com/office/drawing/2014/main" id="{129A9BD8-703D-A266-EBF3-5DF6402EB8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76164" y="3468318"/>
            <a:ext cx="506323" cy="506323"/>
          </a:xfrm>
          <a:prstGeom prst="rect">
            <a:avLst/>
          </a:prstGeom>
        </p:spPr>
      </p:pic>
      <p:grpSp>
        <p:nvGrpSpPr>
          <p:cNvPr id="88" name="Agrupar 87">
            <a:extLst>
              <a:ext uri="{FF2B5EF4-FFF2-40B4-BE49-F238E27FC236}">
                <a16:creationId xmlns:a16="http://schemas.microsoft.com/office/drawing/2014/main" id="{E6A0AF6B-3104-CC45-E420-91845ADF330F}"/>
              </a:ext>
            </a:extLst>
          </p:cNvPr>
          <p:cNvGrpSpPr/>
          <p:nvPr/>
        </p:nvGrpSpPr>
        <p:grpSpPr>
          <a:xfrm>
            <a:off x="8164673" y="1951459"/>
            <a:ext cx="3678984" cy="2337580"/>
            <a:chOff x="8531386" y="1970976"/>
            <a:chExt cx="3674907" cy="2762777"/>
          </a:xfrm>
        </p:grpSpPr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37336462-F820-3E11-3F67-037FBF3CB652}"/>
                </a:ext>
              </a:extLst>
            </p:cNvPr>
            <p:cNvGrpSpPr/>
            <p:nvPr/>
          </p:nvGrpSpPr>
          <p:grpSpPr>
            <a:xfrm>
              <a:off x="8531386" y="2134956"/>
              <a:ext cx="3128440" cy="2320482"/>
              <a:chOff x="8343260" y="1939014"/>
              <a:chExt cx="3506302" cy="2912440"/>
            </a:xfrm>
          </p:grpSpPr>
          <p:pic>
            <p:nvPicPr>
              <p:cNvPr id="25" name="Gráfico 24" descr="Radioativo destaque">
                <a:extLst>
                  <a:ext uri="{FF2B5EF4-FFF2-40B4-BE49-F238E27FC236}">
                    <a16:creationId xmlns:a16="http://schemas.microsoft.com/office/drawing/2014/main" id="{BA65B79B-5C19-2DD4-64A2-1BD08FD114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914154" y="4225202"/>
                <a:ext cx="489287" cy="489287"/>
              </a:xfrm>
              <a:prstGeom prst="rect">
                <a:avLst/>
              </a:prstGeom>
            </p:spPr>
          </p:pic>
          <p:pic>
            <p:nvPicPr>
              <p:cNvPr id="27" name="Gráfico 26" descr="Informática na Nuvem destaque">
                <a:extLst>
                  <a:ext uri="{FF2B5EF4-FFF2-40B4-BE49-F238E27FC236}">
                    <a16:creationId xmlns:a16="http://schemas.microsoft.com/office/drawing/2014/main" id="{0FF13B30-B15D-38FB-E2D5-73CA65A147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8799329" y="213149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9" name="Gráfico 28" descr="Nuvem destaque">
                <a:extLst>
                  <a:ext uri="{FF2B5EF4-FFF2-40B4-BE49-F238E27FC236}">
                    <a16:creationId xmlns:a16="http://schemas.microsoft.com/office/drawing/2014/main" id="{C1EC1D2A-9B0C-3137-01C9-06447DAF3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942038" y="4272292"/>
                <a:ext cx="506323" cy="506323"/>
              </a:xfrm>
              <a:prstGeom prst="rect">
                <a:avLst/>
              </a:prstGeom>
            </p:spPr>
          </p:pic>
          <p:pic>
            <p:nvPicPr>
              <p:cNvPr id="31" name="Gráfico 30" descr="Salpicos destaque">
                <a:extLst>
                  <a:ext uri="{FF2B5EF4-FFF2-40B4-BE49-F238E27FC236}">
                    <a16:creationId xmlns:a16="http://schemas.microsoft.com/office/drawing/2014/main" id="{ED555B98-DE16-5604-C521-AE1BD97FF9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8343260" y="4257029"/>
                <a:ext cx="534834" cy="534834"/>
              </a:xfrm>
              <a:prstGeom prst="rect">
                <a:avLst/>
              </a:prstGeom>
            </p:spPr>
          </p:pic>
          <p:pic>
            <p:nvPicPr>
              <p:cNvPr id="33" name="Gráfico 32" descr="Termómetro destaque">
                <a:extLst>
                  <a:ext uri="{FF2B5EF4-FFF2-40B4-BE49-F238E27FC236}">
                    <a16:creationId xmlns:a16="http://schemas.microsoft.com/office/drawing/2014/main" id="{5780E75D-DF5E-1DCA-427D-15C94143AB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9408369" y="4242430"/>
                <a:ext cx="505785" cy="505785"/>
              </a:xfrm>
              <a:prstGeom prst="rect">
                <a:avLst/>
              </a:prstGeom>
            </p:spPr>
          </p:pic>
          <p:pic>
            <p:nvPicPr>
              <p:cNvPr id="35" name="Gráfico 34" descr="Router sem fios destaque">
                <a:extLst>
                  <a:ext uri="{FF2B5EF4-FFF2-40B4-BE49-F238E27FC236}">
                    <a16:creationId xmlns:a16="http://schemas.microsoft.com/office/drawing/2014/main" id="{AD686586-2266-7B09-F3BC-FA78554F33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 rot="1636331">
                <a:off x="9941276" y="3351030"/>
                <a:ext cx="665115" cy="665115"/>
              </a:xfrm>
              <a:prstGeom prst="rect">
                <a:avLst/>
              </a:prstGeom>
            </p:spPr>
          </p:pic>
          <p:pic>
            <p:nvPicPr>
              <p:cNvPr id="37" name="Gráfico 36" descr="smartphone destaque">
                <a:extLst>
                  <a:ext uri="{FF2B5EF4-FFF2-40B4-BE49-F238E27FC236}">
                    <a16:creationId xmlns:a16="http://schemas.microsoft.com/office/drawing/2014/main" id="{4C866572-26C8-257D-6332-A1955B73D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 rot="1631435">
                <a:off x="11264788" y="2313217"/>
                <a:ext cx="584774" cy="584773"/>
              </a:xfrm>
              <a:prstGeom prst="rect">
                <a:avLst/>
              </a:prstGeom>
            </p:spPr>
          </p:pic>
          <p:pic>
            <p:nvPicPr>
              <p:cNvPr id="39" name="Gráfico 38" descr="Monitor destaque">
                <a:extLst>
                  <a:ext uri="{FF2B5EF4-FFF2-40B4-BE49-F238E27FC236}">
                    <a16:creationId xmlns:a16="http://schemas.microsoft.com/office/drawing/2014/main" id="{F7A4DECC-0BE5-AD2D-FE53-6D7437688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 rot="1532004">
                <a:off x="10674394" y="1939014"/>
                <a:ext cx="747250" cy="747250"/>
              </a:xfrm>
              <a:prstGeom prst="rect">
                <a:avLst/>
              </a:prstGeom>
            </p:spPr>
          </p:pic>
          <p:cxnSp>
            <p:nvCxnSpPr>
              <p:cNvPr id="41" name="Conexão reta unidirecional 40">
                <a:extLst>
                  <a:ext uri="{FF2B5EF4-FFF2-40B4-BE49-F238E27FC236}">
                    <a16:creationId xmlns:a16="http://schemas.microsoft.com/office/drawing/2014/main" id="{32A5BF8B-2E1F-DBD4-5890-B85B2F813C8E}"/>
                  </a:ext>
                </a:extLst>
              </p:cNvPr>
              <p:cNvCxnSpPr>
                <a:cxnSpLocks/>
                <a:endCxn id="35" idx="2"/>
              </p:cNvCxnSpPr>
              <p:nvPr/>
            </p:nvCxnSpPr>
            <p:spPr>
              <a:xfrm flipV="1">
                <a:off x="8466752" y="3979177"/>
                <a:ext cx="1671004" cy="2107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xão reta unidirecional 42">
                <a:extLst>
                  <a:ext uri="{FF2B5EF4-FFF2-40B4-BE49-F238E27FC236}">
                    <a16:creationId xmlns:a16="http://schemas.microsoft.com/office/drawing/2014/main" id="{876A87CB-D97E-9E10-2421-928EC9B6D091}"/>
                  </a:ext>
                </a:extLst>
              </p:cNvPr>
              <p:cNvCxnSpPr>
                <a:cxnSpLocks/>
                <a:stCxn id="29" idx="0"/>
              </p:cNvCxnSpPr>
              <p:nvPr/>
            </p:nvCxnSpPr>
            <p:spPr>
              <a:xfrm flipV="1">
                <a:off x="9195200" y="3981321"/>
                <a:ext cx="956139" cy="2909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xão reta unidirecional 44">
                <a:extLst>
                  <a:ext uri="{FF2B5EF4-FFF2-40B4-BE49-F238E27FC236}">
                    <a16:creationId xmlns:a16="http://schemas.microsoft.com/office/drawing/2014/main" id="{4D43ED29-19AF-7C66-B209-5D706B7CC440}"/>
                  </a:ext>
                </a:extLst>
              </p:cNvPr>
              <p:cNvCxnSpPr>
                <a:cxnSpLocks/>
                <a:endCxn id="35" idx="2"/>
              </p:cNvCxnSpPr>
              <p:nvPr/>
            </p:nvCxnSpPr>
            <p:spPr>
              <a:xfrm flipV="1">
                <a:off x="9569805" y="3979177"/>
                <a:ext cx="567952" cy="1935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xão reta unidirecional 49">
                <a:extLst>
                  <a:ext uri="{FF2B5EF4-FFF2-40B4-BE49-F238E27FC236}">
                    <a16:creationId xmlns:a16="http://schemas.microsoft.com/office/drawing/2014/main" id="{EBDD999A-C67F-2A1C-E45F-6717F14BA469}"/>
                  </a:ext>
                </a:extLst>
              </p:cNvPr>
              <p:cNvCxnSpPr>
                <a:cxnSpLocks/>
                <a:endCxn id="35" idx="2"/>
              </p:cNvCxnSpPr>
              <p:nvPr/>
            </p:nvCxnSpPr>
            <p:spPr>
              <a:xfrm flipV="1">
                <a:off x="10007415" y="3979177"/>
                <a:ext cx="130341" cy="14791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xão reta unidirecional 51">
                <a:extLst>
                  <a:ext uri="{FF2B5EF4-FFF2-40B4-BE49-F238E27FC236}">
                    <a16:creationId xmlns:a16="http://schemas.microsoft.com/office/drawing/2014/main" id="{FD3BADD1-243B-D91C-122D-E8870247CAA2}"/>
                  </a:ext>
                </a:extLst>
              </p:cNvPr>
              <p:cNvCxnSpPr/>
              <p:nvPr/>
            </p:nvCxnSpPr>
            <p:spPr>
              <a:xfrm flipH="1" flipV="1">
                <a:off x="9256529" y="3064214"/>
                <a:ext cx="761359" cy="3647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xão reta unidirecional 53">
                <a:extLst>
                  <a:ext uri="{FF2B5EF4-FFF2-40B4-BE49-F238E27FC236}">
                    <a16:creationId xmlns:a16="http://schemas.microsoft.com/office/drawing/2014/main" id="{6AEF57EC-68DE-FA53-404B-D5D7EF22AA4D}"/>
                  </a:ext>
                </a:extLst>
              </p:cNvPr>
              <p:cNvCxnSpPr>
                <a:cxnSpLocks/>
                <a:stCxn id="62" idx="2"/>
                <a:endCxn id="35" idx="0"/>
              </p:cNvCxnSpPr>
              <p:nvPr/>
            </p:nvCxnSpPr>
            <p:spPr>
              <a:xfrm flipH="1">
                <a:off x="10409910" y="3272974"/>
                <a:ext cx="89264" cy="1150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Chaveta à direita 54">
                <a:extLst>
                  <a:ext uri="{FF2B5EF4-FFF2-40B4-BE49-F238E27FC236}">
                    <a16:creationId xmlns:a16="http://schemas.microsoft.com/office/drawing/2014/main" id="{CB3A87E2-6083-C40B-F36C-97774FA0BE60}"/>
                  </a:ext>
                </a:extLst>
              </p:cNvPr>
              <p:cNvSpPr/>
              <p:nvPr/>
            </p:nvSpPr>
            <p:spPr>
              <a:xfrm rot="1603959">
                <a:off x="11290748" y="2859002"/>
                <a:ext cx="347650" cy="1992452"/>
              </a:xfrm>
              <a:prstGeom prst="rightBrace">
                <a:avLst>
                  <a:gd name="adj1" fmla="val 8333"/>
                  <a:gd name="adj2" fmla="val 49766"/>
                </a:avLst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PT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6" name="Conexão reta unidirecional 55">
                <a:extLst>
                  <a:ext uri="{FF2B5EF4-FFF2-40B4-BE49-F238E27FC236}">
                    <a16:creationId xmlns:a16="http://schemas.microsoft.com/office/drawing/2014/main" id="{17F3EFD8-88F3-8B70-04A0-9BA939B420C2}"/>
                  </a:ext>
                </a:extLst>
              </p:cNvPr>
              <p:cNvCxnSpPr>
                <a:cxnSpLocks/>
                <a:stCxn id="27" idx="3"/>
                <a:endCxn id="39" idx="1"/>
              </p:cNvCxnSpPr>
              <p:nvPr/>
            </p:nvCxnSpPr>
            <p:spPr>
              <a:xfrm flipV="1">
                <a:off x="9713729" y="2132292"/>
                <a:ext cx="997156" cy="4564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2" name="Gráfico 61" descr="Wi-Fi destaque">
              <a:extLst>
                <a:ext uri="{FF2B5EF4-FFF2-40B4-BE49-F238E27FC236}">
                  <a16:creationId xmlns:a16="http://schemas.microsoft.com/office/drawing/2014/main" id="{22D74A25-1AF1-2F41-0072-FE9A887E3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 rot="2057758">
              <a:off x="10360763" y="2750135"/>
              <a:ext cx="431587" cy="431587"/>
            </a:xfrm>
            <a:prstGeom prst="rect">
              <a:avLst/>
            </a:prstGeom>
          </p:spPr>
        </p:pic>
        <p:cxnSp>
          <p:nvCxnSpPr>
            <p:cNvPr id="72" name="Conexão reta unidirecional 71">
              <a:extLst>
                <a:ext uri="{FF2B5EF4-FFF2-40B4-BE49-F238E27FC236}">
                  <a16:creationId xmlns:a16="http://schemas.microsoft.com/office/drawing/2014/main" id="{3C84F314-807C-BBD9-D767-31BA011F9CD6}"/>
                </a:ext>
              </a:extLst>
            </p:cNvPr>
            <p:cNvCxnSpPr>
              <a:cxnSpLocks/>
              <a:stCxn id="62" idx="0"/>
              <a:endCxn id="39" idx="2"/>
            </p:cNvCxnSpPr>
            <p:nvPr/>
          </p:nvCxnSpPr>
          <p:spPr>
            <a:xfrm flipV="1">
              <a:off x="10698150" y="2701253"/>
              <a:ext cx="118200" cy="864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id="{9247C707-1D37-9175-F074-C8EDE774825D}"/>
                </a:ext>
              </a:extLst>
            </p:cNvPr>
            <p:cNvSpPr txBox="1"/>
            <p:nvPr/>
          </p:nvSpPr>
          <p:spPr>
            <a:xfrm>
              <a:off x="8585756" y="2036364"/>
              <a:ext cx="705759" cy="327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Nuvem</a:t>
              </a:r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E08F4971-7DC7-DD4D-E3AF-ECD6A2855D90}"/>
                </a:ext>
              </a:extLst>
            </p:cNvPr>
            <p:cNvSpPr txBox="1"/>
            <p:nvPr/>
          </p:nvSpPr>
          <p:spPr>
            <a:xfrm>
              <a:off x="10523545" y="3030567"/>
              <a:ext cx="705759" cy="327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Wi-Fi</a:t>
              </a:r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id="{FBC30CCF-6594-3CFD-14A4-88BDA30C3B20}"/>
                </a:ext>
              </a:extLst>
            </p:cNvPr>
            <p:cNvSpPr txBox="1"/>
            <p:nvPr/>
          </p:nvSpPr>
          <p:spPr>
            <a:xfrm>
              <a:off x="11316597" y="1970976"/>
              <a:ext cx="889696" cy="545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Interface de Gestão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235E306C-5785-9046-F38E-9B7361956561}"/>
                </a:ext>
              </a:extLst>
            </p:cNvPr>
            <p:cNvSpPr txBox="1"/>
            <p:nvPr/>
          </p:nvSpPr>
          <p:spPr>
            <a:xfrm>
              <a:off x="11279956" y="3750488"/>
              <a:ext cx="889696" cy="545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Arquitetura fim-a-fim</a:t>
              </a:r>
            </a:p>
          </p:txBody>
        </p:sp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CBC53AC1-1773-38ED-53FA-CF920304E12D}"/>
                </a:ext>
              </a:extLst>
            </p:cNvPr>
            <p:cNvSpPr txBox="1"/>
            <p:nvPr/>
          </p:nvSpPr>
          <p:spPr>
            <a:xfrm>
              <a:off x="8992863" y="4406369"/>
              <a:ext cx="1383735" cy="327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Camada Física</a:t>
              </a:r>
            </a:p>
          </p:txBody>
        </p:sp>
      </p:grp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6B39EE39-CCC6-216F-1C3D-4206D5E2342A}"/>
              </a:ext>
            </a:extLst>
          </p:cNvPr>
          <p:cNvSpPr txBox="1"/>
          <p:nvPr/>
        </p:nvSpPr>
        <p:spPr>
          <a:xfrm>
            <a:off x="396797" y="2112104"/>
            <a:ext cx="3953966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Contexto: O Campus de Azurém enfrenta desafios devido à elevada procura de estacionamento.</a:t>
            </a:r>
          </a:p>
          <a:p>
            <a:pPr algn="just"/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Solução Proposta: Sistema IoT para gestão de parques subterrâneos com foco na monitorização ambiental e sustentabilidade.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CA34FF8F-C9CC-75AB-B95A-1065D6E88207}"/>
              </a:ext>
            </a:extLst>
          </p:cNvPr>
          <p:cNvSpPr txBox="1"/>
          <p:nvPr/>
        </p:nvSpPr>
        <p:spPr>
          <a:xfrm>
            <a:off x="7895940" y="4663923"/>
            <a:ext cx="4069639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Principal: Implementar uma arquitetura "fim-a-fim", evitando o uso de componentes isolados.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Integração: Conexão robusta entre a camada física (sensores) e a interface de gestão na Cloud.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03FCBE45-5952-C33F-87E3-55E9F399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610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87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D4D8-82CA-BACF-ECB7-6CF4BE25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DE95ED8E-BCA8-008C-8DEF-05C7A2AC216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A9297DAD-453F-29D1-71D4-2C7C2F94F857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8A112D6-A38E-EB8B-1128-BAB225AA5A7F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Visão Global da Arquitetura</a:t>
            </a:r>
            <a:endParaRPr lang="pt-P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162821-5460-D164-B3DB-7C538D0F75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67716" y="2072118"/>
            <a:ext cx="2770098" cy="47109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B5C468E-447F-B8A4-24C2-3E20BFBE49EB}"/>
              </a:ext>
            </a:extLst>
          </p:cNvPr>
          <p:cNvSpPr txBox="1"/>
          <p:nvPr/>
        </p:nvSpPr>
        <p:spPr>
          <a:xfrm>
            <a:off x="629264" y="2361108"/>
            <a:ext cx="6338580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Abordagem "Fim-a-Fim": </a:t>
            </a:r>
          </a:p>
          <a:p>
            <a:pPr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Sensores - Rede - Cloud.</a:t>
            </a:r>
          </a:p>
          <a:p>
            <a:pPr algn="just">
              <a:lnSpc>
                <a:spcPct val="150000"/>
              </a:lnSpc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Três camadas principais: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Perceção: Sensores e Atuadores (Simulação CupCarbon).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Rede: Infraestrutura IP (Emulada  no GNS3).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Cloud: Serviços e Aplicações (Docker).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4F159C2-E083-DF7C-CFCD-B52E385B9F8B}"/>
              </a:ext>
            </a:extLst>
          </p:cNvPr>
          <p:cNvSpPr/>
          <p:nvPr/>
        </p:nvSpPr>
        <p:spPr>
          <a:xfrm>
            <a:off x="7583424" y="1993536"/>
            <a:ext cx="1420368" cy="1012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63ABD6E-9B9E-87A4-A94E-EEE6BAF1B2EB}"/>
              </a:ext>
            </a:extLst>
          </p:cNvPr>
          <p:cNvSpPr/>
          <p:nvPr/>
        </p:nvSpPr>
        <p:spPr>
          <a:xfrm>
            <a:off x="7632397" y="3005922"/>
            <a:ext cx="1420368" cy="1012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C63BA6A-0916-C90C-80C6-77514F408BDB}"/>
              </a:ext>
            </a:extLst>
          </p:cNvPr>
          <p:cNvSpPr/>
          <p:nvPr/>
        </p:nvSpPr>
        <p:spPr>
          <a:xfrm>
            <a:off x="7632396" y="4018308"/>
            <a:ext cx="2805417" cy="2839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54EAA2A-7C22-F2D7-0A03-2FFC84D92809}"/>
              </a:ext>
            </a:extLst>
          </p:cNvPr>
          <p:cNvSpPr/>
          <p:nvPr/>
        </p:nvSpPr>
        <p:spPr>
          <a:xfrm>
            <a:off x="9052764" y="3005922"/>
            <a:ext cx="1420368" cy="10123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357DCE04-C69C-0D63-2EBF-822DF222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1356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B87D-706B-0E60-9189-83051785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A881326-1707-E6FD-3B10-8A9CFE8E1392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50E7EE31-9A95-ACA1-B22A-64EC1379BA96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8DD4328-4045-83C3-6617-E1AB592F8892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Fase A - Infraestrutura de Rede (GNS3)</a:t>
            </a:r>
            <a:endParaRPr lang="pt-P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 descr="Uma imagem com texto, diagrama, captura de ecrã, file&#10;&#10;Os conteúdos gerados por IA podem estar incorretos.">
            <a:extLst>
              <a:ext uri="{FF2B5EF4-FFF2-40B4-BE49-F238E27FC236}">
                <a16:creationId xmlns:a16="http://schemas.microsoft.com/office/drawing/2014/main" id="{486001E8-A7B3-6EF4-F401-50E97F69D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641" y="2147068"/>
            <a:ext cx="5022015" cy="452667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799BF44-E422-9B81-DEC8-B25A5E65FC76}"/>
              </a:ext>
            </a:extLst>
          </p:cNvPr>
          <p:cNvSpPr txBox="1"/>
          <p:nvPr/>
        </p:nvSpPr>
        <p:spPr>
          <a:xfrm>
            <a:off x="6524425" y="2610157"/>
            <a:ext cx="5667574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Topologia em Malha: Redundância entre routers.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Segurança e Isolamento: Segmentação de rede e NAT.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Resiliência: DNS interno e caminhos alternativos.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73A6BDA-2969-97CB-1829-3592659F7430}"/>
              </a:ext>
            </a:extLst>
          </p:cNvPr>
          <p:cNvSpPr txBox="1"/>
          <p:nvPr/>
        </p:nvSpPr>
        <p:spPr>
          <a:xfrm>
            <a:off x="6524425" y="4557927"/>
            <a:ext cx="5513245" cy="171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Rotas estáticas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Rotas automáticas (OSPF)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Comunicação com o exterior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 ao nível da rede por round robin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2DEB6E7-050C-A72A-62EE-B90BDA3B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6757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5D91D-87BD-C81C-6F47-003FCF35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276E3970-16AC-7C9E-E2F8-81CBA9E18A58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9C79DEC0-CA45-A9F8-7D1A-B6A91D0F3473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A58B4B0-CFAA-2B63-5D7F-6B58A3D37F93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Fase B – Rede de Sensores (CupCarbon)</a:t>
            </a:r>
            <a:endParaRPr lang="pt-P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E7B07CF-F891-9484-65FD-1AEB9EE49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740" y="2465575"/>
            <a:ext cx="7689984" cy="40398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C04998C-75A2-0C1F-C615-67B79B3A8E52}"/>
              </a:ext>
            </a:extLst>
          </p:cNvPr>
          <p:cNvSpPr txBox="1"/>
          <p:nvPr/>
        </p:nvSpPr>
        <p:spPr>
          <a:xfrm>
            <a:off x="7540559" y="2307816"/>
            <a:ext cx="3919921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Protocolo ZigBee (IEEE 802.15.4)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Monitorização Híbrida: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Estacionamento (Sensores Ultrassónicos).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Ambiental (Sensores CO2, Temperatura, PM10 e Humidade).</a:t>
            </a:r>
          </a:p>
          <a:p>
            <a:pPr lvl="1" algn="just">
              <a:lnSpc>
                <a:spcPct val="150000"/>
              </a:lnSpc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Atuação Local: Ventiladores ativam sem dependência da Cloud.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E85DC457-88FE-82E3-7A52-E7A24999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2244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37266-0097-240B-4F93-7B2F1ACC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CE12F5F5-21B3-0F7D-8273-60205A9969FD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14773FA5-3053-B037-B188-4E4EE45EB7FE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604D436-0F79-3631-79D9-C04DEEE66DD6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Fase C – Plataforma Cloud (Docker)</a:t>
            </a:r>
            <a:endParaRPr lang="pt-P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465BE98-3550-B211-B111-7D5F0C8044A2}"/>
              </a:ext>
            </a:extLst>
          </p:cNvPr>
          <p:cNvSpPr txBox="1"/>
          <p:nvPr/>
        </p:nvSpPr>
        <p:spPr>
          <a:xfrm>
            <a:off x="195060" y="2141127"/>
            <a:ext cx="6583121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 Serviços: Contentores Docker isolados.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Escalabilidade: Balanceamento de Carga (NGINX).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Redundância: Réplicas de API e Brokers MQTT.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Persistência: Base de Dados Centralizada (MySQL).</a:t>
            </a:r>
          </a:p>
        </p:txBody>
      </p:sp>
      <p:pic>
        <p:nvPicPr>
          <p:cNvPr id="7" name="Imagem 6" descr="Uma imagem com texto, diagrama, captura de ecrã, Esquema&#10;&#10;Os conteúdos gerados por IA podem estar incorretos.">
            <a:extLst>
              <a:ext uri="{FF2B5EF4-FFF2-40B4-BE49-F238E27FC236}">
                <a16:creationId xmlns:a16="http://schemas.microsoft.com/office/drawing/2014/main" id="{2775DA14-1F55-E730-F068-E86664AC9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1379" y="2019796"/>
            <a:ext cx="2596221" cy="4819055"/>
          </a:xfrm>
          <a:prstGeom prst="rect">
            <a:avLst/>
          </a:prstGeom>
        </p:spPr>
      </p:pic>
      <p:pic>
        <p:nvPicPr>
          <p:cNvPr id="10" name="Imagem 9" descr="Uma imagem com file, diagrama&#10;&#10;Os conteúdos gerados por IA podem estar incorretos.">
            <a:extLst>
              <a:ext uri="{FF2B5EF4-FFF2-40B4-BE49-F238E27FC236}">
                <a16:creationId xmlns:a16="http://schemas.microsoft.com/office/drawing/2014/main" id="{F4F04529-41D9-61BD-6068-6C935984EE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" t="7540" r="-1" b="16751"/>
          <a:stretch>
            <a:fillRect/>
          </a:stretch>
        </p:blipFill>
        <p:spPr>
          <a:xfrm>
            <a:off x="1242354" y="4035364"/>
            <a:ext cx="4932302" cy="2596041"/>
          </a:xfrm>
          <a:prstGeom prst="rect">
            <a:avLst/>
          </a:prstGeom>
        </p:spPr>
      </p:pic>
      <p:sp>
        <p:nvSpPr>
          <p:cNvPr id="2" name="Cilindro 1">
            <a:extLst>
              <a:ext uri="{FF2B5EF4-FFF2-40B4-BE49-F238E27FC236}">
                <a16:creationId xmlns:a16="http://schemas.microsoft.com/office/drawing/2014/main" id="{DA3DC603-78B7-E3BA-4F8A-52E5BA45462C}"/>
              </a:ext>
            </a:extLst>
          </p:cNvPr>
          <p:cNvSpPr/>
          <p:nvPr/>
        </p:nvSpPr>
        <p:spPr>
          <a:xfrm>
            <a:off x="8531371" y="4215765"/>
            <a:ext cx="356235" cy="118110"/>
          </a:xfrm>
          <a:prstGeom prst="can">
            <a:avLst/>
          </a:prstGeom>
          <a:solidFill>
            <a:srgbClr val="C9030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Redis</a:t>
            </a:r>
          </a:p>
        </p:txBody>
      </p:sp>
      <p:cxnSp>
        <p:nvCxnSpPr>
          <p:cNvPr id="8" name="Conexão: Ângulo Reto 7">
            <a:extLst>
              <a:ext uri="{FF2B5EF4-FFF2-40B4-BE49-F238E27FC236}">
                <a16:creationId xmlns:a16="http://schemas.microsoft.com/office/drawing/2014/main" id="{76278B64-6675-0AF2-6082-FC81F981535C}"/>
              </a:ext>
            </a:extLst>
          </p:cNvPr>
          <p:cNvCxnSpPr>
            <a:endCxn id="2" idx="2"/>
          </p:cNvCxnSpPr>
          <p:nvPr/>
        </p:nvCxnSpPr>
        <p:spPr>
          <a:xfrm flipV="1">
            <a:off x="7891780" y="4274820"/>
            <a:ext cx="639591" cy="236220"/>
          </a:xfrm>
          <a:prstGeom prst="bentConnector3">
            <a:avLst>
              <a:gd name="adj1" fmla="val 75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xão: Ângulo Reto 10">
            <a:extLst>
              <a:ext uri="{FF2B5EF4-FFF2-40B4-BE49-F238E27FC236}">
                <a16:creationId xmlns:a16="http://schemas.microsoft.com/office/drawing/2014/main" id="{781EA1E1-A8FD-553C-BF28-C01CEBD3E279}"/>
              </a:ext>
            </a:extLst>
          </p:cNvPr>
          <p:cNvCxnSpPr>
            <a:cxnSpLocks/>
            <a:endCxn id="2" idx="4"/>
          </p:cNvCxnSpPr>
          <p:nvPr/>
        </p:nvCxnSpPr>
        <p:spPr>
          <a:xfrm rot="10800000">
            <a:off x="8887606" y="4274820"/>
            <a:ext cx="660254" cy="236220"/>
          </a:xfrm>
          <a:prstGeom prst="bentConnector3">
            <a:avLst>
              <a:gd name="adj1" fmla="val 7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83B098EE-7589-7B37-ECED-F16F397F9105}"/>
              </a:ext>
            </a:extLst>
          </p:cNvPr>
          <p:cNvSpPr/>
          <p:nvPr/>
        </p:nvSpPr>
        <p:spPr>
          <a:xfrm>
            <a:off x="7290816" y="2706624"/>
            <a:ext cx="3023616" cy="890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9A7EC0D-5879-2632-7958-0B82B5D02291}"/>
              </a:ext>
            </a:extLst>
          </p:cNvPr>
          <p:cNvSpPr/>
          <p:nvPr/>
        </p:nvSpPr>
        <p:spPr>
          <a:xfrm>
            <a:off x="7411379" y="3596639"/>
            <a:ext cx="3023616" cy="1704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BC29547-A98F-E606-E010-707A0FE00325}"/>
              </a:ext>
            </a:extLst>
          </p:cNvPr>
          <p:cNvSpPr/>
          <p:nvPr/>
        </p:nvSpPr>
        <p:spPr>
          <a:xfrm>
            <a:off x="7290816" y="5290308"/>
            <a:ext cx="3023616" cy="1548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Marcador de Posição do Número do Diapositivo 13">
            <a:extLst>
              <a:ext uri="{FF2B5EF4-FFF2-40B4-BE49-F238E27FC236}">
                <a16:creationId xmlns:a16="http://schemas.microsoft.com/office/drawing/2014/main" id="{3BDBA2FD-7447-2E51-AA14-F7C45868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16400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B40F-5CAA-AE91-BCE8-99EEF97AF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5D0EC2BF-3FED-59B7-BE2C-873685C2621F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81161893-3342-179D-8B96-BE3C08FB292B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CFC7D75-7358-5882-80F1-8C984F57659B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Fluxo de Dados e Comunicação</a:t>
            </a:r>
            <a:endParaRPr lang="pt-P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C1D951C-472A-7942-A962-D50DB3F29AE7}"/>
              </a:ext>
            </a:extLst>
          </p:cNvPr>
          <p:cNvSpPr txBox="1"/>
          <p:nvPr/>
        </p:nvSpPr>
        <p:spPr>
          <a:xfrm>
            <a:off x="251231" y="2320363"/>
            <a:ext cx="5151341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Canais de Comunicação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(Pedidos/Resposta).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(Eventos/Tempo Real).</a:t>
            </a:r>
          </a:p>
          <a:p>
            <a:pPr lvl="1">
              <a:lnSpc>
                <a:spcPct val="150000"/>
              </a:lnSpc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Processo: Validação de identidade (Persistência).</a:t>
            </a:r>
          </a:p>
          <a:p>
            <a:pPr lvl="1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Visualização: Dashboard com consulta via API Segura.</a:t>
            </a:r>
          </a:p>
        </p:txBody>
      </p:sp>
      <p:pic>
        <p:nvPicPr>
          <p:cNvPr id="3" name="Imagem 2" descr="Uma imagem com texto, diagrama, file, captura de ecrã&#10;&#10;Os conteúdos gerados por IA podem estar incorretos.">
            <a:extLst>
              <a:ext uri="{FF2B5EF4-FFF2-40B4-BE49-F238E27FC236}">
                <a16:creationId xmlns:a16="http://schemas.microsoft.com/office/drawing/2014/main" id="{EC3DECBE-4355-6AB5-1E61-F15A367DA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573" y="2309946"/>
            <a:ext cx="6789427" cy="4018513"/>
          </a:xfrm>
          <a:prstGeom prst="rect">
            <a:avLst/>
          </a:prstGeom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96E8FC3B-35CC-5BA4-BA0A-C39E0970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1035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6CB2-B614-E90A-1C4F-654164F4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ED097FCF-7717-FCA7-AF84-B586EE6738B5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00828C48-446C-CD19-460B-551B3F020BD5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FD38133-F608-E909-1C5B-E481B90E0724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Web e Experiência do Utilizador</a:t>
            </a:r>
            <a:endParaRPr lang="pt-P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20A3BCC-1E48-CAA0-B2A7-0E4EC1C5F157}"/>
              </a:ext>
            </a:extLst>
          </p:cNvPr>
          <p:cNvSpPr txBox="1"/>
          <p:nvPr/>
        </p:nvSpPr>
        <p:spPr>
          <a:xfrm>
            <a:off x="169023" y="2178774"/>
            <a:ext cx="5850778" cy="128907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em Tempo Real: Ocupação e gráficos ambientais.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Autenticação Robusta: OAuth (Google/Microsoft) + JWT.</a:t>
            </a:r>
          </a:p>
        </p:txBody>
      </p:sp>
      <p:pic>
        <p:nvPicPr>
          <p:cNvPr id="7" name="Imagem 6" descr="Uma imagem com texto, Software de multimédia, software, design&#10;&#10;Os conteúdos gerados por IA podem estar incorretos.">
            <a:extLst>
              <a:ext uri="{FF2B5EF4-FFF2-40B4-BE49-F238E27FC236}">
                <a16:creationId xmlns:a16="http://schemas.microsoft.com/office/drawing/2014/main" id="{84988B0C-D671-EAA8-0931-1BDD2E875D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32" t="21428" r="12143" b="11746"/>
          <a:stretch>
            <a:fillRect/>
          </a:stretch>
        </p:blipFill>
        <p:spPr>
          <a:xfrm>
            <a:off x="5174370" y="4037271"/>
            <a:ext cx="1750213" cy="2567385"/>
          </a:xfrm>
          <a:prstGeom prst="rect">
            <a:avLst/>
          </a:prstGeom>
        </p:spPr>
      </p:pic>
      <p:pic>
        <p:nvPicPr>
          <p:cNvPr id="9" name="Imagem 8" descr="Uma imagem com texto, software, Ícone de computador, Software de multimédia&#10;&#10;Os conteúdos gerados por IA podem estar incorretos.">
            <a:extLst>
              <a:ext uri="{FF2B5EF4-FFF2-40B4-BE49-F238E27FC236}">
                <a16:creationId xmlns:a16="http://schemas.microsoft.com/office/drawing/2014/main" id="{AF1D70B5-731F-DE75-42A6-8E9E2AB8ED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938" y="3902766"/>
            <a:ext cx="5042487" cy="2836399"/>
          </a:xfrm>
          <a:prstGeom prst="rect">
            <a:avLst/>
          </a:prstGeom>
        </p:spPr>
      </p:pic>
      <p:pic>
        <p:nvPicPr>
          <p:cNvPr id="11" name="Imagem 10" descr="Uma imagem com texto, mapa, captura de ecrã, software&#10;&#10;Os conteúdos gerados por IA podem estar incorretos.">
            <a:extLst>
              <a:ext uri="{FF2B5EF4-FFF2-40B4-BE49-F238E27FC236}">
                <a16:creationId xmlns:a16="http://schemas.microsoft.com/office/drawing/2014/main" id="{8AE7E3F2-EC9F-5507-7EE7-0B786EE6CA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5" y="3928935"/>
            <a:ext cx="4949440" cy="278405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14BB826-88E2-6033-AED2-27488C915DD0}"/>
              </a:ext>
            </a:extLst>
          </p:cNvPr>
          <p:cNvSpPr txBox="1"/>
          <p:nvPr/>
        </p:nvSpPr>
        <p:spPr>
          <a:xfrm>
            <a:off x="6172202" y="2178777"/>
            <a:ext cx="5736769" cy="16158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Perfis de Acesso: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Administrador (Gestão total).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Utilizador/Aluno (Visualização de lugares livres).</a:t>
            </a:r>
          </a:p>
          <a:p>
            <a:endParaRPr lang="pt-PT" dirty="0"/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7723CF29-4F97-CBE5-26F8-C2AE706F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1913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29D2E-8223-F62A-7E09-E042AF64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45EFE02-C567-4237-D5CA-8C62374CD633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C1E88AAA-2522-6B7D-EB9F-02EB1331B970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FDB7C4F-1A33-2AB1-60C0-269B2AB3C568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Desafios e Soluções Encontradas</a:t>
            </a:r>
            <a:endParaRPr lang="pt-P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ráfico 2" descr="Gráfico de decisões com preenchimento sólido">
            <a:extLst>
              <a:ext uri="{FF2B5EF4-FFF2-40B4-BE49-F238E27FC236}">
                <a16:creationId xmlns:a16="http://schemas.microsoft.com/office/drawing/2014/main" id="{35C1CB82-5236-5121-B062-34C9431F5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9743" y="5348028"/>
            <a:ext cx="660844" cy="660844"/>
          </a:xfrm>
          <a:prstGeom prst="rect">
            <a:avLst/>
          </a:prstGeom>
        </p:spPr>
      </p:pic>
      <p:pic>
        <p:nvPicPr>
          <p:cNvPr id="8" name="Gráfico 7" descr="Rede destaque">
            <a:extLst>
              <a:ext uri="{FF2B5EF4-FFF2-40B4-BE49-F238E27FC236}">
                <a16:creationId xmlns:a16="http://schemas.microsoft.com/office/drawing/2014/main" id="{96B762B0-2E3C-86DF-963A-45D93E86FC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3295" y="2908464"/>
            <a:ext cx="914400" cy="914400"/>
          </a:xfrm>
          <a:prstGeom prst="rect">
            <a:avLst/>
          </a:prstGeom>
        </p:spPr>
      </p:pic>
      <p:pic>
        <p:nvPicPr>
          <p:cNvPr id="10" name="Gráfico 9" descr="Diagrama de rede com preenchimento sólido">
            <a:extLst>
              <a:ext uri="{FF2B5EF4-FFF2-40B4-BE49-F238E27FC236}">
                <a16:creationId xmlns:a16="http://schemas.microsoft.com/office/drawing/2014/main" id="{659C6C02-D56E-F584-8259-A650739B91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10733950" y="2250188"/>
            <a:ext cx="914400" cy="914398"/>
          </a:xfrm>
          <a:prstGeom prst="rect">
            <a:avLst/>
          </a:prstGeom>
        </p:spPr>
      </p:pic>
      <p:pic>
        <p:nvPicPr>
          <p:cNvPr id="12" name="Gráfico 11" descr="Parar destaque">
            <a:extLst>
              <a:ext uri="{FF2B5EF4-FFF2-40B4-BE49-F238E27FC236}">
                <a16:creationId xmlns:a16="http://schemas.microsoft.com/office/drawing/2014/main" id="{9532B4BB-6DAE-CBA7-EF77-5FD324D84A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01871" y="5213677"/>
            <a:ext cx="914400" cy="914400"/>
          </a:xfrm>
          <a:prstGeom prst="rect">
            <a:avLst/>
          </a:prstGeom>
        </p:spPr>
      </p:pic>
      <p:pic>
        <p:nvPicPr>
          <p:cNvPr id="15" name="Gráfico 14" descr="Servidor destaque">
            <a:extLst>
              <a:ext uri="{FF2B5EF4-FFF2-40B4-BE49-F238E27FC236}">
                <a16:creationId xmlns:a16="http://schemas.microsoft.com/office/drawing/2014/main" id="{184C7A4C-F520-701B-FB51-FA7A338B11E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12146" y="4758166"/>
            <a:ext cx="660844" cy="660844"/>
          </a:xfrm>
          <a:prstGeom prst="rect">
            <a:avLst/>
          </a:prstGeom>
        </p:spPr>
      </p:pic>
      <p:pic>
        <p:nvPicPr>
          <p:cNvPr id="19" name="Gráfico 18" descr="Internet com preenchimento sólido">
            <a:extLst>
              <a:ext uri="{FF2B5EF4-FFF2-40B4-BE49-F238E27FC236}">
                <a16:creationId xmlns:a16="http://schemas.microsoft.com/office/drawing/2014/main" id="{68422E87-612D-F26E-A4EF-EA4ADDC518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9935" y="4995504"/>
            <a:ext cx="579172" cy="562316"/>
          </a:xfrm>
          <a:prstGeom prst="rect">
            <a:avLst/>
          </a:prstGeom>
        </p:spPr>
      </p:pic>
      <p:pic>
        <p:nvPicPr>
          <p:cNvPr id="21" name="Gráfico 20" descr="Computador destaque">
            <a:extLst>
              <a:ext uri="{FF2B5EF4-FFF2-40B4-BE49-F238E27FC236}">
                <a16:creationId xmlns:a16="http://schemas.microsoft.com/office/drawing/2014/main" id="{695A19D5-641E-9BB2-0159-F673D568A89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913533" y="4838573"/>
            <a:ext cx="660844" cy="660844"/>
          </a:xfrm>
          <a:prstGeom prst="rect">
            <a:avLst/>
          </a:prstGeom>
        </p:spPr>
      </p:pic>
      <p:pic>
        <p:nvPicPr>
          <p:cNvPr id="25" name="Gráfico 24" descr="Base de Dados destaque">
            <a:extLst>
              <a:ext uri="{FF2B5EF4-FFF2-40B4-BE49-F238E27FC236}">
                <a16:creationId xmlns:a16="http://schemas.microsoft.com/office/drawing/2014/main" id="{C9BBCDB8-75BD-FA36-2002-E6ABB02DDF7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86158" y="2663325"/>
            <a:ext cx="1153588" cy="1153588"/>
          </a:xfrm>
          <a:prstGeom prst="rect">
            <a:avLst/>
          </a:prstGeom>
        </p:spPr>
      </p:pic>
      <p:pic>
        <p:nvPicPr>
          <p:cNvPr id="27" name="Gráfico 26" descr="Base de Dados com preenchimento sólido">
            <a:extLst>
              <a:ext uri="{FF2B5EF4-FFF2-40B4-BE49-F238E27FC236}">
                <a16:creationId xmlns:a16="http://schemas.microsoft.com/office/drawing/2014/main" id="{0B1B39D3-3E17-E28E-B7A0-71D635E70AB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954415" y="2346857"/>
            <a:ext cx="914400" cy="914400"/>
          </a:xfrm>
          <a:prstGeom prst="rect">
            <a:avLst/>
          </a:prstGeom>
        </p:spPr>
      </p:pic>
      <p:pic>
        <p:nvPicPr>
          <p:cNvPr id="29" name="Gráfico 28" descr="Relógio destaque">
            <a:extLst>
              <a:ext uri="{FF2B5EF4-FFF2-40B4-BE49-F238E27FC236}">
                <a16:creationId xmlns:a16="http://schemas.microsoft.com/office/drawing/2014/main" id="{05D431C3-FEBD-6C6B-54F7-CD8E62F41C2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368" y="2106963"/>
            <a:ext cx="1153588" cy="1153588"/>
          </a:xfrm>
          <a:prstGeom prst="rect">
            <a:avLst/>
          </a:prstGeom>
        </p:spPr>
      </p:pic>
      <p:pic>
        <p:nvPicPr>
          <p:cNvPr id="33" name="Gráfico 32" descr="Servidor destaque">
            <a:extLst>
              <a:ext uri="{FF2B5EF4-FFF2-40B4-BE49-F238E27FC236}">
                <a16:creationId xmlns:a16="http://schemas.microsoft.com/office/drawing/2014/main" id="{01B9EE90-C8F9-FA41-C105-1826CEB58A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28667" y="4758166"/>
            <a:ext cx="660844" cy="660844"/>
          </a:xfrm>
          <a:prstGeom prst="rect">
            <a:avLst/>
          </a:prstGeom>
        </p:spPr>
      </p:pic>
      <p:pic>
        <p:nvPicPr>
          <p:cNvPr id="34" name="Gráfico 33" descr="Servidor destaque">
            <a:extLst>
              <a:ext uri="{FF2B5EF4-FFF2-40B4-BE49-F238E27FC236}">
                <a16:creationId xmlns:a16="http://schemas.microsoft.com/office/drawing/2014/main" id="{6C660A77-6FAF-72C3-0A98-B0837FFDD9D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12146" y="5834310"/>
            <a:ext cx="660844" cy="660844"/>
          </a:xfrm>
          <a:prstGeom prst="rect">
            <a:avLst/>
          </a:prstGeom>
        </p:spPr>
      </p:pic>
      <p:pic>
        <p:nvPicPr>
          <p:cNvPr id="35" name="Gráfico 34" descr="Servidor destaque">
            <a:extLst>
              <a:ext uri="{FF2B5EF4-FFF2-40B4-BE49-F238E27FC236}">
                <a16:creationId xmlns:a16="http://schemas.microsoft.com/office/drawing/2014/main" id="{92D56AE3-76BC-FF0C-7220-9195640A63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89287" y="5866209"/>
            <a:ext cx="660844" cy="660844"/>
          </a:xfrm>
          <a:prstGeom prst="rect">
            <a:avLst/>
          </a:prstGeom>
        </p:spPr>
      </p:pic>
      <p:pic>
        <p:nvPicPr>
          <p:cNvPr id="36" name="Gráfico 35" descr="Servidor destaque">
            <a:extLst>
              <a:ext uri="{FF2B5EF4-FFF2-40B4-BE49-F238E27FC236}">
                <a16:creationId xmlns:a16="http://schemas.microsoft.com/office/drawing/2014/main" id="{A5F1628A-56BF-73D9-D474-53E4995DDED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8315" y="5011063"/>
            <a:ext cx="1209761" cy="1209761"/>
          </a:xfrm>
          <a:prstGeom prst="rect">
            <a:avLst/>
          </a:prstGeom>
        </p:spPr>
      </p:pic>
      <p:pic>
        <p:nvPicPr>
          <p:cNvPr id="37" name="Gráfico 36" descr="Internet com preenchimento sólido">
            <a:extLst>
              <a:ext uri="{FF2B5EF4-FFF2-40B4-BE49-F238E27FC236}">
                <a16:creationId xmlns:a16="http://schemas.microsoft.com/office/drawing/2014/main" id="{A118D3FE-141E-891A-F7CA-57772B9560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62185" y="5434767"/>
            <a:ext cx="579172" cy="562316"/>
          </a:xfrm>
          <a:prstGeom prst="rect">
            <a:avLst/>
          </a:prstGeom>
        </p:spPr>
      </p:pic>
      <p:pic>
        <p:nvPicPr>
          <p:cNvPr id="38" name="Gráfico 37" descr="Computador destaque">
            <a:extLst>
              <a:ext uri="{FF2B5EF4-FFF2-40B4-BE49-F238E27FC236}">
                <a16:creationId xmlns:a16="http://schemas.microsoft.com/office/drawing/2014/main" id="{0D0EFFC2-1101-1DC3-AC72-D1CD09E9834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02848" y="5534635"/>
            <a:ext cx="660844" cy="660844"/>
          </a:xfrm>
          <a:prstGeom prst="rect">
            <a:avLst/>
          </a:prstGeom>
        </p:spPr>
      </p:pic>
      <p:pic>
        <p:nvPicPr>
          <p:cNvPr id="39" name="Gráfico 38" descr="Computador destaque">
            <a:extLst>
              <a:ext uri="{FF2B5EF4-FFF2-40B4-BE49-F238E27FC236}">
                <a16:creationId xmlns:a16="http://schemas.microsoft.com/office/drawing/2014/main" id="{85EF9477-5D81-76A3-1351-9A6C2B78C39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88528" y="5978892"/>
            <a:ext cx="660844" cy="660844"/>
          </a:xfrm>
          <a:prstGeom prst="rect">
            <a:avLst/>
          </a:prstGeom>
        </p:spPr>
      </p:pic>
      <p:pic>
        <p:nvPicPr>
          <p:cNvPr id="40" name="Gráfico 39" descr="Internet com preenchimento sólido">
            <a:extLst>
              <a:ext uri="{FF2B5EF4-FFF2-40B4-BE49-F238E27FC236}">
                <a16:creationId xmlns:a16="http://schemas.microsoft.com/office/drawing/2014/main" id="{23265BB1-CADF-4FFD-C006-69678E58BD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4981" y="6012473"/>
            <a:ext cx="579172" cy="562316"/>
          </a:xfrm>
          <a:prstGeom prst="rect">
            <a:avLst/>
          </a:prstGeom>
        </p:spPr>
      </p:pic>
      <p:pic>
        <p:nvPicPr>
          <p:cNvPr id="41" name="Gráfico 40" descr="Internet com preenchimento sólido">
            <a:extLst>
              <a:ext uri="{FF2B5EF4-FFF2-40B4-BE49-F238E27FC236}">
                <a16:creationId xmlns:a16="http://schemas.microsoft.com/office/drawing/2014/main" id="{F52DB6C1-20DF-2A3A-AB61-0FDE826DC7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06785" y="4576699"/>
            <a:ext cx="579172" cy="562316"/>
          </a:xfrm>
          <a:prstGeom prst="rect">
            <a:avLst/>
          </a:prstGeom>
        </p:spPr>
      </p:pic>
      <p:pic>
        <p:nvPicPr>
          <p:cNvPr id="42" name="Gráfico 41" descr="Computador destaque">
            <a:extLst>
              <a:ext uri="{FF2B5EF4-FFF2-40B4-BE49-F238E27FC236}">
                <a16:creationId xmlns:a16="http://schemas.microsoft.com/office/drawing/2014/main" id="{0E843345-778E-7EE6-0A3C-99BFA14237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4518" y="4562171"/>
            <a:ext cx="660844" cy="660844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EEB83A6B-C522-D4F2-11F5-DD316D736F8D}"/>
              </a:ext>
            </a:extLst>
          </p:cNvPr>
          <p:cNvSpPr txBox="1"/>
          <p:nvPr/>
        </p:nvSpPr>
        <p:spPr>
          <a:xfrm>
            <a:off x="2271213" y="2162371"/>
            <a:ext cx="3237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Desafio:</a:t>
            </a: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Latência em Dados Históricos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CE4E7161-8CE3-0819-4738-9503E76D7C3A}"/>
              </a:ext>
            </a:extLst>
          </p:cNvPr>
          <p:cNvSpPr txBox="1"/>
          <p:nvPr/>
        </p:nvSpPr>
        <p:spPr>
          <a:xfrm>
            <a:off x="2374870" y="4893060"/>
            <a:ext cx="3237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Desafio:</a:t>
            </a: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Sobrecarga do Backend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7B3225B-839F-5A4F-4615-55D29EF8ABF2}"/>
              </a:ext>
            </a:extLst>
          </p:cNvPr>
          <p:cNvSpPr txBox="1"/>
          <p:nvPr/>
        </p:nvSpPr>
        <p:spPr>
          <a:xfrm>
            <a:off x="2653009" y="5663961"/>
            <a:ext cx="2843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Saturação de serviços com múltiplos dispositivos concorrentes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3431B87-2EAA-A666-437C-08D21E619D51}"/>
              </a:ext>
            </a:extLst>
          </p:cNvPr>
          <p:cNvSpPr txBox="1"/>
          <p:nvPr/>
        </p:nvSpPr>
        <p:spPr>
          <a:xfrm>
            <a:off x="2692805" y="2842607"/>
            <a:ext cx="2465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volume de leituras causou lentidão nas consultas SQL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A2C9195B-8820-54DB-432D-E3EAA3A4C177}"/>
              </a:ext>
            </a:extLst>
          </p:cNvPr>
          <p:cNvSpPr txBox="1"/>
          <p:nvPr/>
        </p:nvSpPr>
        <p:spPr>
          <a:xfrm>
            <a:off x="6609128" y="2162191"/>
            <a:ext cx="323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E11A016-9F17-E5E4-B30B-3E46A6C50848}"/>
              </a:ext>
            </a:extLst>
          </p:cNvPr>
          <p:cNvSpPr txBox="1"/>
          <p:nvPr/>
        </p:nvSpPr>
        <p:spPr>
          <a:xfrm>
            <a:off x="6609128" y="5022716"/>
            <a:ext cx="3237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64AE1C8-158B-8DD2-10E6-EEF77B029044}"/>
              </a:ext>
            </a:extLst>
          </p:cNvPr>
          <p:cNvSpPr txBox="1"/>
          <p:nvPr/>
        </p:nvSpPr>
        <p:spPr>
          <a:xfrm>
            <a:off x="6853084" y="5582948"/>
            <a:ext cx="2843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Replicação de Serviços (API/MQTT) e Load Balancing (NGINX)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85A0B2A2-7692-3EEA-0D0C-3B72C3180CEF}"/>
              </a:ext>
            </a:extLst>
          </p:cNvPr>
          <p:cNvSpPr txBox="1"/>
          <p:nvPr/>
        </p:nvSpPr>
        <p:spPr>
          <a:xfrm>
            <a:off x="6806249" y="2630332"/>
            <a:ext cx="2843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Reorganização estrutural das tabelas e otimização de queries</a:t>
            </a:r>
          </a:p>
        </p:txBody>
      </p:sp>
      <p:sp>
        <p:nvSpPr>
          <p:cNvPr id="51" name="Seta: Para a Direita 50">
            <a:extLst>
              <a:ext uri="{FF2B5EF4-FFF2-40B4-BE49-F238E27FC236}">
                <a16:creationId xmlns:a16="http://schemas.microsoft.com/office/drawing/2014/main" id="{0991964F-8CB2-6E2A-97B2-2661DACBB83E}"/>
              </a:ext>
            </a:extLst>
          </p:cNvPr>
          <p:cNvSpPr/>
          <p:nvPr/>
        </p:nvSpPr>
        <p:spPr>
          <a:xfrm>
            <a:off x="5511722" y="2646718"/>
            <a:ext cx="1005109" cy="556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eta: Para a Direita 52">
            <a:extLst>
              <a:ext uri="{FF2B5EF4-FFF2-40B4-BE49-F238E27FC236}">
                <a16:creationId xmlns:a16="http://schemas.microsoft.com/office/drawing/2014/main" id="{2A7A3408-6C55-CDEA-C0EB-5C189DCB9580}"/>
              </a:ext>
            </a:extLst>
          </p:cNvPr>
          <p:cNvSpPr/>
          <p:nvPr/>
        </p:nvSpPr>
        <p:spPr>
          <a:xfrm>
            <a:off x="5511722" y="5532297"/>
            <a:ext cx="1005109" cy="5563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94C82B9D-ADEB-A9BF-D0B4-8194AFCA8BED}"/>
              </a:ext>
            </a:extLst>
          </p:cNvPr>
          <p:cNvSpPr txBox="1"/>
          <p:nvPr/>
        </p:nvSpPr>
        <p:spPr>
          <a:xfrm>
            <a:off x="11210971" y="4523292"/>
            <a:ext cx="817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9CD2E460-19F5-5EB9-E16B-0051291C2402}"/>
              </a:ext>
            </a:extLst>
          </p:cNvPr>
          <p:cNvSpPr txBox="1"/>
          <p:nvPr/>
        </p:nvSpPr>
        <p:spPr>
          <a:xfrm>
            <a:off x="9968880" y="4523292"/>
            <a:ext cx="610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369A163-1509-089C-043D-9B6F9D242E24}"/>
              </a:ext>
            </a:extLst>
          </p:cNvPr>
          <p:cNvSpPr txBox="1"/>
          <p:nvPr/>
        </p:nvSpPr>
        <p:spPr>
          <a:xfrm>
            <a:off x="10016137" y="6441267"/>
            <a:ext cx="610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BC94318-4079-32D2-08C7-03092CCA9EA0}"/>
              </a:ext>
            </a:extLst>
          </p:cNvPr>
          <p:cNvSpPr txBox="1"/>
          <p:nvPr/>
        </p:nvSpPr>
        <p:spPr>
          <a:xfrm>
            <a:off x="11245617" y="6441267"/>
            <a:ext cx="817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A40C1D2-D1EF-5406-B187-2EFEF1F5EA30}"/>
              </a:ext>
            </a:extLst>
          </p:cNvPr>
          <p:cNvSpPr txBox="1"/>
          <p:nvPr/>
        </p:nvSpPr>
        <p:spPr>
          <a:xfrm>
            <a:off x="10555651" y="5995456"/>
            <a:ext cx="904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EA24BCC5-9810-3891-847B-7B2B9ED4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877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7" grpId="0"/>
      <p:bldP spid="48" grpId="0"/>
      <p:bldP spid="49" grpId="0"/>
      <p:bldP spid="50" grpId="0"/>
      <p:bldP spid="51" grpId="0" animBg="1"/>
      <p:bldP spid="53" grpId="0" animBg="1"/>
      <p:bldP spid="54" grpId="0"/>
      <p:bldP spid="55" grpId="0"/>
      <p:bldP spid="56" grpId="0"/>
      <p:bldP spid="57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0E996-F979-48A5-E805-D5A47BFE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>
            <a:extLst>
              <a:ext uri="{FF2B5EF4-FFF2-40B4-BE49-F238E27FC236}">
                <a16:creationId xmlns:a16="http://schemas.microsoft.com/office/drawing/2014/main" id="{0B66403A-C1D7-0BF6-9F38-0445DE6FF50F}"/>
              </a:ext>
            </a:extLst>
          </p:cNvPr>
          <p:cNvSpPr/>
          <p:nvPr/>
        </p:nvSpPr>
        <p:spPr>
          <a:xfrm>
            <a:off x="7963096" y="4337367"/>
            <a:ext cx="1580482" cy="9144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CFBBA1A-327E-667E-1E5E-796C09522C8F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35DC5119-046C-E333-9D7B-14EA3588F104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4D86D32-461F-5B9B-A12C-7CECE2C82DE8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Limitações da Simulação e o Ciclo de Atuação</a:t>
            </a:r>
            <a:endParaRPr lang="pt-P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Gráfico 19" descr="Nuvem a sincronizar destaque">
            <a:extLst>
              <a:ext uri="{FF2B5EF4-FFF2-40B4-BE49-F238E27FC236}">
                <a16:creationId xmlns:a16="http://schemas.microsoft.com/office/drawing/2014/main" id="{53DF69C1-DBC6-A9C3-82A5-E0524CC8B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3578" y="3109629"/>
            <a:ext cx="914400" cy="914400"/>
          </a:xfrm>
          <a:prstGeom prst="rect">
            <a:avLst/>
          </a:prstGeom>
        </p:spPr>
      </p:pic>
      <p:pic>
        <p:nvPicPr>
          <p:cNvPr id="23" name="Gráfico 22" descr="Processador destaque">
            <a:extLst>
              <a:ext uri="{FF2B5EF4-FFF2-40B4-BE49-F238E27FC236}">
                <a16:creationId xmlns:a16="http://schemas.microsoft.com/office/drawing/2014/main" id="{6ECD2649-8D06-BF83-82BC-46BEA7E44C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2805" y="2002103"/>
            <a:ext cx="914400" cy="914400"/>
          </a:xfrm>
          <a:prstGeom prst="rect">
            <a:avLst/>
          </a:prstGeom>
        </p:spPr>
      </p:pic>
      <p:pic>
        <p:nvPicPr>
          <p:cNvPr id="26" name="Gráfico 25" descr="Turbinas eólicas destaque">
            <a:extLst>
              <a:ext uri="{FF2B5EF4-FFF2-40B4-BE49-F238E27FC236}">
                <a16:creationId xmlns:a16="http://schemas.microsoft.com/office/drawing/2014/main" id="{92100DD4-6C9D-C8A7-6305-6EF240D507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79751" y="3040855"/>
            <a:ext cx="914400" cy="914400"/>
          </a:xfrm>
          <a:prstGeom prst="rect">
            <a:avLst/>
          </a:prstGeom>
        </p:spPr>
      </p:pic>
      <p:pic>
        <p:nvPicPr>
          <p:cNvPr id="9" name="Gráfico 8" descr="Gráfico circular com preenchimento sólido">
            <a:extLst>
              <a:ext uri="{FF2B5EF4-FFF2-40B4-BE49-F238E27FC236}">
                <a16:creationId xmlns:a16="http://schemas.microsoft.com/office/drawing/2014/main" id="{B5175A1E-4387-2C7D-70F8-3AC568771C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4151" y="4474803"/>
            <a:ext cx="643621" cy="643621"/>
          </a:xfrm>
          <a:prstGeom prst="rect">
            <a:avLst/>
          </a:prstGeom>
        </p:spPr>
      </p:pic>
      <p:pic>
        <p:nvPicPr>
          <p:cNvPr id="14" name="Gráfico 13" descr="Pandemic Flattening gráfico de linhas de curva com preenchimento sólido">
            <a:extLst>
              <a:ext uri="{FF2B5EF4-FFF2-40B4-BE49-F238E27FC236}">
                <a16:creationId xmlns:a16="http://schemas.microsoft.com/office/drawing/2014/main" id="{0435A389-F998-02F6-FAF6-41CB1E92DC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8718995" y="4461566"/>
            <a:ext cx="690452" cy="690452"/>
          </a:xfrm>
          <a:prstGeom prst="rect">
            <a:avLst/>
          </a:prstGeom>
        </p:spPr>
      </p:pic>
      <p:sp>
        <p:nvSpPr>
          <p:cNvPr id="30" name="Seta: Curvada para Baixo 29">
            <a:extLst>
              <a:ext uri="{FF2B5EF4-FFF2-40B4-BE49-F238E27FC236}">
                <a16:creationId xmlns:a16="http://schemas.microsoft.com/office/drawing/2014/main" id="{36427AB1-BFF7-6F5A-E9C9-5C0D654EDD33}"/>
              </a:ext>
            </a:extLst>
          </p:cNvPr>
          <p:cNvSpPr/>
          <p:nvPr/>
        </p:nvSpPr>
        <p:spPr>
          <a:xfrm rot="3015963">
            <a:off x="9446622" y="2361977"/>
            <a:ext cx="914400" cy="52566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eta: Curvada para Baixo 30">
            <a:extLst>
              <a:ext uri="{FF2B5EF4-FFF2-40B4-BE49-F238E27FC236}">
                <a16:creationId xmlns:a16="http://schemas.microsoft.com/office/drawing/2014/main" id="{6E44E8AD-E46B-F900-14F4-07CF4014A72D}"/>
              </a:ext>
            </a:extLst>
          </p:cNvPr>
          <p:cNvSpPr/>
          <p:nvPr/>
        </p:nvSpPr>
        <p:spPr>
          <a:xfrm rot="6675197">
            <a:off x="9708145" y="4271403"/>
            <a:ext cx="914400" cy="48579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eta: Curvada para Baixo 31">
            <a:extLst>
              <a:ext uri="{FF2B5EF4-FFF2-40B4-BE49-F238E27FC236}">
                <a16:creationId xmlns:a16="http://schemas.microsoft.com/office/drawing/2014/main" id="{298489B5-1315-F303-C78C-B6B4F7640239}"/>
              </a:ext>
            </a:extLst>
          </p:cNvPr>
          <p:cNvSpPr/>
          <p:nvPr/>
        </p:nvSpPr>
        <p:spPr>
          <a:xfrm rot="14091278">
            <a:off x="6953611" y="4279752"/>
            <a:ext cx="914400" cy="485797"/>
          </a:xfrm>
          <a:prstGeom prst="curved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Gráfico 5" descr="Aviso com preenchimento sólido">
            <a:extLst>
              <a:ext uri="{FF2B5EF4-FFF2-40B4-BE49-F238E27FC236}">
                <a16:creationId xmlns:a16="http://schemas.microsoft.com/office/drawing/2014/main" id="{DF72C471-2769-273D-F21C-5FA9D0FC991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53552" y="4278439"/>
            <a:ext cx="668924" cy="668924"/>
          </a:xfrm>
          <a:prstGeom prst="rect">
            <a:avLst/>
          </a:prstGeom>
        </p:spPr>
      </p:pic>
      <p:sp>
        <p:nvSpPr>
          <p:cNvPr id="52" name="Seta: Curvada para Baixo 51">
            <a:extLst>
              <a:ext uri="{FF2B5EF4-FFF2-40B4-BE49-F238E27FC236}">
                <a16:creationId xmlns:a16="http://schemas.microsoft.com/office/drawing/2014/main" id="{EF17602D-D921-DADD-56C8-7B9572FEFDE3}"/>
              </a:ext>
            </a:extLst>
          </p:cNvPr>
          <p:cNvSpPr/>
          <p:nvPr/>
        </p:nvSpPr>
        <p:spPr>
          <a:xfrm rot="18153428">
            <a:off x="7368591" y="2275272"/>
            <a:ext cx="914400" cy="48579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F5CE1429-C9ED-FD48-8675-9B1FDB8F6E6A}"/>
              </a:ext>
            </a:extLst>
          </p:cNvPr>
          <p:cNvSpPr txBox="1"/>
          <p:nvPr/>
        </p:nvSpPr>
        <p:spPr>
          <a:xfrm>
            <a:off x="6268030" y="3303702"/>
            <a:ext cx="155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Atuador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C38A5A84-FB83-250F-11D4-12F3EC338CFF}"/>
              </a:ext>
            </a:extLst>
          </p:cNvPr>
          <p:cNvSpPr txBox="1"/>
          <p:nvPr/>
        </p:nvSpPr>
        <p:spPr>
          <a:xfrm>
            <a:off x="8346061" y="2849572"/>
            <a:ext cx="155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CA7BF3A-E7DC-0ADE-A89A-24902F8ECDD5}"/>
              </a:ext>
            </a:extLst>
          </p:cNvPr>
          <p:cNvSpPr txBox="1"/>
          <p:nvPr/>
        </p:nvSpPr>
        <p:spPr>
          <a:xfrm>
            <a:off x="10457978" y="3496179"/>
            <a:ext cx="155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0FB3EBA6-FD41-3751-19D7-98F70258FB63}"/>
              </a:ext>
            </a:extLst>
          </p:cNvPr>
          <p:cNvSpPr txBox="1"/>
          <p:nvPr/>
        </p:nvSpPr>
        <p:spPr>
          <a:xfrm>
            <a:off x="8215474" y="5341793"/>
            <a:ext cx="155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2982E19-7D14-54F4-7DF2-F8EC29369C5D}"/>
              </a:ext>
            </a:extLst>
          </p:cNvPr>
          <p:cNvSpPr txBox="1"/>
          <p:nvPr/>
        </p:nvSpPr>
        <p:spPr>
          <a:xfrm>
            <a:off x="538103" y="2861835"/>
            <a:ext cx="4953339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simulador CupCarbon é restritivo na receção de comandos externos em tempo real.</a:t>
            </a:r>
            <a:endParaRPr lang="pt-PT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EFF72829-66BC-333F-A0E3-C40ED6E98737}"/>
              </a:ext>
            </a:extLst>
          </p:cNvPr>
          <p:cNvSpPr txBox="1"/>
          <p:nvPr/>
        </p:nvSpPr>
        <p:spPr>
          <a:xfrm>
            <a:off x="519462" y="4233809"/>
            <a:ext cx="5702765" cy="1296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Lógica de atuação (Ligar ventoinha) mantida no processamento local (simulação). O site reflete o estado mas não envia o comando de volta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6021E93C-C0CC-684A-235B-F08B5AC4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015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1" grpId="0" animBg="1"/>
      <p:bldP spid="32" grpId="0" animBg="1"/>
      <p:bldP spid="52" grpId="0" animBg="1"/>
      <p:bldP spid="59" grpId="0"/>
      <p:bldP spid="60" grpId="0"/>
      <p:bldP spid="61" grpId="0"/>
      <p:bldP spid="62" grpId="0"/>
      <p:bldP spid="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12061-BC64-7CBA-3432-0CECB515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F5F6E5D3-33F2-5C89-D279-2AD63FBC247A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2ADAC932-16E0-C1AF-2B3D-66484122A438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F80C9E-C02B-EB79-AA8C-07905F5B621C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lang="pt-PT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 descr="Uma imagem com texto, Software de multimédia, software, design&#10;&#10;Os conteúdos gerados por IA podem estar incorretos.">
            <a:extLst>
              <a:ext uri="{FF2B5EF4-FFF2-40B4-BE49-F238E27FC236}">
                <a16:creationId xmlns:a16="http://schemas.microsoft.com/office/drawing/2014/main" id="{740FB8E8-18A9-52CB-8FF6-35E154A5D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24"/>
          <a:stretch>
            <a:fillRect/>
          </a:stretch>
        </p:blipFill>
        <p:spPr>
          <a:xfrm>
            <a:off x="5596670" y="2651590"/>
            <a:ext cx="6363222" cy="317398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9B88F38-C1ED-55F6-CF01-E97AC768CAC3}"/>
              </a:ext>
            </a:extLst>
          </p:cNvPr>
          <p:cNvSpPr txBox="1"/>
          <p:nvPr/>
        </p:nvSpPr>
        <p:spPr>
          <a:xfrm>
            <a:off x="360948" y="1951459"/>
            <a:ext cx="4977063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 Atingidos: Integração coerente de Redes, Sensores e Cloud.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Robustez: O sistema suporta falhas de rede, teste de carga e mantém a segurança dos dados.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3C9E95-7C94-0593-3CB4-4E8B8F0DEEE5}"/>
              </a:ext>
            </a:extLst>
          </p:cNvPr>
          <p:cNvSpPr txBox="1"/>
          <p:nvPr/>
        </p:nvSpPr>
        <p:spPr>
          <a:xfrm>
            <a:off x="360948" y="3995678"/>
            <a:ext cx="48845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Trabalho Futuro: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Integração total do ciclo de comando (Dashboard - Atuador).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Migração para PostgreSQL + InfluxDB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Replicação da Base de Dados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Migração para hardware físico.</a:t>
            </a:r>
          </a:p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94FBE81-0CC5-776A-5AA3-D1FDD36C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325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1559</TotalTime>
  <Words>1449</Words>
  <Application>Microsoft Office PowerPoint</Application>
  <PresentationFormat>Ecrã Panorâmico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Tema do Office</vt:lpstr>
      <vt:lpstr>Infraestrutura IoT para o Campus de Azurém Parque Inteligente e Controlo Ambiental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Baptista</dc:creator>
  <cp:lastModifiedBy>Luís Baptista</cp:lastModifiedBy>
  <cp:revision>423</cp:revision>
  <dcterms:created xsi:type="dcterms:W3CDTF">2025-11-08T19:02:28Z</dcterms:created>
  <dcterms:modified xsi:type="dcterms:W3CDTF">2026-01-22T16:06:58Z</dcterms:modified>
</cp:coreProperties>
</file>